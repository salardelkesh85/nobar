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قدمه" id="{f69de58b-72c0-cbf4-5107-05331d8b0609}">
          <p14:sldIdLst>
            <p14:sldId id="256"/>
            <p14:sldId id="257"/>
            <p14:sldId id="258"/>
            <p14:sldId id="259"/>
          </p14:sldIdLst>
        </p14:section>
        <p14:section name="معماری" id="{126203b6-698f-9c38-eb39-2b5f56ff8853}">
          <p14:sldIdLst>
            <p14:sldId id="260"/>
            <p14:sldId id="261"/>
            <p14:sldId id="262"/>
          </p14:sldIdLst>
        </p14:section>
        <p14:section name="الگوها و داده" id="{4c88e540-31b3-1c81-7f72-619574e642ae}">
          <p14:sldIdLst>
            <p14:sldId id="263"/>
            <p14:sldId id="264"/>
            <p14:sldId id="265"/>
          </p14:sldIdLst>
        </p14:section>
        <p14:section name="زیرساخت ابری" id="{53d5bd12-e348-b930-d396-8db2b1c21a2a}">
          <p14:sldIdLst>
            <p14:sldId id="266"/>
            <p14:sldId id="267"/>
            <p14:sldId id="268"/>
            <p14:sldId id="269"/>
          </p14:sldIdLst>
        </p14:section>
        <p14:section name="هوش مصنوعی" id="{ae7101f9-a597-e30d-05f7-9708112f44e3}">
          <p14:sldIdLst>
            <p14:sldId id="270"/>
            <p14:sldId id="271"/>
          </p14:sldIdLst>
        </p14:section>
        <p14:section name="امنیت و تصمیم‌ها" id="{16e38d7d-ca6d-0f22-e2c3-84b5e2f621a2}">
          <p14:sldIdLst>
            <p14:sldId id="272"/>
            <p14:sldId id="273"/>
          </p14:sldIdLst>
        </p14:section>
        <p14:section name="جمع‌بندی" id="{8fb35a9d-ae6c-8244-8f95-cde0a2d5ee9a}">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RAM (MB)</c:v>
                </c:pt>
              </c:strCache>
            </c:strRef>
          </c:tx>
          <c:spPr>
            <a:solidFill>
              <a:srgbClr val="2E7D32"/>
            </a:solidFill>
            <a:effectLst/>
          </c:spPr>
          <c:invertIfNegative val="0"/>
          <c:dLbls>
            <c:numFmt formatCode="#,##0" sourceLinked="0"/>
            <c:txPr>
              <a:bodyPr/>
              <a:lstStyle/>
              <a:p>
                <a:pPr>
                  <a:defRPr b="0" i="0" strike="noStrike" sz="1200" u="none">
                    <a:solidFill>
                      <a:srgbClr val="17301E"/>
                    </a:solidFill>
                    <a:latin typeface="+mn-lt"/>
                  </a:defRPr>
                </a:pPr>
              </a:p>
            </c:txPr>
            <c:showLegendKey val="0"/>
            <c:showVal val="1"/>
            <c:showCatName val="0"/>
            <c:showSerName val="0"/>
            <c:showPercent val="0"/>
            <c:showBubbleSize val="0"/>
            <c:showLeaderLines val="0"/>
          </c:dLbls>
          <c:cat>
            <c:multiLvlStrRef>
              <c:f>Sheet1!$A$2:$A$5</c:f>
              <c:multiLvlStrCache>
                <c:ptCount val="4"/>
                <c:lvl>
                  <c:pt idx="0">
                    <c:v>core</c:v>
                  </c:pt>
                  <c:pt idx="1">
                    <c:v>search</c:v>
                  </c:pt>
                  <c:pt idx="2">
                    <c:v>storage</c:v>
                  </c:pt>
                  <c:pt idx="3">
                    <c:v>obs</c:v>
                  </c:pt>
                </c:lvl>
              </c:multiLvlStrCache>
            </c:multiLvlStrRef>
          </c:cat>
          <c:val>
            <c:numRef>
              <c:f>Sheet1!$B$2:$B$5</c:f>
              <c:numCache>
                <c:formatCode>General</c:formatCode>
                <c:ptCount val="4"/>
                <c:pt idx="0">
                  <c:v>350</c:v>
                </c:pt>
                <c:pt idx="1">
                  <c:v>1000</c:v>
                </c:pt>
                <c:pt idx="2">
                  <c:v>250</c:v>
                </c:pt>
                <c:pt idx="3">
                  <c:v>700</c:v>
                </c:pt>
              </c:numCache>
            </c:numRef>
          </c:val>
        </c:ser>
        <c:dLbls>
          <c:numFmt formatCode="#,##0" sourceLinked="0"/>
          <c:txPr>
            <a:bodyPr/>
            <a:lstStyle/>
            <a:p>
              <a:pPr>
                <a:defRPr b="0" i="0" strike="noStrike" sz="1200" u="none">
                  <a:solidFill>
                    <a:srgbClr val="17301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E6E6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سلام. موضوع ارائه‌ی ما «نوبر» است: یک بازار آنلاین چندفروشنده برای میوه و سبزیجات که باغدار و کشاورز هر شهر را مستقیم به خریدار همان شهر وصل می‌کند. تمرکز ارائه روی معماری است: چطور با Docker، Kubernetes، الگوهای سیستم‌های توزیع‌شده و یک لایه‌ی هوش مصنوعی امن، این سیستم را طراحی کرده‌ایم.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کالای ما فسادپذیر است و همین همه‌ی تصمیم‌های معماری را شکل می‌دهد. فروشنده و خریدار در یک شهرند، پس تحویل سریع ممکن است. سه ارزش اصلی را می‌بینید: تازگی که با تاریخ برداشت روی هر محصول نشان داده می‌شود، سرعت که با محدود کردن همه‌چیز به شهر به دست می‌آید، و اعتماد که با نظرهای واقعی و قیمت دقیق ساخته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هفت اصل معیار ما برای هر تصمیم فنی بوده‌اند. دو مورد مخصوص نوبر است: City-First یعنی تقریباً همه‌چیز، از جستجو تا موجودی و ارسال، بر اساس شهر تقسیم می‌شود؛ و Persian-First یعنی رابط راست‌به‌چپ، تقویم شمسی، تومان و درگاه‌های پرداخت ایرانی از روز اول در طراحی هستند، نه بعداً.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به جای صفت‌های کلی مثل «سریع» یا «قابل اعتماد»، هدف‌های قابل اندازه‌گیری تعریف کرده‌ایم. عدد صفر را دقت کنید: مدل زبانی هیچ‌وقت مستقیم به دیتابیس دسترسی ندارد و فقط از ابزارهای اعتبارسنجی‌شده استفاده می‌کند. جدول پایین نشان می‌دهد هر ویژگی کیفی با چه سازوکاری تأمین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از بالا به پایین: کاربران از وب، پنل‌ها یا ربات تلگرام وارد می‌شوند. همه‌ی ترافیک از CDN و WAF و سپس از API Gateway عبور می‌کند؛ این تنها نقطه‌ی عمومی سیستم است. زیر آن سیزده سرویس دامنه و دو سرویس هوش مصنوعی قرار دارند. سرویس‌ها تغییرات را به‌صورت رویداد روی گذرگاه منتشر می‌کنند و هر سرویس پایگاه داده‌ی مخصوص خودش را دارد.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سرویس‌ها را با طراحی دامنه‌محور تقسیم کرده‌ایم. بخش «هسته» مزیت رقابتی ماست: کاتالوگ و تازگی، سفارش چندفروشنده و لایه‌ی هوشمند. بخش‌های پشتیبان برای کسب‌وکار لازم‌اند و بخش‌های عمومی را می‌شد حتی خرید. قانون طلایی: هیچ سرویسی به دیتابیس سرویس دیگر دسترسی ندارد.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قاعده‌ی ما ساده است: اگر جواب را همین حالا لازم داریم، مثل اعتبارسنجی قیمت سبد، از REST با تایم‌اوت و Circuit Breaker استفاده می‌کنیم. اگر فقط باید خبر بدهیم که چیزی اتفاق افتاده، رویداد منتشر می‌کنیم. پاکت رویدادها با استاندارد CloudEvents سازگار است و شناسه‌ی شهر و trace را هم حمل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سیستم توزیع‌شده تراکنش واحد نداریم، پس از الگوی Saga استفاده می‌کنیم. سرویس order هماهنگ‌کننده است: موجودی را رزرو می‌کند، پرداخت می‌گیرد، منتظر تأیید فروشنده می‌ماند و ارسال را شروع می‌کند. ردیف قرمز نشان می‌دهد اگر هر قدم شکست بخورد، چه چیزی جبران می‌شود. مثلاً اگر فروشنده سفارش را رد کند، پول برگشت داده و موجودی آزاد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Outbox تضمین می‌کند که تغییر داده و انتشار رویداد یا هر دو انجام شوند یا هیچ‌کدام. Idempotency-Key جلوی پرداخت یا سفارش تکراری را می‌گیرد. با CQRS سبک، نوشتن در PostgreSQL و خواندن جستجو از OpenSearch انجام می‌شود. و با Circuit Breaker، قطع شدن درگاه یا مدل زبانی کل سیستم را از کار نمی‌اندازد.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ستون اصلی داده است: تراکنش‌ها، داده‌ی جغرافیایی با PostGIS و حتی بردارهای جستجوی معنایی با pgvector. بقیه‌ی ابزارها فقط برای کاری که در آن بهترین‌اند استفاده می‌شوند. قواعد سمت چپ را دقت کنید: پول همیشه عدد صحیح ریال است و هرگز اعشاری ذخیره نمی‌شود.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هر سرویس یک Image مستقل با ساخت چندمرحله‌ای دارد که با کاربر غیر root اجرا می‌شود و در CI با Trivy اسکن می‌شود. یک محدودیت واقعی داشتیم: لپ‌تاپ توسعه ۸ گیگابایت رم دارد. برای همین زیرساخت محلی را به پروفایل‌های Docker Compose تقسیم کردیم و هر بار فقط پروفایل لازم را روشن می‌کنیم.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Kubernetes برای هر محیط یک Namespace داریم. سرویس‌ها Deployment هستند و با HPA بر اساس CPU و نرخ درخواست مقیاس می‌گیرند؛ جستجو و هوش مصنوعی با KEDA بر اساس طول صف مقیاس می‌گیرند. Probeها خودترمیمی را ممکن می‌کنند و NetworkPolicy فقط ترافیک مجاز را باز می‌گذارد. نوبر اوج مصرف مشخصی دارد: صبح و عصر، و مناسبت‌هایی مثل شب یلدا و نوروز.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CI، هر Pull Request لینت، تست، ساخت Image و اسکن امنیتی می‌شود. سپس نسخه‌ی جدید Image در مقادیر Helm داخل Git ثبت می‌شود. Argo CD تغییر را می‌بیند و کلاستر را با Git همگام می‌کند: Staging خودکار و Production با تأیید. برای سرویس‌های حساس order و payment از استقرار Canary استفاده می‌کنیم. برگشت به نسخه‌ی قبل یعنی یک git revert.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سه ستون مشاهده‌پذیری را داریم: متریک برای «چقدر و چند وقت»، لاگ برای «چه اتفاقی افتاد» و Trace برای «کجا کند شد». همه با یک trace_id به هم وصل‌اند. SLOها را با هشدار burn-rate پایش می‌کنیم تا قبل از تمام شدن بودجه‌ی خطا، تیم از طریق تلگرام و پیامک باخبر 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همه‌ی درخواست‌های هوش مصنوعی از AI Gateway عبور می‌کنند که احراز هویت، محدودیت نرخ، Guardrailها، کش معنایی و بودجه‌ی توکن را مدیریت می‌کند. Agentها هیچ دسترسی مستقیمی به دیتابیس ندارند؛ فقط ابزارهای تعریف‌شده را صدا می‌زنند و این ابزارها با توکن خود کاربر به API داخلی می‌روند. رابط LLMProvider اجازه می‌دهد مدل را فقط با تنظیمات عوض کنیم؛ این برای ایران مهم است چون ممکن است API خارجی در دسترس نباشد.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یک نمونه‌ی واقعی: کاربر برای مهمانی ده‌نفره با بودجه‌ی ۸۰۰ هزار تومان دسر میوه‌ای می‌خواهد. دستیار ابزار جستجو و تخمین ارسال را صدا می‌زند و یک سبد پیشنهادی می‌سازد. همه‌ی قیمت‌ها از ابزار آمده‌اند، نه از حافظه‌ی مدل. دستیار خودش سفارش ثبت نمی‌کند؛ کاربر باید دکمه‌ی افزودن به سبد را بزند. این پنج اصل را در Evals فارسی و در CI بررسی می‌کنیم.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امنیت را لایه‌به‌لایه طراحی کرده‌ایم. ورود با کد یک‌بارمصرف پیامکی است و توکن دسترسی فقط پانزده دقیقه اعتبار دارد. حتی پشت Gateway، هر سرویس خودش توکن و مالکیت را بررسی می‌کند. هیچ اطلاعات کارت بانکی ذخیره نمی‌شود و همه‌ی عملیات مالی، ادمین و ابزارهای AI ممیزی می‌شوند.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هر تصمیم مهم را در یک Architecture Decision Record ثبت کرده‌ایم تا دلیلش فراموش نشود. نمونه‌ی جالب NATS در برابر Kafka است: Kafka شناخته‌شده‌تر است، ولی روی لپ‌تاپ ۸ گیگابایتی حدود یک گیگابایت رم مصرف می‌کند؛ NATS حدود سی مگابایت. چون پشت یک رابط قرار دارد، هر وقت لازم شد می‌توانیم به Kafka مهاجرت کنیم.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پروژه در شش فاز پیش می‌رود و هر فاز معیار خروج مشخص و قابل اندازه‌گیری دارد. بخش نارنجی مسیر سمینار است: فاز صفر تا سه، یعنی زیرساخت، بازار پایه، عملیاتی‌شدن روی Kubernetes و لایه‌ی هوش مصنوعی. مستندات معماری و ADRها تکمیل شده‌اند و پیاده‌سازی شروع شده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جمع‌بندی در سه جمله: یک معماری Cloud-Native با مرزهای دامنه‌ای تمیز ساختیم؛ سازگاری داده در سیستم توزیع‌شده را با Saga، Outbox و Idempotency تضمین کردیم؛ و هوش مصنوعی را طوری طراحی کردیم که صادق باشد: واقعیت‌ها از ابزار می‌آیند و تصمیم نهایی با کاربر است. ممنون از توجه شما؛ آماده‌ی پرسش‌ها هستم.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OBAR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480560" y="1143000"/>
            <a:ext cx="7159752" cy="1234440"/>
          </a:xfrm>
          <a:prstGeom prst="rect">
            <a:avLst/>
          </a:prstGeom>
          <a:noFill/>
          <a:ln/>
        </p:spPr>
        <p:txBody>
          <a:bodyPr wrap="square" rtlCol="0"/>
          <a:lstStyle>
            <a:lvl1pPr algn="r" indent="0" marL="0">
              <a:buNone/>
              <a:defRPr lang="en-US" sz="6000" b="1" dirty="0">
                <a:solidFill>
                  <a:schemeClr val="bg1"/>
                </a:solidFill>
              </a:defRPr>
            </a:lvl1pPr>
          </a:lstStyle>
          <a:p>
            <a:pPr algn="r" indent="0" marL="0">
              <a:buNone/>
            </a:pPr>
            <a:endParaRPr lang="en-US" sz="6000" dirty="0"/>
          </a:p>
        </p:txBody>
      </p:sp>
      <p:sp>
        <p:nvSpPr>
          <p:cNvPr id="3" name="Text 0"/>
          <p:cNvSpPr/>
          <p:nvPr>
            <p:ph idx="101" type="body" hasCustomPrompt="1"/>
          </p:nvPr>
        </p:nvSpPr>
        <p:spPr>
          <a:xfrm>
            <a:off x="4480560" y="3246120"/>
            <a:ext cx="7159752" cy="1371600"/>
          </a:xfrm>
          <a:prstGeom prst="rect">
            <a:avLst/>
          </a:prstGeom>
          <a:noFill/>
          <a:ln/>
        </p:spPr>
        <p:txBody>
          <a:bodyPr wrap="square" rtlCol="0"/>
          <a:lstStyle>
            <a:lvl1pPr algn="r" indent="0" marL="0">
              <a:buNone/>
              <a:defRPr lang="en-US" sz="2000" dirty="0">
                <a:solidFill>
                  <a:schemeClr val="bg1"/>
                </a:solidFill>
              </a:defRPr>
            </a:lvl1pPr>
          </a:lstStyle>
          <a:p>
            <a:pPr algn="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OBAR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r" indent="0" marL="0">
              <a:buNone/>
              <a:defRPr lang="en-US" sz="3000" b="1" dirty="0">
                <a:solidFill>
                  <a:schemeClr val="tx2"/>
                </a:solidFill>
              </a:defRPr>
            </a:lvl1pPr>
          </a:lstStyle>
          <a:p>
            <a:pPr algn="r" indent="0" marL="0">
              <a:buNone/>
            </a:pPr>
            <a:endParaRPr lang="en-US" sz="3000" dirty="0"/>
          </a:p>
        </p:txBody>
      </p:sp>
      <p:sp>
        <p:nvSpPr>
          <p:cNvPr id="3" name="Text 0"/>
          <p:cNvSpPr/>
          <p:nvPr>
            <p:ph idx="101" type="body" hasCustomPrompt="1"/>
          </p:nvPr>
        </p:nvSpPr>
        <p:spPr>
          <a:xfrm>
            <a:off x="548640" y="1005840"/>
            <a:ext cx="11094415" cy="411480"/>
          </a:xfrm>
          <a:prstGeom prst="rect">
            <a:avLst/>
          </a:prstGeom>
          <a:noFill/>
          <a:ln/>
        </p:spPr>
        <p:txBody>
          <a:bodyPr wrap="square" rtlCol="0"/>
          <a:lstStyle>
            <a:lvl1pPr algn="r" indent="0" marL="0">
              <a:buNone/>
              <a:defRPr lang="en-US" sz="1600" dirty="0">
                <a:solidFill>
                  <a:srgbClr val="5E6E62"/>
                </a:solidFill>
              </a:defRPr>
            </a:lvl1pPr>
          </a:lstStyle>
          <a:p>
            <a:pPr algn="r" indent="0" marL="0">
              <a:buNone/>
            </a:pPr>
            <a:endParaRPr lang="en-US" sz="1600" dirty="0"/>
          </a:p>
        </p:txBody>
      </p:sp>
      <p:sp>
        <p:nvSpPr>
          <p:cNvPr id="4" name="Text 0"/>
          <p:cNvSpPr/>
          <p:nvPr/>
        </p:nvSpPr>
        <p:spPr>
          <a:xfrm>
            <a:off x="7985455" y="6382512"/>
            <a:ext cx="3657600" cy="274320"/>
          </a:xfrm>
          <a:prstGeom prst="rect">
            <a:avLst/>
          </a:prstGeom>
          <a:noFill/>
          <a:ln/>
        </p:spPr>
        <p:txBody>
          <a:bodyPr wrap="square" lIns="0" tIns="0" rIns="0" bIns="0" rtlCol="0" anchor="ctr"/>
          <a:lstStyle/>
          <a:p>
            <a:pPr algn="r" indent="0" marL="0">
              <a:buNone/>
            </a:pPr>
            <a:r>
              <a:rPr lang="fa-IR" altLang="en-US" sz="1000" dirty="0">
                <a:solidFill>
                  <a:srgbClr val="5E6E62"/>
                </a:solidFill>
              </a:rPr>
              <a:t>نوبر · از باغ تا سفره</a:t>
            </a:r>
            <a:endParaRPr lang="fa-IR" sz="10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7" Type="http://schemas.openxmlformats.org/officeDocument/2006/relationships/chart" Target="/ppt/charts/chart1.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8" Type="http://schemas.openxmlformats.org/officeDocument/2006/relationships/slideLayout" Target="../slideLayouts/slideLayout3.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480560" y="1143000"/>
            <a:ext cx="7159752" cy="1234440"/>
          </a:xfrm>
          <a:prstGeom prst="rect">
            <a:avLst/>
          </a:prstGeom>
          <a:noFill/>
          <a:ln/>
        </p:spPr>
        <p:txBody>
          <a:bodyPr wrap="square" lIns="0" tIns="0" rIns="0" bIns="0" rtlCol="0" anchor="b"/>
          <a:lstStyle/>
          <a:p>
            <a:pPr rtl="1" algn="r" indent="0" marL="0">
              <a:buNone/>
            </a:pPr>
            <a:r>
              <a:rPr lang="fa-IR" altLang="en-US" sz="6000" b="1" dirty="0">
                <a:solidFill>
                  <a:schemeClr val="bg1"/>
                </a:solidFill>
              </a:rPr>
              <a:t>نوبر</a:t>
            </a:r>
            <a:endParaRPr lang="fa-IR" sz="6000" dirty="0"/>
          </a:p>
        </p:txBody>
      </p:sp>
      <p:sp>
        <p:nvSpPr>
          <p:cNvPr id="3" name="Text 1"/>
          <p:cNvSpPr txBox="1"/>
          <p:nvPr/>
        </p:nvSpPr>
        <p:spPr>
          <a:xfrm>
            <a:off x="4480560" y="2395728"/>
            <a:ext cx="7159752" cy="594360"/>
          </a:xfrm>
          <a:prstGeom prst="rect">
            <a:avLst/>
          </a:prstGeom>
          <a:noFill/>
          <a:ln/>
        </p:spPr>
        <p:txBody>
          <a:bodyPr wrap="square" lIns="0" tIns="0" rIns="0" bIns="0" rtlCol="0" anchor="ctr"/>
          <a:lstStyle/>
          <a:p>
            <a:pPr rtl="1" algn="r" indent="0" marL="0">
              <a:buNone/>
            </a:pPr>
            <a:r>
              <a:rPr lang="fa-IR" altLang="en-US" sz="2800" b="1" dirty="0">
                <a:solidFill>
                  <a:schemeClr val="accent2"/>
                </a:solidFill>
              </a:rPr>
              <a:t>از باغ تا سفره</a:t>
            </a:r>
            <a:endParaRPr lang="fa-IR" sz="2800" dirty="0"/>
          </a:p>
        </p:txBody>
      </p:sp>
      <p:sp>
        <p:nvSpPr>
          <p:cNvPr id="4" name="Text 0"/>
          <p:cNvSpPr/>
          <p:nvPr>
            <p:ph idx="101" type="body" hasCustomPrompt="1"/>
          </p:nvPr>
        </p:nvSpPr>
        <p:spPr>
          <a:xfrm>
            <a:off x="4480560" y="3246120"/>
            <a:ext cx="7159752" cy="1371600"/>
          </a:xfrm>
          <a:prstGeom prst="rect">
            <a:avLst/>
          </a:prstGeom>
          <a:noFill/>
          <a:ln/>
        </p:spPr>
        <p:txBody>
          <a:bodyPr wrap="square" lIns="0" tIns="0" rIns="0" bIns="0" rtlCol="0" anchor="t"/>
          <a:lstStyle/>
          <a:p>
            <a:pPr rtl="1" algn="r" indent="0" marL="0">
              <a:buNone/>
            </a:pPr>
            <a:r>
              <a:rPr lang="fa-IR" altLang="en-US" sz="2000" dirty="0">
                <a:solidFill>
                  <a:schemeClr val="bg1"/>
                </a:solidFill>
              </a:rPr>
              <a:t>معماری Cloud-Native یک بازار آنلاین چندفروشنده‌ی میوه و سبزیجات، هر فروشنده از شهر خودش، همراه با دستیار هوشمند خرید</a:t>
            </a:r>
            <a:endParaRPr lang="fa-IR" sz="2000" dirty="0"/>
          </a:p>
        </p:txBody>
      </p:sp>
      <p:sp>
        <p:nvSpPr>
          <p:cNvPr id="5" name="Text 3"/>
          <p:cNvSpPr txBox="1"/>
          <p:nvPr/>
        </p:nvSpPr>
        <p:spPr>
          <a:xfrm>
            <a:off x="4480560" y="5715000"/>
            <a:ext cx="7159752" cy="365760"/>
          </a:xfrm>
          <a:prstGeom prst="rect">
            <a:avLst/>
          </a:prstGeom>
          <a:noFill/>
          <a:ln/>
        </p:spPr>
        <p:txBody>
          <a:bodyPr wrap="square" lIns="0" tIns="0" rIns="0" bIns="0" rtlCol="0" anchor="t"/>
          <a:lstStyle/>
          <a:p>
            <a:pPr rtl="1" algn="r" indent="0" marL="0">
              <a:buNone/>
            </a:pPr>
            <a:r>
              <a:rPr lang="fa-IR" altLang="en-US" sz="1400" dirty="0">
                <a:solidFill>
                  <a:schemeClr val="bg2"/>
                </a:solidFill>
              </a:rPr>
              <a:t>سمینار درس مهندسی نرم‌افزار · پاییز ۱۴۰۵</a:t>
            </a:r>
            <a:endParaRPr lang="fa-IR" sz="1400" dirty="0"/>
          </a:p>
        </p:txBody>
      </p:sp>
      <p:sp>
        <p:nvSpPr>
          <p:cNvPr id="6" name="Shape 4"/>
          <p:cNvSpPr/>
          <p:nvPr/>
        </p:nvSpPr>
        <p:spPr>
          <a:xfrm>
            <a:off x="1417320" y="1097280"/>
            <a:ext cx="1828800" cy="1828800"/>
          </a:xfrm>
          <a:prstGeom prst="ellipse">
            <a:avLst/>
          </a:prstGeom>
          <a:solidFill>
            <a:schemeClr val="accent2"/>
          </a:solidFill>
          <a:ln/>
        </p:spPr>
      </p:sp>
      <p:pic>
        <p:nvPicPr>
          <p:cNvPr id="7" name="Image 0" descr="LuCitrus">    </p:cNvPr>
          <p:cNvPicPr>
            <a:picLocks noChangeAspect="1"/>
          </p:cNvPicPr>
          <p:nvPr/>
        </p:nvPicPr>
        <p:blipFill>
          <a:blip r:embed="rId1"/>
          <a:stretch>
            <a:fillRect/>
          </a:stretch>
        </p:blipFill>
        <p:spPr>
          <a:xfrm>
            <a:off x="1819656" y="1499616"/>
            <a:ext cx="1024128" cy="1024128"/>
          </a:xfrm>
          <a:prstGeom prst="rect">
            <a:avLst/>
          </a:prstGeom>
        </p:spPr>
      </p:pic>
      <p:sp>
        <p:nvSpPr>
          <p:cNvPr id="8" name="Shape 5"/>
          <p:cNvSpPr/>
          <p:nvPr/>
        </p:nvSpPr>
        <p:spPr>
          <a:xfrm>
            <a:off x="685800" y="3154680"/>
            <a:ext cx="1234440" cy="1234440"/>
          </a:xfrm>
          <a:prstGeom prst="ellipse">
            <a:avLst/>
          </a:prstGeom>
          <a:solidFill>
            <a:schemeClr val="accent4"/>
          </a:solidFill>
          <a:ln/>
        </p:spPr>
      </p:sp>
      <p:pic>
        <p:nvPicPr>
          <p:cNvPr id="9" name="Image 1" descr="LuCherry">    </p:cNvPr>
          <p:cNvPicPr>
            <a:picLocks noChangeAspect="1"/>
          </p:cNvPicPr>
          <p:nvPr/>
        </p:nvPicPr>
        <p:blipFill>
          <a:blip r:embed="rId2"/>
          <a:stretch>
            <a:fillRect/>
          </a:stretch>
        </p:blipFill>
        <p:spPr>
          <a:xfrm>
            <a:off x="957377" y="3426257"/>
            <a:ext cx="691286" cy="691286"/>
          </a:xfrm>
          <a:prstGeom prst="rect">
            <a:avLst/>
          </a:prstGeom>
        </p:spPr>
      </p:pic>
      <p:sp>
        <p:nvSpPr>
          <p:cNvPr id="10" name="Shape 6"/>
          <p:cNvSpPr/>
          <p:nvPr/>
        </p:nvSpPr>
        <p:spPr>
          <a:xfrm>
            <a:off x="2240280" y="3246120"/>
            <a:ext cx="1508760" cy="1508760"/>
          </a:xfrm>
          <a:prstGeom prst="ellipse">
            <a:avLst/>
          </a:prstGeom>
          <a:solidFill>
            <a:schemeClr val="accent3"/>
          </a:solidFill>
          <a:ln/>
        </p:spPr>
      </p:sp>
      <p:pic>
        <p:nvPicPr>
          <p:cNvPr id="11" name="Image 2" descr="LuSprout">    </p:cNvPr>
          <p:cNvPicPr>
            <a:picLocks noChangeAspect="1"/>
          </p:cNvPicPr>
          <p:nvPr/>
        </p:nvPicPr>
        <p:blipFill>
          <a:blip r:embed="rId3"/>
          <a:stretch>
            <a:fillRect/>
          </a:stretch>
        </p:blipFill>
        <p:spPr>
          <a:xfrm>
            <a:off x="2572207" y="3578047"/>
            <a:ext cx="844906" cy="844906"/>
          </a:xfrm>
          <a:prstGeom prst="rect">
            <a:avLst/>
          </a:prstGeom>
        </p:spPr>
      </p:pic>
      <p:sp>
        <p:nvSpPr>
          <p:cNvPr id="12" name="Shape 7"/>
          <p:cNvSpPr/>
          <p:nvPr/>
        </p:nvSpPr>
        <p:spPr>
          <a:xfrm>
            <a:off x="3429000" y="2011680"/>
            <a:ext cx="914400" cy="914400"/>
          </a:xfrm>
          <a:prstGeom prst="ellipse">
            <a:avLst/>
          </a:prstGeom>
          <a:solidFill>
            <a:schemeClr val="accent5"/>
          </a:solidFill>
          <a:ln/>
        </p:spPr>
      </p:sp>
      <p:pic>
        <p:nvPicPr>
          <p:cNvPr id="13" name="Image 3" descr="LuCarrot">    </p:cNvPr>
          <p:cNvPicPr>
            <a:picLocks noChangeAspect="1"/>
          </p:cNvPicPr>
          <p:nvPr/>
        </p:nvPicPr>
        <p:blipFill>
          <a:blip r:embed="rId4"/>
          <a:stretch>
            <a:fillRect/>
          </a:stretch>
        </p:blipFill>
        <p:spPr>
          <a:xfrm>
            <a:off x="3630168" y="2212848"/>
            <a:ext cx="512064" cy="512064"/>
          </a:xfrm>
          <a:prstGeom prst="rect">
            <a:avLst/>
          </a:prstGeom>
        </p:spPr>
      </p:pic>
      <p:sp>
        <p:nvSpPr>
          <p:cNvPr id="14" name="Shape 8"/>
          <p:cNvSpPr/>
          <p:nvPr/>
        </p:nvSpPr>
        <p:spPr>
          <a:xfrm>
            <a:off x="1417320" y="4892040"/>
            <a:ext cx="960120" cy="960120"/>
          </a:xfrm>
          <a:prstGeom prst="ellipse">
            <a:avLst/>
          </a:prstGeom>
          <a:solidFill>
            <a:schemeClr val="accent6"/>
          </a:solidFill>
          <a:ln/>
        </p:spPr>
      </p:sp>
      <p:pic>
        <p:nvPicPr>
          <p:cNvPr id="15" name="Image 4" descr="LuGrape">    </p:cNvPr>
          <p:cNvPicPr>
            <a:picLocks noChangeAspect="1"/>
          </p:cNvPicPr>
          <p:nvPr/>
        </p:nvPicPr>
        <p:blipFill>
          <a:blip r:embed="rId5"/>
          <a:stretch>
            <a:fillRect/>
          </a:stretch>
        </p:blipFill>
        <p:spPr>
          <a:xfrm>
            <a:off x="1628546" y="5103266"/>
            <a:ext cx="537667" cy="5376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چرا نوبر؟</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محصول فسادپذیر است؛ پس تازگی، سرعت و اعتماد مهم‌ترین ارزش‌های سیستم‌اند</a:t>
            </a:r>
            <a:endParaRPr lang="fa-IR" sz="1600" dirty="0"/>
          </a:p>
        </p:txBody>
      </p:sp>
      <p:sp>
        <p:nvSpPr>
          <p:cNvPr id="5" name="Shape 2"/>
          <p:cNvSpPr/>
          <p:nvPr/>
        </p:nvSpPr>
        <p:spPr>
          <a:xfrm>
            <a:off x="9722815" y="1691640"/>
            <a:ext cx="914400" cy="914400"/>
          </a:xfrm>
          <a:prstGeom prst="ellipse">
            <a:avLst/>
          </a:prstGeom>
          <a:solidFill>
            <a:schemeClr val="accent1"/>
          </a:solidFill>
          <a:ln/>
        </p:spPr>
      </p:sp>
      <p:pic>
        <p:nvPicPr>
          <p:cNvPr id="6" name="Image 0" descr="LuStore">    </p:cNvPr>
          <p:cNvPicPr>
            <a:picLocks noChangeAspect="1"/>
          </p:cNvPicPr>
          <p:nvPr/>
        </p:nvPicPr>
        <p:blipFill>
          <a:blip r:embed="rId1"/>
          <a:stretch>
            <a:fillRect/>
          </a:stretch>
        </p:blipFill>
        <p:spPr>
          <a:xfrm>
            <a:off x="9923983" y="1892808"/>
            <a:ext cx="512064" cy="512064"/>
          </a:xfrm>
          <a:prstGeom prst="rect">
            <a:avLst/>
          </a:prstGeom>
        </p:spPr>
      </p:pic>
      <p:sp>
        <p:nvSpPr>
          <p:cNvPr id="7" name="Text 3"/>
          <p:cNvSpPr txBox="1"/>
          <p:nvPr/>
        </p:nvSpPr>
        <p:spPr>
          <a:xfrm>
            <a:off x="8716975" y="2697480"/>
            <a:ext cx="2926080" cy="365760"/>
          </a:xfrm>
          <a:prstGeom prst="rect">
            <a:avLst/>
          </a:prstGeom>
          <a:noFill/>
          <a:ln/>
        </p:spPr>
        <p:txBody>
          <a:bodyPr wrap="square" lIns="0" tIns="0" rIns="0" bIns="0" rtlCol="0" anchor="t"/>
          <a:lstStyle/>
          <a:p>
            <a:pPr rtl="1" algn="ctr" indent="0" marL="0">
              <a:buNone/>
            </a:pPr>
            <a:r>
              <a:rPr lang="fa-IR" altLang="en-US" sz="1700" b="1" dirty="0">
                <a:solidFill>
                  <a:schemeClr val="tx2"/>
                </a:solidFill>
              </a:rPr>
              <a:t>فروشنده‌ی محلی</a:t>
            </a:r>
            <a:endParaRPr lang="fa-IR" sz="1700" dirty="0"/>
          </a:p>
        </p:txBody>
      </p:sp>
      <p:sp>
        <p:nvSpPr>
          <p:cNvPr id="8" name="Text 4"/>
          <p:cNvSpPr txBox="1"/>
          <p:nvPr/>
        </p:nvSpPr>
        <p:spPr>
          <a:xfrm>
            <a:off x="8716975" y="3044952"/>
            <a:ext cx="2926080" cy="320040"/>
          </a:xfrm>
          <a:prstGeom prst="rect">
            <a:avLst/>
          </a:prstGeom>
          <a:noFill/>
          <a:ln/>
        </p:spPr>
        <p:txBody>
          <a:bodyPr wrap="square" lIns="0" tIns="0" rIns="0" bIns="0" rtlCol="0" anchor="t"/>
          <a:lstStyle/>
          <a:p>
            <a:pPr rtl="1" algn="ctr" indent="0" marL="0">
              <a:buNone/>
            </a:pPr>
            <a:r>
              <a:rPr lang="fa-IR" altLang="en-US" sz="1300" dirty="0">
                <a:solidFill>
                  <a:srgbClr val="5E6E62"/>
                </a:solidFill>
              </a:rPr>
              <a:t>باغدار، کشاورز، غرفه‌دار</a:t>
            </a:r>
            <a:endParaRPr lang="fa-IR" sz="1300" dirty="0"/>
          </a:p>
        </p:txBody>
      </p:sp>
      <p:sp>
        <p:nvSpPr>
          <p:cNvPr id="9" name="Shape 5"/>
          <p:cNvSpPr/>
          <p:nvPr/>
        </p:nvSpPr>
        <p:spPr>
          <a:xfrm>
            <a:off x="6781648" y="2148840"/>
            <a:ext cx="2712568" cy="0"/>
          </a:xfrm>
          <a:prstGeom prst="line">
            <a:avLst/>
          </a:prstGeom>
          <a:noFill/>
          <a:ln w="22225">
            <a:solidFill>
              <a:schemeClr val="tx2"/>
            </a:solidFill>
            <a:prstDash val="solid"/>
            <a:headEnd type="triangle"/>
          </a:ln>
        </p:spPr>
      </p:sp>
      <p:sp>
        <p:nvSpPr>
          <p:cNvPr id="10" name="Shape 6"/>
          <p:cNvSpPr/>
          <p:nvPr/>
        </p:nvSpPr>
        <p:spPr>
          <a:xfrm>
            <a:off x="5638648" y="1691640"/>
            <a:ext cx="914400" cy="914400"/>
          </a:xfrm>
          <a:prstGeom prst="ellipse">
            <a:avLst/>
          </a:prstGeom>
          <a:solidFill>
            <a:schemeClr val="accent2"/>
          </a:solidFill>
          <a:ln/>
        </p:spPr>
      </p:sp>
      <p:pic>
        <p:nvPicPr>
          <p:cNvPr id="11" name="Image 1" descr="LuSprout">    </p:cNvPr>
          <p:cNvPicPr>
            <a:picLocks noChangeAspect="1"/>
          </p:cNvPicPr>
          <p:nvPr/>
        </p:nvPicPr>
        <p:blipFill>
          <a:blip r:embed="rId2"/>
          <a:stretch>
            <a:fillRect/>
          </a:stretch>
        </p:blipFill>
        <p:spPr>
          <a:xfrm>
            <a:off x="5839816" y="1892808"/>
            <a:ext cx="512064" cy="512064"/>
          </a:xfrm>
          <a:prstGeom prst="rect">
            <a:avLst/>
          </a:prstGeom>
        </p:spPr>
      </p:pic>
      <p:sp>
        <p:nvSpPr>
          <p:cNvPr id="12" name="Text 7"/>
          <p:cNvSpPr txBox="1"/>
          <p:nvPr/>
        </p:nvSpPr>
        <p:spPr>
          <a:xfrm>
            <a:off x="4632808" y="2697480"/>
            <a:ext cx="2926080" cy="365760"/>
          </a:xfrm>
          <a:prstGeom prst="rect">
            <a:avLst/>
          </a:prstGeom>
          <a:noFill/>
          <a:ln/>
        </p:spPr>
        <p:txBody>
          <a:bodyPr wrap="square" lIns="0" tIns="0" rIns="0" bIns="0" rtlCol="0" anchor="t"/>
          <a:lstStyle/>
          <a:p>
            <a:pPr rtl="1" algn="ctr" indent="0" marL="0">
              <a:buNone/>
            </a:pPr>
            <a:r>
              <a:rPr lang="fa-IR" altLang="en-US" sz="1700" b="1" dirty="0">
                <a:solidFill>
                  <a:schemeClr val="tx2"/>
                </a:solidFill>
              </a:rPr>
              <a:t>نوبر</a:t>
            </a:r>
            <a:endParaRPr lang="fa-IR" sz="1700" dirty="0"/>
          </a:p>
        </p:txBody>
      </p:sp>
      <p:sp>
        <p:nvSpPr>
          <p:cNvPr id="13" name="Text 8"/>
          <p:cNvSpPr txBox="1"/>
          <p:nvPr/>
        </p:nvSpPr>
        <p:spPr>
          <a:xfrm>
            <a:off x="4632808" y="3044952"/>
            <a:ext cx="2926080" cy="320040"/>
          </a:xfrm>
          <a:prstGeom prst="rect">
            <a:avLst/>
          </a:prstGeom>
          <a:noFill/>
          <a:ln/>
        </p:spPr>
        <p:txBody>
          <a:bodyPr wrap="square" lIns="0" tIns="0" rIns="0" bIns="0" rtlCol="0" anchor="t"/>
          <a:lstStyle/>
          <a:p>
            <a:pPr rtl="1" algn="ctr" indent="0" marL="0">
              <a:buNone/>
            </a:pPr>
            <a:r>
              <a:rPr lang="fa-IR" altLang="en-US" sz="1300" dirty="0">
                <a:solidFill>
                  <a:srgbClr val="5E6E62"/>
                </a:solidFill>
              </a:rPr>
              <a:t>جستجو، سفارش، پرداخت، ارسال</a:t>
            </a:r>
            <a:endParaRPr lang="fa-IR" sz="1300" dirty="0"/>
          </a:p>
        </p:txBody>
      </p:sp>
      <p:sp>
        <p:nvSpPr>
          <p:cNvPr id="14" name="Shape 9"/>
          <p:cNvSpPr/>
          <p:nvPr/>
        </p:nvSpPr>
        <p:spPr>
          <a:xfrm>
            <a:off x="2697480" y="2148840"/>
            <a:ext cx="2712568" cy="0"/>
          </a:xfrm>
          <a:prstGeom prst="line">
            <a:avLst/>
          </a:prstGeom>
          <a:noFill/>
          <a:ln w="22225">
            <a:solidFill>
              <a:schemeClr val="tx2"/>
            </a:solidFill>
            <a:prstDash val="solid"/>
            <a:headEnd type="triangle"/>
          </a:ln>
        </p:spPr>
      </p:sp>
      <p:sp>
        <p:nvSpPr>
          <p:cNvPr id="15" name="Shape 10"/>
          <p:cNvSpPr/>
          <p:nvPr/>
        </p:nvSpPr>
        <p:spPr>
          <a:xfrm>
            <a:off x="1554480" y="1691640"/>
            <a:ext cx="914400" cy="914400"/>
          </a:xfrm>
          <a:prstGeom prst="ellipse">
            <a:avLst/>
          </a:prstGeom>
          <a:solidFill>
            <a:schemeClr val="accent1"/>
          </a:solidFill>
          <a:ln/>
        </p:spPr>
      </p:sp>
      <p:pic>
        <p:nvPicPr>
          <p:cNvPr id="16" name="Image 2" descr="LuUsers">    </p:cNvPr>
          <p:cNvPicPr>
            <a:picLocks noChangeAspect="1"/>
          </p:cNvPicPr>
          <p:nvPr/>
        </p:nvPicPr>
        <p:blipFill>
          <a:blip r:embed="rId3"/>
          <a:stretch>
            <a:fillRect/>
          </a:stretch>
        </p:blipFill>
        <p:spPr>
          <a:xfrm>
            <a:off x="1755648" y="1892808"/>
            <a:ext cx="512064" cy="512064"/>
          </a:xfrm>
          <a:prstGeom prst="rect">
            <a:avLst/>
          </a:prstGeom>
        </p:spPr>
      </p:pic>
      <p:sp>
        <p:nvSpPr>
          <p:cNvPr id="17" name="Text 11"/>
          <p:cNvSpPr txBox="1"/>
          <p:nvPr/>
        </p:nvSpPr>
        <p:spPr>
          <a:xfrm>
            <a:off x="548640" y="2697480"/>
            <a:ext cx="2926080" cy="365760"/>
          </a:xfrm>
          <a:prstGeom prst="rect">
            <a:avLst/>
          </a:prstGeom>
          <a:noFill/>
          <a:ln/>
        </p:spPr>
        <p:txBody>
          <a:bodyPr wrap="square" lIns="0" tIns="0" rIns="0" bIns="0" rtlCol="0" anchor="t"/>
          <a:lstStyle/>
          <a:p>
            <a:pPr rtl="1" algn="ctr" indent="0" marL="0">
              <a:buNone/>
            </a:pPr>
            <a:r>
              <a:rPr lang="fa-IR" altLang="en-US" sz="1700" b="1" dirty="0">
                <a:solidFill>
                  <a:schemeClr val="tx2"/>
                </a:solidFill>
              </a:rPr>
              <a:t>خریدار همان شهر</a:t>
            </a:r>
            <a:endParaRPr lang="fa-IR" sz="1700" dirty="0"/>
          </a:p>
        </p:txBody>
      </p:sp>
      <p:sp>
        <p:nvSpPr>
          <p:cNvPr id="18" name="Text 12"/>
          <p:cNvSpPr txBox="1"/>
          <p:nvPr/>
        </p:nvSpPr>
        <p:spPr>
          <a:xfrm>
            <a:off x="548640" y="3044952"/>
            <a:ext cx="2926080" cy="320040"/>
          </a:xfrm>
          <a:prstGeom prst="rect">
            <a:avLst/>
          </a:prstGeom>
          <a:noFill/>
          <a:ln/>
        </p:spPr>
        <p:txBody>
          <a:bodyPr wrap="square" lIns="0" tIns="0" rIns="0" bIns="0" rtlCol="0" anchor="t"/>
          <a:lstStyle/>
          <a:p>
            <a:pPr rtl="1" algn="ctr" indent="0" marL="0">
              <a:buNone/>
            </a:pPr>
            <a:r>
              <a:rPr lang="fa-IR" altLang="en-US" sz="1300" dirty="0">
                <a:solidFill>
                  <a:srgbClr val="5E6E62"/>
                </a:solidFill>
              </a:rPr>
              <a:t>تازه، سریع، مطمئن</a:t>
            </a:r>
            <a:endParaRPr lang="fa-IR" sz="1300" dirty="0"/>
          </a:p>
        </p:txBody>
      </p:sp>
      <p:sp>
        <p:nvSpPr>
          <p:cNvPr id="19" name="Shape 13"/>
          <p:cNvSpPr/>
          <p:nvPr/>
        </p:nvSpPr>
        <p:spPr>
          <a:xfrm>
            <a:off x="8158277" y="3749040"/>
            <a:ext cx="3484778" cy="2331720"/>
          </a:xfrm>
          <a:prstGeom prst="roundRect">
            <a:avLst>
              <a:gd name="adj" fmla="val 4706"/>
            </a:avLst>
          </a:prstGeom>
          <a:solidFill>
            <a:schemeClr val="bg2"/>
          </a:solidFill>
          <a:ln/>
          <a:effectLst>
            <a:outerShdw sx="100000" sy="100000" kx="0" ky="0" algn="bl" rotWithShape="0" blurRad="101600" dist="25400" dir="5400000">
              <a:srgbClr val="1F4D2B">
                <a:alpha val="14000"/>
              </a:srgbClr>
            </a:outerShdw>
          </a:effectLst>
        </p:spPr>
      </p:sp>
      <p:sp>
        <p:nvSpPr>
          <p:cNvPr id="20" name="Shape 14"/>
          <p:cNvSpPr/>
          <p:nvPr/>
        </p:nvSpPr>
        <p:spPr>
          <a:xfrm>
            <a:off x="10728655" y="4023360"/>
            <a:ext cx="640080" cy="640080"/>
          </a:xfrm>
          <a:prstGeom prst="ellipse">
            <a:avLst/>
          </a:prstGeom>
          <a:solidFill>
            <a:schemeClr val="accent3"/>
          </a:solidFill>
          <a:ln/>
        </p:spPr>
      </p:sp>
      <p:pic>
        <p:nvPicPr>
          <p:cNvPr id="21" name="Image 3" descr="LuLeaf">    </p:cNvPr>
          <p:cNvPicPr>
            <a:picLocks noChangeAspect="1"/>
          </p:cNvPicPr>
          <p:nvPr/>
        </p:nvPicPr>
        <p:blipFill>
          <a:blip r:embed="rId4"/>
          <a:stretch>
            <a:fillRect/>
          </a:stretch>
        </p:blipFill>
        <p:spPr>
          <a:xfrm>
            <a:off x="10869473" y="4164178"/>
            <a:ext cx="358445" cy="358445"/>
          </a:xfrm>
          <a:prstGeom prst="rect">
            <a:avLst/>
          </a:prstGeom>
        </p:spPr>
      </p:pic>
      <p:sp>
        <p:nvSpPr>
          <p:cNvPr id="22" name="Text 15"/>
          <p:cNvSpPr txBox="1"/>
          <p:nvPr/>
        </p:nvSpPr>
        <p:spPr>
          <a:xfrm>
            <a:off x="8432597" y="4023360"/>
            <a:ext cx="2113178" cy="640080"/>
          </a:xfrm>
          <a:prstGeom prst="rect">
            <a:avLst/>
          </a:prstGeom>
          <a:noFill/>
          <a:ln/>
        </p:spPr>
        <p:txBody>
          <a:bodyPr wrap="square" lIns="0" tIns="0" rIns="0" bIns="0" rtlCol="0" anchor="ctr"/>
          <a:lstStyle/>
          <a:p>
            <a:pPr rtl="1" algn="r" indent="0" marL="0">
              <a:buNone/>
            </a:pPr>
            <a:r>
              <a:rPr lang="fa-IR" altLang="en-US" sz="2000" b="1" dirty="0">
                <a:solidFill>
                  <a:schemeClr val="tx2"/>
                </a:solidFill>
              </a:rPr>
              <a:t>تازگی</a:t>
            </a:r>
            <a:endParaRPr lang="fa-IR" sz="2000" dirty="0"/>
          </a:p>
        </p:txBody>
      </p:sp>
      <p:sp>
        <p:nvSpPr>
          <p:cNvPr id="23" name="Text 16"/>
          <p:cNvSpPr txBox="1"/>
          <p:nvPr/>
        </p:nvSpPr>
        <p:spPr>
          <a:xfrm>
            <a:off x="8432597" y="4846320"/>
            <a:ext cx="2936138" cy="1051560"/>
          </a:xfrm>
          <a:prstGeom prst="rect">
            <a:avLst/>
          </a:prstGeom>
          <a:noFill/>
          <a:ln/>
        </p:spPr>
        <p:txBody>
          <a:bodyPr wrap="square" lIns="0" tIns="0" rIns="0" bIns="0" rtlCol="0" anchor="t"/>
          <a:lstStyle/>
          <a:p>
            <a:pPr rtl="1" algn="r" indent="0" marL="0">
              <a:buNone/>
            </a:pPr>
            <a:r>
              <a:rPr lang="fa-IR" altLang="en-US" sz="1500" dirty="0">
                <a:solidFill>
                  <a:schemeClr val="tx1"/>
                </a:solidFill>
              </a:rPr>
              <a:t>تاریخ برداشت و «ساعت تازگی» روی هر محصول؛ نوبر یعنی نخستین میوه‌ی فصل</a:t>
            </a:r>
            <a:endParaRPr lang="fa-IR" sz="1500" dirty="0"/>
          </a:p>
        </p:txBody>
      </p:sp>
      <p:sp>
        <p:nvSpPr>
          <p:cNvPr id="24" name="Shape 17"/>
          <p:cNvSpPr/>
          <p:nvPr/>
        </p:nvSpPr>
        <p:spPr>
          <a:xfrm>
            <a:off x="4353458" y="3749040"/>
            <a:ext cx="3484778" cy="2331720"/>
          </a:xfrm>
          <a:prstGeom prst="roundRect">
            <a:avLst>
              <a:gd name="adj" fmla="val 4706"/>
            </a:avLst>
          </a:prstGeom>
          <a:solidFill>
            <a:schemeClr val="bg2"/>
          </a:solidFill>
          <a:ln/>
          <a:effectLst>
            <a:outerShdw sx="100000" sy="100000" kx="0" ky="0" algn="bl" rotWithShape="0" blurRad="101600" dist="25400" dir="5400000">
              <a:srgbClr val="1F4D2B">
                <a:alpha val="14000"/>
              </a:srgbClr>
            </a:outerShdw>
          </a:effectLst>
        </p:spPr>
      </p:sp>
      <p:sp>
        <p:nvSpPr>
          <p:cNvPr id="25" name="Shape 18"/>
          <p:cNvSpPr/>
          <p:nvPr/>
        </p:nvSpPr>
        <p:spPr>
          <a:xfrm>
            <a:off x="6923837" y="4023360"/>
            <a:ext cx="640080" cy="640080"/>
          </a:xfrm>
          <a:prstGeom prst="ellipse">
            <a:avLst/>
          </a:prstGeom>
          <a:solidFill>
            <a:schemeClr val="accent2"/>
          </a:solidFill>
          <a:ln/>
        </p:spPr>
      </p:sp>
      <p:pic>
        <p:nvPicPr>
          <p:cNvPr id="26" name="Image 4" descr="LuTruck">    </p:cNvPr>
          <p:cNvPicPr>
            <a:picLocks noChangeAspect="1"/>
          </p:cNvPicPr>
          <p:nvPr/>
        </p:nvPicPr>
        <p:blipFill>
          <a:blip r:embed="rId5"/>
          <a:stretch>
            <a:fillRect/>
          </a:stretch>
        </p:blipFill>
        <p:spPr>
          <a:xfrm>
            <a:off x="7064654" y="4164178"/>
            <a:ext cx="358445" cy="358445"/>
          </a:xfrm>
          <a:prstGeom prst="rect">
            <a:avLst/>
          </a:prstGeom>
        </p:spPr>
      </p:pic>
      <p:sp>
        <p:nvSpPr>
          <p:cNvPr id="27" name="Text 19"/>
          <p:cNvSpPr txBox="1"/>
          <p:nvPr/>
        </p:nvSpPr>
        <p:spPr>
          <a:xfrm>
            <a:off x="4627778" y="4023360"/>
            <a:ext cx="2113178" cy="640080"/>
          </a:xfrm>
          <a:prstGeom prst="rect">
            <a:avLst/>
          </a:prstGeom>
          <a:noFill/>
          <a:ln/>
        </p:spPr>
        <p:txBody>
          <a:bodyPr wrap="square" lIns="0" tIns="0" rIns="0" bIns="0" rtlCol="0" anchor="ctr"/>
          <a:lstStyle/>
          <a:p>
            <a:pPr rtl="1" algn="r" indent="0" marL="0">
              <a:buNone/>
            </a:pPr>
            <a:r>
              <a:rPr lang="fa-IR" altLang="en-US" sz="2000" b="1" dirty="0">
                <a:solidFill>
                  <a:schemeClr val="tx2"/>
                </a:solidFill>
              </a:rPr>
              <a:t>سرعت تحویل</a:t>
            </a:r>
            <a:endParaRPr lang="fa-IR" sz="2000" dirty="0"/>
          </a:p>
        </p:txBody>
      </p:sp>
      <p:sp>
        <p:nvSpPr>
          <p:cNvPr id="28" name="Text 20"/>
          <p:cNvSpPr txBox="1"/>
          <p:nvPr/>
        </p:nvSpPr>
        <p:spPr>
          <a:xfrm>
            <a:off x="4627778" y="4846320"/>
            <a:ext cx="2936138" cy="1051560"/>
          </a:xfrm>
          <a:prstGeom prst="rect">
            <a:avLst/>
          </a:prstGeom>
          <a:noFill/>
          <a:ln/>
        </p:spPr>
        <p:txBody>
          <a:bodyPr wrap="square" lIns="0" tIns="0" rIns="0" bIns="0" rtlCol="0" anchor="t"/>
          <a:lstStyle/>
          <a:p>
            <a:pPr rtl="1" algn="r" indent="0" marL="0">
              <a:buNone/>
            </a:pPr>
            <a:r>
              <a:rPr lang="fa-IR" altLang="en-US" sz="1500" dirty="0">
                <a:solidFill>
                  <a:schemeClr val="tx1"/>
                </a:solidFill>
              </a:rPr>
              <a:t>فروشنده و خریدار در یک شهر؛ محدوده‌ی ارسال و بازه‌ی زمانی تحویل مشخص</a:t>
            </a:r>
            <a:endParaRPr lang="fa-IR" sz="1500" dirty="0"/>
          </a:p>
        </p:txBody>
      </p:sp>
      <p:sp>
        <p:nvSpPr>
          <p:cNvPr id="29" name="Shape 21"/>
          <p:cNvSpPr/>
          <p:nvPr/>
        </p:nvSpPr>
        <p:spPr>
          <a:xfrm>
            <a:off x="548640" y="3749040"/>
            <a:ext cx="3484778" cy="2331720"/>
          </a:xfrm>
          <a:prstGeom prst="roundRect">
            <a:avLst>
              <a:gd name="adj" fmla="val 4706"/>
            </a:avLst>
          </a:prstGeom>
          <a:solidFill>
            <a:schemeClr val="bg2"/>
          </a:solidFill>
          <a:ln/>
          <a:effectLst>
            <a:outerShdw sx="100000" sy="100000" kx="0" ky="0" algn="bl" rotWithShape="0" blurRad="101600" dist="25400" dir="5400000">
              <a:srgbClr val="1F4D2B">
                <a:alpha val="14000"/>
              </a:srgbClr>
            </a:outerShdw>
          </a:effectLst>
        </p:spPr>
      </p:sp>
      <p:sp>
        <p:nvSpPr>
          <p:cNvPr id="30" name="Shape 22"/>
          <p:cNvSpPr/>
          <p:nvPr/>
        </p:nvSpPr>
        <p:spPr>
          <a:xfrm>
            <a:off x="3119018" y="4023360"/>
            <a:ext cx="640080" cy="640080"/>
          </a:xfrm>
          <a:prstGeom prst="ellipse">
            <a:avLst/>
          </a:prstGeom>
          <a:solidFill>
            <a:schemeClr val="accent1"/>
          </a:solidFill>
          <a:ln/>
        </p:spPr>
      </p:sp>
      <p:pic>
        <p:nvPicPr>
          <p:cNvPr id="31" name="Image 5" descr="LuShieldCheck">    </p:cNvPr>
          <p:cNvPicPr>
            <a:picLocks noChangeAspect="1"/>
          </p:cNvPicPr>
          <p:nvPr/>
        </p:nvPicPr>
        <p:blipFill>
          <a:blip r:embed="rId6"/>
          <a:stretch>
            <a:fillRect/>
          </a:stretch>
        </p:blipFill>
        <p:spPr>
          <a:xfrm>
            <a:off x="3259836" y="4164178"/>
            <a:ext cx="358445" cy="358445"/>
          </a:xfrm>
          <a:prstGeom prst="rect">
            <a:avLst/>
          </a:prstGeom>
        </p:spPr>
      </p:pic>
      <p:sp>
        <p:nvSpPr>
          <p:cNvPr id="32" name="Text 23"/>
          <p:cNvSpPr txBox="1"/>
          <p:nvPr/>
        </p:nvSpPr>
        <p:spPr>
          <a:xfrm>
            <a:off x="822960" y="4023360"/>
            <a:ext cx="2113178" cy="640080"/>
          </a:xfrm>
          <a:prstGeom prst="rect">
            <a:avLst/>
          </a:prstGeom>
          <a:noFill/>
          <a:ln/>
        </p:spPr>
        <p:txBody>
          <a:bodyPr wrap="square" lIns="0" tIns="0" rIns="0" bIns="0" rtlCol="0" anchor="ctr"/>
          <a:lstStyle/>
          <a:p>
            <a:pPr rtl="1" algn="r" indent="0" marL="0">
              <a:buNone/>
            </a:pPr>
            <a:r>
              <a:rPr lang="fa-IR" altLang="en-US" sz="2000" b="1" dirty="0">
                <a:solidFill>
                  <a:schemeClr val="tx2"/>
                </a:solidFill>
              </a:rPr>
              <a:t>اعتماد</a:t>
            </a:r>
            <a:endParaRPr lang="fa-IR" sz="2000" dirty="0"/>
          </a:p>
        </p:txBody>
      </p:sp>
      <p:sp>
        <p:nvSpPr>
          <p:cNvPr id="33" name="Text 24"/>
          <p:cNvSpPr txBox="1"/>
          <p:nvPr/>
        </p:nvSpPr>
        <p:spPr>
          <a:xfrm>
            <a:off x="822960" y="4846320"/>
            <a:ext cx="2936138" cy="1051560"/>
          </a:xfrm>
          <a:prstGeom prst="rect">
            <a:avLst/>
          </a:prstGeom>
          <a:noFill/>
          <a:ln/>
        </p:spPr>
        <p:txBody>
          <a:bodyPr wrap="square" lIns="0" tIns="0" rIns="0" bIns="0" rtlCol="0" anchor="t"/>
          <a:lstStyle/>
          <a:p>
            <a:pPr rtl="1" algn="r" indent="0" marL="0">
              <a:buNone/>
            </a:pPr>
            <a:r>
              <a:rPr lang="fa-IR" altLang="en-US" sz="1500" dirty="0">
                <a:solidFill>
                  <a:schemeClr val="tx1"/>
                </a:solidFill>
              </a:rPr>
              <a:t>قیمت و موجودی دقیق، نظر فقط از خرید واقعی، پرداخت امن و قابل ممیزی</a:t>
            </a:r>
            <a:endParaRPr lang="fa-IR" sz="15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اصول طراحی</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هفت اصل که همه‌ی تصمیم‌های فنی از آن‌ها پیروی می‌کنند</a:t>
            </a:r>
            <a:endParaRPr lang="fa-IR" sz="1600" dirty="0"/>
          </a:p>
        </p:txBody>
      </p:sp>
      <p:sp>
        <p:nvSpPr>
          <p:cNvPr id="5" name="Shape 2"/>
          <p:cNvSpPr/>
          <p:nvPr/>
        </p:nvSpPr>
        <p:spPr>
          <a:xfrm>
            <a:off x="9075191" y="1691640"/>
            <a:ext cx="2567864"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6" name="Shape 3"/>
          <p:cNvSpPr/>
          <p:nvPr/>
        </p:nvSpPr>
        <p:spPr>
          <a:xfrm>
            <a:off x="10865815" y="1920240"/>
            <a:ext cx="548640" cy="548640"/>
          </a:xfrm>
          <a:prstGeom prst="ellipse">
            <a:avLst/>
          </a:prstGeom>
          <a:solidFill>
            <a:schemeClr val="accent1"/>
          </a:solidFill>
          <a:ln/>
        </p:spPr>
      </p:sp>
      <p:pic>
        <p:nvPicPr>
          <p:cNvPr id="7" name="Image 0" descr="LuCloud">    </p:cNvPr>
          <p:cNvPicPr>
            <a:picLocks noChangeAspect="1"/>
          </p:cNvPicPr>
          <p:nvPr/>
        </p:nvPicPr>
        <p:blipFill>
          <a:blip r:embed="rId1"/>
          <a:stretch>
            <a:fillRect/>
          </a:stretch>
        </p:blipFill>
        <p:spPr>
          <a:xfrm>
            <a:off x="10986516" y="2040941"/>
            <a:ext cx="307238" cy="307238"/>
          </a:xfrm>
          <a:prstGeom prst="rect">
            <a:avLst/>
          </a:prstGeom>
        </p:spPr>
      </p:pic>
      <p:sp>
        <p:nvSpPr>
          <p:cNvPr id="8" name="Text 4"/>
          <p:cNvSpPr txBox="1"/>
          <p:nvPr/>
        </p:nvSpPr>
        <p:spPr>
          <a:xfrm>
            <a:off x="9303791" y="2587752"/>
            <a:ext cx="2110664" cy="365760"/>
          </a:xfrm>
          <a:prstGeom prst="rect">
            <a:avLst/>
          </a:prstGeom>
          <a:noFill/>
          <a:ln/>
        </p:spPr>
        <p:txBody>
          <a:bodyPr wrap="square" lIns="0" tIns="0" rIns="0" bIns="0" rtlCol="0" anchor="t"/>
          <a:lstStyle/>
          <a:p>
            <a:pPr rtl="1" algn="r" indent="0" marL="0">
              <a:buNone/>
            </a:pPr>
            <a:r>
              <a:rPr lang="fa-IR" altLang="en-US" sz="1600" b="1" dirty="0">
                <a:solidFill>
                  <a:schemeClr val="tx2"/>
                </a:solidFill>
              </a:rPr>
              <a:t>Cloud-Native</a:t>
            </a:r>
            <a:endParaRPr lang="fa-IR" sz="1600" dirty="0"/>
          </a:p>
        </p:txBody>
      </p:sp>
      <p:sp>
        <p:nvSpPr>
          <p:cNvPr id="9" name="Text 5"/>
          <p:cNvSpPr txBox="1"/>
          <p:nvPr/>
        </p:nvSpPr>
        <p:spPr>
          <a:xfrm>
            <a:off x="9303791" y="2990088"/>
            <a:ext cx="2110664" cy="731520"/>
          </a:xfrm>
          <a:prstGeom prst="rect">
            <a:avLst/>
          </a:prstGeom>
          <a:noFill/>
          <a:ln/>
        </p:spPr>
        <p:txBody>
          <a:bodyPr wrap="square" lIns="0" tIns="0" rIns="0" bIns="0" rtlCol="0" anchor="t"/>
          <a:lstStyle/>
          <a:p>
            <a:pPr rtl="1" algn="r" indent="0" marL="0">
              <a:buNone/>
            </a:pPr>
            <a:r>
              <a:rPr lang="fa-IR" altLang="en-US" sz="1400" dirty="0">
                <a:solidFill>
                  <a:schemeClr val="tx1"/>
                </a:solidFill>
              </a:rPr>
              <a:t>کانتینری، بدون وضعیت، مقیاس‌پذیر افقی و خودترمیم</a:t>
            </a:r>
            <a:endParaRPr lang="fa-IR" sz="1400" dirty="0"/>
          </a:p>
        </p:txBody>
      </p:sp>
      <p:sp>
        <p:nvSpPr>
          <p:cNvPr id="10" name="Shape 6"/>
          <p:cNvSpPr/>
          <p:nvPr/>
        </p:nvSpPr>
        <p:spPr>
          <a:xfrm>
            <a:off x="6233008" y="1691640"/>
            <a:ext cx="2567864"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11" name="Shape 7"/>
          <p:cNvSpPr/>
          <p:nvPr/>
        </p:nvSpPr>
        <p:spPr>
          <a:xfrm>
            <a:off x="8023631" y="1920240"/>
            <a:ext cx="548640" cy="548640"/>
          </a:xfrm>
          <a:prstGeom prst="ellipse">
            <a:avLst/>
          </a:prstGeom>
          <a:solidFill>
            <a:schemeClr val="accent1"/>
          </a:solidFill>
          <a:ln/>
        </p:spPr>
      </p:sp>
      <p:pic>
        <p:nvPicPr>
          <p:cNvPr id="12" name="Image 1" descr="LuBoxes">    </p:cNvPr>
          <p:cNvPicPr>
            <a:picLocks noChangeAspect="1"/>
          </p:cNvPicPr>
          <p:nvPr/>
        </p:nvPicPr>
        <p:blipFill>
          <a:blip r:embed="rId2"/>
          <a:stretch>
            <a:fillRect/>
          </a:stretch>
        </p:blipFill>
        <p:spPr>
          <a:xfrm>
            <a:off x="8144332" y="2040941"/>
            <a:ext cx="307238" cy="307238"/>
          </a:xfrm>
          <a:prstGeom prst="rect">
            <a:avLst/>
          </a:prstGeom>
        </p:spPr>
      </p:pic>
      <p:sp>
        <p:nvSpPr>
          <p:cNvPr id="13" name="Text 8"/>
          <p:cNvSpPr txBox="1"/>
          <p:nvPr/>
        </p:nvSpPr>
        <p:spPr>
          <a:xfrm>
            <a:off x="6461608" y="2587752"/>
            <a:ext cx="2110664" cy="365760"/>
          </a:xfrm>
          <a:prstGeom prst="rect">
            <a:avLst/>
          </a:prstGeom>
          <a:noFill/>
          <a:ln/>
        </p:spPr>
        <p:txBody>
          <a:bodyPr wrap="square" lIns="0" tIns="0" rIns="0" bIns="0" rtlCol="0" anchor="t"/>
          <a:lstStyle/>
          <a:p>
            <a:pPr rtl="1" algn="r" indent="0" marL="0">
              <a:buNone/>
            </a:pPr>
            <a:r>
              <a:rPr lang="fa-IR" altLang="en-US" sz="1600" b="1" dirty="0">
                <a:solidFill>
                  <a:schemeClr val="tx2"/>
                </a:solidFill>
              </a:rPr>
              <a:t>Domain-Driven</a:t>
            </a:r>
            <a:endParaRPr lang="fa-IR" sz="1600" dirty="0"/>
          </a:p>
        </p:txBody>
      </p:sp>
      <p:sp>
        <p:nvSpPr>
          <p:cNvPr id="14" name="Text 9"/>
          <p:cNvSpPr txBox="1"/>
          <p:nvPr/>
        </p:nvSpPr>
        <p:spPr>
          <a:xfrm>
            <a:off x="6461608" y="2990088"/>
            <a:ext cx="2110664" cy="731520"/>
          </a:xfrm>
          <a:prstGeom prst="rect">
            <a:avLst/>
          </a:prstGeom>
          <a:noFill/>
          <a:ln/>
        </p:spPr>
        <p:txBody>
          <a:bodyPr wrap="square" lIns="0" tIns="0" rIns="0" bIns="0" rtlCol="0" anchor="t"/>
          <a:lstStyle/>
          <a:p>
            <a:pPr rtl="1" algn="r" indent="0" marL="0">
              <a:buNone/>
            </a:pPr>
            <a:r>
              <a:rPr lang="fa-IR" altLang="en-US" sz="1400" dirty="0">
                <a:solidFill>
                  <a:schemeClr val="tx1"/>
                </a:solidFill>
              </a:rPr>
              <a:t>مرز سرویس‌ها همان مرز دامنه‌های کسب‌وکار است</a:t>
            </a:r>
            <a:endParaRPr lang="fa-IR" sz="1400" dirty="0"/>
          </a:p>
        </p:txBody>
      </p:sp>
      <p:sp>
        <p:nvSpPr>
          <p:cNvPr id="15" name="Shape 10"/>
          <p:cNvSpPr/>
          <p:nvPr/>
        </p:nvSpPr>
        <p:spPr>
          <a:xfrm>
            <a:off x="3390824" y="1691640"/>
            <a:ext cx="2567864"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16" name="Shape 11"/>
          <p:cNvSpPr/>
          <p:nvPr/>
        </p:nvSpPr>
        <p:spPr>
          <a:xfrm>
            <a:off x="5181448" y="1920240"/>
            <a:ext cx="548640" cy="548640"/>
          </a:xfrm>
          <a:prstGeom prst="ellipse">
            <a:avLst/>
          </a:prstGeom>
          <a:solidFill>
            <a:schemeClr val="accent1"/>
          </a:solidFill>
          <a:ln/>
        </p:spPr>
      </p:sp>
      <p:pic>
        <p:nvPicPr>
          <p:cNvPr id="17" name="Image 2" descr="LuZap">    </p:cNvPr>
          <p:cNvPicPr>
            <a:picLocks noChangeAspect="1"/>
          </p:cNvPicPr>
          <p:nvPr/>
        </p:nvPicPr>
        <p:blipFill>
          <a:blip r:embed="rId3"/>
          <a:stretch>
            <a:fillRect/>
          </a:stretch>
        </p:blipFill>
        <p:spPr>
          <a:xfrm>
            <a:off x="5302148" y="2040941"/>
            <a:ext cx="307238" cy="307238"/>
          </a:xfrm>
          <a:prstGeom prst="rect">
            <a:avLst/>
          </a:prstGeom>
        </p:spPr>
      </p:pic>
      <p:sp>
        <p:nvSpPr>
          <p:cNvPr id="18" name="Text 12"/>
          <p:cNvSpPr txBox="1"/>
          <p:nvPr/>
        </p:nvSpPr>
        <p:spPr>
          <a:xfrm>
            <a:off x="3619424" y="2587752"/>
            <a:ext cx="2110664" cy="365760"/>
          </a:xfrm>
          <a:prstGeom prst="rect">
            <a:avLst/>
          </a:prstGeom>
          <a:noFill/>
          <a:ln/>
        </p:spPr>
        <p:txBody>
          <a:bodyPr wrap="square" lIns="0" tIns="0" rIns="0" bIns="0" rtlCol="0" anchor="t"/>
          <a:lstStyle/>
          <a:p>
            <a:pPr rtl="1" algn="r" indent="0" marL="0">
              <a:buNone/>
            </a:pPr>
            <a:r>
              <a:rPr lang="fa-IR" altLang="en-US" sz="1600" b="1" dirty="0">
                <a:solidFill>
                  <a:schemeClr val="tx2"/>
                </a:solidFill>
              </a:rPr>
              <a:t>Event-Driven</a:t>
            </a:r>
            <a:endParaRPr lang="fa-IR" sz="1600" dirty="0"/>
          </a:p>
        </p:txBody>
      </p:sp>
      <p:sp>
        <p:nvSpPr>
          <p:cNvPr id="19" name="Text 13"/>
          <p:cNvSpPr txBox="1"/>
          <p:nvPr/>
        </p:nvSpPr>
        <p:spPr>
          <a:xfrm>
            <a:off x="3619424" y="2990088"/>
            <a:ext cx="2110664" cy="731520"/>
          </a:xfrm>
          <a:prstGeom prst="rect">
            <a:avLst/>
          </a:prstGeom>
          <a:noFill/>
          <a:ln/>
        </p:spPr>
        <p:txBody>
          <a:bodyPr wrap="square" lIns="0" tIns="0" rIns="0" bIns="0" rtlCol="0" anchor="t"/>
          <a:lstStyle/>
          <a:p>
            <a:pPr rtl="1" algn="r" indent="0" marL="0">
              <a:buNone/>
            </a:pPr>
            <a:r>
              <a:rPr lang="fa-IR" altLang="en-US" sz="1400" dirty="0">
                <a:solidFill>
                  <a:schemeClr val="tx1"/>
                </a:solidFill>
              </a:rPr>
              <a:t>ارتباط ناهمگام با رویداد برای کاهش وابستگی</a:t>
            </a:r>
            <a:endParaRPr lang="fa-IR" sz="1400" dirty="0"/>
          </a:p>
        </p:txBody>
      </p:sp>
      <p:sp>
        <p:nvSpPr>
          <p:cNvPr id="20" name="Shape 14"/>
          <p:cNvSpPr/>
          <p:nvPr/>
        </p:nvSpPr>
        <p:spPr>
          <a:xfrm>
            <a:off x="548640" y="1691640"/>
            <a:ext cx="2567864"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21" name="Shape 15"/>
          <p:cNvSpPr/>
          <p:nvPr/>
        </p:nvSpPr>
        <p:spPr>
          <a:xfrm>
            <a:off x="2339264" y="1920240"/>
            <a:ext cx="548640" cy="548640"/>
          </a:xfrm>
          <a:prstGeom prst="ellipse">
            <a:avLst/>
          </a:prstGeom>
          <a:solidFill>
            <a:schemeClr val="accent2"/>
          </a:solidFill>
          <a:ln/>
        </p:spPr>
      </p:sp>
      <p:pic>
        <p:nvPicPr>
          <p:cNvPr id="22" name="Image 3" descr="LuMapPin">    </p:cNvPr>
          <p:cNvPicPr>
            <a:picLocks noChangeAspect="1"/>
          </p:cNvPicPr>
          <p:nvPr/>
        </p:nvPicPr>
        <p:blipFill>
          <a:blip r:embed="rId4"/>
          <a:stretch>
            <a:fillRect/>
          </a:stretch>
        </p:blipFill>
        <p:spPr>
          <a:xfrm>
            <a:off x="2459965" y="2040941"/>
            <a:ext cx="307238" cy="307238"/>
          </a:xfrm>
          <a:prstGeom prst="rect">
            <a:avLst/>
          </a:prstGeom>
        </p:spPr>
      </p:pic>
      <p:sp>
        <p:nvSpPr>
          <p:cNvPr id="23" name="Text 16"/>
          <p:cNvSpPr txBox="1"/>
          <p:nvPr/>
        </p:nvSpPr>
        <p:spPr>
          <a:xfrm>
            <a:off x="777240" y="2587752"/>
            <a:ext cx="2110664" cy="365760"/>
          </a:xfrm>
          <a:prstGeom prst="rect">
            <a:avLst/>
          </a:prstGeom>
          <a:noFill/>
          <a:ln/>
        </p:spPr>
        <p:txBody>
          <a:bodyPr wrap="square" lIns="0" tIns="0" rIns="0" bIns="0" rtlCol="0" anchor="t"/>
          <a:lstStyle/>
          <a:p>
            <a:pPr rtl="1" algn="r" indent="0" marL="0">
              <a:buNone/>
            </a:pPr>
            <a:r>
              <a:rPr lang="fa-IR" altLang="en-US" sz="1600" b="1" dirty="0">
                <a:solidFill>
                  <a:schemeClr val="tx2"/>
                </a:solidFill>
              </a:rPr>
              <a:t>City-First</a:t>
            </a:r>
            <a:endParaRPr lang="fa-IR" sz="1600" dirty="0"/>
          </a:p>
        </p:txBody>
      </p:sp>
      <p:sp>
        <p:nvSpPr>
          <p:cNvPr id="24" name="Text 17"/>
          <p:cNvSpPr txBox="1"/>
          <p:nvPr/>
        </p:nvSpPr>
        <p:spPr>
          <a:xfrm>
            <a:off x="777240" y="2990088"/>
            <a:ext cx="2110664" cy="731520"/>
          </a:xfrm>
          <a:prstGeom prst="rect">
            <a:avLst/>
          </a:prstGeom>
          <a:noFill/>
          <a:ln/>
        </p:spPr>
        <p:txBody>
          <a:bodyPr wrap="square" lIns="0" tIns="0" rIns="0" bIns="0" rtlCol="0" anchor="t"/>
          <a:lstStyle/>
          <a:p>
            <a:pPr rtl="1" algn="r" indent="0" marL="0">
              <a:buNone/>
            </a:pPr>
            <a:r>
              <a:rPr lang="fa-IR" altLang="en-US" sz="1400" dirty="0">
                <a:solidFill>
                  <a:schemeClr val="tx1"/>
                </a:solidFill>
              </a:rPr>
              <a:t>جستجو، موجودی و ارسال بر اساس شهر تقسیم می‌شوند</a:t>
            </a:r>
            <a:endParaRPr lang="fa-IR" sz="1400" dirty="0"/>
          </a:p>
        </p:txBody>
      </p:sp>
      <p:sp>
        <p:nvSpPr>
          <p:cNvPr id="25" name="Shape 18"/>
          <p:cNvSpPr/>
          <p:nvPr/>
        </p:nvSpPr>
        <p:spPr>
          <a:xfrm>
            <a:off x="7654100" y="4023360"/>
            <a:ext cx="2567864"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26" name="Shape 19"/>
          <p:cNvSpPr/>
          <p:nvPr/>
        </p:nvSpPr>
        <p:spPr>
          <a:xfrm>
            <a:off x="9444723" y="4251960"/>
            <a:ext cx="548640" cy="548640"/>
          </a:xfrm>
          <a:prstGeom prst="ellipse">
            <a:avLst/>
          </a:prstGeom>
          <a:solidFill>
            <a:schemeClr val="accent2"/>
          </a:solidFill>
          <a:ln/>
        </p:spPr>
      </p:sp>
      <p:pic>
        <p:nvPicPr>
          <p:cNvPr id="27" name="Image 4" descr="LuSparkles">    </p:cNvPr>
          <p:cNvPicPr>
            <a:picLocks noChangeAspect="1"/>
          </p:cNvPicPr>
          <p:nvPr/>
        </p:nvPicPr>
        <p:blipFill>
          <a:blip r:embed="rId5"/>
          <a:stretch>
            <a:fillRect/>
          </a:stretch>
        </p:blipFill>
        <p:spPr>
          <a:xfrm>
            <a:off x="9565424" y="4372661"/>
            <a:ext cx="307238" cy="307238"/>
          </a:xfrm>
          <a:prstGeom prst="rect">
            <a:avLst/>
          </a:prstGeom>
        </p:spPr>
      </p:pic>
      <p:sp>
        <p:nvSpPr>
          <p:cNvPr id="28" name="Text 20"/>
          <p:cNvSpPr txBox="1"/>
          <p:nvPr/>
        </p:nvSpPr>
        <p:spPr>
          <a:xfrm>
            <a:off x="7882700" y="4919472"/>
            <a:ext cx="2110664" cy="365760"/>
          </a:xfrm>
          <a:prstGeom prst="rect">
            <a:avLst/>
          </a:prstGeom>
          <a:noFill/>
          <a:ln/>
        </p:spPr>
        <p:txBody>
          <a:bodyPr wrap="square" lIns="0" tIns="0" rIns="0" bIns="0" rtlCol="0" anchor="t"/>
          <a:lstStyle/>
          <a:p>
            <a:pPr rtl="1" algn="r" indent="0" marL="0">
              <a:buNone/>
            </a:pPr>
            <a:r>
              <a:rPr lang="fa-IR" altLang="en-US" sz="1600" b="1" dirty="0">
                <a:solidFill>
                  <a:schemeClr val="tx2"/>
                </a:solidFill>
              </a:rPr>
              <a:t>AI-Native</a:t>
            </a:r>
            <a:endParaRPr lang="fa-IR" sz="1600" dirty="0"/>
          </a:p>
        </p:txBody>
      </p:sp>
      <p:sp>
        <p:nvSpPr>
          <p:cNvPr id="29" name="Text 21"/>
          <p:cNvSpPr txBox="1"/>
          <p:nvPr/>
        </p:nvSpPr>
        <p:spPr>
          <a:xfrm>
            <a:off x="7882700" y="5321808"/>
            <a:ext cx="2110664" cy="731520"/>
          </a:xfrm>
          <a:prstGeom prst="rect">
            <a:avLst/>
          </a:prstGeom>
          <a:noFill/>
          <a:ln/>
        </p:spPr>
        <p:txBody>
          <a:bodyPr wrap="square" lIns="0" tIns="0" rIns="0" bIns="0" rtlCol="0" anchor="t"/>
          <a:lstStyle/>
          <a:p>
            <a:pPr rtl="1" algn="r" indent="0" marL="0">
              <a:buNone/>
            </a:pPr>
            <a:r>
              <a:rPr lang="fa-IR" altLang="en-US" sz="1400" dirty="0">
                <a:solidFill>
                  <a:schemeClr val="tx1"/>
                </a:solidFill>
              </a:rPr>
              <a:t>هوش مصنوعی بخشی از تجربه‌ی اصلی خرید است، نه افزونه</a:t>
            </a:r>
            <a:endParaRPr lang="fa-IR" sz="1400" dirty="0"/>
          </a:p>
        </p:txBody>
      </p:sp>
      <p:sp>
        <p:nvSpPr>
          <p:cNvPr id="30" name="Shape 22"/>
          <p:cNvSpPr/>
          <p:nvPr/>
        </p:nvSpPr>
        <p:spPr>
          <a:xfrm>
            <a:off x="4811916" y="4023360"/>
            <a:ext cx="2567864"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31" name="Shape 23"/>
          <p:cNvSpPr/>
          <p:nvPr/>
        </p:nvSpPr>
        <p:spPr>
          <a:xfrm>
            <a:off x="6602540" y="4251960"/>
            <a:ext cx="548640" cy="548640"/>
          </a:xfrm>
          <a:prstGeom prst="ellipse">
            <a:avLst/>
          </a:prstGeom>
          <a:solidFill>
            <a:schemeClr val="accent2"/>
          </a:solidFill>
          <a:ln/>
        </p:spPr>
      </p:sp>
      <p:pic>
        <p:nvPicPr>
          <p:cNvPr id="32" name="Image 5" descr="LuLanguages">    </p:cNvPr>
          <p:cNvPicPr>
            <a:picLocks noChangeAspect="1"/>
          </p:cNvPicPr>
          <p:nvPr/>
        </p:nvPicPr>
        <p:blipFill>
          <a:blip r:embed="rId6"/>
          <a:stretch>
            <a:fillRect/>
          </a:stretch>
        </p:blipFill>
        <p:spPr>
          <a:xfrm>
            <a:off x="6723240" y="4372661"/>
            <a:ext cx="307238" cy="307238"/>
          </a:xfrm>
          <a:prstGeom prst="rect">
            <a:avLst/>
          </a:prstGeom>
        </p:spPr>
      </p:pic>
      <p:sp>
        <p:nvSpPr>
          <p:cNvPr id="33" name="Text 24"/>
          <p:cNvSpPr txBox="1"/>
          <p:nvPr/>
        </p:nvSpPr>
        <p:spPr>
          <a:xfrm>
            <a:off x="5040516" y="4919472"/>
            <a:ext cx="2110664" cy="365760"/>
          </a:xfrm>
          <a:prstGeom prst="rect">
            <a:avLst/>
          </a:prstGeom>
          <a:noFill/>
          <a:ln/>
        </p:spPr>
        <p:txBody>
          <a:bodyPr wrap="square" lIns="0" tIns="0" rIns="0" bIns="0" rtlCol="0" anchor="t"/>
          <a:lstStyle/>
          <a:p>
            <a:pPr rtl="1" algn="r" indent="0" marL="0">
              <a:buNone/>
            </a:pPr>
            <a:r>
              <a:rPr lang="fa-IR" altLang="en-US" sz="1600" b="1" dirty="0">
                <a:solidFill>
                  <a:schemeClr val="tx2"/>
                </a:solidFill>
              </a:rPr>
              <a:t>Persian-First</a:t>
            </a:r>
            <a:endParaRPr lang="fa-IR" sz="1600" dirty="0"/>
          </a:p>
        </p:txBody>
      </p:sp>
      <p:sp>
        <p:nvSpPr>
          <p:cNvPr id="34" name="Text 25"/>
          <p:cNvSpPr txBox="1"/>
          <p:nvPr/>
        </p:nvSpPr>
        <p:spPr>
          <a:xfrm>
            <a:off x="5040516" y="5321808"/>
            <a:ext cx="2110664" cy="731520"/>
          </a:xfrm>
          <a:prstGeom prst="rect">
            <a:avLst/>
          </a:prstGeom>
          <a:noFill/>
          <a:ln/>
        </p:spPr>
        <p:txBody>
          <a:bodyPr wrap="square" lIns="0" tIns="0" rIns="0" bIns="0" rtlCol="0" anchor="t"/>
          <a:lstStyle/>
          <a:p>
            <a:pPr rtl="1" algn="r" indent="0" marL="0">
              <a:buNone/>
            </a:pPr>
            <a:r>
              <a:rPr lang="fa-IR" altLang="en-US" sz="1400" dirty="0">
                <a:solidFill>
                  <a:schemeClr val="tx1"/>
                </a:solidFill>
              </a:rPr>
              <a:t>راست‌به‌چپ، تقویم شمسی، تومان، درگاه ایرانی</a:t>
            </a:r>
            <a:endParaRPr lang="fa-IR" sz="1400" dirty="0"/>
          </a:p>
        </p:txBody>
      </p:sp>
      <p:sp>
        <p:nvSpPr>
          <p:cNvPr id="35" name="Shape 26"/>
          <p:cNvSpPr/>
          <p:nvPr/>
        </p:nvSpPr>
        <p:spPr>
          <a:xfrm>
            <a:off x="1969732" y="4023360"/>
            <a:ext cx="2567864"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36" name="Shape 27"/>
          <p:cNvSpPr/>
          <p:nvPr/>
        </p:nvSpPr>
        <p:spPr>
          <a:xfrm>
            <a:off x="3760356" y="4251960"/>
            <a:ext cx="548640" cy="548640"/>
          </a:xfrm>
          <a:prstGeom prst="ellipse">
            <a:avLst/>
          </a:prstGeom>
          <a:solidFill>
            <a:schemeClr val="tx2"/>
          </a:solidFill>
          <a:ln/>
        </p:spPr>
      </p:sp>
      <p:pic>
        <p:nvPicPr>
          <p:cNvPr id="37" name="Image 6" descr="LuLock">    </p:cNvPr>
          <p:cNvPicPr>
            <a:picLocks noChangeAspect="1"/>
          </p:cNvPicPr>
          <p:nvPr/>
        </p:nvPicPr>
        <p:blipFill>
          <a:blip r:embed="rId7"/>
          <a:stretch>
            <a:fillRect/>
          </a:stretch>
        </p:blipFill>
        <p:spPr>
          <a:xfrm>
            <a:off x="3881057" y="4372661"/>
            <a:ext cx="307238" cy="307238"/>
          </a:xfrm>
          <a:prstGeom prst="rect">
            <a:avLst/>
          </a:prstGeom>
        </p:spPr>
      </p:pic>
      <p:sp>
        <p:nvSpPr>
          <p:cNvPr id="38" name="Text 28"/>
          <p:cNvSpPr txBox="1"/>
          <p:nvPr/>
        </p:nvSpPr>
        <p:spPr>
          <a:xfrm>
            <a:off x="2198332" y="4919472"/>
            <a:ext cx="2110664" cy="365760"/>
          </a:xfrm>
          <a:prstGeom prst="rect">
            <a:avLst/>
          </a:prstGeom>
          <a:noFill/>
          <a:ln/>
        </p:spPr>
        <p:txBody>
          <a:bodyPr wrap="square" lIns="0" tIns="0" rIns="0" bIns="0" rtlCol="0" anchor="t"/>
          <a:lstStyle/>
          <a:p>
            <a:pPr rtl="1" algn="r" indent="0" marL="0">
              <a:buNone/>
            </a:pPr>
            <a:r>
              <a:rPr lang="fa-IR" altLang="en-US" sz="1600" b="1" dirty="0">
                <a:solidFill>
                  <a:schemeClr val="tx2"/>
                </a:solidFill>
              </a:rPr>
              <a:t>Security by Default</a:t>
            </a:r>
            <a:endParaRPr lang="fa-IR" sz="1600" dirty="0"/>
          </a:p>
        </p:txBody>
      </p:sp>
      <p:sp>
        <p:nvSpPr>
          <p:cNvPr id="39" name="Text 29"/>
          <p:cNvSpPr txBox="1"/>
          <p:nvPr/>
        </p:nvSpPr>
        <p:spPr>
          <a:xfrm>
            <a:off x="2198332" y="5321808"/>
            <a:ext cx="2110664" cy="731520"/>
          </a:xfrm>
          <a:prstGeom prst="rect">
            <a:avLst/>
          </a:prstGeom>
          <a:noFill/>
          <a:ln/>
        </p:spPr>
        <p:txBody>
          <a:bodyPr wrap="square" lIns="0" tIns="0" rIns="0" bIns="0" rtlCol="0" anchor="t"/>
          <a:lstStyle/>
          <a:p>
            <a:pPr rtl="1" algn="r" indent="0" marL="0">
              <a:buNone/>
            </a:pPr>
            <a:r>
              <a:rPr lang="fa-IR" altLang="en-US" sz="1400" dirty="0">
                <a:solidFill>
                  <a:schemeClr val="tx1"/>
                </a:solidFill>
              </a:rPr>
              <a:t>حداقل دسترسی، رمزنگاری و ممیزی در همه‌ی لایه‌ها</a:t>
            </a:r>
            <a:endParaRPr lang="fa-IR" sz="14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اهداف کیفی قابل اندازه‌گیری</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معماری برای رسیدن به این اعداد طراحی شده است، نه برعکس</a:t>
            </a:r>
            <a:endParaRPr lang="fa-IR" sz="1600" dirty="0"/>
          </a:p>
        </p:txBody>
      </p:sp>
      <p:sp>
        <p:nvSpPr>
          <p:cNvPr id="5" name="Shape 2"/>
          <p:cNvSpPr/>
          <p:nvPr/>
        </p:nvSpPr>
        <p:spPr>
          <a:xfrm>
            <a:off x="9075191" y="1691640"/>
            <a:ext cx="2567864" cy="1600200"/>
          </a:xfrm>
          <a:prstGeom prst="roundRect">
            <a:avLst>
              <a:gd name="adj" fmla="val 6857"/>
            </a:avLst>
          </a:prstGeom>
          <a:solidFill>
            <a:schemeClr val="bg2"/>
          </a:solidFill>
          <a:ln/>
        </p:spPr>
      </p:sp>
      <p:sp>
        <p:nvSpPr>
          <p:cNvPr id="6" name="Text 3"/>
          <p:cNvSpPr txBox="1"/>
          <p:nvPr/>
        </p:nvSpPr>
        <p:spPr>
          <a:xfrm>
            <a:off x="9258071" y="1783080"/>
            <a:ext cx="2202104" cy="822960"/>
          </a:xfrm>
          <a:prstGeom prst="rect">
            <a:avLst/>
          </a:prstGeom>
          <a:noFill/>
          <a:ln/>
        </p:spPr>
        <p:txBody>
          <a:bodyPr wrap="square" lIns="0" tIns="0" rIns="0" bIns="0" rtlCol="0" anchor="ctr"/>
          <a:lstStyle/>
          <a:p>
            <a:pPr rtl="1" algn="ctr" indent="0" marL="0">
              <a:buNone/>
            </a:pPr>
            <a:r>
              <a:rPr lang="fa-IR" altLang="en-US" sz="4400" b="1" dirty="0">
                <a:solidFill>
                  <a:schemeClr val="accent1"/>
                </a:solidFill>
              </a:rPr>
              <a:t>۹۹٫۵٪</a:t>
            </a:r>
            <a:endParaRPr lang="fa-IR" sz="4400" dirty="0"/>
          </a:p>
        </p:txBody>
      </p:sp>
      <p:sp>
        <p:nvSpPr>
          <p:cNvPr id="7" name="Text 4"/>
          <p:cNvSpPr txBox="1"/>
          <p:nvPr/>
        </p:nvSpPr>
        <p:spPr>
          <a:xfrm>
            <a:off x="9258071" y="2651760"/>
            <a:ext cx="2202104" cy="548640"/>
          </a:xfrm>
          <a:prstGeom prst="rect">
            <a:avLst/>
          </a:prstGeom>
          <a:noFill/>
          <a:ln/>
        </p:spPr>
        <p:txBody>
          <a:bodyPr wrap="square" lIns="0" tIns="0" rIns="0" bIns="0" rtlCol="0" anchor="t"/>
          <a:lstStyle/>
          <a:p>
            <a:pPr rtl="1" algn="ctr" indent="0" marL="0">
              <a:buNone/>
            </a:pPr>
            <a:r>
              <a:rPr lang="fa-IR" altLang="en-US" sz="1400" dirty="0">
                <a:solidFill>
                  <a:srgbClr val="5E6E62"/>
                </a:solidFill>
              </a:rPr>
              <a:t>دسترس‌پذیری ثبت سفارش (SLO)</a:t>
            </a:r>
            <a:endParaRPr lang="fa-IR" sz="1400" dirty="0"/>
          </a:p>
        </p:txBody>
      </p:sp>
      <p:sp>
        <p:nvSpPr>
          <p:cNvPr id="8" name="Shape 5"/>
          <p:cNvSpPr/>
          <p:nvPr/>
        </p:nvSpPr>
        <p:spPr>
          <a:xfrm>
            <a:off x="6233008" y="1691640"/>
            <a:ext cx="2567864" cy="1600200"/>
          </a:xfrm>
          <a:prstGeom prst="roundRect">
            <a:avLst>
              <a:gd name="adj" fmla="val 6857"/>
            </a:avLst>
          </a:prstGeom>
          <a:solidFill>
            <a:schemeClr val="bg2"/>
          </a:solidFill>
          <a:ln/>
        </p:spPr>
      </p:sp>
      <p:sp>
        <p:nvSpPr>
          <p:cNvPr id="9" name="Text 6"/>
          <p:cNvSpPr txBox="1"/>
          <p:nvPr/>
        </p:nvSpPr>
        <p:spPr>
          <a:xfrm>
            <a:off x="6415888" y="1783080"/>
            <a:ext cx="2202104" cy="822960"/>
          </a:xfrm>
          <a:prstGeom prst="rect">
            <a:avLst/>
          </a:prstGeom>
          <a:noFill/>
          <a:ln/>
        </p:spPr>
        <p:txBody>
          <a:bodyPr wrap="square" lIns="0" tIns="0" rIns="0" bIns="0" rtlCol="0" anchor="ctr"/>
          <a:lstStyle/>
          <a:p>
            <a:pPr rtl="1" algn="ctr" indent="0" marL="0">
              <a:buNone/>
            </a:pPr>
            <a:r>
              <a:rPr lang="fa-IR" altLang="en-US" sz="4400" b="1" dirty="0">
                <a:solidFill>
                  <a:schemeClr val="accent1"/>
                </a:solidFill>
              </a:rPr>
              <a:t>۳۰۰</a:t>
            </a:r>
            <a:endParaRPr lang="fa-IR" sz="4400" dirty="0"/>
          </a:p>
        </p:txBody>
      </p:sp>
      <p:sp>
        <p:nvSpPr>
          <p:cNvPr id="10" name="Text 7"/>
          <p:cNvSpPr txBox="1"/>
          <p:nvPr/>
        </p:nvSpPr>
        <p:spPr>
          <a:xfrm>
            <a:off x="6415888" y="2651760"/>
            <a:ext cx="2202104" cy="548640"/>
          </a:xfrm>
          <a:prstGeom prst="rect">
            <a:avLst/>
          </a:prstGeom>
          <a:noFill/>
          <a:ln/>
        </p:spPr>
        <p:txBody>
          <a:bodyPr wrap="square" lIns="0" tIns="0" rIns="0" bIns="0" rtlCol="0" anchor="t"/>
          <a:lstStyle/>
          <a:p>
            <a:pPr rtl="1" algn="ctr" indent="0" marL="0">
              <a:buNone/>
            </a:pPr>
            <a:r>
              <a:rPr lang="fa-IR" altLang="en-US" sz="1400" dirty="0">
                <a:solidFill>
                  <a:srgbClr val="5E6E62"/>
                </a:solidFill>
              </a:rPr>
              <a:t>میلی‌ثانیه، سقف زمان پاسخ ۹۵٪ جستجوها</a:t>
            </a:r>
            <a:endParaRPr lang="fa-IR" sz="1400" dirty="0"/>
          </a:p>
        </p:txBody>
      </p:sp>
      <p:sp>
        <p:nvSpPr>
          <p:cNvPr id="11" name="Shape 8"/>
          <p:cNvSpPr/>
          <p:nvPr/>
        </p:nvSpPr>
        <p:spPr>
          <a:xfrm>
            <a:off x="3390824" y="1691640"/>
            <a:ext cx="2567864" cy="1600200"/>
          </a:xfrm>
          <a:prstGeom prst="roundRect">
            <a:avLst>
              <a:gd name="adj" fmla="val 6857"/>
            </a:avLst>
          </a:prstGeom>
          <a:solidFill>
            <a:schemeClr val="bg2"/>
          </a:solidFill>
          <a:ln/>
        </p:spPr>
      </p:sp>
      <p:sp>
        <p:nvSpPr>
          <p:cNvPr id="12" name="Text 9"/>
          <p:cNvSpPr txBox="1"/>
          <p:nvPr/>
        </p:nvSpPr>
        <p:spPr>
          <a:xfrm>
            <a:off x="3573704" y="1783080"/>
            <a:ext cx="2202104" cy="822960"/>
          </a:xfrm>
          <a:prstGeom prst="rect">
            <a:avLst/>
          </a:prstGeom>
          <a:noFill/>
          <a:ln/>
        </p:spPr>
        <p:txBody>
          <a:bodyPr wrap="square" lIns="0" tIns="0" rIns="0" bIns="0" rtlCol="0" anchor="ctr"/>
          <a:lstStyle/>
          <a:p>
            <a:pPr rtl="1" algn="ctr" indent="0" marL="0">
              <a:buNone/>
            </a:pPr>
            <a:r>
              <a:rPr lang="fa-IR" altLang="en-US" sz="4400" b="1" dirty="0">
                <a:solidFill>
                  <a:schemeClr val="accent1"/>
                </a:solidFill>
              </a:rPr>
              <a:t>۱۳</a:t>
            </a:r>
            <a:endParaRPr lang="fa-IR" sz="4400" dirty="0"/>
          </a:p>
        </p:txBody>
      </p:sp>
      <p:sp>
        <p:nvSpPr>
          <p:cNvPr id="13" name="Text 10"/>
          <p:cNvSpPr txBox="1"/>
          <p:nvPr/>
        </p:nvSpPr>
        <p:spPr>
          <a:xfrm>
            <a:off x="3573704" y="2651760"/>
            <a:ext cx="2202104" cy="548640"/>
          </a:xfrm>
          <a:prstGeom prst="rect">
            <a:avLst/>
          </a:prstGeom>
          <a:noFill/>
          <a:ln/>
        </p:spPr>
        <p:txBody>
          <a:bodyPr wrap="square" lIns="0" tIns="0" rIns="0" bIns="0" rtlCol="0" anchor="t"/>
          <a:lstStyle/>
          <a:p>
            <a:pPr rtl="1" algn="ctr" indent="0" marL="0">
              <a:buNone/>
            </a:pPr>
            <a:r>
              <a:rPr lang="fa-IR" altLang="en-US" sz="1400" dirty="0">
                <a:solidFill>
                  <a:srgbClr val="5E6E62"/>
                </a:solidFill>
              </a:rPr>
              <a:t>سرویس مستقل، هرکدام با دیتابیس خودش</a:t>
            </a:r>
            <a:endParaRPr lang="fa-IR" sz="1400" dirty="0"/>
          </a:p>
        </p:txBody>
      </p:sp>
      <p:sp>
        <p:nvSpPr>
          <p:cNvPr id="14" name="Shape 11"/>
          <p:cNvSpPr/>
          <p:nvPr/>
        </p:nvSpPr>
        <p:spPr>
          <a:xfrm>
            <a:off x="548640" y="1691640"/>
            <a:ext cx="2567864" cy="1600200"/>
          </a:xfrm>
          <a:prstGeom prst="roundRect">
            <a:avLst>
              <a:gd name="adj" fmla="val 6857"/>
            </a:avLst>
          </a:prstGeom>
          <a:solidFill>
            <a:schemeClr val="bg2"/>
          </a:solidFill>
          <a:ln/>
        </p:spPr>
      </p:sp>
      <p:sp>
        <p:nvSpPr>
          <p:cNvPr id="15" name="Text 12"/>
          <p:cNvSpPr txBox="1"/>
          <p:nvPr/>
        </p:nvSpPr>
        <p:spPr>
          <a:xfrm>
            <a:off x="731520" y="1783080"/>
            <a:ext cx="2202104" cy="822960"/>
          </a:xfrm>
          <a:prstGeom prst="rect">
            <a:avLst/>
          </a:prstGeom>
          <a:noFill/>
          <a:ln/>
        </p:spPr>
        <p:txBody>
          <a:bodyPr wrap="square" lIns="0" tIns="0" rIns="0" bIns="0" rtlCol="0" anchor="ctr"/>
          <a:lstStyle/>
          <a:p>
            <a:pPr rtl="1" algn="ctr" indent="0" marL="0">
              <a:buNone/>
            </a:pPr>
            <a:r>
              <a:rPr lang="fa-IR" altLang="en-US" sz="4400" b="1" dirty="0">
                <a:solidFill>
                  <a:schemeClr val="accent2"/>
                </a:solidFill>
              </a:rPr>
              <a:t>صفر</a:t>
            </a:r>
            <a:endParaRPr lang="fa-IR" sz="4400" dirty="0"/>
          </a:p>
        </p:txBody>
      </p:sp>
      <p:sp>
        <p:nvSpPr>
          <p:cNvPr id="16" name="Text 13"/>
          <p:cNvSpPr txBox="1"/>
          <p:nvPr/>
        </p:nvSpPr>
        <p:spPr>
          <a:xfrm>
            <a:off x="731520" y="2651760"/>
            <a:ext cx="2202104" cy="548640"/>
          </a:xfrm>
          <a:prstGeom prst="rect">
            <a:avLst/>
          </a:prstGeom>
          <a:noFill/>
          <a:ln/>
        </p:spPr>
        <p:txBody>
          <a:bodyPr wrap="square" lIns="0" tIns="0" rIns="0" bIns="0" rtlCol="0" anchor="t"/>
          <a:lstStyle/>
          <a:p>
            <a:pPr rtl="1" algn="ctr" indent="0" marL="0">
              <a:buNone/>
            </a:pPr>
            <a:r>
              <a:rPr lang="fa-IR" altLang="en-US" sz="1400" dirty="0">
                <a:solidFill>
                  <a:srgbClr val="5E6E62"/>
                </a:solidFill>
              </a:rPr>
              <a:t>دسترسی مستقیم هوش مصنوعی به دیتابیس</a:t>
            </a:r>
            <a:endParaRPr lang="fa-IR"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11094415" cy="914400"/>
        </p:xfrm>
        <a:graphic>
          <a:graphicData uri="http://schemas.openxmlformats.org/drawingml/2006/table">
            <a:tbl>
              <a:tblPr/>
              <a:tblGrid>
                <a:gridCol w="8351215"/>
                <a:gridCol w="2743200"/>
              </a:tblGrid>
              <a:tr h="411480">
                <a:tc>
                  <a:txBody>
                    <a:bodyPr/>
                    <a:lstStyle/>
                    <a:p>
                      <a:pPr rtl="1" algn="r" indent="0" marL="0">
                        <a:buNone/>
                      </a:pPr>
                      <a:r>
                        <a:rPr lang="fa-IR" altLang="en-US" sz="1400" b="1" dirty="0">
                          <a:solidFill>
                            <a:schemeClr val="bg1"/>
                          </a:solidFill>
                        </a:rPr>
                        <a:t>سازوکار در معماری</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rtl="1" algn="r" indent="0" marL="0">
                        <a:buNone/>
                      </a:pPr>
                      <a:r>
                        <a:rPr lang="fa-IR" altLang="en-US" sz="1400" b="1" dirty="0">
                          <a:solidFill>
                            <a:schemeClr val="bg1"/>
                          </a:solidFill>
                        </a:rPr>
                        <a:t>ویژگی کیفی</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11480">
                <a:tc>
                  <a:txBody>
                    <a:bodyPr/>
                    <a:lstStyle/>
                    <a:p>
                      <a:pPr rtl="1" algn="r" indent="0" marL="0">
                        <a:buNone/>
                      </a:pPr>
                      <a:r>
                        <a:rPr lang="fa-IR" altLang="en-US" sz="1400" dirty="0">
                          <a:solidFill>
                            <a:schemeClr val="tx1"/>
                          </a:solidFill>
                        </a:rPr>
                        <a:t>رویدادهای لحظه‌ای، رزرو موجودی، جستجوی محدود به شهر</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rtl="1" algn="r" indent="0" marL="0">
                        <a:buNone/>
                      </a:pPr>
                      <a:r>
                        <a:rPr lang="fa-IR" altLang="en-US" sz="1400" b="1" dirty="0">
                          <a:solidFill>
                            <a:schemeClr val="tx2"/>
                          </a:solidFill>
                        </a:rPr>
                        <a:t>تازگی و سرعت</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11480">
                <a:tc>
                  <a:txBody>
                    <a:bodyPr/>
                    <a:lstStyle/>
                    <a:p>
                      <a:pPr rtl="1" algn="r" indent="0" marL="0">
                        <a:buNone/>
                      </a:pPr>
                      <a:r>
                        <a:rPr lang="fa-IR" altLang="en-US" sz="1400" dirty="0">
                          <a:solidFill>
                            <a:schemeClr val="tx1"/>
                          </a:solidFill>
                        </a:rPr>
                        <a:t>ریال صحیح، دفتر کل دوطرفه، ممیزی؛ واقعیت‌ها فقط از ابزار</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rtl="1" algn="r" indent="0" marL="0">
                        <a:buNone/>
                      </a:pPr>
                      <a:r>
                        <a:rPr lang="fa-IR" altLang="en-US" sz="1400" b="1" dirty="0">
                          <a:solidFill>
                            <a:schemeClr val="tx2"/>
                          </a:solidFill>
                        </a:rPr>
                        <a:t>اعتماد</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11480">
                <a:tc>
                  <a:txBody>
                    <a:bodyPr/>
                    <a:lstStyle/>
                    <a:p>
                      <a:pPr rtl="1" algn="r" indent="0" marL="0">
                        <a:buNone/>
                      </a:pPr>
                      <a:r>
                        <a:rPr lang="fa-IR" altLang="en-US" sz="1400" dirty="0">
                          <a:solidFill>
                            <a:schemeClr val="tx1"/>
                          </a:solidFill>
                        </a:rPr>
                        <a:t>Saga با جبران، Circuit Breaker، تخریب تدریجی</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rtl="1" algn="r" indent="0" marL="0">
                        <a:buNone/>
                      </a:pPr>
                      <a:r>
                        <a:rPr lang="fa-IR" altLang="en-US" sz="1400" b="1" dirty="0">
                          <a:solidFill>
                            <a:schemeClr val="tx2"/>
                          </a:solidFill>
                        </a:rPr>
                        <a:t>دسترس‌پذیری</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11480">
                <a:tc>
                  <a:txBody>
                    <a:bodyPr/>
                    <a:lstStyle/>
                    <a:p>
                      <a:pPr rtl="1" algn="r" indent="0" marL="0">
                        <a:buNone/>
                      </a:pPr>
                      <a:r>
                        <a:rPr lang="fa-IR" altLang="en-US" sz="1400" dirty="0">
                          <a:solidFill>
                            <a:schemeClr val="tx1"/>
                          </a:solidFill>
                        </a:rPr>
                        <a:t>سرویس‌های بدون‌وضعیت، HPA و KEDA، CDN</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rtl="1" algn="r" indent="0" marL="0">
                        <a:buNone/>
                      </a:pPr>
                      <a:r>
                        <a:rPr lang="fa-IR" altLang="en-US" sz="1400" b="1" dirty="0">
                          <a:solidFill>
                            <a:schemeClr val="tx2"/>
                          </a:solidFill>
                        </a:rPr>
                        <a:t>مقیاس‌پذیری</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411480">
                <a:tc>
                  <a:txBody>
                    <a:bodyPr/>
                    <a:lstStyle/>
                    <a:p>
                      <a:pPr rtl="1" algn="r" indent="0" marL="0">
                        <a:buNone/>
                      </a:pPr>
                      <a:r>
                        <a:rPr lang="fa-IR" altLang="en-US" sz="1400" dirty="0">
                          <a:solidFill>
                            <a:schemeClr val="tx1"/>
                          </a:solidFill>
                        </a:rPr>
                        <a:t>قراردادهای نسخه‌دار، رابط‌های قابل تعویض، ADR</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rtl="1" algn="r" indent="0" marL="0">
                        <a:buNone/>
                      </a:pPr>
                      <a:r>
                        <a:rPr lang="fa-IR" altLang="en-US" sz="1400" b="1" dirty="0">
                          <a:solidFill>
                            <a:schemeClr val="tx2"/>
                          </a:solidFill>
                        </a:rPr>
                        <a:t>تکامل‌پذیری</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نمای کلی معماری</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یک ورودی عمومی، سرویس‌های مستقل، گذرگاه رویداد و داده‌ی جدا برای هر سرویس</a:t>
            </a:r>
            <a:endParaRPr lang="fa-IR" sz="1600" dirty="0"/>
          </a:p>
        </p:txBody>
      </p:sp>
      <p:sp>
        <p:nvSpPr>
          <p:cNvPr id="5" name="Shape 2"/>
          <p:cNvSpPr/>
          <p:nvPr/>
        </p:nvSpPr>
        <p:spPr>
          <a:xfrm>
            <a:off x="8770468" y="1645920"/>
            <a:ext cx="2331720" cy="438912"/>
          </a:xfrm>
          <a:prstGeom prst="roundRect">
            <a:avLst>
              <a:gd name="adj" fmla="val 50000"/>
            </a:avLst>
          </a:prstGeom>
          <a:solidFill>
            <a:schemeClr val="bg2"/>
          </a:solidFill>
          <a:ln/>
        </p:spPr>
      </p:sp>
      <p:sp>
        <p:nvSpPr>
          <p:cNvPr id="6" name="Text 3"/>
          <p:cNvSpPr txBox="1"/>
          <p:nvPr/>
        </p:nvSpPr>
        <p:spPr>
          <a:xfrm>
            <a:off x="8770468" y="1645920"/>
            <a:ext cx="2331720" cy="438912"/>
          </a:xfrm>
          <a:prstGeom prst="rect">
            <a:avLst/>
          </a:prstGeom>
          <a:noFill/>
          <a:ln/>
        </p:spPr>
        <p:txBody>
          <a:bodyPr wrap="square" lIns="0" tIns="0" rIns="0" bIns="0" rtlCol="0" anchor="ctr"/>
          <a:lstStyle/>
          <a:p>
            <a:pPr rtl="1" algn="ctr" indent="0" marL="0">
              <a:buNone/>
            </a:pPr>
            <a:r>
              <a:rPr lang="fa-IR" altLang="en-US" sz="1300" b="1" dirty="0">
                <a:solidFill>
                  <a:schemeClr val="tx2"/>
                </a:solidFill>
              </a:rPr>
              <a:t>وب و PWA · Next.js</a:t>
            </a:r>
            <a:endParaRPr lang="fa-IR" sz="1300" dirty="0"/>
          </a:p>
        </p:txBody>
      </p:sp>
      <p:sp>
        <p:nvSpPr>
          <p:cNvPr id="7" name="Shape 4"/>
          <p:cNvSpPr/>
          <p:nvPr/>
        </p:nvSpPr>
        <p:spPr>
          <a:xfrm>
            <a:off x="6210148" y="1645920"/>
            <a:ext cx="2331720" cy="438912"/>
          </a:xfrm>
          <a:prstGeom prst="roundRect">
            <a:avLst>
              <a:gd name="adj" fmla="val 50000"/>
            </a:avLst>
          </a:prstGeom>
          <a:solidFill>
            <a:schemeClr val="bg2"/>
          </a:solidFill>
          <a:ln/>
        </p:spPr>
      </p:sp>
      <p:sp>
        <p:nvSpPr>
          <p:cNvPr id="8" name="Text 5"/>
          <p:cNvSpPr txBox="1"/>
          <p:nvPr/>
        </p:nvSpPr>
        <p:spPr>
          <a:xfrm>
            <a:off x="6210148" y="1645920"/>
            <a:ext cx="2331720" cy="438912"/>
          </a:xfrm>
          <a:prstGeom prst="rect">
            <a:avLst/>
          </a:prstGeom>
          <a:noFill/>
          <a:ln/>
        </p:spPr>
        <p:txBody>
          <a:bodyPr wrap="square" lIns="0" tIns="0" rIns="0" bIns="0" rtlCol="0" anchor="ctr"/>
          <a:lstStyle/>
          <a:p>
            <a:pPr rtl="1" algn="ctr" indent="0" marL="0">
              <a:buNone/>
            </a:pPr>
            <a:r>
              <a:rPr lang="fa-IR" altLang="en-US" sz="1300" b="1" dirty="0">
                <a:solidFill>
                  <a:schemeClr val="tx2"/>
                </a:solidFill>
              </a:rPr>
              <a:t>پنل فروشنده</a:t>
            </a:r>
            <a:endParaRPr lang="fa-IR" sz="1300" dirty="0"/>
          </a:p>
        </p:txBody>
      </p:sp>
      <p:sp>
        <p:nvSpPr>
          <p:cNvPr id="9" name="Shape 6"/>
          <p:cNvSpPr/>
          <p:nvPr/>
        </p:nvSpPr>
        <p:spPr>
          <a:xfrm>
            <a:off x="3649828" y="1645920"/>
            <a:ext cx="2331720" cy="438912"/>
          </a:xfrm>
          <a:prstGeom prst="roundRect">
            <a:avLst>
              <a:gd name="adj" fmla="val 50000"/>
            </a:avLst>
          </a:prstGeom>
          <a:solidFill>
            <a:schemeClr val="bg2"/>
          </a:solidFill>
          <a:ln/>
        </p:spPr>
      </p:sp>
      <p:sp>
        <p:nvSpPr>
          <p:cNvPr id="10" name="Text 7"/>
          <p:cNvSpPr txBox="1"/>
          <p:nvPr/>
        </p:nvSpPr>
        <p:spPr>
          <a:xfrm>
            <a:off x="3649828" y="1645920"/>
            <a:ext cx="2331720" cy="438912"/>
          </a:xfrm>
          <a:prstGeom prst="rect">
            <a:avLst/>
          </a:prstGeom>
          <a:noFill/>
          <a:ln/>
        </p:spPr>
        <p:txBody>
          <a:bodyPr wrap="square" lIns="0" tIns="0" rIns="0" bIns="0" rtlCol="0" anchor="ctr"/>
          <a:lstStyle/>
          <a:p>
            <a:pPr rtl="1" algn="ctr" indent="0" marL="0">
              <a:buNone/>
            </a:pPr>
            <a:r>
              <a:rPr lang="fa-IR" altLang="en-US" sz="1300" b="1" dirty="0">
                <a:solidFill>
                  <a:schemeClr val="tx2"/>
                </a:solidFill>
              </a:rPr>
              <a:t>پنل ادمین</a:t>
            </a:r>
            <a:endParaRPr lang="fa-IR" sz="1300" dirty="0"/>
          </a:p>
        </p:txBody>
      </p:sp>
      <p:sp>
        <p:nvSpPr>
          <p:cNvPr id="11" name="Shape 8"/>
          <p:cNvSpPr/>
          <p:nvPr/>
        </p:nvSpPr>
        <p:spPr>
          <a:xfrm>
            <a:off x="1089508" y="1645920"/>
            <a:ext cx="2331720" cy="438912"/>
          </a:xfrm>
          <a:prstGeom prst="roundRect">
            <a:avLst>
              <a:gd name="adj" fmla="val 50000"/>
            </a:avLst>
          </a:prstGeom>
          <a:solidFill>
            <a:schemeClr val="bg2"/>
          </a:solidFill>
          <a:ln/>
        </p:spPr>
      </p:sp>
      <p:sp>
        <p:nvSpPr>
          <p:cNvPr id="12" name="Text 9"/>
          <p:cNvSpPr txBox="1"/>
          <p:nvPr/>
        </p:nvSpPr>
        <p:spPr>
          <a:xfrm>
            <a:off x="1089508" y="1645920"/>
            <a:ext cx="2331720" cy="438912"/>
          </a:xfrm>
          <a:prstGeom prst="rect">
            <a:avLst/>
          </a:prstGeom>
          <a:noFill/>
          <a:ln/>
        </p:spPr>
        <p:txBody>
          <a:bodyPr wrap="square" lIns="0" tIns="0" rIns="0" bIns="0" rtlCol="0" anchor="ctr"/>
          <a:lstStyle/>
          <a:p>
            <a:pPr rtl="1" algn="ctr" indent="0" marL="0">
              <a:buNone/>
            </a:pPr>
            <a:r>
              <a:rPr lang="fa-IR" altLang="en-US" sz="1300" b="1" dirty="0">
                <a:solidFill>
                  <a:schemeClr val="tx2"/>
                </a:solidFill>
              </a:rPr>
              <a:t>ربات تلگرام</a:t>
            </a:r>
            <a:endParaRPr lang="fa-IR" sz="1300" dirty="0"/>
          </a:p>
        </p:txBody>
      </p:sp>
      <p:sp>
        <p:nvSpPr>
          <p:cNvPr id="13" name="Shape 10"/>
          <p:cNvSpPr/>
          <p:nvPr/>
        </p:nvSpPr>
        <p:spPr>
          <a:xfrm>
            <a:off x="6095848" y="2103120"/>
            <a:ext cx="0" cy="228600"/>
          </a:xfrm>
          <a:prstGeom prst="line">
            <a:avLst/>
          </a:prstGeom>
          <a:noFill/>
          <a:ln w="22225">
            <a:solidFill>
              <a:schemeClr val="tx2"/>
            </a:solidFill>
            <a:prstDash val="solid"/>
            <a:tailEnd type="triangle"/>
          </a:ln>
        </p:spPr>
      </p:sp>
      <p:sp>
        <p:nvSpPr>
          <p:cNvPr id="14" name="Shape 11"/>
          <p:cNvSpPr/>
          <p:nvPr/>
        </p:nvSpPr>
        <p:spPr>
          <a:xfrm>
            <a:off x="7741768" y="2350008"/>
            <a:ext cx="2743200" cy="502920"/>
          </a:xfrm>
          <a:prstGeom prst="roundRect">
            <a:avLst>
              <a:gd name="adj" fmla="val 21818"/>
            </a:avLst>
          </a:prstGeom>
          <a:solidFill>
            <a:schemeClr val="bg2"/>
          </a:solidFill>
          <a:ln/>
        </p:spPr>
      </p:sp>
      <p:sp>
        <p:nvSpPr>
          <p:cNvPr id="15" name="Text 12"/>
          <p:cNvSpPr txBox="1"/>
          <p:nvPr/>
        </p:nvSpPr>
        <p:spPr>
          <a:xfrm>
            <a:off x="7741768" y="2350008"/>
            <a:ext cx="2743200" cy="502920"/>
          </a:xfrm>
          <a:prstGeom prst="rect">
            <a:avLst/>
          </a:prstGeom>
          <a:noFill/>
          <a:ln/>
        </p:spPr>
        <p:txBody>
          <a:bodyPr wrap="square" lIns="0" tIns="0" rIns="0" bIns="0" rtlCol="0" anchor="ctr"/>
          <a:lstStyle/>
          <a:p>
            <a:pPr algn="ctr" indent="0" marL="0">
              <a:buNone/>
            </a:pPr>
            <a:r>
              <a:rPr lang="en-US" altLang="en-US" sz="1400" b="1" dirty="0">
                <a:solidFill>
                  <a:schemeClr val="tx2"/>
                </a:solidFill>
              </a:rPr>
              <a:t>CDN + WAF</a:t>
            </a:r>
            <a:endParaRPr lang="en-US" sz="1400" dirty="0"/>
          </a:p>
        </p:txBody>
      </p:sp>
      <p:sp>
        <p:nvSpPr>
          <p:cNvPr id="16" name="Shape 13"/>
          <p:cNvSpPr/>
          <p:nvPr/>
        </p:nvSpPr>
        <p:spPr>
          <a:xfrm>
            <a:off x="1706728" y="2350008"/>
            <a:ext cx="5486400" cy="502920"/>
          </a:xfrm>
          <a:prstGeom prst="roundRect">
            <a:avLst>
              <a:gd name="adj" fmla="val 21818"/>
            </a:avLst>
          </a:prstGeom>
          <a:solidFill>
            <a:schemeClr val="tx2"/>
          </a:solidFill>
          <a:ln/>
        </p:spPr>
      </p:sp>
      <p:sp>
        <p:nvSpPr>
          <p:cNvPr id="17" name="Text 14"/>
          <p:cNvSpPr txBox="1"/>
          <p:nvPr/>
        </p:nvSpPr>
        <p:spPr>
          <a:xfrm>
            <a:off x="1706728" y="2350008"/>
            <a:ext cx="5486400" cy="502920"/>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API Gateway (Kong) + BFF · احراز هویت، Rate Limit، مسیریابی</a:t>
            </a:r>
            <a:endParaRPr lang="fa-IR" sz="1400" dirty="0"/>
          </a:p>
        </p:txBody>
      </p:sp>
      <p:sp>
        <p:nvSpPr>
          <p:cNvPr id="18" name="Shape 15"/>
          <p:cNvSpPr/>
          <p:nvPr/>
        </p:nvSpPr>
        <p:spPr>
          <a:xfrm>
            <a:off x="7193128" y="2601468"/>
            <a:ext cx="548640" cy="0"/>
          </a:xfrm>
          <a:prstGeom prst="line">
            <a:avLst/>
          </a:prstGeom>
          <a:noFill/>
          <a:ln w="22225">
            <a:solidFill>
              <a:schemeClr val="tx2"/>
            </a:solidFill>
            <a:prstDash val="solid"/>
            <a:headEnd type="triangle"/>
          </a:ln>
        </p:spPr>
      </p:sp>
      <p:sp>
        <p:nvSpPr>
          <p:cNvPr id="19" name="Shape 16"/>
          <p:cNvSpPr/>
          <p:nvPr/>
        </p:nvSpPr>
        <p:spPr>
          <a:xfrm>
            <a:off x="6095848" y="2871216"/>
            <a:ext cx="0" cy="201168"/>
          </a:xfrm>
          <a:prstGeom prst="line">
            <a:avLst/>
          </a:prstGeom>
          <a:noFill/>
          <a:ln w="22225">
            <a:solidFill>
              <a:schemeClr val="tx2"/>
            </a:solidFill>
            <a:prstDash val="solid"/>
            <a:tailEnd type="triangle"/>
          </a:ln>
        </p:spPr>
      </p:sp>
      <p:sp>
        <p:nvSpPr>
          <p:cNvPr id="20" name="Shape 17"/>
          <p:cNvSpPr/>
          <p:nvPr/>
        </p:nvSpPr>
        <p:spPr>
          <a:xfrm>
            <a:off x="10152191" y="3090672"/>
            <a:ext cx="1490864" cy="438912"/>
          </a:xfrm>
          <a:prstGeom prst="roundRect">
            <a:avLst>
              <a:gd name="adj" fmla="val 16667"/>
            </a:avLst>
          </a:prstGeom>
          <a:solidFill>
            <a:schemeClr val="bg1"/>
          </a:solidFill>
          <a:ln w="15875">
            <a:solidFill>
              <a:srgbClr val="2E7D32"/>
            </a:solidFill>
            <a:prstDash val="solid"/>
          </a:ln>
        </p:spPr>
      </p:sp>
      <p:sp>
        <p:nvSpPr>
          <p:cNvPr id="21" name="Text 18"/>
          <p:cNvSpPr txBox="1"/>
          <p:nvPr/>
        </p:nvSpPr>
        <p:spPr>
          <a:xfrm>
            <a:off x="10152191" y="309067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Identity</a:t>
            </a:r>
            <a:endParaRPr lang="en-US" sz="1300" dirty="0"/>
          </a:p>
        </p:txBody>
      </p:sp>
      <p:sp>
        <p:nvSpPr>
          <p:cNvPr id="22" name="Shape 19"/>
          <p:cNvSpPr/>
          <p:nvPr/>
        </p:nvSpPr>
        <p:spPr>
          <a:xfrm>
            <a:off x="8551599" y="3090672"/>
            <a:ext cx="1490864" cy="438912"/>
          </a:xfrm>
          <a:prstGeom prst="roundRect">
            <a:avLst>
              <a:gd name="adj" fmla="val 16667"/>
            </a:avLst>
          </a:prstGeom>
          <a:solidFill>
            <a:schemeClr val="bg1"/>
          </a:solidFill>
          <a:ln w="15875">
            <a:solidFill>
              <a:srgbClr val="2E7D32"/>
            </a:solidFill>
            <a:prstDash val="solid"/>
          </a:ln>
        </p:spPr>
      </p:sp>
      <p:sp>
        <p:nvSpPr>
          <p:cNvPr id="23" name="Text 20"/>
          <p:cNvSpPr txBox="1"/>
          <p:nvPr/>
        </p:nvSpPr>
        <p:spPr>
          <a:xfrm>
            <a:off x="8551599" y="309067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Seller</a:t>
            </a:r>
            <a:endParaRPr lang="en-US" sz="1300" dirty="0"/>
          </a:p>
        </p:txBody>
      </p:sp>
      <p:sp>
        <p:nvSpPr>
          <p:cNvPr id="24" name="Shape 21"/>
          <p:cNvSpPr/>
          <p:nvPr/>
        </p:nvSpPr>
        <p:spPr>
          <a:xfrm>
            <a:off x="6951008" y="3090672"/>
            <a:ext cx="1490864" cy="438912"/>
          </a:xfrm>
          <a:prstGeom prst="roundRect">
            <a:avLst>
              <a:gd name="adj" fmla="val 16667"/>
            </a:avLst>
          </a:prstGeom>
          <a:solidFill>
            <a:schemeClr val="bg1"/>
          </a:solidFill>
          <a:ln w="15875">
            <a:solidFill>
              <a:srgbClr val="2E7D32"/>
            </a:solidFill>
            <a:prstDash val="solid"/>
          </a:ln>
        </p:spPr>
      </p:sp>
      <p:sp>
        <p:nvSpPr>
          <p:cNvPr id="25" name="Text 22"/>
          <p:cNvSpPr txBox="1"/>
          <p:nvPr/>
        </p:nvSpPr>
        <p:spPr>
          <a:xfrm>
            <a:off x="6951008" y="309067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Catalog</a:t>
            </a:r>
            <a:endParaRPr lang="en-US" sz="1300" dirty="0"/>
          </a:p>
        </p:txBody>
      </p:sp>
      <p:sp>
        <p:nvSpPr>
          <p:cNvPr id="26" name="Shape 23"/>
          <p:cNvSpPr/>
          <p:nvPr/>
        </p:nvSpPr>
        <p:spPr>
          <a:xfrm>
            <a:off x="5350416" y="3090672"/>
            <a:ext cx="1490864" cy="438912"/>
          </a:xfrm>
          <a:prstGeom prst="roundRect">
            <a:avLst>
              <a:gd name="adj" fmla="val 16667"/>
            </a:avLst>
          </a:prstGeom>
          <a:solidFill>
            <a:schemeClr val="bg1"/>
          </a:solidFill>
          <a:ln w="15875">
            <a:solidFill>
              <a:srgbClr val="2E7D32"/>
            </a:solidFill>
            <a:prstDash val="solid"/>
          </a:ln>
        </p:spPr>
      </p:sp>
      <p:sp>
        <p:nvSpPr>
          <p:cNvPr id="27" name="Text 24"/>
          <p:cNvSpPr txBox="1"/>
          <p:nvPr/>
        </p:nvSpPr>
        <p:spPr>
          <a:xfrm>
            <a:off x="5350416" y="309067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Search</a:t>
            </a:r>
            <a:endParaRPr lang="en-US" sz="1300" dirty="0"/>
          </a:p>
        </p:txBody>
      </p:sp>
      <p:sp>
        <p:nvSpPr>
          <p:cNvPr id="28" name="Shape 25"/>
          <p:cNvSpPr/>
          <p:nvPr/>
        </p:nvSpPr>
        <p:spPr>
          <a:xfrm>
            <a:off x="3749824" y="3090672"/>
            <a:ext cx="1490864" cy="438912"/>
          </a:xfrm>
          <a:prstGeom prst="roundRect">
            <a:avLst>
              <a:gd name="adj" fmla="val 16667"/>
            </a:avLst>
          </a:prstGeom>
          <a:solidFill>
            <a:schemeClr val="bg1"/>
          </a:solidFill>
          <a:ln w="15875">
            <a:solidFill>
              <a:srgbClr val="2E7D32"/>
            </a:solidFill>
            <a:prstDash val="solid"/>
          </a:ln>
        </p:spPr>
      </p:sp>
      <p:sp>
        <p:nvSpPr>
          <p:cNvPr id="29" name="Text 26"/>
          <p:cNvSpPr txBox="1"/>
          <p:nvPr/>
        </p:nvSpPr>
        <p:spPr>
          <a:xfrm>
            <a:off x="3749824" y="309067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Cart</a:t>
            </a:r>
            <a:endParaRPr lang="en-US" sz="1300" dirty="0"/>
          </a:p>
        </p:txBody>
      </p:sp>
      <p:sp>
        <p:nvSpPr>
          <p:cNvPr id="30" name="Shape 27"/>
          <p:cNvSpPr/>
          <p:nvPr/>
        </p:nvSpPr>
        <p:spPr>
          <a:xfrm>
            <a:off x="2149232" y="3090672"/>
            <a:ext cx="1490864" cy="438912"/>
          </a:xfrm>
          <a:prstGeom prst="roundRect">
            <a:avLst>
              <a:gd name="adj" fmla="val 16667"/>
            </a:avLst>
          </a:prstGeom>
          <a:solidFill>
            <a:schemeClr val="bg1"/>
          </a:solidFill>
          <a:ln w="15875">
            <a:solidFill>
              <a:srgbClr val="2E7D32"/>
            </a:solidFill>
            <a:prstDash val="solid"/>
          </a:ln>
        </p:spPr>
      </p:sp>
      <p:sp>
        <p:nvSpPr>
          <p:cNvPr id="31" name="Text 28"/>
          <p:cNvSpPr txBox="1"/>
          <p:nvPr/>
        </p:nvSpPr>
        <p:spPr>
          <a:xfrm>
            <a:off x="2149232" y="309067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Order</a:t>
            </a:r>
            <a:endParaRPr lang="en-US" sz="1300" dirty="0"/>
          </a:p>
        </p:txBody>
      </p:sp>
      <p:sp>
        <p:nvSpPr>
          <p:cNvPr id="32" name="Shape 29"/>
          <p:cNvSpPr/>
          <p:nvPr/>
        </p:nvSpPr>
        <p:spPr>
          <a:xfrm>
            <a:off x="548640" y="3090672"/>
            <a:ext cx="1490864" cy="438912"/>
          </a:xfrm>
          <a:prstGeom prst="roundRect">
            <a:avLst>
              <a:gd name="adj" fmla="val 16667"/>
            </a:avLst>
          </a:prstGeom>
          <a:solidFill>
            <a:schemeClr val="bg1"/>
          </a:solidFill>
          <a:ln w="15875">
            <a:solidFill>
              <a:srgbClr val="2E7D32"/>
            </a:solidFill>
            <a:prstDash val="solid"/>
          </a:ln>
        </p:spPr>
      </p:sp>
      <p:sp>
        <p:nvSpPr>
          <p:cNvPr id="33" name="Text 30"/>
          <p:cNvSpPr txBox="1"/>
          <p:nvPr/>
        </p:nvSpPr>
        <p:spPr>
          <a:xfrm>
            <a:off x="548640" y="309067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Payment</a:t>
            </a:r>
            <a:endParaRPr lang="en-US" sz="1300" dirty="0"/>
          </a:p>
        </p:txBody>
      </p:sp>
      <p:sp>
        <p:nvSpPr>
          <p:cNvPr id="34" name="Shape 31"/>
          <p:cNvSpPr/>
          <p:nvPr/>
        </p:nvSpPr>
        <p:spPr>
          <a:xfrm>
            <a:off x="10152191" y="3639312"/>
            <a:ext cx="1490864" cy="438912"/>
          </a:xfrm>
          <a:prstGeom prst="roundRect">
            <a:avLst>
              <a:gd name="adj" fmla="val 16667"/>
            </a:avLst>
          </a:prstGeom>
          <a:solidFill>
            <a:schemeClr val="bg1"/>
          </a:solidFill>
          <a:ln w="15875">
            <a:solidFill>
              <a:srgbClr val="2E7D32"/>
            </a:solidFill>
            <a:prstDash val="solid"/>
          </a:ln>
        </p:spPr>
      </p:sp>
      <p:sp>
        <p:nvSpPr>
          <p:cNvPr id="35" name="Text 32"/>
          <p:cNvSpPr txBox="1"/>
          <p:nvPr/>
        </p:nvSpPr>
        <p:spPr>
          <a:xfrm>
            <a:off x="10152191" y="363931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Delivery</a:t>
            </a:r>
            <a:endParaRPr lang="en-US" sz="1300" dirty="0"/>
          </a:p>
        </p:txBody>
      </p:sp>
      <p:sp>
        <p:nvSpPr>
          <p:cNvPr id="36" name="Shape 33"/>
          <p:cNvSpPr/>
          <p:nvPr/>
        </p:nvSpPr>
        <p:spPr>
          <a:xfrm>
            <a:off x="8551599" y="3639312"/>
            <a:ext cx="1490864" cy="438912"/>
          </a:xfrm>
          <a:prstGeom prst="roundRect">
            <a:avLst>
              <a:gd name="adj" fmla="val 16667"/>
            </a:avLst>
          </a:prstGeom>
          <a:solidFill>
            <a:schemeClr val="bg1"/>
          </a:solidFill>
          <a:ln w="15875">
            <a:solidFill>
              <a:srgbClr val="2E7D32"/>
            </a:solidFill>
            <a:prstDash val="solid"/>
          </a:ln>
        </p:spPr>
      </p:sp>
      <p:sp>
        <p:nvSpPr>
          <p:cNvPr id="37" name="Text 34"/>
          <p:cNvSpPr txBox="1"/>
          <p:nvPr/>
        </p:nvSpPr>
        <p:spPr>
          <a:xfrm>
            <a:off x="8551599" y="363931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Review</a:t>
            </a:r>
            <a:endParaRPr lang="en-US" sz="1300" dirty="0"/>
          </a:p>
        </p:txBody>
      </p:sp>
      <p:sp>
        <p:nvSpPr>
          <p:cNvPr id="38" name="Shape 35"/>
          <p:cNvSpPr/>
          <p:nvPr/>
        </p:nvSpPr>
        <p:spPr>
          <a:xfrm>
            <a:off x="6951008" y="3639312"/>
            <a:ext cx="1490864" cy="438912"/>
          </a:xfrm>
          <a:prstGeom prst="roundRect">
            <a:avLst>
              <a:gd name="adj" fmla="val 16667"/>
            </a:avLst>
          </a:prstGeom>
          <a:solidFill>
            <a:schemeClr val="bg1"/>
          </a:solidFill>
          <a:ln w="15875">
            <a:solidFill>
              <a:srgbClr val="2E7D32"/>
            </a:solidFill>
            <a:prstDash val="solid"/>
          </a:ln>
        </p:spPr>
      </p:sp>
      <p:sp>
        <p:nvSpPr>
          <p:cNvPr id="39" name="Text 36"/>
          <p:cNvSpPr txBox="1"/>
          <p:nvPr/>
        </p:nvSpPr>
        <p:spPr>
          <a:xfrm>
            <a:off x="6951008" y="363931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Notification</a:t>
            </a:r>
            <a:endParaRPr lang="en-US" sz="1300" dirty="0"/>
          </a:p>
        </p:txBody>
      </p:sp>
      <p:sp>
        <p:nvSpPr>
          <p:cNvPr id="40" name="Shape 37"/>
          <p:cNvSpPr/>
          <p:nvPr/>
        </p:nvSpPr>
        <p:spPr>
          <a:xfrm>
            <a:off x="5350416" y="3639312"/>
            <a:ext cx="1490864" cy="438912"/>
          </a:xfrm>
          <a:prstGeom prst="roundRect">
            <a:avLst>
              <a:gd name="adj" fmla="val 16667"/>
            </a:avLst>
          </a:prstGeom>
          <a:solidFill>
            <a:schemeClr val="bg1"/>
          </a:solidFill>
          <a:ln w="15875">
            <a:solidFill>
              <a:srgbClr val="2E7D32"/>
            </a:solidFill>
            <a:prstDash val="solid"/>
          </a:ln>
        </p:spPr>
      </p:sp>
      <p:sp>
        <p:nvSpPr>
          <p:cNvPr id="41" name="Text 38"/>
          <p:cNvSpPr txBox="1"/>
          <p:nvPr/>
        </p:nvSpPr>
        <p:spPr>
          <a:xfrm>
            <a:off x="5350416" y="363931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Analytics</a:t>
            </a:r>
            <a:endParaRPr lang="en-US" sz="1300" dirty="0"/>
          </a:p>
        </p:txBody>
      </p:sp>
      <p:sp>
        <p:nvSpPr>
          <p:cNvPr id="42" name="Shape 39"/>
          <p:cNvSpPr/>
          <p:nvPr/>
        </p:nvSpPr>
        <p:spPr>
          <a:xfrm>
            <a:off x="3749824" y="3639312"/>
            <a:ext cx="1490864" cy="438912"/>
          </a:xfrm>
          <a:prstGeom prst="roundRect">
            <a:avLst>
              <a:gd name="adj" fmla="val 16667"/>
            </a:avLst>
          </a:prstGeom>
          <a:solidFill>
            <a:schemeClr val="bg1"/>
          </a:solidFill>
          <a:ln w="15875">
            <a:solidFill>
              <a:srgbClr val="2E7D32"/>
            </a:solidFill>
            <a:prstDash val="solid"/>
          </a:ln>
        </p:spPr>
      </p:sp>
      <p:sp>
        <p:nvSpPr>
          <p:cNvPr id="43" name="Text 40"/>
          <p:cNvSpPr txBox="1"/>
          <p:nvPr/>
        </p:nvSpPr>
        <p:spPr>
          <a:xfrm>
            <a:off x="3749824" y="3639312"/>
            <a:ext cx="1490864" cy="438912"/>
          </a:xfrm>
          <a:prstGeom prst="rect">
            <a:avLst/>
          </a:prstGeom>
          <a:noFill/>
          <a:ln/>
        </p:spPr>
        <p:txBody>
          <a:bodyPr wrap="square" lIns="0" tIns="0" rIns="0" bIns="0" rtlCol="0" anchor="ctr"/>
          <a:lstStyle/>
          <a:p>
            <a:pPr algn="ctr" indent="0" marL="0">
              <a:buNone/>
            </a:pPr>
            <a:r>
              <a:rPr lang="en-US" altLang="en-US" sz="1300" b="1" dirty="0">
                <a:solidFill>
                  <a:schemeClr val="tx2"/>
                </a:solidFill>
              </a:rPr>
              <a:t>Admin</a:t>
            </a:r>
            <a:endParaRPr lang="en-US" sz="1300" dirty="0"/>
          </a:p>
        </p:txBody>
      </p:sp>
      <p:sp>
        <p:nvSpPr>
          <p:cNvPr id="44" name="Shape 41"/>
          <p:cNvSpPr/>
          <p:nvPr/>
        </p:nvSpPr>
        <p:spPr>
          <a:xfrm>
            <a:off x="2149232" y="3639312"/>
            <a:ext cx="1490864" cy="438912"/>
          </a:xfrm>
          <a:prstGeom prst="roundRect">
            <a:avLst>
              <a:gd name="adj" fmla="val 16667"/>
            </a:avLst>
          </a:prstGeom>
          <a:solidFill>
            <a:schemeClr val="bg1"/>
          </a:solidFill>
          <a:ln w="15875">
            <a:solidFill>
              <a:srgbClr val="F28C38"/>
            </a:solidFill>
            <a:prstDash val="solid"/>
          </a:ln>
        </p:spPr>
      </p:sp>
      <p:sp>
        <p:nvSpPr>
          <p:cNvPr id="45" name="Text 42"/>
          <p:cNvSpPr txBox="1"/>
          <p:nvPr/>
        </p:nvSpPr>
        <p:spPr>
          <a:xfrm>
            <a:off x="2149232" y="3639312"/>
            <a:ext cx="1490864" cy="438912"/>
          </a:xfrm>
          <a:prstGeom prst="rect">
            <a:avLst/>
          </a:prstGeom>
          <a:noFill/>
          <a:ln/>
        </p:spPr>
        <p:txBody>
          <a:bodyPr wrap="square" lIns="0" tIns="0" rIns="0" bIns="0" rtlCol="0" anchor="ctr"/>
          <a:lstStyle/>
          <a:p>
            <a:pPr algn="ctr" indent="0" marL="0">
              <a:buNone/>
            </a:pPr>
            <a:r>
              <a:rPr lang="en-US" altLang="en-US" sz="1300" b="1" dirty="0">
                <a:solidFill>
                  <a:schemeClr val="accent2"/>
                </a:solidFill>
              </a:rPr>
              <a:t>AI Gateway</a:t>
            </a:r>
            <a:endParaRPr lang="en-US" sz="1300" dirty="0"/>
          </a:p>
        </p:txBody>
      </p:sp>
      <p:sp>
        <p:nvSpPr>
          <p:cNvPr id="46" name="Shape 43"/>
          <p:cNvSpPr/>
          <p:nvPr/>
        </p:nvSpPr>
        <p:spPr>
          <a:xfrm>
            <a:off x="548640" y="3639312"/>
            <a:ext cx="1490864" cy="438912"/>
          </a:xfrm>
          <a:prstGeom prst="roundRect">
            <a:avLst>
              <a:gd name="adj" fmla="val 16667"/>
            </a:avLst>
          </a:prstGeom>
          <a:solidFill>
            <a:schemeClr val="bg1"/>
          </a:solidFill>
          <a:ln w="15875">
            <a:solidFill>
              <a:srgbClr val="F28C38"/>
            </a:solidFill>
            <a:prstDash val="solid"/>
          </a:ln>
        </p:spPr>
      </p:sp>
      <p:sp>
        <p:nvSpPr>
          <p:cNvPr id="47" name="Text 44"/>
          <p:cNvSpPr txBox="1"/>
          <p:nvPr/>
        </p:nvSpPr>
        <p:spPr>
          <a:xfrm>
            <a:off x="548640" y="3639312"/>
            <a:ext cx="1490864" cy="438912"/>
          </a:xfrm>
          <a:prstGeom prst="rect">
            <a:avLst/>
          </a:prstGeom>
          <a:noFill/>
          <a:ln/>
        </p:spPr>
        <p:txBody>
          <a:bodyPr wrap="square" lIns="0" tIns="0" rIns="0" bIns="0" rtlCol="0" anchor="ctr"/>
          <a:lstStyle/>
          <a:p>
            <a:pPr algn="ctr" indent="0" marL="0">
              <a:buNone/>
            </a:pPr>
            <a:r>
              <a:rPr lang="en-US" altLang="en-US" sz="1300" b="1" dirty="0">
                <a:solidFill>
                  <a:schemeClr val="accent2"/>
                </a:solidFill>
              </a:rPr>
              <a:t>AI Workers</a:t>
            </a:r>
            <a:endParaRPr lang="en-US" sz="1300" dirty="0"/>
          </a:p>
        </p:txBody>
      </p:sp>
      <p:sp>
        <p:nvSpPr>
          <p:cNvPr id="48" name="Shape 45"/>
          <p:cNvSpPr/>
          <p:nvPr/>
        </p:nvSpPr>
        <p:spPr>
          <a:xfrm>
            <a:off x="6095848" y="4096512"/>
            <a:ext cx="0" cy="182880"/>
          </a:xfrm>
          <a:prstGeom prst="line">
            <a:avLst/>
          </a:prstGeom>
          <a:noFill/>
          <a:ln w="22225">
            <a:solidFill>
              <a:schemeClr val="tx2"/>
            </a:solidFill>
            <a:prstDash val="solid"/>
            <a:tailEnd type="triangle"/>
          </a:ln>
        </p:spPr>
      </p:sp>
      <p:sp>
        <p:nvSpPr>
          <p:cNvPr id="49" name="Shape 46"/>
          <p:cNvSpPr/>
          <p:nvPr/>
        </p:nvSpPr>
        <p:spPr>
          <a:xfrm>
            <a:off x="548640" y="4297680"/>
            <a:ext cx="11094415" cy="475488"/>
          </a:xfrm>
          <a:prstGeom prst="roundRect">
            <a:avLst>
              <a:gd name="adj" fmla="val 23077"/>
            </a:avLst>
          </a:prstGeom>
          <a:solidFill>
            <a:schemeClr val="accent1"/>
          </a:solidFill>
          <a:ln/>
        </p:spPr>
      </p:sp>
      <p:sp>
        <p:nvSpPr>
          <p:cNvPr id="50" name="Text 47"/>
          <p:cNvSpPr txBox="1"/>
          <p:nvPr/>
        </p:nvSpPr>
        <p:spPr>
          <a:xfrm>
            <a:off x="548640" y="4297680"/>
            <a:ext cx="11094415" cy="475488"/>
          </a:xfrm>
          <a:prstGeom prst="rect">
            <a:avLst/>
          </a:prstGeom>
          <a:noFill/>
          <a:ln/>
        </p:spPr>
        <p:txBody>
          <a:bodyPr wrap="square" lIns="0" tIns="0" rIns="0" bIns="0" rtlCol="0" anchor="ctr"/>
          <a:lstStyle/>
          <a:p>
            <a:pPr rtl="1" algn="ctr" indent="0" marL="0">
              <a:buNone/>
            </a:pPr>
            <a:r>
              <a:rPr lang="fa-IR" altLang="en-US" sz="1500" b="1" dirty="0">
                <a:solidFill>
                  <a:schemeClr val="bg1"/>
                </a:solidFill>
              </a:rPr>
              <a:t>گذرگاه رویداد · NATS JetStream · رویدادهای نسخه‌دار با الگوی Outbox</a:t>
            </a:r>
            <a:endParaRPr lang="fa-IR" sz="1500" dirty="0"/>
          </a:p>
        </p:txBody>
      </p:sp>
      <p:sp>
        <p:nvSpPr>
          <p:cNvPr id="51" name="Shape 48"/>
          <p:cNvSpPr/>
          <p:nvPr/>
        </p:nvSpPr>
        <p:spPr>
          <a:xfrm>
            <a:off x="6095848" y="4791456"/>
            <a:ext cx="0" cy="182880"/>
          </a:xfrm>
          <a:prstGeom prst="line">
            <a:avLst/>
          </a:prstGeom>
          <a:noFill/>
          <a:ln w="22225">
            <a:solidFill>
              <a:schemeClr val="tx2"/>
            </a:solidFill>
            <a:prstDash val="solid"/>
            <a:tailEnd type="triangle"/>
          </a:ln>
        </p:spPr>
      </p:sp>
      <p:sp>
        <p:nvSpPr>
          <p:cNvPr id="52" name="Shape 49"/>
          <p:cNvSpPr/>
          <p:nvPr/>
        </p:nvSpPr>
        <p:spPr>
          <a:xfrm>
            <a:off x="9607052" y="4992624"/>
            <a:ext cx="2036003" cy="731520"/>
          </a:xfrm>
          <a:prstGeom prst="can">
            <a:avLst/>
          </a:prstGeom>
          <a:solidFill>
            <a:schemeClr val="bg2"/>
          </a:solidFill>
          <a:ln w="12700">
            <a:solidFill>
              <a:srgbClr val="1F4D2B"/>
            </a:solidFill>
            <a:prstDash val="solid"/>
          </a:ln>
        </p:spPr>
      </p:sp>
      <p:sp>
        <p:nvSpPr>
          <p:cNvPr id="53" name="Text 50"/>
          <p:cNvSpPr txBox="1"/>
          <p:nvPr/>
        </p:nvSpPr>
        <p:spPr>
          <a:xfrm>
            <a:off x="9607052" y="5138928"/>
            <a:ext cx="2036003" cy="548640"/>
          </a:xfrm>
          <a:prstGeom prst="rect">
            <a:avLst/>
          </a:prstGeom>
          <a:noFill/>
          <a:ln/>
        </p:spPr>
        <p:txBody>
          <a:bodyPr wrap="square" lIns="0" tIns="0" rIns="0" bIns="0" rtlCol="0" anchor="ctr"/>
          <a:lstStyle/>
          <a:p>
            <a:pPr algn="ctr" indent="0" marL="0">
              <a:buNone/>
            </a:pPr>
            <a:r>
              <a:rPr lang="en-US" altLang="en-US" sz="1200" b="1" dirty="0">
                <a:solidFill>
                  <a:schemeClr val="tx2"/>
                </a:solidFill>
              </a:rPr>
              <a:t>PostgreSQL</a:t>
            </a:r>
            <a:endParaRPr lang="en-US" sz="1200" dirty="0"/>
          </a:p>
          <a:p>
            <a:pPr algn="ctr" indent="0" marL="0">
              <a:buNone/>
            </a:pPr>
            <a:r>
              <a:rPr lang="en-US" altLang="en-US" sz="1200" b="1" dirty="0">
                <a:solidFill>
                  <a:schemeClr val="tx2"/>
                </a:solidFill>
              </a:rPr>
              <a:t>PostGIS · pgvector</a:t>
            </a:r>
            <a:endParaRPr lang="en-US" sz="1200" dirty="0"/>
          </a:p>
        </p:txBody>
      </p:sp>
      <p:sp>
        <p:nvSpPr>
          <p:cNvPr id="54" name="Shape 51"/>
          <p:cNvSpPr/>
          <p:nvPr/>
        </p:nvSpPr>
        <p:spPr>
          <a:xfrm>
            <a:off x="7342449" y="4992624"/>
            <a:ext cx="2036003" cy="731520"/>
          </a:xfrm>
          <a:prstGeom prst="can">
            <a:avLst/>
          </a:prstGeom>
          <a:solidFill>
            <a:schemeClr val="bg2"/>
          </a:solidFill>
          <a:ln w="12700">
            <a:solidFill>
              <a:srgbClr val="1F4D2B"/>
            </a:solidFill>
            <a:prstDash val="solid"/>
          </a:ln>
        </p:spPr>
      </p:sp>
      <p:sp>
        <p:nvSpPr>
          <p:cNvPr id="55" name="Text 52"/>
          <p:cNvSpPr txBox="1"/>
          <p:nvPr/>
        </p:nvSpPr>
        <p:spPr>
          <a:xfrm>
            <a:off x="7342449" y="5138928"/>
            <a:ext cx="2036003" cy="548640"/>
          </a:xfrm>
          <a:prstGeom prst="rect">
            <a:avLst/>
          </a:prstGeom>
          <a:noFill/>
          <a:ln/>
        </p:spPr>
        <p:txBody>
          <a:bodyPr wrap="square" lIns="0" tIns="0" rIns="0" bIns="0" rtlCol="0" anchor="ctr"/>
          <a:lstStyle/>
          <a:p>
            <a:pPr algn="ctr" indent="0" marL="0">
              <a:buNone/>
            </a:pPr>
            <a:r>
              <a:rPr lang="en-US" altLang="en-US" sz="1200" b="1" dirty="0">
                <a:solidFill>
                  <a:schemeClr val="tx2"/>
                </a:solidFill>
              </a:rPr>
              <a:t>Redis</a:t>
            </a:r>
            <a:endParaRPr lang="en-US" sz="1200" dirty="0"/>
          </a:p>
        </p:txBody>
      </p:sp>
      <p:sp>
        <p:nvSpPr>
          <p:cNvPr id="56" name="Shape 53"/>
          <p:cNvSpPr/>
          <p:nvPr/>
        </p:nvSpPr>
        <p:spPr>
          <a:xfrm>
            <a:off x="5077846" y="4992624"/>
            <a:ext cx="2036003" cy="731520"/>
          </a:xfrm>
          <a:prstGeom prst="can">
            <a:avLst/>
          </a:prstGeom>
          <a:solidFill>
            <a:schemeClr val="bg2"/>
          </a:solidFill>
          <a:ln w="12700">
            <a:solidFill>
              <a:srgbClr val="1F4D2B"/>
            </a:solidFill>
            <a:prstDash val="solid"/>
          </a:ln>
        </p:spPr>
      </p:sp>
      <p:sp>
        <p:nvSpPr>
          <p:cNvPr id="57" name="Text 54"/>
          <p:cNvSpPr txBox="1"/>
          <p:nvPr/>
        </p:nvSpPr>
        <p:spPr>
          <a:xfrm>
            <a:off x="5077846" y="5138928"/>
            <a:ext cx="2036003" cy="548640"/>
          </a:xfrm>
          <a:prstGeom prst="rect">
            <a:avLst/>
          </a:prstGeom>
          <a:noFill/>
          <a:ln/>
        </p:spPr>
        <p:txBody>
          <a:bodyPr wrap="square" lIns="0" tIns="0" rIns="0" bIns="0" rtlCol="0" anchor="ctr"/>
          <a:lstStyle/>
          <a:p>
            <a:pPr algn="ctr" indent="0" marL="0">
              <a:buNone/>
            </a:pPr>
            <a:r>
              <a:rPr lang="en-US" altLang="en-US" sz="1200" b="1" dirty="0">
                <a:solidFill>
                  <a:schemeClr val="tx2"/>
                </a:solidFill>
              </a:rPr>
              <a:t>OpenSearch</a:t>
            </a:r>
            <a:endParaRPr lang="en-US" sz="1200" dirty="0"/>
          </a:p>
        </p:txBody>
      </p:sp>
      <p:sp>
        <p:nvSpPr>
          <p:cNvPr id="58" name="Shape 55"/>
          <p:cNvSpPr/>
          <p:nvPr/>
        </p:nvSpPr>
        <p:spPr>
          <a:xfrm>
            <a:off x="2813243" y="4992624"/>
            <a:ext cx="2036003" cy="731520"/>
          </a:xfrm>
          <a:prstGeom prst="can">
            <a:avLst/>
          </a:prstGeom>
          <a:solidFill>
            <a:schemeClr val="bg2"/>
          </a:solidFill>
          <a:ln w="12700">
            <a:solidFill>
              <a:srgbClr val="1F4D2B"/>
            </a:solidFill>
            <a:prstDash val="solid"/>
          </a:ln>
        </p:spPr>
      </p:sp>
      <p:sp>
        <p:nvSpPr>
          <p:cNvPr id="59" name="Text 56"/>
          <p:cNvSpPr txBox="1"/>
          <p:nvPr/>
        </p:nvSpPr>
        <p:spPr>
          <a:xfrm>
            <a:off x="2813243" y="5138928"/>
            <a:ext cx="2036003" cy="548640"/>
          </a:xfrm>
          <a:prstGeom prst="rect">
            <a:avLst/>
          </a:prstGeom>
          <a:noFill/>
          <a:ln/>
        </p:spPr>
        <p:txBody>
          <a:bodyPr wrap="square" lIns="0" tIns="0" rIns="0" bIns="0" rtlCol="0" anchor="ctr"/>
          <a:lstStyle/>
          <a:p>
            <a:pPr algn="ctr" indent="0" marL="0">
              <a:buNone/>
            </a:pPr>
            <a:r>
              <a:rPr lang="en-US" altLang="en-US" sz="1200" b="1" dirty="0">
                <a:solidFill>
                  <a:schemeClr val="tx2"/>
                </a:solidFill>
              </a:rPr>
              <a:t>MinIO / S3</a:t>
            </a:r>
            <a:endParaRPr lang="en-US" sz="1200" dirty="0"/>
          </a:p>
        </p:txBody>
      </p:sp>
      <p:sp>
        <p:nvSpPr>
          <p:cNvPr id="60" name="Shape 57"/>
          <p:cNvSpPr/>
          <p:nvPr/>
        </p:nvSpPr>
        <p:spPr>
          <a:xfrm>
            <a:off x="548640" y="4992624"/>
            <a:ext cx="2036003" cy="731520"/>
          </a:xfrm>
          <a:prstGeom prst="can">
            <a:avLst/>
          </a:prstGeom>
          <a:solidFill>
            <a:schemeClr val="bg2"/>
          </a:solidFill>
          <a:ln w="12700">
            <a:solidFill>
              <a:srgbClr val="1F4D2B"/>
            </a:solidFill>
            <a:prstDash val="solid"/>
          </a:ln>
        </p:spPr>
      </p:sp>
      <p:sp>
        <p:nvSpPr>
          <p:cNvPr id="61" name="Text 58"/>
          <p:cNvSpPr txBox="1"/>
          <p:nvPr/>
        </p:nvSpPr>
        <p:spPr>
          <a:xfrm>
            <a:off x="548640" y="5138928"/>
            <a:ext cx="2036003" cy="548640"/>
          </a:xfrm>
          <a:prstGeom prst="rect">
            <a:avLst/>
          </a:prstGeom>
          <a:noFill/>
          <a:ln/>
        </p:spPr>
        <p:txBody>
          <a:bodyPr wrap="square" lIns="0" tIns="0" rIns="0" bIns="0" rtlCol="0" anchor="ctr"/>
          <a:lstStyle/>
          <a:p>
            <a:pPr algn="ctr" indent="0" marL="0">
              <a:buNone/>
            </a:pPr>
            <a:r>
              <a:rPr lang="en-US" altLang="en-US" sz="1200" b="1" dirty="0">
                <a:solidFill>
                  <a:schemeClr val="tx2"/>
                </a:solidFill>
              </a:rPr>
              <a:t>ClickHouse</a:t>
            </a:r>
            <a:endParaRPr lang="en-US" sz="1200" dirty="0"/>
          </a:p>
        </p:txBody>
      </p:sp>
      <p:sp>
        <p:nvSpPr>
          <p:cNvPr id="62" name="Text 59"/>
          <p:cNvSpPr txBox="1"/>
          <p:nvPr/>
        </p:nvSpPr>
        <p:spPr>
          <a:xfrm>
            <a:off x="548640" y="5870448"/>
            <a:ext cx="11094415" cy="320040"/>
          </a:xfrm>
          <a:prstGeom prst="rect">
            <a:avLst/>
          </a:prstGeom>
          <a:noFill/>
          <a:ln/>
        </p:spPr>
        <p:txBody>
          <a:bodyPr wrap="square" lIns="0" tIns="0" rIns="0" bIns="0" rtlCol="0" anchor="t"/>
          <a:lstStyle/>
          <a:p>
            <a:pPr rtl="1" algn="r" indent="0" marL="0">
              <a:buNone/>
            </a:pPr>
            <a:r>
              <a:rPr lang="fa-IR" altLang="en-US" sz="1300" dirty="0">
                <a:solidFill>
                  <a:srgbClr val="5E6E62"/>
                </a:solidFill>
              </a:rPr>
              <a:t>فقط Gateway عمومی است؛ سرویس‌ها تنها از داخل کلاستر در دسترس‌اند (NetworkPolicy)</a:t>
            </a:r>
            <a:endParaRPr lang="fa-IR" sz="13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سرویس‌ها و مرزهای دامنه</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هر Bounded Context یک سرویس است با داده‌ای که فقط مال خودش است</a:t>
            </a:r>
            <a:endParaRPr lang="fa-IR" sz="1600" dirty="0"/>
          </a:p>
        </p:txBody>
      </p:sp>
      <p:sp>
        <p:nvSpPr>
          <p:cNvPr id="5" name="Shape 2"/>
          <p:cNvSpPr/>
          <p:nvPr/>
        </p:nvSpPr>
        <p:spPr>
          <a:xfrm>
            <a:off x="8158277" y="1645920"/>
            <a:ext cx="3484778" cy="3794760"/>
          </a:xfrm>
          <a:prstGeom prst="roundRect">
            <a:avLst>
              <a:gd name="adj" fmla="val 3149"/>
            </a:avLst>
          </a:prstGeom>
          <a:solidFill>
            <a:schemeClr val="bg2"/>
          </a:solidFill>
          <a:ln/>
        </p:spPr>
      </p:sp>
      <p:sp>
        <p:nvSpPr>
          <p:cNvPr id="6" name="Shape 3"/>
          <p:cNvSpPr/>
          <p:nvPr/>
        </p:nvSpPr>
        <p:spPr>
          <a:xfrm>
            <a:off x="8158277" y="1645920"/>
            <a:ext cx="3484778" cy="731520"/>
          </a:xfrm>
          <a:prstGeom prst="roundRect">
            <a:avLst>
              <a:gd name="adj" fmla="val 15000"/>
            </a:avLst>
          </a:prstGeom>
          <a:solidFill>
            <a:schemeClr val="accent2"/>
          </a:solidFill>
          <a:ln/>
        </p:spPr>
      </p:sp>
      <p:sp>
        <p:nvSpPr>
          <p:cNvPr id="7" name="Text 4"/>
          <p:cNvSpPr txBox="1"/>
          <p:nvPr/>
        </p:nvSpPr>
        <p:spPr>
          <a:xfrm>
            <a:off x="8386877" y="1645920"/>
            <a:ext cx="3027578" cy="731520"/>
          </a:xfrm>
          <a:prstGeom prst="rect">
            <a:avLst/>
          </a:prstGeom>
          <a:noFill/>
          <a:ln/>
        </p:spPr>
        <p:txBody>
          <a:bodyPr wrap="square" lIns="0" tIns="0" rIns="0" bIns="0" rtlCol="0" anchor="ctr"/>
          <a:lstStyle/>
          <a:p>
            <a:pPr rtl="1" algn="r" indent="0" marL="0">
              <a:buNone/>
            </a:pPr>
            <a:r>
              <a:rPr lang="fa-IR" altLang="en-US" sz="2000" b="1" dirty="0">
                <a:solidFill>
                  <a:schemeClr val="bg1"/>
                </a:solidFill>
              </a:rPr>
              <a:t>هسته</a:t>
            </a:r>
            <a:pPr rtl="1" algn="r" indent="0" marL="0">
              <a:buNone/>
            </a:pPr>
            <a:r>
              <a:rPr lang="fa-IR" altLang="en-US" sz="1400" dirty="0">
                <a:solidFill>
                  <a:schemeClr val="bg1"/>
                </a:solidFill>
              </a:rPr>
              <a:t>  ·  مزیت رقابتی</a:t>
            </a:r>
            <a:endParaRPr lang="fa-IR" sz="1400" dirty="0"/>
          </a:p>
        </p:txBody>
      </p:sp>
      <p:sp>
        <p:nvSpPr>
          <p:cNvPr id="8" name="Text 5"/>
          <p:cNvSpPr txBox="1"/>
          <p:nvPr/>
        </p:nvSpPr>
        <p:spPr>
          <a:xfrm>
            <a:off x="8386877" y="2542032"/>
            <a:ext cx="3027578" cy="274320"/>
          </a:xfrm>
          <a:prstGeom prst="rect">
            <a:avLst/>
          </a:prstGeom>
          <a:noFill/>
          <a:ln/>
        </p:spPr>
        <p:txBody>
          <a:bodyPr wrap="square" lIns="0" tIns="0" rIns="0" bIns="0" rtlCol="0" anchor="t"/>
          <a:lstStyle/>
          <a:p>
            <a:pPr algn="r" indent="0" marL="0">
              <a:buNone/>
            </a:pPr>
            <a:r>
              <a:rPr lang="en-US" altLang="en-US" sz="1400" b="1" dirty="0">
                <a:solidFill>
                  <a:schemeClr val="tx2"/>
                </a:solidFill>
              </a:rPr>
              <a:t>catalog</a:t>
            </a:r>
            <a:endParaRPr lang="en-US" sz="1400" dirty="0"/>
          </a:p>
        </p:txBody>
      </p:sp>
      <p:sp>
        <p:nvSpPr>
          <p:cNvPr id="9" name="Text 6"/>
          <p:cNvSpPr txBox="1"/>
          <p:nvPr/>
        </p:nvSpPr>
        <p:spPr>
          <a:xfrm>
            <a:off x="8386877" y="2807208"/>
            <a:ext cx="3027578"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محصول، موجودی، تاریخ برداشت</a:t>
            </a:r>
            <a:endParaRPr lang="fa-IR" sz="1300" dirty="0"/>
          </a:p>
        </p:txBody>
      </p:sp>
      <p:sp>
        <p:nvSpPr>
          <p:cNvPr id="10" name="Text 7"/>
          <p:cNvSpPr txBox="1"/>
          <p:nvPr/>
        </p:nvSpPr>
        <p:spPr>
          <a:xfrm>
            <a:off x="8386877" y="3108960"/>
            <a:ext cx="3027578" cy="274320"/>
          </a:xfrm>
          <a:prstGeom prst="rect">
            <a:avLst/>
          </a:prstGeom>
          <a:noFill/>
          <a:ln/>
        </p:spPr>
        <p:txBody>
          <a:bodyPr wrap="square" lIns="0" tIns="0" rIns="0" bIns="0" rtlCol="0" anchor="t"/>
          <a:lstStyle/>
          <a:p>
            <a:pPr algn="r" indent="0" marL="0">
              <a:buNone/>
            </a:pPr>
            <a:r>
              <a:rPr lang="en-US" altLang="en-US" sz="1400" b="1" dirty="0">
                <a:solidFill>
                  <a:schemeClr val="tx2"/>
                </a:solidFill>
              </a:rPr>
              <a:t>cart · order</a:t>
            </a:r>
            <a:endParaRPr lang="en-US" sz="1400" dirty="0"/>
          </a:p>
        </p:txBody>
      </p:sp>
      <p:sp>
        <p:nvSpPr>
          <p:cNvPr id="11" name="Text 8"/>
          <p:cNvSpPr txBox="1"/>
          <p:nvPr/>
        </p:nvSpPr>
        <p:spPr>
          <a:xfrm>
            <a:off x="8386877" y="3374136"/>
            <a:ext cx="3027578"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سبد خرید و سفارش چندفروشنده</a:t>
            </a:r>
            <a:endParaRPr lang="fa-IR" sz="1300" dirty="0"/>
          </a:p>
        </p:txBody>
      </p:sp>
      <p:sp>
        <p:nvSpPr>
          <p:cNvPr id="12" name="Text 9"/>
          <p:cNvSpPr txBox="1"/>
          <p:nvPr/>
        </p:nvSpPr>
        <p:spPr>
          <a:xfrm>
            <a:off x="8386877" y="3675888"/>
            <a:ext cx="3027578" cy="274320"/>
          </a:xfrm>
          <a:prstGeom prst="rect">
            <a:avLst/>
          </a:prstGeom>
          <a:noFill/>
          <a:ln/>
        </p:spPr>
        <p:txBody>
          <a:bodyPr wrap="square" lIns="0" tIns="0" rIns="0" bIns="0" rtlCol="0" anchor="t"/>
          <a:lstStyle/>
          <a:p>
            <a:pPr algn="r" indent="0" marL="0">
              <a:buNone/>
            </a:pPr>
            <a:r>
              <a:rPr lang="en-US" altLang="en-US" sz="1400" b="1" dirty="0">
                <a:solidFill>
                  <a:schemeClr val="tx2"/>
                </a:solidFill>
              </a:rPr>
              <a:t>search · ai-gateway</a:t>
            </a:r>
            <a:endParaRPr lang="en-US" sz="1400" dirty="0"/>
          </a:p>
        </p:txBody>
      </p:sp>
      <p:sp>
        <p:nvSpPr>
          <p:cNvPr id="13" name="Text 10"/>
          <p:cNvSpPr txBox="1"/>
          <p:nvPr/>
        </p:nvSpPr>
        <p:spPr>
          <a:xfrm>
            <a:off x="8386877" y="3941064"/>
            <a:ext cx="3027578"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جستجو، دستیار خرید، مقایسه</a:t>
            </a:r>
            <a:endParaRPr lang="fa-IR" sz="1300" dirty="0"/>
          </a:p>
        </p:txBody>
      </p:sp>
      <p:sp>
        <p:nvSpPr>
          <p:cNvPr id="14" name="Shape 11"/>
          <p:cNvSpPr/>
          <p:nvPr/>
        </p:nvSpPr>
        <p:spPr>
          <a:xfrm>
            <a:off x="4353458" y="1645920"/>
            <a:ext cx="3484778" cy="3794760"/>
          </a:xfrm>
          <a:prstGeom prst="roundRect">
            <a:avLst>
              <a:gd name="adj" fmla="val 3149"/>
            </a:avLst>
          </a:prstGeom>
          <a:solidFill>
            <a:schemeClr val="bg2"/>
          </a:solidFill>
          <a:ln/>
        </p:spPr>
      </p:sp>
      <p:sp>
        <p:nvSpPr>
          <p:cNvPr id="15" name="Shape 12"/>
          <p:cNvSpPr/>
          <p:nvPr/>
        </p:nvSpPr>
        <p:spPr>
          <a:xfrm>
            <a:off x="4353458" y="1645920"/>
            <a:ext cx="3484778" cy="731520"/>
          </a:xfrm>
          <a:prstGeom prst="roundRect">
            <a:avLst>
              <a:gd name="adj" fmla="val 15000"/>
            </a:avLst>
          </a:prstGeom>
          <a:solidFill>
            <a:schemeClr val="accent1"/>
          </a:solidFill>
          <a:ln/>
        </p:spPr>
      </p:sp>
      <p:sp>
        <p:nvSpPr>
          <p:cNvPr id="16" name="Text 13"/>
          <p:cNvSpPr txBox="1"/>
          <p:nvPr/>
        </p:nvSpPr>
        <p:spPr>
          <a:xfrm>
            <a:off x="4582058" y="1645920"/>
            <a:ext cx="3027578" cy="731520"/>
          </a:xfrm>
          <a:prstGeom prst="rect">
            <a:avLst/>
          </a:prstGeom>
          <a:noFill/>
          <a:ln/>
        </p:spPr>
        <p:txBody>
          <a:bodyPr wrap="square" lIns="0" tIns="0" rIns="0" bIns="0" rtlCol="0" anchor="ctr"/>
          <a:lstStyle/>
          <a:p>
            <a:pPr rtl="1" algn="r" indent="0" marL="0">
              <a:buNone/>
            </a:pPr>
            <a:r>
              <a:rPr lang="fa-IR" altLang="en-US" sz="2000" b="1" dirty="0">
                <a:solidFill>
                  <a:schemeClr val="bg1"/>
                </a:solidFill>
              </a:rPr>
              <a:t>پشتیبان</a:t>
            </a:r>
            <a:pPr rtl="1" algn="r" indent="0" marL="0">
              <a:buNone/>
            </a:pPr>
            <a:r>
              <a:rPr lang="fa-IR" altLang="en-US" sz="1400" dirty="0">
                <a:solidFill>
                  <a:schemeClr val="bg1"/>
                </a:solidFill>
              </a:rPr>
              <a:t>  ·  لازم برای کسب‌وکار</a:t>
            </a:r>
            <a:endParaRPr lang="fa-IR" sz="1400" dirty="0"/>
          </a:p>
        </p:txBody>
      </p:sp>
      <p:sp>
        <p:nvSpPr>
          <p:cNvPr id="17" name="Text 14"/>
          <p:cNvSpPr txBox="1"/>
          <p:nvPr/>
        </p:nvSpPr>
        <p:spPr>
          <a:xfrm>
            <a:off x="4582058" y="2542032"/>
            <a:ext cx="3027578" cy="274320"/>
          </a:xfrm>
          <a:prstGeom prst="rect">
            <a:avLst/>
          </a:prstGeom>
          <a:noFill/>
          <a:ln/>
        </p:spPr>
        <p:txBody>
          <a:bodyPr wrap="square" lIns="0" tIns="0" rIns="0" bIns="0" rtlCol="0" anchor="t"/>
          <a:lstStyle/>
          <a:p>
            <a:pPr algn="r" indent="0" marL="0">
              <a:buNone/>
            </a:pPr>
            <a:r>
              <a:rPr lang="en-US" altLang="en-US" sz="1400" b="1" dirty="0">
                <a:solidFill>
                  <a:schemeClr val="tx2"/>
                </a:solidFill>
              </a:rPr>
              <a:t>seller</a:t>
            </a:r>
            <a:endParaRPr lang="en-US" sz="1400" dirty="0"/>
          </a:p>
        </p:txBody>
      </p:sp>
      <p:sp>
        <p:nvSpPr>
          <p:cNvPr id="18" name="Text 15"/>
          <p:cNvSpPr txBox="1"/>
          <p:nvPr/>
        </p:nvSpPr>
        <p:spPr>
          <a:xfrm>
            <a:off x="4582058" y="2807208"/>
            <a:ext cx="3027578"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احراز و تأیید فروشنده</a:t>
            </a:r>
            <a:endParaRPr lang="fa-IR" sz="1300" dirty="0"/>
          </a:p>
        </p:txBody>
      </p:sp>
      <p:sp>
        <p:nvSpPr>
          <p:cNvPr id="19" name="Text 16"/>
          <p:cNvSpPr txBox="1"/>
          <p:nvPr/>
        </p:nvSpPr>
        <p:spPr>
          <a:xfrm>
            <a:off x="4582058" y="3108960"/>
            <a:ext cx="3027578" cy="274320"/>
          </a:xfrm>
          <a:prstGeom prst="rect">
            <a:avLst/>
          </a:prstGeom>
          <a:noFill/>
          <a:ln/>
        </p:spPr>
        <p:txBody>
          <a:bodyPr wrap="square" lIns="0" tIns="0" rIns="0" bIns="0" rtlCol="0" anchor="t"/>
          <a:lstStyle/>
          <a:p>
            <a:pPr algn="r" indent="0" marL="0">
              <a:buNone/>
            </a:pPr>
            <a:r>
              <a:rPr lang="en-US" altLang="en-US" sz="1400" b="1" dirty="0">
                <a:solidFill>
                  <a:schemeClr val="tx2"/>
                </a:solidFill>
              </a:rPr>
              <a:t>payment</a:t>
            </a:r>
            <a:endParaRPr lang="en-US" sz="1400" dirty="0"/>
          </a:p>
        </p:txBody>
      </p:sp>
      <p:sp>
        <p:nvSpPr>
          <p:cNvPr id="20" name="Text 17"/>
          <p:cNvSpPr txBox="1"/>
          <p:nvPr/>
        </p:nvSpPr>
        <p:spPr>
          <a:xfrm>
            <a:off x="4582058" y="3374136"/>
            <a:ext cx="3027578"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درگاه، کمیسیون، تسویه</a:t>
            </a:r>
            <a:endParaRPr lang="fa-IR" sz="1300" dirty="0"/>
          </a:p>
        </p:txBody>
      </p:sp>
      <p:sp>
        <p:nvSpPr>
          <p:cNvPr id="21" name="Text 18"/>
          <p:cNvSpPr txBox="1"/>
          <p:nvPr/>
        </p:nvSpPr>
        <p:spPr>
          <a:xfrm>
            <a:off x="4582058" y="3675888"/>
            <a:ext cx="3027578" cy="274320"/>
          </a:xfrm>
          <a:prstGeom prst="rect">
            <a:avLst/>
          </a:prstGeom>
          <a:noFill/>
          <a:ln/>
        </p:spPr>
        <p:txBody>
          <a:bodyPr wrap="square" lIns="0" tIns="0" rIns="0" bIns="0" rtlCol="0" anchor="t"/>
          <a:lstStyle/>
          <a:p>
            <a:pPr algn="r" indent="0" marL="0">
              <a:buNone/>
            </a:pPr>
            <a:r>
              <a:rPr lang="en-US" altLang="en-US" sz="1400" b="1" dirty="0">
                <a:solidFill>
                  <a:schemeClr val="tx2"/>
                </a:solidFill>
              </a:rPr>
              <a:t>delivery</a:t>
            </a:r>
            <a:endParaRPr lang="en-US" sz="1400" dirty="0"/>
          </a:p>
        </p:txBody>
      </p:sp>
      <p:sp>
        <p:nvSpPr>
          <p:cNvPr id="22" name="Text 19"/>
          <p:cNvSpPr txBox="1"/>
          <p:nvPr/>
        </p:nvSpPr>
        <p:spPr>
          <a:xfrm>
            <a:off x="4582058" y="3941064"/>
            <a:ext cx="3027578"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محدوده، اسلات، پیک</a:t>
            </a:r>
            <a:endParaRPr lang="fa-IR" sz="1300" dirty="0"/>
          </a:p>
        </p:txBody>
      </p:sp>
      <p:sp>
        <p:nvSpPr>
          <p:cNvPr id="23" name="Text 20"/>
          <p:cNvSpPr txBox="1"/>
          <p:nvPr/>
        </p:nvSpPr>
        <p:spPr>
          <a:xfrm>
            <a:off x="4582058" y="4242816"/>
            <a:ext cx="3027578" cy="274320"/>
          </a:xfrm>
          <a:prstGeom prst="rect">
            <a:avLst/>
          </a:prstGeom>
          <a:noFill/>
          <a:ln/>
        </p:spPr>
        <p:txBody>
          <a:bodyPr wrap="square" lIns="0" tIns="0" rIns="0" bIns="0" rtlCol="0" anchor="t"/>
          <a:lstStyle/>
          <a:p>
            <a:pPr algn="r" indent="0" marL="0">
              <a:buNone/>
            </a:pPr>
            <a:r>
              <a:rPr lang="en-US" altLang="en-US" sz="1400" b="1" dirty="0">
                <a:solidFill>
                  <a:schemeClr val="tx2"/>
                </a:solidFill>
              </a:rPr>
              <a:t>review</a:t>
            </a:r>
            <a:endParaRPr lang="en-US" sz="1400" dirty="0"/>
          </a:p>
        </p:txBody>
      </p:sp>
      <p:sp>
        <p:nvSpPr>
          <p:cNvPr id="24" name="Text 21"/>
          <p:cNvSpPr txBox="1"/>
          <p:nvPr/>
        </p:nvSpPr>
        <p:spPr>
          <a:xfrm>
            <a:off x="4582058" y="4507992"/>
            <a:ext cx="3027578"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نظر فقط از خرید تأییدشده</a:t>
            </a:r>
            <a:endParaRPr lang="fa-IR" sz="1300" dirty="0"/>
          </a:p>
        </p:txBody>
      </p:sp>
      <p:sp>
        <p:nvSpPr>
          <p:cNvPr id="25" name="Text 22"/>
          <p:cNvSpPr txBox="1"/>
          <p:nvPr/>
        </p:nvSpPr>
        <p:spPr>
          <a:xfrm>
            <a:off x="4582058" y="4809744"/>
            <a:ext cx="3027578" cy="274320"/>
          </a:xfrm>
          <a:prstGeom prst="rect">
            <a:avLst/>
          </a:prstGeom>
          <a:noFill/>
          <a:ln/>
        </p:spPr>
        <p:txBody>
          <a:bodyPr wrap="square" lIns="0" tIns="0" rIns="0" bIns="0" rtlCol="0" anchor="t"/>
          <a:lstStyle/>
          <a:p>
            <a:pPr algn="r" indent="0" marL="0">
              <a:buNone/>
            </a:pPr>
            <a:r>
              <a:rPr lang="en-US" altLang="en-US" sz="1400" b="1" dirty="0">
                <a:solidFill>
                  <a:schemeClr val="tx2"/>
                </a:solidFill>
              </a:rPr>
              <a:t>admin</a:t>
            </a:r>
            <a:endParaRPr lang="en-US" sz="1400" dirty="0"/>
          </a:p>
        </p:txBody>
      </p:sp>
      <p:sp>
        <p:nvSpPr>
          <p:cNvPr id="26" name="Text 23"/>
          <p:cNvSpPr txBox="1"/>
          <p:nvPr/>
        </p:nvSpPr>
        <p:spPr>
          <a:xfrm>
            <a:off x="4582058" y="5074920"/>
            <a:ext cx="3027578"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شهرها، اختلاف‌ها، تنظیمات</a:t>
            </a:r>
            <a:endParaRPr lang="fa-IR" sz="1300" dirty="0"/>
          </a:p>
        </p:txBody>
      </p:sp>
      <p:sp>
        <p:nvSpPr>
          <p:cNvPr id="27" name="Shape 24"/>
          <p:cNvSpPr/>
          <p:nvPr/>
        </p:nvSpPr>
        <p:spPr>
          <a:xfrm>
            <a:off x="548640" y="1645920"/>
            <a:ext cx="3484778" cy="3794760"/>
          </a:xfrm>
          <a:prstGeom prst="roundRect">
            <a:avLst>
              <a:gd name="adj" fmla="val 3149"/>
            </a:avLst>
          </a:prstGeom>
          <a:solidFill>
            <a:schemeClr val="bg2"/>
          </a:solidFill>
          <a:ln/>
        </p:spPr>
      </p:sp>
      <p:sp>
        <p:nvSpPr>
          <p:cNvPr id="28" name="Shape 25"/>
          <p:cNvSpPr/>
          <p:nvPr/>
        </p:nvSpPr>
        <p:spPr>
          <a:xfrm>
            <a:off x="548640" y="1645920"/>
            <a:ext cx="3484778" cy="731520"/>
          </a:xfrm>
          <a:prstGeom prst="roundRect">
            <a:avLst>
              <a:gd name="adj" fmla="val 15000"/>
            </a:avLst>
          </a:prstGeom>
          <a:solidFill>
            <a:schemeClr val="tx2"/>
          </a:solidFill>
          <a:ln/>
        </p:spPr>
      </p:sp>
      <p:sp>
        <p:nvSpPr>
          <p:cNvPr id="29" name="Text 26"/>
          <p:cNvSpPr txBox="1"/>
          <p:nvPr/>
        </p:nvSpPr>
        <p:spPr>
          <a:xfrm>
            <a:off x="777240" y="1645920"/>
            <a:ext cx="3027578" cy="731520"/>
          </a:xfrm>
          <a:prstGeom prst="rect">
            <a:avLst/>
          </a:prstGeom>
          <a:noFill/>
          <a:ln/>
        </p:spPr>
        <p:txBody>
          <a:bodyPr wrap="square" lIns="0" tIns="0" rIns="0" bIns="0" rtlCol="0" anchor="ctr"/>
          <a:lstStyle/>
          <a:p>
            <a:pPr rtl="1" algn="r" indent="0" marL="0">
              <a:buNone/>
            </a:pPr>
            <a:r>
              <a:rPr lang="fa-IR" altLang="en-US" sz="2000" b="1" dirty="0">
                <a:solidFill>
                  <a:schemeClr val="bg1"/>
                </a:solidFill>
              </a:rPr>
              <a:t>عمومی</a:t>
            </a:r>
            <a:pPr rtl="1" algn="r" indent="0" marL="0">
              <a:buNone/>
            </a:pPr>
            <a:r>
              <a:rPr lang="fa-IR" altLang="en-US" sz="1400" dirty="0">
                <a:solidFill>
                  <a:schemeClr val="bg1"/>
                </a:solidFill>
              </a:rPr>
              <a:t>  ·  قابل خرید یا جایگزینی</a:t>
            </a:r>
            <a:endParaRPr lang="fa-IR" sz="1400" dirty="0"/>
          </a:p>
        </p:txBody>
      </p:sp>
      <p:sp>
        <p:nvSpPr>
          <p:cNvPr id="30" name="Text 27"/>
          <p:cNvSpPr txBox="1"/>
          <p:nvPr/>
        </p:nvSpPr>
        <p:spPr>
          <a:xfrm>
            <a:off x="777240" y="2542032"/>
            <a:ext cx="3027578" cy="274320"/>
          </a:xfrm>
          <a:prstGeom prst="rect">
            <a:avLst/>
          </a:prstGeom>
          <a:noFill/>
          <a:ln/>
        </p:spPr>
        <p:txBody>
          <a:bodyPr wrap="square" lIns="0" tIns="0" rIns="0" bIns="0" rtlCol="0" anchor="t"/>
          <a:lstStyle/>
          <a:p>
            <a:pPr algn="r" indent="0" marL="0">
              <a:buNone/>
            </a:pPr>
            <a:r>
              <a:rPr lang="en-US" altLang="en-US" sz="1400" b="1" dirty="0">
                <a:solidFill>
                  <a:schemeClr val="tx2"/>
                </a:solidFill>
              </a:rPr>
              <a:t>identity</a:t>
            </a:r>
            <a:endParaRPr lang="en-US" sz="1400" dirty="0"/>
          </a:p>
        </p:txBody>
      </p:sp>
      <p:sp>
        <p:nvSpPr>
          <p:cNvPr id="31" name="Text 28"/>
          <p:cNvSpPr txBox="1"/>
          <p:nvPr/>
        </p:nvSpPr>
        <p:spPr>
          <a:xfrm>
            <a:off x="777240" y="2807208"/>
            <a:ext cx="3027578"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ورود با OTP، توکن JWT، نقش‌ها</a:t>
            </a:r>
            <a:endParaRPr lang="fa-IR" sz="1300" dirty="0"/>
          </a:p>
        </p:txBody>
      </p:sp>
      <p:sp>
        <p:nvSpPr>
          <p:cNvPr id="32" name="Text 29"/>
          <p:cNvSpPr txBox="1"/>
          <p:nvPr/>
        </p:nvSpPr>
        <p:spPr>
          <a:xfrm>
            <a:off x="777240" y="3108960"/>
            <a:ext cx="3027578" cy="274320"/>
          </a:xfrm>
          <a:prstGeom prst="rect">
            <a:avLst/>
          </a:prstGeom>
          <a:noFill/>
          <a:ln/>
        </p:spPr>
        <p:txBody>
          <a:bodyPr wrap="square" lIns="0" tIns="0" rIns="0" bIns="0" rtlCol="0" anchor="t"/>
          <a:lstStyle/>
          <a:p>
            <a:pPr algn="r" indent="0" marL="0">
              <a:buNone/>
            </a:pPr>
            <a:r>
              <a:rPr lang="en-US" altLang="en-US" sz="1400" b="1" dirty="0">
                <a:solidFill>
                  <a:schemeClr val="tx2"/>
                </a:solidFill>
              </a:rPr>
              <a:t>notification</a:t>
            </a:r>
            <a:endParaRPr lang="en-US" sz="1400" dirty="0"/>
          </a:p>
        </p:txBody>
      </p:sp>
      <p:sp>
        <p:nvSpPr>
          <p:cNvPr id="33" name="Text 30"/>
          <p:cNvSpPr txBox="1"/>
          <p:nvPr/>
        </p:nvSpPr>
        <p:spPr>
          <a:xfrm>
            <a:off x="777240" y="3374136"/>
            <a:ext cx="3027578"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پیامک، تلگرام، Push، ایمیل</a:t>
            </a:r>
            <a:endParaRPr lang="fa-IR" sz="1300" dirty="0"/>
          </a:p>
        </p:txBody>
      </p:sp>
      <p:sp>
        <p:nvSpPr>
          <p:cNvPr id="34" name="Text 31"/>
          <p:cNvSpPr txBox="1"/>
          <p:nvPr/>
        </p:nvSpPr>
        <p:spPr>
          <a:xfrm>
            <a:off x="777240" y="3675888"/>
            <a:ext cx="3027578" cy="274320"/>
          </a:xfrm>
          <a:prstGeom prst="rect">
            <a:avLst/>
          </a:prstGeom>
          <a:noFill/>
          <a:ln/>
        </p:spPr>
        <p:txBody>
          <a:bodyPr wrap="square" lIns="0" tIns="0" rIns="0" bIns="0" rtlCol="0" anchor="t"/>
          <a:lstStyle/>
          <a:p>
            <a:pPr algn="r" indent="0" marL="0">
              <a:buNone/>
            </a:pPr>
            <a:r>
              <a:rPr lang="en-US" altLang="en-US" sz="1400" b="1" dirty="0">
                <a:solidFill>
                  <a:schemeClr val="tx2"/>
                </a:solidFill>
              </a:rPr>
              <a:t>analytics</a:t>
            </a:r>
            <a:endParaRPr lang="en-US" sz="1400" dirty="0"/>
          </a:p>
        </p:txBody>
      </p:sp>
      <p:sp>
        <p:nvSpPr>
          <p:cNvPr id="35" name="Text 32"/>
          <p:cNvSpPr txBox="1"/>
          <p:nvPr/>
        </p:nvSpPr>
        <p:spPr>
          <a:xfrm>
            <a:off x="777240" y="3941064"/>
            <a:ext cx="3027578"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رویدادهای رفتاری در ClickHouse</a:t>
            </a:r>
            <a:endParaRPr lang="fa-IR" sz="1300" dirty="0"/>
          </a:p>
        </p:txBody>
      </p:sp>
      <p:sp>
        <p:nvSpPr>
          <p:cNvPr id="36" name="Shape 33"/>
          <p:cNvSpPr/>
          <p:nvPr/>
        </p:nvSpPr>
        <p:spPr>
          <a:xfrm>
            <a:off x="548640" y="5577840"/>
            <a:ext cx="11094415" cy="594360"/>
          </a:xfrm>
          <a:prstGeom prst="roundRect">
            <a:avLst>
              <a:gd name="adj" fmla="val 18462"/>
            </a:avLst>
          </a:prstGeom>
          <a:solidFill>
            <a:schemeClr val="bg1"/>
          </a:solidFill>
          <a:ln w="15875">
            <a:solidFill>
              <a:srgbClr val="D9534F"/>
            </a:solidFill>
            <a:prstDash val="solid"/>
          </a:ln>
        </p:spPr>
      </p:sp>
      <p:sp>
        <p:nvSpPr>
          <p:cNvPr id="37" name="Shape 34"/>
          <p:cNvSpPr/>
          <p:nvPr/>
        </p:nvSpPr>
        <p:spPr>
          <a:xfrm>
            <a:off x="11048695" y="5669280"/>
            <a:ext cx="411480" cy="411480"/>
          </a:xfrm>
          <a:prstGeom prst="ellipse">
            <a:avLst/>
          </a:prstGeom>
          <a:solidFill>
            <a:schemeClr val="accent4"/>
          </a:solidFill>
          <a:ln/>
        </p:spPr>
      </p:sp>
      <p:pic>
        <p:nvPicPr>
          <p:cNvPr id="38" name="Image 0" descr="LuLock">    </p:cNvPr>
          <p:cNvPicPr>
            <a:picLocks noChangeAspect="1"/>
          </p:cNvPicPr>
          <p:nvPr/>
        </p:nvPicPr>
        <p:blipFill>
          <a:blip r:embed="rId1"/>
          <a:stretch>
            <a:fillRect/>
          </a:stretch>
        </p:blipFill>
        <p:spPr>
          <a:xfrm>
            <a:off x="11139221" y="5759806"/>
            <a:ext cx="230429" cy="230429"/>
          </a:xfrm>
          <a:prstGeom prst="rect">
            <a:avLst/>
          </a:prstGeom>
        </p:spPr>
      </p:pic>
      <p:sp>
        <p:nvSpPr>
          <p:cNvPr id="39" name="Text 35"/>
          <p:cNvSpPr txBox="1"/>
          <p:nvPr/>
        </p:nvSpPr>
        <p:spPr>
          <a:xfrm>
            <a:off x="822960" y="5577840"/>
            <a:ext cx="10088575" cy="594360"/>
          </a:xfrm>
          <a:prstGeom prst="rect">
            <a:avLst/>
          </a:prstGeom>
          <a:noFill/>
          <a:ln/>
        </p:spPr>
        <p:txBody>
          <a:bodyPr wrap="square" lIns="0" tIns="0" rIns="0" bIns="0" rtlCol="0" anchor="ctr"/>
          <a:lstStyle/>
          <a:p>
            <a:pPr rtl="1" algn="r" indent="0" marL="0">
              <a:buNone/>
            </a:pPr>
            <a:r>
              <a:rPr lang="fa-IR" altLang="en-US" sz="1500" b="1" dirty="0">
                <a:solidFill>
                  <a:schemeClr val="accent4"/>
                </a:solidFill>
              </a:rPr>
              <a:t>قانون طلایی: </a:t>
            </a:r>
            <a:pPr rtl="1" algn="r" indent="0" marL="0">
              <a:buNone/>
            </a:pPr>
            <a:r>
              <a:rPr lang="fa-IR" altLang="en-US" sz="1500" dirty="0">
                <a:solidFill>
                  <a:schemeClr val="tx1"/>
                </a:solidFill>
              </a:rPr>
              <a:t>هیچ سرویسی به دیتابیس سرویس دیگر دسترسی ندارد؛ ارتباط فقط با API و رویداد</a:t>
            </a:r>
            <a:endParaRPr lang="fa-IR" sz="15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ارتباط همگام و ناهمگام</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پرسشی که همین حالا جواب می‌خواهد با REST؛ «اتفاقی افتاد» با رویداد</a:t>
            </a:r>
            <a:endParaRPr lang="fa-IR" sz="1600" dirty="0"/>
          </a:p>
        </p:txBody>
      </p:sp>
      <p:sp>
        <p:nvSpPr>
          <p:cNvPr id="5" name="Shape 2"/>
          <p:cNvSpPr/>
          <p:nvPr/>
        </p:nvSpPr>
        <p:spPr>
          <a:xfrm>
            <a:off x="6278728" y="1645920"/>
            <a:ext cx="5364328" cy="4526280"/>
          </a:xfrm>
          <a:prstGeom prst="roundRect">
            <a:avLst>
              <a:gd name="adj" fmla="val 2424"/>
            </a:avLst>
          </a:prstGeom>
          <a:solidFill>
            <a:schemeClr val="bg2"/>
          </a:solidFill>
          <a:ln/>
        </p:spPr>
      </p:sp>
      <p:sp>
        <p:nvSpPr>
          <p:cNvPr id="6" name="Shape 3"/>
          <p:cNvSpPr/>
          <p:nvPr/>
        </p:nvSpPr>
        <p:spPr>
          <a:xfrm>
            <a:off x="10820095" y="1828800"/>
            <a:ext cx="548640" cy="548640"/>
          </a:xfrm>
          <a:prstGeom prst="ellipse">
            <a:avLst/>
          </a:prstGeom>
          <a:solidFill>
            <a:schemeClr val="accent1"/>
          </a:solidFill>
          <a:ln/>
        </p:spPr>
      </p:sp>
      <p:pic>
        <p:nvPicPr>
          <p:cNvPr id="7" name="Image 0" descr="LuArrowLeftRight">    </p:cNvPr>
          <p:cNvPicPr>
            <a:picLocks noChangeAspect="1"/>
          </p:cNvPicPr>
          <p:nvPr/>
        </p:nvPicPr>
        <p:blipFill>
          <a:blip r:embed="rId1"/>
          <a:stretch>
            <a:fillRect/>
          </a:stretch>
        </p:blipFill>
        <p:spPr>
          <a:xfrm>
            <a:off x="10940796" y="1949501"/>
            <a:ext cx="307238" cy="307238"/>
          </a:xfrm>
          <a:prstGeom prst="rect">
            <a:avLst/>
          </a:prstGeom>
        </p:spPr>
      </p:pic>
      <p:sp>
        <p:nvSpPr>
          <p:cNvPr id="8" name="Text 4"/>
          <p:cNvSpPr txBox="1"/>
          <p:nvPr/>
        </p:nvSpPr>
        <p:spPr>
          <a:xfrm>
            <a:off x="6553048" y="1828800"/>
            <a:ext cx="4084168" cy="548640"/>
          </a:xfrm>
          <a:prstGeom prst="rect">
            <a:avLst/>
          </a:prstGeom>
          <a:noFill/>
          <a:ln/>
        </p:spPr>
        <p:txBody>
          <a:bodyPr wrap="square" lIns="0" tIns="0" rIns="0" bIns="0" rtlCol="0" anchor="ctr"/>
          <a:lstStyle/>
          <a:p>
            <a:pPr rtl="1" algn="r" indent="0" marL="0">
              <a:buNone/>
            </a:pPr>
            <a:r>
              <a:rPr lang="fa-IR" altLang="en-US" sz="2000" b="1" dirty="0">
                <a:solidFill>
                  <a:schemeClr val="tx2"/>
                </a:solidFill>
              </a:rPr>
              <a:t>همگام · REST + OpenAPI</a:t>
            </a:r>
            <a:endParaRPr lang="fa-IR" sz="2000" dirty="0"/>
          </a:p>
        </p:txBody>
      </p:sp>
      <p:sp>
        <p:nvSpPr>
          <p:cNvPr id="9" name="Text 5"/>
          <p:cNvSpPr txBox="1"/>
          <p:nvPr/>
        </p:nvSpPr>
        <p:spPr>
          <a:xfrm>
            <a:off x="6553048" y="2560320"/>
            <a:ext cx="4815688" cy="1554480"/>
          </a:xfrm>
          <a:prstGeom prst="rect">
            <a:avLst/>
          </a:prstGeom>
          <a:noFill/>
          <a:ln/>
        </p:spPr>
        <p:txBody>
          <a:bodyPr wrap="square" lIns="0" tIns="0" rIns="0" bIns="0" rtlCol="0" anchor="t"/>
          <a:lstStyle/>
          <a:p>
            <a:pPr rtl="1" algn="r" marL="342900" indent="-342900">
              <a:spcAft>
                <a:spcPts val="800"/>
              </a:spcAft>
              <a:buSzPct val="100000"/>
              <a:buChar char="•"/>
            </a:pPr>
            <a:r>
              <a:rPr lang="fa-IR" altLang="en-US" sz="1500" dirty="0">
                <a:solidFill>
                  <a:schemeClr val="tx1"/>
                </a:solidFill>
              </a:rPr>
              <a:t>درخواست کاربر از Gateway به سرویس مالک داده</a:t>
            </a:r>
            <a:endParaRPr lang="fa-IR" sz="1500" dirty="0"/>
          </a:p>
          <a:p>
            <a:pPr rtl="1" algn="r" marL="342900" indent="-342900">
              <a:spcAft>
                <a:spcPts val="800"/>
              </a:spcAft>
              <a:buSzPct val="100000"/>
              <a:buChar char="•"/>
            </a:pPr>
            <a:r>
              <a:rPr lang="fa-IR" altLang="en-US" sz="1500" dirty="0">
                <a:solidFill>
                  <a:schemeClr val="tx1"/>
                </a:solidFill>
              </a:rPr>
              <a:t>پرسشی که همین حالا جواب می‌خواهد؛ مثلاً اعتبارسنجی قیمت سبد</a:t>
            </a:r>
            <a:endParaRPr lang="fa-IR" sz="1500" dirty="0"/>
          </a:p>
          <a:p>
            <a:pPr rtl="1" algn="r" marL="342900" indent="-342900">
              <a:spcAft>
                <a:spcPts val="800"/>
              </a:spcAft>
              <a:buSzPct val="100000"/>
              <a:buChar char="•"/>
            </a:pPr>
            <a:r>
              <a:rPr lang="fa-IR" altLang="en-US" sz="1500" dirty="0">
                <a:solidFill>
                  <a:schemeClr val="tx1"/>
                </a:solidFill>
              </a:rPr>
              <a:t>فرمان‌های Saga همراه با Idempotency-Key</a:t>
            </a:r>
            <a:endParaRPr lang="fa-IR" sz="1500" dirty="0"/>
          </a:p>
        </p:txBody>
      </p:sp>
      <p:sp>
        <p:nvSpPr>
          <p:cNvPr id="10" name="Shape 6"/>
          <p:cNvSpPr/>
          <p:nvPr/>
        </p:nvSpPr>
        <p:spPr>
          <a:xfrm>
            <a:off x="6553048" y="4251960"/>
            <a:ext cx="4815688" cy="1691640"/>
          </a:xfrm>
          <a:prstGeom prst="roundRect">
            <a:avLst>
              <a:gd name="adj" fmla="val 6486"/>
            </a:avLst>
          </a:prstGeom>
          <a:solidFill>
            <a:schemeClr val="bg1"/>
          </a:solidFill>
          <a:ln/>
        </p:spPr>
      </p:sp>
      <p:sp>
        <p:nvSpPr>
          <p:cNvPr id="11" name="Text 7"/>
          <p:cNvSpPr txBox="1"/>
          <p:nvPr/>
        </p:nvSpPr>
        <p:spPr>
          <a:xfrm>
            <a:off x="6735928" y="4389120"/>
            <a:ext cx="4449928" cy="1463040"/>
          </a:xfrm>
          <a:prstGeom prst="rect">
            <a:avLst/>
          </a:prstGeom>
          <a:noFill/>
          <a:ln/>
        </p:spPr>
        <p:txBody>
          <a:bodyPr wrap="square" lIns="0" tIns="0" rIns="0" bIns="0" rtlCol="0" anchor="t"/>
          <a:lstStyle/>
          <a:p>
            <a:pPr rtl="1" algn="r" indent="0" marL="0">
              <a:spcAft>
                <a:spcPts val="400"/>
              </a:spcAft>
              <a:buNone/>
            </a:pPr>
            <a:r>
              <a:rPr lang="fa-IR" altLang="en-US" sz="1400" b="1" dirty="0">
                <a:solidFill>
                  <a:schemeClr val="accent1"/>
                </a:solidFill>
              </a:rPr>
              <a:t>محافظ‌ها</a:t>
            </a:r>
            <a:endParaRPr lang="fa-IR" sz="1400" dirty="0"/>
          </a:p>
          <a:p>
            <a:pPr rtl="1" algn="r" marL="342900" indent="-342900">
              <a:spcAft>
                <a:spcPts val="400"/>
              </a:spcAft>
              <a:buSzPct val="100000"/>
              <a:buChar char="•"/>
            </a:pPr>
            <a:r>
              <a:rPr lang="fa-IR" altLang="en-US" sz="1400" dirty="0">
                <a:solidFill>
                  <a:schemeClr val="tx1"/>
                </a:solidFill>
              </a:rPr>
              <a:t>تایم‌اوت ۲ ثانیه برای هر فراخوانی</a:t>
            </a:r>
            <a:endParaRPr lang="fa-IR" sz="1400" dirty="0"/>
          </a:p>
          <a:p>
            <a:pPr rtl="1" algn="r" marL="342900" indent="-342900">
              <a:spcAft>
                <a:spcPts val="400"/>
              </a:spcAft>
              <a:buSzPct val="100000"/>
              <a:buChar char="•"/>
            </a:pPr>
            <a:r>
              <a:rPr lang="fa-IR" altLang="en-US" sz="1400" dirty="0">
                <a:solidFill>
                  <a:schemeClr val="tx1"/>
                </a:solidFill>
              </a:rPr>
              <a:t>Retry فقط برای عملیات idempotent</a:t>
            </a:r>
            <a:endParaRPr lang="fa-IR" sz="1400" dirty="0"/>
          </a:p>
          <a:p>
            <a:pPr rtl="1" algn="r" marL="342900" indent="-342900">
              <a:spcAft>
                <a:spcPts val="400"/>
              </a:spcAft>
              <a:buSzPct val="100000"/>
              <a:buChar char="•"/>
            </a:pPr>
            <a:r>
              <a:rPr lang="fa-IR" altLang="en-US" sz="1400" dirty="0">
                <a:solidFill>
                  <a:schemeClr val="tx1"/>
                </a:solidFill>
              </a:rPr>
              <a:t>Circuit Breaker و حداکثر ۲ پرش همگام</a:t>
            </a:r>
            <a:endParaRPr lang="fa-IR" sz="1400" dirty="0"/>
          </a:p>
        </p:txBody>
      </p:sp>
      <p:sp>
        <p:nvSpPr>
          <p:cNvPr id="12" name="Shape 8"/>
          <p:cNvSpPr/>
          <p:nvPr/>
        </p:nvSpPr>
        <p:spPr>
          <a:xfrm>
            <a:off x="548640" y="1645920"/>
            <a:ext cx="5364328" cy="4526280"/>
          </a:xfrm>
          <a:prstGeom prst="roundRect">
            <a:avLst>
              <a:gd name="adj" fmla="val 2424"/>
            </a:avLst>
          </a:prstGeom>
          <a:solidFill>
            <a:schemeClr val="bg2"/>
          </a:solidFill>
          <a:ln/>
        </p:spPr>
      </p:sp>
      <p:sp>
        <p:nvSpPr>
          <p:cNvPr id="13" name="Shape 9"/>
          <p:cNvSpPr/>
          <p:nvPr/>
        </p:nvSpPr>
        <p:spPr>
          <a:xfrm>
            <a:off x="5090008" y="1828800"/>
            <a:ext cx="548640" cy="548640"/>
          </a:xfrm>
          <a:prstGeom prst="ellipse">
            <a:avLst/>
          </a:prstGeom>
          <a:solidFill>
            <a:schemeClr val="accent2"/>
          </a:solidFill>
          <a:ln/>
        </p:spPr>
      </p:sp>
      <p:pic>
        <p:nvPicPr>
          <p:cNvPr id="14" name="Image 1" descr="LuZap">    </p:cNvPr>
          <p:cNvPicPr>
            <a:picLocks noChangeAspect="1"/>
          </p:cNvPicPr>
          <p:nvPr/>
        </p:nvPicPr>
        <p:blipFill>
          <a:blip r:embed="rId2"/>
          <a:stretch>
            <a:fillRect/>
          </a:stretch>
        </p:blipFill>
        <p:spPr>
          <a:xfrm>
            <a:off x="5210708" y="1949501"/>
            <a:ext cx="307238" cy="307238"/>
          </a:xfrm>
          <a:prstGeom prst="rect">
            <a:avLst/>
          </a:prstGeom>
        </p:spPr>
      </p:pic>
      <p:sp>
        <p:nvSpPr>
          <p:cNvPr id="15" name="Text 10"/>
          <p:cNvSpPr txBox="1"/>
          <p:nvPr/>
        </p:nvSpPr>
        <p:spPr>
          <a:xfrm>
            <a:off x="822960" y="1828800"/>
            <a:ext cx="4084168" cy="548640"/>
          </a:xfrm>
          <a:prstGeom prst="rect">
            <a:avLst/>
          </a:prstGeom>
          <a:noFill/>
          <a:ln/>
        </p:spPr>
        <p:txBody>
          <a:bodyPr wrap="square" lIns="0" tIns="0" rIns="0" bIns="0" rtlCol="0" anchor="ctr"/>
          <a:lstStyle/>
          <a:p>
            <a:pPr rtl="1" algn="r" indent="0" marL="0">
              <a:buNone/>
            </a:pPr>
            <a:r>
              <a:rPr lang="fa-IR" altLang="en-US" sz="2000" b="1" dirty="0">
                <a:solidFill>
                  <a:schemeClr val="tx2"/>
                </a:solidFill>
              </a:rPr>
              <a:t>ناهمگام · رویداد</a:t>
            </a:r>
            <a:endParaRPr lang="fa-IR" sz="2000" dirty="0"/>
          </a:p>
        </p:txBody>
      </p:sp>
      <p:sp>
        <p:nvSpPr>
          <p:cNvPr id="16" name="Text 11"/>
          <p:cNvSpPr txBox="1"/>
          <p:nvPr/>
        </p:nvSpPr>
        <p:spPr>
          <a:xfrm>
            <a:off x="822960" y="2560320"/>
            <a:ext cx="4815688" cy="1554480"/>
          </a:xfrm>
          <a:prstGeom prst="rect">
            <a:avLst/>
          </a:prstGeom>
          <a:noFill/>
          <a:ln/>
        </p:spPr>
        <p:txBody>
          <a:bodyPr wrap="square" lIns="0" tIns="0" rIns="0" bIns="0" rtlCol="0" anchor="t"/>
          <a:lstStyle/>
          <a:p>
            <a:pPr rtl="1" algn="r" marL="342900" indent="-342900">
              <a:spcAft>
                <a:spcPts val="800"/>
              </a:spcAft>
              <a:buSzPct val="100000"/>
              <a:buChar char="•"/>
            </a:pPr>
            <a:r>
              <a:rPr lang="fa-IR" altLang="en-US" sz="1500" dirty="0">
                <a:solidFill>
                  <a:schemeClr val="tx1"/>
                </a:solidFill>
              </a:rPr>
              <a:t>تحویل حداقل‌یک‌بار؛ مصرف‌کننده‌ی idempotent با جدول inbox</a:t>
            </a:r>
            <a:endParaRPr lang="fa-IR" sz="1500" dirty="0"/>
          </a:p>
          <a:p>
            <a:pPr rtl="1" algn="r" marL="342900" indent="-342900">
              <a:spcAft>
                <a:spcPts val="800"/>
              </a:spcAft>
              <a:buSzPct val="100000"/>
              <a:buChar char="•"/>
            </a:pPr>
            <a:r>
              <a:rPr lang="fa-IR" altLang="en-US" sz="1500" dirty="0">
                <a:solidFill>
                  <a:schemeClr val="tx1"/>
                </a:solidFill>
              </a:rPr>
              <a:t>ترتیب تضمینی برای هر aggregate؛ صف خطا (DLQ)</a:t>
            </a:r>
            <a:endParaRPr lang="fa-IR" sz="1500" dirty="0"/>
          </a:p>
          <a:p>
            <a:pPr rtl="1" algn="r" marL="342900" indent="-342900">
              <a:spcAft>
                <a:spcPts val="800"/>
              </a:spcAft>
              <a:buSzPct val="100000"/>
              <a:buChar char="•"/>
            </a:pPr>
            <a:r>
              <a:rPr lang="fa-IR" altLang="en-US" sz="1500" dirty="0">
                <a:solidFill>
                  <a:schemeClr val="tx1"/>
                </a:solidFill>
              </a:rPr>
              <a:t>رویدادها نسخه‌دارند و قراردادشان تست می‌شود</a:t>
            </a:r>
            <a:endParaRPr lang="fa-IR" sz="1500" dirty="0"/>
          </a:p>
        </p:txBody>
      </p:sp>
      <p:sp>
        <p:nvSpPr>
          <p:cNvPr id="17" name="Shape 12"/>
          <p:cNvSpPr/>
          <p:nvPr/>
        </p:nvSpPr>
        <p:spPr>
          <a:xfrm>
            <a:off x="822960" y="4251960"/>
            <a:ext cx="4815688" cy="1691640"/>
          </a:xfrm>
          <a:prstGeom prst="roundRect">
            <a:avLst>
              <a:gd name="adj" fmla="val 6486"/>
            </a:avLst>
          </a:prstGeom>
          <a:solidFill>
            <a:schemeClr val="tx2"/>
          </a:solidFill>
          <a:ln/>
        </p:spPr>
      </p:sp>
      <p:sp>
        <p:nvSpPr>
          <p:cNvPr id="18" name="Text 13"/>
          <p:cNvSpPr txBox="1"/>
          <p:nvPr/>
        </p:nvSpPr>
        <p:spPr>
          <a:xfrm>
            <a:off x="1051560" y="4343400"/>
            <a:ext cx="4358488" cy="1554480"/>
          </a:xfrm>
          <a:prstGeom prst="rect">
            <a:avLst/>
          </a:prstGeom>
          <a:noFill/>
          <a:ln/>
        </p:spPr>
        <p:txBody>
          <a:bodyPr wrap="square" lIns="0" tIns="0" rIns="0" bIns="0" rtlCol="0" anchor="ctr"/>
          <a:lstStyle/>
          <a:p>
            <a:pPr algn="l" indent="0" marL="0">
              <a:buNone/>
            </a:pPr>
            <a:r>
              <a:rPr lang="en-US" altLang="en-US" sz="1200" dirty="0">
                <a:solidFill>
                  <a:schemeClr val="bg2"/>
                </a:solidFill>
                <a:latin typeface="Consolas" pitchFamily="34" charset="0"/>
                <a:ea typeface="Consolas" pitchFamily="34" charset="-122"/>
                <a:cs typeface="Consolas" pitchFamily="34" charset="-120"/>
              </a:rPr>
              <a:t>{</a:t>
            </a:r>
            <a:endParaRPr lang="en-US" sz="1200" dirty="0"/>
          </a:p>
          <a:p>
            <a:pPr algn="l" indent="0" marL="0">
              <a:buNone/>
            </a:pPr>
            <a:r>
              <a:rPr lang="en-US" altLang="en-US" sz="1200" dirty="0">
                <a:solidFill>
                  <a:schemeClr val="bg2"/>
                </a:solidFill>
                <a:latin typeface="Consolas" pitchFamily="34" charset="0"/>
                <a:ea typeface="Consolas" pitchFamily="34" charset="-122"/>
                <a:cs typeface="Consolas" pitchFamily="34" charset="-120"/>
              </a:rPr>
              <a:t>  "type": "order.placed",</a:t>
            </a:r>
            <a:endParaRPr lang="en-US" sz="1200" dirty="0"/>
          </a:p>
          <a:p>
            <a:pPr algn="l" indent="0" marL="0">
              <a:buNone/>
            </a:pPr>
            <a:r>
              <a:rPr lang="en-US" altLang="en-US" sz="1200" dirty="0">
                <a:solidFill>
                  <a:schemeClr val="bg2"/>
                </a:solidFill>
                <a:latin typeface="Consolas" pitchFamily="34" charset="0"/>
                <a:ea typeface="Consolas" pitchFamily="34" charset="-122"/>
                <a:cs typeface="Consolas" pitchFamily="34" charset="-120"/>
              </a:rPr>
              <a:t>  "id": "0192b7e0-…",</a:t>
            </a:r>
            <a:endParaRPr lang="en-US" sz="1200" dirty="0"/>
          </a:p>
          <a:p>
            <a:pPr algn="l" indent="0" marL="0">
              <a:buNone/>
            </a:pPr>
            <a:r>
              <a:rPr lang="en-US" altLang="en-US" sz="1200" dirty="0">
                <a:solidFill>
                  <a:schemeClr val="bg2"/>
                </a:solidFill>
                <a:latin typeface="Consolas" pitchFamily="34" charset="0"/>
                <a:ea typeface="Consolas" pitchFamily="34" charset="-122"/>
                <a:cs typeface="Consolas" pitchFamily="34" charset="-120"/>
              </a:rPr>
              <a:t>  "subject": "order/0192b7d1",</a:t>
            </a:r>
            <a:endParaRPr lang="en-US" sz="1200" dirty="0"/>
          </a:p>
          <a:p>
            <a:pPr algn="l" indent="0" marL="0">
              <a:buNone/>
            </a:pPr>
            <a:r>
              <a:rPr lang="en-US" altLang="en-US" sz="1200" dirty="0">
                <a:solidFill>
                  <a:schemeClr val="bg2"/>
                </a:solidFill>
                <a:latin typeface="Consolas" pitchFamily="34" charset="0"/>
                <a:ea typeface="Consolas" pitchFamily="34" charset="-122"/>
                <a:cs typeface="Consolas" pitchFamily="34" charset="-120"/>
              </a:rPr>
              <a:t>  "nobarcityid": "tehran",</a:t>
            </a:r>
            <a:endParaRPr lang="en-US" sz="1200" dirty="0"/>
          </a:p>
          <a:p>
            <a:pPr algn="l" indent="0" marL="0">
              <a:buNone/>
            </a:pPr>
            <a:r>
              <a:rPr lang="en-US" altLang="en-US" sz="1200" dirty="0">
                <a:solidFill>
                  <a:schemeClr val="bg2"/>
                </a:solidFill>
                <a:latin typeface="Consolas" pitchFamily="34" charset="0"/>
                <a:ea typeface="Consolas" pitchFamily="34" charset="-122"/>
                <a:cs typeface="Consolas" pitchFamily="34" charset="-120"/>
              </a:rPr>
              <a:t>  "data": { … }</a:t>
            </a:r>
            <a:endParaRPr lang="en-US" sz="1200" dirty="0"/>
          </a:p>
          <a:p>
            <a:pPr algn="l" indent="0" marL="0">
              <a:buNone/>
            </a:pPr>
            <a:r>
              <a:rPr lang="en-US" altLang="en-US" sz="1200" dirty="0">
                <a:solidFill>
                  <a:schemeClr val="bg2"/>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Saga ثبت سفارش</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هر قدم یک عمل جبرانی دارد؛ شکست در هر نقطه سیستم را سازگار نگه می‌دارد</a:t>
            </a:r>
            <a:endParaRPr lang="fa-IR" sz="1600" dirty="0"/>
          </a:p>
        </p:txBody>
      </p:sp>
      <p:sp>
        <p:nvSpPr>
          <p:cNvPr id="5" name="Shape 2"/>
          <p:cNvSpPr/>
          <p:nvPr/>
        </p:nvSpPr>
        <p:spPr>
          <a:xfrm>
            <a:off x="9753356" y="1691640"/>
            <a:ext cx="1889699" cy="1143000"/>
          </a:xfrm>
          <a:prstGeom prst="roundRect">
            <a:avLst>
              <a:gd name="adj" fmla="val 9600"/>
            </a:avLst>
          </a:prstGeom>
          <a:solidFill>
            <a:schemeClr val="bg1"/>
          </a:solidFill>
          <a:ln w="19050">
            <a:solidFill>
              <a:srgbClr val="2E7D32"/>
            </a:solidFill>
            <a:prstDash val="solid"/>
          </a:ln>
          <a:effectLst>
            <a:outerShdw sx="100000" sy="100000" kx="0" ky="0" algn="bl" rotWithShape="0" blurRad="101600" dist="25400" dir="5400000">
              <a:srgbClr val="1F4D2B">
                <a:alpha val="14000"/>
              </a:srgbClr>
            </a:outerShdw>
          </a:effectLst>
        </p:spPr>
      </p:sp>
      <p:sp>
        <p:nvSpPr>
          <p:cNvPr id="6" name="Shape 3"/>
          <p:cNvSpPr/>
          <p:nvPr/>
        </p:nvSpPr>
        <p:spPr>
          <a:xfrm>
            <a:off x="11121847" y="1801368"/>
            <a:ext cx="384048" cy="384048"/>
          </a:xfrm>
          <a:prstGeom prst="ellipse">
            <a:avLst/>
          </a:prstGeom>
          <a:solidFill>
            <a:schemeClr val="accent1"/>
          </a:solidFill>
          <a:ln/>
        </p:spPr>
      </p:sp>
      <p:sp>
        <p:nvSpPr>
          <p:cNvPr id="7" name="Text 4"/>
          <p:cNvSpPr txBox="1"/>
          <p:nvPr/>
        </p:nvSpPr>
        <p:spPr>
          <a:xfrm>
            <a:off x="11121847" y="1801368"/>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۱</a:t>
            </a:r>
            <a:endParaRPr lang="fa-IR" sz="1400" dirty="0"/>
          </a:p>
        </p:txBody>
      </p:sp>
      <p:sp>
        <p:nvSpPr>
          <p:cNvPr id="8" name="Text 5"/>
          <p:cNvSpPr txBox="1"/>
          <p:nvPr/>
        </p:nvSpPr>
        <p:spPr>
          <a:xfrm>
            <a:off x="9890516" y="2212848"/>
            <a:ext cx="1615379" cy="347472"/>
          </a:xfrm>
          <a:prstGeom prst="rect">
            <a:avLst/>
          </a:prstGeom>
          <a:noFill/>
          <a:ln/>
        </p:spPr>
        <p:txBody>
          <a:bodyPr wrap="square" lIns="0" tIns="0" rIns="0" bIns="0" rtlCol="0" anchor="t"/>
          <a:lstStyle/>
          <a:p>
            <a:pPr rtl="1" algn="r" indent="0" marL="0">
              <a:buNone/>
            </a:pPr>
            <a:r>
              <a:rPr lang="fa-IR" altLang="en-US" sz="1700" b="1" dirty="0">
                <a:solidFill>
                  <a:schemeClr val="tx2"/>
                </a:solidFill>
              </a:rPr>
              <a:t>رزرو موجودی</a:t>
            </a:r>
            <a:endParaRPr lang="fa-IR" sz="1700" dirty="0"/>
          </a:p>
        </p:txBody>
      </p:sp>
      <p:sp>
        <p:nvSpPr>
          <p:cNvPr id="9" name="Text 6"/>
          <p:cNvSpPr txBox="1"/>
          <p:nvPr/>
        </p:nvSpPr>
        <p:spPr>
          <a:xfrm>
            <a:off x="9890516" y="2523744"/>
            <a:ext cx="1615379" cy="256032"/>
          </a:xfrm>
          <a:prstGeom prst="rect">
            <a:avLst/>
          </a:prstGeom>
          <a:noFill/>
          <a:ln/>
        </p:spPr>
        <p:txBody>
          <a:bodyPr wrap="square" lIns="0" tIns="0" rIns="0" bIns="0" rtlCol="0" anchor="t"/>
          <a:lstStyle/>
          <a:p>
            <a:pPr algn="r" indent="0" marL="0">
              <a:buNone/>
            </a:pPr>
            <a:r>
              <a:rPr lang="en-US" altLang="en-US" sz="1200" dirty="0">
                <a:solidFill>
                  <a:srgbClr val="5E6E62"/>
                </a:solidFill>
              </a:rPr>
              <a:t>catalog</a:t>
            </a:r>
            <a:endParaRPr lang="en-US" sz="1200" dirty="0"/>
          </a:p>
        </p:txBody>
      </p:sp>
      <p:sp>
        <p:nvSpPr>
          <p:cNvPr id="10" name="Shape 7"/>
          <p:cNvSpPr/>
          <p:nvPr/>
        </p:nvSpPr>
        <p:spPr>
          <a:xfrm>
            <a:off x="9396740" y="2263140"/>
            <a:ext cx="301752" cy="0"/>
          </a:xfrm>
          <a:prstGeom prst="line">
            <a:avLst/>
          </a:prstGeom>
          <a:noFill/>
          <a:ln w="22225">
            <a:solidFill>
              <a:schemeClr val="accent1"/>
            </a:solidFill>
            <a:prstDash val="solid"/>
            <a:headEnd type="triangle"/>
          </a:ln>
        </p:spPr>
      </p:sp>
      <p:sp>
        <p:nvSpPr>
          <p:cNvPr id="11" name="Shape 8"/>
          <p:cNvSpPr/>
          <p:nvPr/>
        </p:nvSpPr>
        <p:spPr>
          <a:xfrm>
            <a:off x="10698206" y="2852928"/>
            <a:ext cx="0" cy="548640"/>
          </a:xfrm>
          <a:prstGeom prst="line">
            <a:avLst/>
          </a:prstGeom>
          <a:noFill/>
          <a:ln w="15875">
            <a:solidFill>
              <a:schemeClr val="accent4"/>
            </a:solidFill>
            <a:prstDash val="dash"/>
            <a:tailEnd type="triangle"/>
          </a:ln>
        </p:spPr>
      </p:sp>
      <p:sp>
        <p:nvSpPr>
          <p:cNvPr id="12" name="Shape 9"/>
          <p:cNvSpPr/>
          <p:nvPr/>
        </p:nvSpPr>
        <p:spPr>
          <a:xfrm>
            <a:off x="9753356" y="3429000"/>
            <a:ext cx="1889699" cy="914400"/>
          </a:xfrm>
          <a:prstGeom prst="roundRect">
            <a:avLst>
              <a:gd name="adj" fmla="val 12000"/>
            </a:avLst>
          </a:prstGeom>
          <a:solidFill>
            <a:schemeClr val="accent4">
              <a:alpha val="14000"/>
            </a:schemeClr>
          </a:solidFill>
          <a:ln/>
        </p:spPr>
      </p:sp>
      <p:sp>
        <p:nvSpPr>
          <p:cNvPr id="13" name="Text 10"/>
          <p:cNvSpPr txBox="1"/>
          <p:nvPr/>
        </p:nvSpPr>
        <p:spPr>
          <a:xfrm>
            <a:off x="9890516" y="3429000"/>
            <a:ext cx="1615379" cy="914400"/>
          </a:xfrm>
          <a:prstGeom prst="rect">
            <a:avLst/>
          </a:prstGeom>
          <a:noFill/>
          <a:ln/>
        </p:spPr>
        <p:txBody>
          <a:bodyPr wrap="square" lIns="0" tIns="0" rIns="0" bIns="0" rtlCol="0" anchor="ctr"/>
          <a:lstStyle/>
          <a:p>
            <a:pPr rtl="1" algn="ctr" indent="0" marL="0">
              <a:buNone/>
            </a:pPr>
            <a:r>
              <a:rPr lang="fa-IR" altLang="en-US" sz="1400" dirty="0">
                <a:solidFill>
                  <a:schemeClr val="tx1"/>
                </a:solidFill>
              </a:rPr>
              <a:t>ناموجود: پاسخ ۴۰۹، چیزی برای جبران نیست</a:t>
            </a:r>
            <a:endParaRPr lang="fa-IR" sz="1400" dirty="0"/>
          </a:p>
        </p:txBody>
      </p:sp>
      <p:sp>
        <p:nvSpPr>
          <p:cNvPr id="14" name="Shape 11"/>
          <p:cNvSpPr/>
          <p:nvPr/>
        </p:nvSpPr>
        <p:spPr>
          <a:xfrm>
            <a:off x="7452177" y="1691640"/>
            <a:ext cx="1889699" cy="1143000"/>
          </a:xfrm>
          <a:prstGeom prst="roundRect">
            <a:avLst>
              <a:gd name="adj" fmla="val 9600"/>
            </a:avLst>
          </a:prstGeom>
          <a:solidFill>
            <a:schemeClr val="bg1"/>
          </a:solidFill>
          <a:ln w="19050">
            <a:solidFill>
              <a:srgbClr val="2E7D32"/>
            </a:solidFill>
            <a:prstDash val="solid"/>
          </a:ln>
          <a:effectLst>
            <a:outerShdw sx="100000" sy="100000" kx="0" ky="0" algn="bl" rotWithShape="0" blurRad="101600" dist="25400" dir="5400000">
              <a:srgbClr val="1F4D2B">
                <a:alpha val="14000"/>
              </a:srgbClr>
            </a:outerShdw>
          </a:effectLst>
        </p:spPr>
      </p:sp>
      <p:sp>
        <p:nvSpPr>
          <p:cNvPr id="15" name="Shape 12"/>
          <p:cNvSpPr/>
          <p:nvPr/>
        </p:nvSpPr>
        <p:spPr>
          <a:xfrm>
            <a:off x="8820668" y="1801368"/>
            <a:ext cx="384048" cy="384048"/>
          </a:xfrm>
          <a:prstGeom prst="ellipse">
            <a:avLst/>
          </a:prstGeom>
          <a:solidFill>
            <a:schemeClr val="accent1"/>
          </a:solidFill>
          <a:ln/>
        </p:spPr>
      </p:sp>
      <p:sp>
        <p:nvSpPr>
          <p:cNvPr id="16" name="Text 13"/>
          <p:cNvSpPr txBox="1"/>
          <p:nvPr/>
        </p:nvSpPr>
        <p:spPr>
          <a:xfrm>
            <a:off x="8820668" y="1801368"/>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۲</a:t>
            </a:r>
            <a:endParaRPr lang="fa-IR" sz="1400" dirty="0"/>
          </a:p>
        </p:txBody>
      </p:sp>
      <p:sp>
        <p:nvSpPr>
          <p:cNvPr id="17" name="Text 14"/>
          <p:cNvSpPr txBox="1"/>
          <p:nvPr/>
        </p:nvSpPr>
        <p:spPr>
          <a:xfrm>
            <a:off x="7589337" y="2212848"/>
            <a:ext cx="1615379" cy="347472"/>
          </a:xfrm>
          <a:prstGeom prst="rect">
            <a:avLst/>
          </a:prstGeom>
          <a:noFill/>
          <a:ln/>
        </p:spPr>
        <p:txBody>
          <a:bodyPr wrap="square" lIns="0" tIns="0" rIns="0" bIns="0" rtlCol="0" anchor="t"/>
          <a:lstStyle/>
          <a:p>
            <a:pPr rtl="1" algn="r" indent="0" marL="0">
              <a:buNone/>
            </a:pPr>
            <a:r>
              <a:rPr lang="fa-IR" altLang="en-US" sz="1700" b="1" dirty="0">
                <a:solidFill>
                  <a:schemeClr val="tx2"/>
                </a:solidFill>
              </a:rPr>
              <a:t>پرداخت</a:t>
            </a:r>
            <a:endParaRPr lang="fa-IR" sz="1700" dirty="0"/>
          </a:p>
        </p:txBody>
      </p:sp>
      <p:sp>
        <p:nvSpPr>
          <p:cNvPr id="18" name="Text 15"/>
          <p:cNvSpPr txBox="1"/>
          <p:nvPr/>
        </p:nvSpPr>
        <p:spPr>
          <a:xfrm>
            <a:off x="7589337" y="2523744"/>
            <a:ext cx="1615379" cy="256032"/>
          </a:xfrm>
          <a:prstGeom prst="rect">
            <a:avLst/>
          </a:prstGeom>
          <a:noFill/>
          <a:ln/>
        </p:spPr>
        <p:txBody>
          <a:bodyPr wrap="square" lIns="0" tIns="0" rIns="0" bIns="0" rtlCol="0" anchor="t"/>
          <a:lstStyle/>
          <a:p>
            <a:pPr algn="r" indent="0" marL="0">
              <a:buNone/>
            </a:pPr>
            <a:r>
              <a:rPr lang="en-US" altLang="en-US" sz="1200" dirty="0">
                <a:solidFill>
                  <a:srgbClr val="5E6E62"/>
                </a:solidFill>
              </a:rPr>
              <a:t>payment</a:t>
            </a:r>
            <a:endParaRPr lang="en-US" sz="1200" dirty="0"/>
          </a:p>
        </p:txBody>
      </p:sp>
      <p:sp>
        <p:nvSpPr>
          <p:cNvPr id="19" name="Shape 16"/>
          <p:cNvSpPr/>
          <p:nvPr/>
        </p:nvSpPr>
        <p:spPr>
          <a:xfrm>
            <a:off x="7095561" y="2263140"/>
            <a:ext cx="301752" cy="0"/>
          </a:xfrm>
          <a:prstGeom prst="line">
            <a:avLst/>
          </a:prstGeom>
          <a:noFill/>
          <a:ln w="22225">
            <a:solidFill>
              <a:schemeClr val="accent1"/>
            </a:solidFill>
            <a:prstDash val="solid"/>
            <a:headEnd type="triangle"/>
          </a:ln>
        </p:spPr>
      </p:sp>
      <p:sp>
        <p:nvSpPr>
          <p:cNvPr id="20" name="Shape 17"/>
          <p:cNvSpPr/>
          <p:nvPr/>
        </p:nvSpPr>
        <p:spPr>
          <a:xfrm>
            <a:off x="8397027" y="2852928"/>
            <a:ext cx="0" cy="548640"/>
          </a:xfrm>
          <a:prstGeom prst="line">
            <a:avLst/>
          </a:prstGeom>
          <a:noFill/>
          <a:ln w="15875">
            <a:solidFill>
              <a:schemeClr val="accent4"/>
            </a:solidFill>
            <a:prstDash val="dash"/>
            <a:tailEnd type="triangle"/>
          </a:ln>
        </p:spPr>
      </p:sp>
      <p:sp>
        <p:nvSpPr>
          <p:cNvPr id="21" name="Shape 18"/>
          <p:cNvSpPr/>
          <p:nvPr/>
        </p:nvSpPr>
        <p:spPr>
          <a:xfrm>
            <a:off x="7452177" y="3429000"/>
            <a:ext cx="1889699" cy="914400"/>
          </a:xfrm>
          <a:prstGeom prst="roundRect">
            <a:avLst>
              <a:gd name="adj" fmla="val 12000"/>
            </a:avLst>
          </a:prstGeom>
          <a:solidFill>
            <a:schemeClr val="accent4">
              <a:alpha val="14000"/>
            </a:schemeClr>
          </a:solidFill>
          <a:ln/>
        </p:spPr>
      </p:sp>
      <p:sp>
        <p:nvSpPr>
          <p:cNvPr id="22" name="Text 19"/>
          <p:cNvSpPr txBox="1"/>
          <p:nvPr/>
        </p:nvSpPr>
        <p:spPr>
          <a:xfrm>
            <a:off x="7589337" y="3429000"/>
            <a:ext cx="1615379" cy="914400"/>
          </a:xfrm>
          <a:prstGeom prst="rect">
            <a:avLst/>
          </a:prstGeom>
          <a:noFill/>
          <a:ln/>
        </p:spPr>
        <p:txBody>
          <a:bodyPr wrap="square" lIns="0" tIns="0" rIns="0" bIns="0" rtlCol="0" anchor="ctr"/>
          <a:lstStyle/>
          <a:p>
            <a:pPr rtl="1" algn="ctr" indent="0" marL="0">
              <a:buNone/>
            </a:pPr>
            <a:r>
              <a:rPr lang="fa-IR" altLang="en-US" sz="1400" dirty="0">
                <a:solidFill>
                  <a:schemeClr val="tx1"/>
                </a:solidFill>
              </a:rPr>
              <a:t>آزادسازی رزرو موجودی</a:t>
            </a:r>
            <a:endParaRPr lang="fa-IR" sz="1400" dirty="0"/>
          </a:p>
        </p:txBody>
      </p:sp>
      <p:sp>
        <p:nvSpPr>
          <p:cNvPr id="23" name="Shape 20"/>
          <p:cNvSpPr/>
          <p:nvPr/>
        </p:nvSpPr>
        <p:spPr>
          <a:xfrm>
            <a:off x="5150998" y="1691640"/>
            <a:ext cx="1889699" cy="1143000"/>
          </a:xfrm>
          <a:prstGeom prst="roundRect">
            <a:avLst>
              <a:gd name="adj" fmla="val 9600"/>
            </a:avLst>
          </a:prstGeom>
          <a:solidFill>
            <a:schemeClr val="bg1"/>
          </a:solidFill>
          <a:ln w="19050">
            <a:solidFill>
              <a:srgbClr val="2E7D32"/>
            </a:solidFill>
            <a:prstDash val="solid"/>
          </a:ln>
          <a:effectLst>
            <a:outerShdw sx="100000" sy="100000" kx="0" ky="0" algn="bl" rotWithShape="0" blurRad="101600" dist="25400" dir="5400000">
              <a:srgbClr val="1F4D2B">
                <a:alpha val="14000"/>
              </a:srgbClr>
            </a:outerShdw>
          </a:effectLst>
        </p:spPr>
      </p:sp>
      <p:sp>
        <p:nvSpPr>
          <p:cNvPr id="24" name="Shape 21"/>
          <p:cNvSpPr/>
          <p:nvPr/>
        </p:nvSpPr>
        <p:spPr>
          <a:xfrm>
            <a:off x="6519489" y="1801368"/>
            <a:ext cx="384048" cy="384048"/>
          </a:xfrm>
          <a:prstGeom prst="ellipse">
            <a:avLst/>
          </a:prstGeom>
          <a:solidFill>
            <a:schemeClr val="accent1"/>
          </a:solidFill>
          <a:ln/>
        </p:spPr>
      </p:sp>
      <p:sp>
        <p:nvSpPr>
          <p:cNvPr id="25" name="Text 22"/>
          <p:cNvSpPr txBox="1"/>
          <p:nvPr/>
        </p:nvSpPr>
        <p:spPr>
          <a:xfrm>
            <a:off x="6519489" y="1801368"/>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۳</a:t>
            </a:r>
            <a:endParaRPr lang="fa-IR" sz="1400" dirty="0"/>
          </a:p>
        </p:txBody>
      </p:sp>
      <p:sp>
        <p:nvSpPr>
          <p:cNvPr id="26" name="Text 23"/>
          <p:cNvSpPr txBox="1"/>
          <p:nvPr/>
        </p:nvSpPr>
        <p:spPr>
          <a:xfrm>
            <a:off x="5288158" y="2212848"/>
            <a:ext cx="1615379" cy="347472"/>
          </a:xfrm>
          <a:prstGeom prst="rect">
            <a:avLst/>
          </a:prstGeom>
          <a:noFill/>
          <a:ln/>
        </p:spPr>
        <p:txBody>
          <a:bodyPr wrap="square" lIns="0" tIns="0" rIns="0" bIns="0" rtlCol="0" anchor="t"/>
          <a:lstStyle/>
          <a:p>
            <a:pPr rtl="1" algn="r" indent="0" marL="0">
              <a:buNone/>
            </a:pPr>
            <a:r>
              <a:rPr lang="fa-IR" altLang="en-US" sz="1700" b="1" dirty="0">
                <a:solidFill>
                  <a:schemeClr val="tx2"/>
                </a:solidFill>
              </a:rPr>
              <a:t>تأیید فروشنده</a:t>
            </a:r>
            <a:endParaRPr lang="fa-IR" sz="1700" dirty="0"/>
          </a:p>
        </p:txBody>
      </p:sp>
      <p:sp>
        <p:nvSpPr>
          <p:cNvPr id="27" name="Text 24"/>
          <p:cNvSpPr txBox="1"/>
          <p:nvPr/>
        </p:nvSpPr>
        <p:spPr>
          <a:xfrm>
            <a:off x="5288158" y="2523744"/>
            <a:ext cx="1615379" cy="256032"/>
          </a:xfrm>
          <a:prstGeom prst="rect">
            <a:avLst/>
          </a:prstGeom>
          <a:noFill/>
          <a:ln/>
        </p:spPr>
        <p:txBody>
          <a:bodyPr wrap="square" lIns="0" tIns="0" rIns="0" bIns="0" rtlCol="0" anchor="t"/>
          <a:lstStyle/>
          <a:p>
            <a:pPr algn="r" indent="0" marL="0">
              <a:buNone/>
            </a:pPr>
            <a:r>
              <a:rPr lang="en-US" altLang="en-US" sz="1200" dirty="0">
                <a:solidFill>
                  <a:srgbClr val="5E6E62"/>
                </a:solidFill>
              </a:rPr>
              <a:t>seller</a:t>
            </a:r>
            <a:endParaRPr lang="en-US" sz="1200" dirty="0"/>
          </a:p>
        </p:txBody>
      </p:sp>
      <p:sp>
        <p:nvSpPr>
          <p:cNvPr id="28" name="Shape 25"/>
          <p:cNvSpPr/>
          <p:nvPr/>
        </p:nvSpPr>
        <p:spPr>
          <a:xfrm>
            <a:off x="4794382" y="2263140"/>
            <a:ext cx="301752" cy="0"/>
          </a:xfrm>
          <a:prstGeom prst="line">
            <a:avLst/>
          </a:prstGeom>
          <a:noFill/>
          <a:ln w="22225">
            <a:solidFill>
              <a:schemeClr val="accent1"/>
            </a:solidFill>
            <a:prstDash val="solid"/>
            <a:headEnd type="triangle"/>
          </a:ln>
        </p:spPr>
      </p:sp>
      <p:sp>
        <p:nvSpPr>
          <p:cNvPr id="29" name="Shape 26"/>
          <p:cNvSpPr/>
          <p:nvPr/>
        </p:nvSpPr>
        <p:spPr>
          <a:xfrm>
            <a:off x="6095848" y="2852928"/>
            <a:ext cx="0" cy="548640"/>
          </a:xfrm>
          <a:prstGeom prst="line">
            <a:avLst/>
          </a:prstGeom>
          <a:noFill/>
          <a:ln w="15875">
            <a:solidFill>
              <a:schemeClr val="accent4"/>
            </a:solidFill>
            <a:prstDash val="dash"/>
            <a:tailEnd type="triangle"/>
          </a:ln>
        </p:spPr>
      </p:sp>
      <p:sp>
        <p:nvSpPr>
          <p:cNvPr id="30" name="Shape 27"/>
          <p:cNvSpPr/>
          <p:nvPr/>
        </p:nvSpPr>
        <p:spPr>
          <a:xfrm>
            <a:off x="5150998" y="3429000"/>
            <a:ext cx="1889699" cy="914400"/>
          </a:xfrm>
          <a:prstGeom prst="roundRect">
            <a:avLst>
              <a:gd name="adj" fmla="val 12000"/>
            </a:avLst>
          </a:prstGeom>
          <a:solidFill>
            <a:schemeClr val="accent4">
              <a:alpha val="14000"/>
            </a:schemeClr>
          </a:solidFill>
          <a:ln/>
        </p:spPr>
      </p:sp>
      <p:sp>
        <p:nvSpPr>
          <p:cNvPr id="31" name="Text 28"/>
          <p:cNvSpPr txBox="1"/>
          <p:nvPr/>
        </p:nvSpPr>
        <p:spPr>
          <a:xfrm>
            <a:off x="5288158" y="3429000"/>
            <a:ext cx="1615379" cy="914400"/>
          </a:xfrm>
          <a:prstGeom prst="rect">
            <a:avLst/>
          </a:prstGeom>
          <a:noFill/>
          <a:ln/>
        </p:spPr>
        <p:txBody>
          <a:bodyPr wrap="square" lIns="0" tIns="0" rIns="0" bIns="0" rtlCol="0" anchor="ctr"/>
          <a:lstStyle/>
          <a:p>
            <a:pPr rtl="1" algn="ctr" indent="0" marL="0">
              <a:buNone/>
            </a:pPr>
            <a:r>
              <a:rPr lang="fa-IR" altLang="en-US" sz="1400" dirty="0">
                <a:solidFill>
                  <a:schemeClr val="tx1"/>
                </a:solidFill>
              </a:rPr>
              <a:t>بازپرداخت و برگرداندن موجودی</a:t>
            </a:r>
            <a:endParaRPr lang="fa-IR" sz="1400" dirty="0"/>
          </a:p>
        </p:txBody>
      </p:sp>
      <p:sp>
        <p:nvSpPr>
          <p:cNvPr id="32" name="Shape 29"/>
          <p:cNvSpPr/>
          <p:nvPr/>
        </p:nvSpPr>
        <p:spPr>
          <a:xfrm>
            <a:off x="2849819" y="1691640"/>
            <a:ext cx="1889699" cy="1143000"/>
          </a:xfrm>
          <a:prstGeom prst="roundRect">
            <a:avLst>
              <a:gd name="adj" fmla="val 9600"/>
            </a:avLst>
          </a:prstGeom>
          <a:solidFill>
            <a:schemeClr val="bg1"/>
          </a:solidFill>
          <a:ln w="19050">
            <a:solidFill>
              <a:srgbClr val="2E7D32"/>
            </a:solidFill>
            <a:prstDash val="solid"/>
          </a:ln>
          <a:effectLst>
            <a:outerShdw sx="100000" sy="100000" kx="0" ky="0" algn="bl" rotWithShape="0" blurRad="101600" dist="25400" dir="5400000">
              <a:srgbClr val="1F4D2B">
                <a:alpha val="14000"/>
              </a:srgbClr>
            </a:outerShdw>
          </a:effectLst>
        </p:spPr>
      </p:sp>
      <p:sp>
        <p:nvSpPr>
          <p:cNvPr id="33" name="Shape 30"/>
          <p:cNvSpPr/>
          <p:nvPr/>
        </p:nvSpPr>
        <p:spPr>
          <a:xfrm>
            <a:off x="4218310" y="1801368"/>
            <a:ext cx="384048" cy="384048"/>
          </a:xfrm>
          <a:prstGeom prst="ellipse">
            <a:avLst/>
          </a:prstGeom>
          <a:solidFill>
            <a:schemeClr val="accent1"/>
          </a:solidFill>
          <a:ln/>
        </p:spPr>
      </p:sp>
      <p:sp>
        <p:nvSpPr>
          <p:cNvPr id="34" name="Text 31"/>
          <p:cNvSpPr txBox="1"/>
          <p:nvPr/>
        </p:nvSpPr>
        <p:spPr>
          <a:xfrm>
            <a:off x="4218310" y="1801368"/>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۴</a:t>
            </a:r>
            <a:endParaRPr lang="fa-IR" sz="1400" dirty="0"/>
          </a:p>
        </p:txBody>
      </p:sp>
      <p:sp>
        <p:nvSpPr>
          <p:cNvPr id="35" name="Text 32"/>
          <p:cNvSpPr txBox="1"/>
          <p:nvPr/>
        </p:nvSpPr>
        <p:spPr>
          <a:xfrm>
            <a:off x="2986979" y="2212848"/>
            <a:ext cx="1615379" cy="347472"/>
          </a:xfrm>
          <a:prstGeom prst="rect">
            <a:avLst/>
          </a:prstGeom>
          <a:noFill/>
          <a:ln/>
        </p:spPr>
        <p:txBody>
          <a:bodyPr wrap="square" lIns="0" tIns="0" rIns="0" bIns="0" rtlCol="0" anchor="t"/>
          <a:lstStyle/>
          <a:p>
            <a:pPr rtl="1" algn="r" indent="0" marL="0">
              <a:buNone/>
            </a:pPr>
            <a:r>
              <a:rPr lang="fa-IR" altLang="en-US" sz="1700" b="1" dirty="0">
                <a:solidFill>
                  <a:schemeClr val="tx2"/>
                </a:solidFill>
              </a:rPr>
              <a:t>ارسال</a:t>
            </a:r>
            <a:endParaRPr lang="fa-IR" sz="1700" dirty="0"/>
          </a:p>
        </p:txBody>
      </p:sp>
      <p:sp>
        <p:nvSpPr>
          <p:cNvPr id="36" name="Text 33"/>
          <p:cNvSpPr txBox="1"/>
          <p:nvPr/>
        </p:nvSpPr>
        <p:spPr>
          <a:xfrm>
            <a:off x="2986979" y="2523744"/>
            <a:ext cx="1615379" cy="256032"/>
          </a:xfrm>
          <a:prstGeom prst="rect">
            <a:avLst/>
          </a:prstGeom>
          <a:noFill/>
          <a:ln/>
        </p:spPr>
        <p:txBody>
          <a:bodyPr wrap="square" lIns="0" tIns="0" rIns="0" bIns="0" rtlCol="0" anchor="t"/>
          <a:lstStyle/>
          <a:p>
            <a:pPr algn="r" indent="0" marL="0">
              <a:buNone/>
            </a:pPr>
            <a:r>
              <a:rPr lang="en-US" altLang="en-US" sz="1200" dirty="0">
                <a:solidFill>
                  <a:srgbClr val="5E6E62"/>
                </a:solidFill>
              </a:rPr>
              <a:t>delivery</a:t>
            </a:r>
            <a:endParaRPr lang="en-US" sz="1200" dirty="0"/>
          </a:p>
        </p:txBody>
      </p:sp>
      <p:sp>
        <p:nvSpPr>
          <p:cNvPr id="37" name="Shape 34"/>
          <p:cNvSpPr/>
          <p:nvPr/>
        </p:nvSpPr>
        <p:spPr>
          <a:xfrm>
            <a:off x="2493203" y="2263140"/>
            <a:ext cx="301752" cy="0"/>
          </a:xfrm>
          <a:prstGeom prst="line">
            <a:avLst/>
          </a:prstGeom>
          <a:noFill/>
          <a:ln w="22225">
            <a:solidFill>
              <a:schemeClr val="accent1"/>
            </a:solidFill>
            <a:prstDash val="solid"/>
            <a:headEnd type="triangle"/>
          </a:ln>
        </p:spPr>
      </p:sp>
      <p:sp>
        <p:nvSpPr>
          <p:cNvPr id="38" name="Shape 35"/>
          <p:cNvSpPr/>
          <p:nvPr/>
        </p:nvSpPr>
        <p:spPr>
          <a:xfrm>
            <a:off x="3794669" y="2852928"/>
            <a:ext cx="0" cy="548640"/>
          </a:xfrm>
          <a:prstGeom prst="line">
            <a:avLst/>
          </a:prstGeom>
          <a:noFill/>
          <a:ln w="15875">
            <a:solidFill>
              <a:schemeClr val="accent4"/>
            </a:solidFill>
            <a:prstDash val="dash"/>
            <a:tailEnd type="triangle"/>
          </a:ln>
        </p:spPr>
      </p:sp>
      <p:sp>
        <p:nvSpPr>
          <p:cNvPr id="39" name="Shape 36"/>
          <p:cNvSpPr/>
          <p:nvPr/>
        </p:nvSpPr>
        <p:spPr>
          <a:xfrm>
            <a:off x="2849819" y="3429000"/>
            <a:ext cx="1889699" cy="914400"/>
          </a:xfrm>
          <a:prstGeom prst="roundRect">
            <a:avLst>
              <a:gd name="adj" fmla="val 12000"/>
            </a:avLst>
          </a:prstGeom>
          <a:solidFill>
            <a:schemeClr val="accent4">
              <a:alpha val="14000"/>
            </a:schemeClr>
          </a:solidFill>
          <a:ln/>
        </p:spPr>
      </p:sp>
      <p:sp>
        <p:nvSpPr>
          <p:cNvPr id="40" name="Text 37"/>
          <p:cNvSpPr txBox="1"/>
          <p:nvPr/>
        </p:nvSpPr>
        <p:spPr>
          <a:xfrm>
            <a:off x="2986979" y="3429000"/>
            <a:ext cx="1615379" cy="914400"/>
          </a:xfrm>
          <a:prstGeom prst="rect">
            <a:avLst/>
          </a:prstGeom>
          <a:noFill/>
          <a:ln/>
        </p:spPr>
        <p:txBody>
          <a:bodyPr wrap="square" lIns="0" tIns="0" rIns="0" bIns="0" rtlCol="0" anchor="ctr"/>
          <a:lstStyle/>
          <a:p>
            <a:pPr rtl="1" algn="ctr" indent="0" marL="0">
              <a:buNone/>
            </a:pPr>
            <a:r>
              <a:rPr lang="fa-IR" altLang="en-US" sz="1400" dirty="0">
                <a:solidFill>
                  <a:schemeClr val="tx1"/>
                </a:solidFill>
              </a:rPr>
              <a:t>لغو ارسال و بازپرداخت</a:t>
            </a:r>
            <a:endParaRPr lang="fa-IR" sz="1400" dirty="0"/>
          </a:p>
        </p:txBody>
      </p:sp>
      <p:sp>
        <p:nvSpPr>
          <p:cNvPr id="41" name="Shape 38"/>
          <p:cNvSpPr/>
          <p:nvPr/>
        </p:nvSpPr>
        <p:spPr>
          <a:xfrm>
            <a:off x="548640" y="1691640"/>
            <a:ext cx="1889699" cy="1143000"/>
          </a:xfrm>
          <a:prstGeom prst="roundRect">
            <a:avLst>
              <a:gd name="adj" fmla="val 9600"/>
            </a:avLst>
          </a:prstGeom>
          <a:solidFill>
            <a:schemeClr val="bg1"/>
          </a:solidFill>
          <a:ln w="19050">
            <a:solidFill>
              <a:srgbClr val="2E7D32"/>
            </a:solidFill>
            <a:prstDash val="solid"/>
          </a:ln>
          <a:effectLst>
            <a:outerShdw sx="100000" sy="100000" kx="0" ky="0" algn="bl" rotWithShape="0" blurRad="101600" dist="25400" dir="5400000">
              <a:srgbClr val="1F4D2B">
                <a:alpha val="14000"/>
              </a:srgbClr>
            </a:outerShdw>
          </a:effectLst>
        </p:spPr>
      </p:sp>
      <p:sp>
        <p:nvSpPr>
          <p:cNvPr id="42" name="Shape 39"/>
          <p:cNvSpPr/>
          <p:nvPr/>
        </p:nvSpPr>
        <p:spPr>
          <a:xfrm>
            <a:off x="1917131" y="1801368"/>
            <a:ext cx="384048" cy="384048"/>
          </a:xfrm>
          <a:prstGeom prst="ellipse">
            <a:avLst/>
          </a:prstGeom>
          <a:solidFill>
            <a:schemeClr val="accent1"/>
          </a:solidFill>
          <a:ln/>
        </p:spPr>
      </p:sp>
      <p:sp>
        <p:nvSpPr>
          <p:cNvPr id="43" name="Text 40"/>
          <p:cNvSpPr txBox="1"/>
          <p:nvPr/>
        </p:nvSpPr>
        <p:spPr>
          <a:xfrm>
            <a:off x="1917131" y="1801368"/>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۵</a:t>
            </a:r>
            <a:endParaRPr lang="fa-IR" sz="1400" dirty="0"/>
          </a:p>
        </p:txBody>
      </p:sp>
      <p:sp>
        <p:nvSpPr>
          <p:cNvPr id="44" name="Text 41"/>
          <p:cNvSpPr txBox="1"/>
          <p:nvPr/>
        </p:nvSpPr>
        <p:spPr>
          <a:xfrm>
            <a:off x="685800" y="2212848"/>
            <a:ext cx="1615379" cy="347472"/>
          </a:xfrm>
          <a:prstGeom prst="rect">
            <a:avLst/>
          </a:prstGeom>
          <a:noFill/>
          <a:ln/>
        </p:spPr>
        <p:txBody>
          <a:bodyPr wrap="square" lIns="0" tIns="0" rIns="0" bIns="0" rtlCol="0" anchor="t"/>
          <a:lstStyle/>
          <a:p>
            <a:pPr rtl="1" algn="r" indent="0" marL="0">
              <a:buNone/>
            </a:pPr>
            <a:r>
              <a:rPr lang="fa-IR" altLang="en-US" sz="1700" b="1" dirty="0">
                <a:solidFill>
                  <a:schemeClr val="tx2"/>
                </a:solidFill>
              </a:rPr>
              <a:t>تحویل</a:t>
            </a:r>
            <a:endParaRPr lang="fa-IR" sz="1700" dirty="0"/>
          </a:p>
        </p:txBody>
      </p:sp>
      <p:sp>
        <p:nvSpPr>
          <p:cNvPr id="45" name="Text 42"/>
          <p:cNvSpPr txBox="1"/>
          <p:nvPr/>
        </p:nvSpPr>
        <p:spPr>
          <a:xfrm>
            <a:off x="685800" y="2523744"/>
            <a:ext cx="1615379" cy="256032"/>
          </a:xfrm>
          <a:prstGeom prst="rect">
            <a:avLst/>
          </a:prstGeom>
          <a:noFill/>
          <a:ln/>
        </p:spPr>
        <p:txBody>
          <a:bodyPr wrap="square" lIns="0" tIns="0" rIns="0" bIns="0" rtlCol="0" anchor="t"/>
          <a:lstStyle/>
          <a:p>
            <a:pPr algn="r" indent="0" marL="0">
              <a:buNone/>
            </a:pPr>
            <a:r>
              <a:rPr lang="en-US" altLang="en-US" sz="1200" dirty="0">
                <a:solidFill>
                  <a:srgbClr val="5E6E62"/>
                </a:solidFill>
              </a:rPr>
              <a:t>order · DELIVERED</a:t>
            </a:r>
            <a:endParaRPr lang="en-US" sz="1200" dirty="0"/>
          </a:p>
        </p:txBody>
      </p:sp>
      <p:sp>
        <p:nvSpPr>
          <p:cNvPr id="46" name="Shape 43"/>
          <p:cNvSpPr/>
          <p:nvPr/>
        </p:nvSpPr>
        <p:spPr>
          <a:xfrm>
            <a:off x="548640" y="3429000"/>
            <a:ext cx="1889699" cy="914400"/>
          </a:xfrm>
          <a:prstGeom prst="roundRect">
            <a:avLst>
              <a:gd name="adj" fmla="val 12000"/>
            </a:avLst>
          </a:prstGeom>
          <a:solidFill>
            <a:schemeClr val="accent1">
              <a:alpha val="14000"/>
            </a:schemeClr>
          </a:solidFill>
          <a:ln/>
        </p:spPr>
      </p:sp>
      <p:sp>
        <p:nvSpPr>
          <p:cNvPr id="47" name="Text 44"/>
          <p:cNvSpPr txBox="1"/>
          <p:nvPr/>
        </p:nvSpPr>
        <p:spPr>
          <a:xfrm>
            <a:off x="640080" y="3429000"/>
            <a:ext cx="1706819" cy="914400"/>
          </a:xfrm>
          <a:prstGeom prst="rect">
            <a:avLst/>
          </a:prstGeom>
          <a:noFill/>
          <a:ln/>
        </p:spPr>
        <p:txBody>
          <a:bodyPr wrap="square" lIns="0" tIns="0" rIns="0" bIns="0" rtlCol="0" anchor="ctr"/>
          <a:lstStyle/>
          <a:p>
            <a:pPr algn="ctr" indent="0" marL="0">
              <a:buNone/>
            </a:pPr>
            <a:r>
              <a:rPr lang="en-US" altLang="en-US" sz="1400" b="1" dirty="0">
                <a:solidFill>
                  <a:schemeClr val="accent1"/>
                </a:solidFill>
              </a:rPr>
              <a:t>order.delivered ✓</a:t>
            </a:r>
            <a:endParaRPr lang="en-US" sz="1400" dirty="0"/>
          </a:p>
        </p:txBody>
      </p:sp>
      <p:sp>
        <p:nvSpPr>
          <p:cNvPr id="48" name="Text 45"/>
          <p:cNvSpPr txBox="1"/>
          <p:nvPr/>
        </p:nvSpPr>
        <p:spPr>
          <a:xfrm>
            <a:off x="8442655" y="2990088"/>
            <a:ext cx="2118390" cy="320040"/>
          </a:xfrm>
          <a:prstGeom prst="rect">
            <a:avLst/>
          </a:prstGeom>
          <a:noFill/>
          <a:ln/>
        </p:spPr>
        <p:txBody>
          <a:bodyPr wrap="square" lIns="0" tIns="0" rIns="0" bIns="0" rtlCol="0" anchor="t"/>
          <a:lstStyle/>
          <a:p>
            <a:pPr rtl="1" algn="r" indent="0" marL="0">
              <a:buNone/>
            </a:pPr>
            <a:r>
              <a:rPr lang="fa-IR" altLang="en-US" sz="1200" b="1" dirty="0">
                <a:solidFill>
                  <a:schemeClr val="accent4"/>
                </a:solidFill>
              </a:rPr>
              <a:t>جبران در صورت شکست</a:t>
            </a:r>
            <a:endParaRPr lang="fa-IR" sz="1200" dirty="0"/>
          </a:p>
        </p:txBody>
      </p:sp>
      <p:sp>
        <p:nvSpPr>
          <p:cNvPr id="49" name="Shape 46"/>
          <p:cNvSpPr/>
          <p:nvPr/>
        </p:nvSpPr>
        <p:spPr>
          <a:xfrm>
            <a:off x="6255868" y="4617720"/>
            <a:ext cx="5387188" cy="1554480"/>
          </a:xfrm>
          <a:prstGeom prst="roundRect">
            <a:avLst>
              <a:gd name="adj" fmla="val 7059"/>
            </a:avLst>
          </a:prstGeom>
          <a:solidFill>
            <a:schemeClr val="bg2"/>
          </a:solidFill>
          <a:ln/>
        </p:spPr>
      </p:sp>
      <p:sp>
        <p:nvSpPr>
          <p:cNvPr id="50" name="Shape 47"/>
          <p:cNvSpPr/>
          <p:nvPr/>
        </p:nvSpPr>
        <p:spPr>
          <a:xfrm>
            <a:off x="10911535" y="4800600"/>
            <a:ext cx="502920" cy="502920"/>
          </a:xfrm>
          <a:prstGeom prst="ellipse">
            <a:avLst/>
          </a:prstGeom>
          <a:solidFill>
            <a:schemeClr val="tx2"/>
          </a:solidFill>
          <a:ln/>
        </p:spPr>
      </p:sp>
      <p:pic>
        <p:nvPicPr>
          <p:cNvPr id="51" name="Image 0" descr="LuWorkflow">    </p:cNvPr>
          <p:cNvPicPr>
            <a:picLocks noChangeAspect="1"/>
          </p:cNvPicPr>
          <p:nvPr/>
        </p:nvPicPr>
        <p:blipFill>
          <a:blip r:embed="rId1"/>
          <a:stretch>
            <a:fillRect/>
          </a:stretch>
        </p:blipFill>
        <p:spPr>
          <a:xfrm>
            <a:off x="11022178" y="4911242"/>
            <a:ext cx="281635" cy="281635"/>
          </a:xfrm>
          <a:prstGeom prst="rect">
            <a:avLst/>
          </a:prstGeom>
        </p:spPr>
      </p:pic>
      <p:sp>
        <p:nvSpPr>
          <p:cNvPr id="52" name="Text 48"/>
          <p:cNvSpPr txBox="1"/>
          <p:nvPr/>
        </p:nvSpPr>
        <p:spPr>
          <a:xfrm>
            <a:off x="6484468" y="4800600"/>
            <a:ext cx="4244188" cy="502920"/>
          </a:xfrm>
          <a:prstGeom prst="rect">
            <a:avLst/>
          </a:prstGeom>
          <a:noFill/>
          <a:ln/>
        </p:spPr>
        <p:txBody>
          <a:bodyPr wrap="square" lIns="0" tIns="0" rIns="0" bIns="0" rtlCol="0" anchor="ctr"/>
          <a:lstStyle/>
          <a:p>
            <a:pPr rtl="1" algn="r" indent="0" marL="0">
              <a:buNone/>
            </a:pPr>
            <a:r>
              <a:rPr lang="fa-IR" altLang="en-US" sz="1700" b="1" dirty="0">
                <a:solidFill>
                  <a:schemeClr val="tx2"/>
                </a:solidFill>
              </a:rPr>
              <a:t>چرا Orchestration؟</a:t>
            </a:r>
            <a:endParaRPr lang="fa-IR" sz="1700" dirty="0"/>
          </a:p>
        </p:txBody>
      </p:sp>
      <p:sp>
        <p:nvSpPr>
          <p:cNvPr id="53" name="Text 49"/>
          <p:cNvSpPr txBox="1"/>
          <p:nvPr/>
        </p:nvSpPr>
        <p:spPr>
          <a:xfrm>
            <a:off x="6484468" y="5394960"/>
            <a:ext cx="4929988" cy="731520"/>
          </a:xfrm>
          <a:prstGeom prst="rect">
            <a:avLst/>
          </a:prstGeom>
          <a:noFill/>
          <a:ln/>
        </p:spPr>
        <p:txBody>
          <a:bodyPr wrap="square" lIns="0" tIns="0" rIns="0" bIns="0" rtlCol="0" anchor="t"/>
          <a:lstStyle/>
          <a:p>
            <a:pPr rtl="1" algn="r" indent="0" marL="0">
              <a:buNone/>
            </a:pPr>
            <a:r>
              <a:rPr lang="fa-IR" altLang="en-US" sz="1400" dirty="0">
                <a:solidFill>
                  <a:schemeClr val="tx1"/>
                </a:solidFill>
              </a:rPr>
              <a:t>جریان چندمرحله‌ای با تایم‌اوت و جبران نیاز به دید متمرکز دارد؛ وضعیت Saga ذخیره می‌شود و بعد از خرابی ادامه می‌یابد.</a:t>
            </a:r>
            <a:endParaRPr lang="fa-IR" sz="1400" dirty="0"/>
          </a:p>
        </p:txBody>
      </p:sp>
      <p:sp>
        <p:nvSpPr>
          <p:cNvPr id="54" name="Shape 50"/>
          <p:cNvSpPr/>
          <p:nvPr/>
        </p:nvSpPr>
        <p:spPr>
          <a:xfrm>
            <a:off x="548640" y="4617720"/>
            <a:ext cx="5387188" cy="1554480"/>
          </a:xfrm>
          <a:prstGeom prst="roundRect">
            <a:avLst>
              <a:gd name="adj" fmla="val 7059"/>
            </a:avLst>
          </a:prstGeom>
          <a:solidFill>
            <a:schemeClr val="bg2"/>
          </a:solidFill>
          <a:ln/>
        </p:spPr>
      </p:sp>
      <p:sp>
        <p:nvSpPr>
          <p:cNvPr id="55" name="Shape 51"/>
          <p:cNvSpPr/>
          <p:nvPr/>
        </p:nvSpPr>
        <p:spPr>
          <a:xfrm>
            <a:off x="5204308" y="4800600"/>
            <a:ext cx="502920" cy="502920"/>
          </a:xfrm>
          <a:prstGeom prst="ellipse">
            <a:avLst/>
          </a:prstGeom>
          <a:solidFill>
            <a:schemeClr val="tx2"/>
          </a:solidFill>
          <a:ln/>
        </p:spPr>
      </p:sp>
      <p:pic>
        <p:nvPicPr>
          <p:cNvPr id="56" name="Image 1" descr="LuShoppingCart">    </p:cNvPr>
          <p:cNvPicPr>
            <a:picLocks noChangeAspect="1"/>
          </p:cNvPicPr>
          <p:nvPr/>
        </p:nvPicPr>
        <p:blipFill>
          <a:blip r:embed="rId2"/>
          <a:stretch>
            <a:fillRect/>
          </a:stretch>
        </p:blipFill>
        <p:spPr>
          <a:xfrm>
            <a:off x="5314950" y="4911242"/>
            <a:ext cx="281635" cy="281635"/>
          </a:xfrm>
          <a:prstGeom prst="rect">
            <a:avLst/>
          </a:prstGeom>
        </p:spPr>
      </p:pic>
      <p:sp>
        <p:nvSpPr>
          <p:cNvPr id="57" name="Text 52"/>
          <p:cNvSpPr txBox="1"/>
          <p:nvPr/>
        </p:nvSpPr>
        <p:spPr>
          <a:xfrm>
            <a:off x="777240" y="4800600"/>
            <a:ext cx="4244188" cy="502920"/>
          </a:xfrm>
          <a:prstGeom prst="rect">
            <a:avLst/>
          </a:prstGeom>
          <a:noFill/>
          <a:ln/>
        </p:spPr>
        <p:txBody>
          <a:bodyPr wrap="square" lIns="0" tIns="0" rIns="0" bIns="0" rtlCol="0" anchor="ctr"/>
          <a:lstStyle/>
          <a:p>
            <a:pPr rtl="1" algn="r" indent="0" marL="0">
              <a:buNone/>
            </a:pPr>
            <a:r>
              <a:rPr lang="fa-IR" altLang="en-US" sz="1700" b="1" dirty="0">
                <a:solidFill>
                  <a:schemeClr val="tx2"/>
                </a:solidFill>
              </a:rPr>
              <a:t>یک پرداخت، چند سفارش</a:t>
            </a:r>
            <a:endParaRPr lang="fa-IR" sz="1700" dirty="0"/>
          </a:p>
        </p:txBody>
      </p:sp>
      <p:sp>
        <p:nvSpPr>
          <p:cNvPr id="58" name="Text 53"/>
          <p:cNvSpPr txBox="1"/>
          <p:nvPr/>
        </p:nvSpPr>
        <p:spPr>
          <a:xfrm>
            <a:off x="777240" y="5394960"/>
            <a:ext cx="4929988" cy="731520"/>
          </a:xfrm>
          <a:prstGeom prst="rect">
            <a:avLst/>
          </a:prstGeom>
          <a:noFill/>
          <a:ln/>
        </p:spPr>
        <p:txBody>
          <a:bodyPr wrap="square" lIns="0" tIns="0" rIns="0" bIns="0" rtlCol="0" anchor="t"/>
          <a:lstStyle/>
          <a:p>
            <a:pPr rtl="1" algn="r" indent="0" marL="0">
              <a:buNone/>
            </a:pPr>
            <a:r>
              <a:rPr lang="fa-IR" altLang="en-US" sz="1400" dirty="0">
                <a:solidFill>
                  <a:schemeClr val="tx1"/>
                </a:solidFill>
              </a:rPr>
              <a:t>خریدار یک بار پرداخت می‌کند؛ سبد به ازای هر فروشنده به یک سفارش جدا تقسیم می‌شود تا هر فروشنده مستقل تأیید و ارسال کند.</a:t>
            </a:r>
            <a:endParaRPr lang="fa-IR" sz="14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الگوهای قابلیت اطمینان</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چهار الگو که داده‌ی توزیع‌شده را درست و سیستم را سرپا نگه می‌دارند</a:t>
            </a:r>
            <a:endParaRPr lang="fa-IR" sz="1600" dirty="0"/>
          </a:p>
        </p:txBody>
      </p:sp>
      <p:sp>
        <p:nvSpPr>
          <p:cNvPr id="5" name="Shape 2"/>
          <p:cNvSpPr/>
          <p:nvPr/>
        </p:nvSpPr>
        <p:spPr>
          <a:xfrm>
            <a:off x="6233008" y="1645920"/>
            <a:ext cx="5410048" cy="2148840"/>
          </a:xfrm>
          <a:prstGeom prst="roundRect">
            <a:avLst>
              <a:gd name="adj" fmla="val 5106"/>
            </a:avLst>
          </a:prstGeom>
          <a:solidFill>
            <a:schemeClr val="bg2"/>
          </a:solidFill>
          <a:ln/>
          <a:effectLst>
            <a:outerShdw sx="100000" sy="100000" kx="0" ky="0" algn="bl" rotWithShape="0" blurRad="101600" dist="25400" dir="5400000">
              <a:srgbClr val="1F4D2B">
                <a:alpha val="14000"/>
              </a:srgbClr>
            </a:outerShdw>
          </a:effectLst>
        </p:spPr>
      </p:sp>
      <p:sp>
        <p:nvSpPr>
          <p:cNvPr id="6" name="Shape 3"/>
          <p:cNvSpPr/>
          <p:nvPr/>
        </p:nvSpPr>
        <p:spPr>
          <a:xfrm>
            <a:off x="10820095" y="1847088"/>
            <a:ext cx="594360" cy="594360"/>
          </a:xfrm>
          <a:prstGeom prst="ellipse">
            <a:avLst/>
          </a:prstGeom>
          <a:solidFill>
            <a:schemeClr val="accent1"/>
          </a:solidFill>
          <a:ln/>
        </p:spPr>
      </p:sp>
      <p:pic>
        <p:nvPicPr>
          <p:cNvPr id="7" name="Image 0" descr="LuInbox">    </p:cNvPr>
          <p:cNvPicPr>
            <a:picLocks noChangeAspect="1"/>
          </p:cNvPicPr>
          <p:nvPr/>
        </p:nvPicPr>
        <p:blipFill>
          <a:blip r:embed="rId1"/>
          <a:stretch>
            <a:fillRect/>
          </a:stretch>
        </p:blipFill>
        <p:spPr>
          <a:xfrm>
            <a:off x="10950854" y="1977847"/>
            <a:ext cx="332842" cy="332842"/>
          </a:xfrm>
          <a:prstGeom prst="rect">
            <a:avLst/>
          </a:prstGeom>
        </p:spPr>
      </p:pic>
      <p:sp>
        <p:nvSpPr>
          <p:cNvPr id="8" name="Text 4"/>
          <p:cNvSpPr txBox="1"/>
          <p:nvPr/>
        </p:nvSpPr>
        <p:spPr>
          <a:xfrm>
            <a:off x="6461608" y="1847088"/>
            <a:ext cx="4129888" cy="594360"/>
          </a:xfrm>
          <a:prstGeom prst="rect">
            <a:avLst/>
          </a:prstGeom>
          <a:noFill/>
          <a:ln/>
        </p:spPr>
        <p:txBody>
          <a:bodyPr wrap="square" lIns="0" tIns="0" rIns="0" bIns="0" rtlCol="0" anchor="ctr"/>
          <a:lstStyle/>
          <a:p>
            <a:pPr rtl="1" algn="r" indent="0" marL="0">
              <a:buNone/>
            </a:pPr>
            <a:r>
              <a:rPr lang="fa-IR" altLang="en-US" sz="1800" b="1" dirty="0">
                <a:solidFill>
                  <a:schemeClr val="tx2"/>
                </a:solidFill>
              </a:rPr>
              <a:t>Outbox و Inbox</a:t>
            </a:r>
            <a:endParaRPr lang="fa-IR" sz="1800" dirty="0"/>
          </a:p>
        </p:txBody>
      </p:sp>
      <p:sp>
        <p:nvSpPr>
          <p:cNvPr id="9" name="Text 5"/>
          <p:cNvSpPr txBox="1"/>
          <p:nvPr/>
        </p:nvSpPr>
        <p:spPr>
          <a:xfrm>
            <a:off x="6461608" y="2560320"/>
            <a:ext cx="4952848" cy="822960"/>
          </a:xfrm>
          <a:prstGeom prst="rect">
            <a:avLst/>
          </a:prstGeom>
          <a:noFill/>
          <a:ln/>
        </p:spPr>
        <p:txBody>
          <a:bodyPr wrap="square" lIns="0" tIns="0" rIns="0" bIns="0" rtlCol="0" anchor="t"/>
          <a:lstStyle/>
          <a:p>
            <a:pPr rtl="1" algn="r" indent="0" marL="0">
              <a:buNone/>
            </a:pPr>
            <a:r>
              <a:rPr lang="fa-IR" altLang="en-US" sz="1400" dirty="0">
                <a:solidFill>
                  <a:schemeClr val="tx1"/>
                </a:solidFill>
              </a:rPr>
              <a:t>تغییر داده و رکورد رویداد در یک تراکنش ثبت می‌شوند و یک Relay آن را منتشر می‌کند؛ مصرف‌کننده شناسه‌ی رویداد را نگه می‌دارد تا دو بار اعمال نشود.</a:t>
            </a:r>
            <a:endParaRPr lang="fa-IR" sz="1400" dirty="0"/>
          </a:p>
        </p:txBody>
      </p:sp>
      <p:sp>
        <p:nvSpPr>
          <p:cNvPr id="10" name="Text 6"/>
          <p:cNvSpPr txBox="1"/>
          <p:nvPr/>
        </p:nvSpPr>
        <p:spPr>
          <a:xfrm>
            <a:off x="6461608" y="3401568"/>
            <a:ext cx="4952848" cy="292608"/>
          </a:xfrm>
          <a:prstGeom prst="rect">
            <a:avLst/>
          </a:prstGeom>
          <a:noFill/>
          <a:ln/>
        </p:spPr>
        <p:txBody>
          <a:bodyPr wrap="square" lIns="0" tIns="0" rIns="0" bIns="0" rtlCol="0" anchor="t"/>
          <a:lstStyle/>
          <a:p>
            <a:pPr rtl="1" algn="r" indent="0" marL="0">
              <a:buNone/>
            </a:pPr>
            <a:r>
              <a:rPr lang="fa-IR" altLang="en-US" sz="1200" dirty="0">
                <a:solidFill>
                  <a:schemeClr val="accent1"/>
                </a:solidFill>
              </a:rPr>
              <a:t>مثال: order.placed همراه با ثبت سفارش commit می‌شود</a:t>
            </a:r>
            <a:endParaRPr lang="fa-IR" sz="1200" dirty="0"/>
          </a:p>
        </p:txBody>
      </p:sp>
      <p:sp>
        <p:nvSpPr>
          <p:cNvPr id="11" name="Shape 7"/>
          <p:cNvSpPr/>
          <p:nvPr/>
        </p:nvSpPr>
        <p:spPr>
          <a:xfrm>
            <a:off x="548640" y="1645920"/>
            <a:ext cx="5410048" cy="2148840"/>
          </a:xfrm>
          <a:prstGeom prst="roundRect">
            <a:avLst>
              <a:gd name="adj" fmla="val 5106"/>
            </a:avLst>
          </a:prstGeom>
          <a:solidFill>
            <a:schemeClr val="bg2"/>
          </a:solidFill>
          <a:ln/>
          <a:effectLst>
            <a:outerShdw sx="100000" sy="100000" kx="0" ky="0" algn="bl" rotWithShape="0" blurRad="101600" dist="25400" dir="5400000">
              <a:srgbClr val="1F4D2B">
                <a:alpha val="14000"/>
              </a:srgbClr>
            </a:outerShdw>
          </a:effectLst>
        </p:spPr>
      </p:sp>
      <p:sp>
        <p:nvSpPr>
          <p:cNvPr id="12" name="Shape 8"/>
          <p:cNvSpPr/>
          <p:nvPr/>
        </p:nvSpPr>
        <p:spPr>
          <a:xfrm>
            <a:off x="5135728" y="1847088"/>
            <a:ext cx="594360" cy="594360"/>
          </a:xfrm>
          <a:prstGeom prst="ellipse">
            <a:avLst/>
          </a:prstGeom>
          <a:solidFill>
            <a:schemeClr val="accent2"/>
          </a:solidFill>
          <a:ln/>
        </p:spPr>
      </p:sp>
      <p:pic>
        <p:nvPicPr>
          <p:cNvPr id="13" name="Image 1" descr="LuKeyRound">    </p:cNvPr>
          <p:cNvPicPr>
            <a:picLocks noChangeAspect="1"/>
          </p:cNvPicPr>
          <p:nvPr/>
        </p:nvPicPr>
        <p:blipFill>
          <a:blip r:embed="rId2"/>
          <a:stretch>
            <a:fillRect/>
          </a:stretch>
        </p:blipFill>
        <p:spPr>
          <a:xfrm>
            <a:off x="5266487" y="1977847"/>
            <a:ext cx="332842" cy="332842"/>
          </a:xfrm>
          <a:prstGeom prst="rect">
            <a:avLst/>
          </a:prstGeom>
        </p:spPr>
      </p:pic>
      <p:sp>
        <p:nvSpPr>
          <p:cNvPr id="14" name="Text 9"/>
          <p:cNvSpPr txBox="1"/>
          <p:nvPr/>
        </p:nvSpPr>
        <p:spPr>
          <a:xfrm>
            <a:off x="777240" y="1847088"/>
            <a:ext cx="4129888" cy="594360"/>
          </a:xfrm>
          <a:prstGeom prst="rect">
            <a:avLst/>
          </a:prstGeom>
          <a:noFill/>
          <a:ln/>
        </p:spPr>
        <p:txBody>
          <a:bodyPr wrap="square" lIns="0" tIns="0" rIns="0" bIns="0" rtlCol="0" anchor="ctr"/>
          <a:lstStyle/>
          <a:p>
            <a:pPr rtl="1" algn="r" indent="0" marL="0">
              <a:buNone/>
            </a:pPr>
            <a:r>
              <a:rPr lang="fa-IR" altLang="en-US" sz="1800" b="1" dirty="0">
                <a:solidFill>
                  <a:schemeClr val="tx2"/>
                </a:solidFill>
              </a:rPr>
              <a:t>Idempotency-Key</a:t>
            </a:r>
            <a:endParaRPr lang="fa-IR" sz="1800" dirty="0"/>
          </a:p>
        </p:txBody>
      </p:sp>
      <p:sp>
        <p:nvSpPr>
          <p:cNvPr id="15" name="Text 10"/>
          <p:cNvSpPr txBox="1"/>
          <p:nvPr/>
        </p:nvSpPr>
        <p:spPr>
          <a:xfrm>
            <a:off x="777240" y="2560320"/>
            <a:ext cx="4952848" cy="822960"/>
          </a:xfrm>
          <a:prstGeom prst="rect">
            <a:avLst/>
          </a:prstGeom>
          <a:noFill/>
          <a:ln/>
        </p:spPr>
        <p:txBody>
          <a:bodyPr wrap="square" lIns="0" tIns="0" rIns="0" bIns="0" rtlCol="0" anchor="t"/>
          <a:lstStyle/>
          <a:p>
            <a:pPr rtl="1" algn="r" indent="0" marL="0">
              <a:buNone/>
            </a:pPr>
            <a:r>
              <a:rPr lang="fa-IR" altLang="en-US" sz="1400" dirty="0">
                <a:solidFill>
                  <a:schemeClr val="tx1"/>
                </a:solidFill>
              </a:rPr>
              <a:t>ارسال دوباره‌ی درخواست ثبت سفارش یا callback تکراری درگاه، همان پاسخ قبلی را برمی‌گرداند؛ هیچ پولی دو بار کم نمی‌شود.</a:t>
            </a:r>
            <a:endParaRPr lang="fa-IR" sz="1400" dirty="0"/>
          </a:p>
        </p:txBody>
      </p:sp>
      <p:sp>
        <p:nvSpPr>
          <p:cNvPr id="16" name="Text 11"/>
          <p:cNvSpPr txBox="1"/>
          <p:nvPr/>
        </p:nvSpPr>
        <p:spPr>
          <a:xfrm>
            <a:off x="777240" y="3401568"/>
            <a:ext cx="4952848" cy="292608"/>
          </a:xfrm>
          <a:prstGeom prst="rect">
            <a:avLst/>
          </a:prstGeom>
          <a:noFill/>
          <a:ln/>
        </p:spPr>
        <p:txBody>
          <a:bodyPr wrap="square" lIns="0" tIns="0" rIns="0" bIns="0" rtlCol="0" anchor="t"/>
          <a:lstStyle/>
          <a:p>
            <a:pPr rtl="1" algn="r" indent="0" marL="0">
              <a:buNone/>
            </a:pPr>
            <a:r>
              <a:rPr lang="fa-IR" altLang="en-US" sz="1200" dirty="0">
                <a:solidFill>
                  <a:schemeClr val="accent1"/>
                </a:solidFill>
              </a:rPr>
              <a:t>مثال: هدر Idempotency-Key روی POST /checkout</a:t>
            </a:r>
            <a:endParaRPr lang="fa-IR" sz="1200" dirty="0"/>
          </a:p>
        </p:txBody>
      </p:sp>
      <p:sp>
        <p:nvSpPr>
          <p:cNvPr id="17" name="Shape 12"/>
          <p:cNvSpPr/>
          <p:nvPr/>
        </p:nvSpPr>
        <p:spPr>
          <a:xfrm>
            <a:off x="6233008" y="4023360"/>
            <a:ext cx="5410048" cy="2148840"/>
          </a:xfrm>
          <a:prstGeom prst="roundRect">
            <a:avLst>
              <a:gd name="adj" fmla="val 5106"/>
            </a:avLst>
          </a:prstGeom>
          <a:solidFill>
            <a:schemeClr val="bg2"/>
          </a:solidFill>
          <a:ln/>
          <a:effectLst>
            <a:outerShdw sx="100000" sy="100000" kx="0" ky="0" algn="bl" rotWithShape="0" blurRad="101600" dist="25400" dir="5400000">
              <a:srgbClr val="1F4D2B">
                <a:alpha val="14000"/>
              </a:srgbClr>
            </a:outerShdw>
          </a:effectLst>
        </p:spPr>
      </p:sp>
      <p:sp>
        <p:nvSpPr>
          <p:cNvPr id="18" name="Shape 13"/>
          <p:cNvSpPr/>
          <p:nvPr/>
        </p:nvSpPr>
        <p:spPr>
          <a:xfrm>
            <a:off x="10820095" y="4224528"/>
            <a:ext cx="594360" cy="594360"/>
          </a:xfrm>
          <a:prstGeom prst="ellipse">
            <a:avLst/>
          </a:prstGeom>
          <a:solidFill>
            <a:schemeClr val="accent6"/>
          </a:solidFill>
          <a:ln/>
        </p:spPr>
      </p:sp>
      <p:pic>
        <p:nvPicPr>
          <p:cNvPr id="19" name="Image 2" descr="LuLayers">    </p:cNvPr>
          <p:cNvPicPr>
            <a:picLocks noChangeAspect="1"/>
          </p:cNvPicPr>
          <p:nvPr/>
        </p:nvPicPr>
        <p:blipFill>
          <a:blip r:embed="rId3"/>
          <a:stretch>
            <a:fillRect/>
          </a:stretch>
        </p:blipFill>
        <p:spPr>
          <a:xfrm>
            <a:off x="10950854" y="4355287"/>
            <a:ext cx="332842" cy="332842"/>
          </a:xfrm>
          <a:prstGeom prst="rect">
            <a:avLst/>
          </a:prstGeom>
        </p:spPr>
      </p:pic>
      <p:sp>
        <p:nvSpPr>
          <p:cNvPr id="20" name="Text 14"/>
          <p:cNvSpPr txBox="1"/>
          <p:nvPr/>
        </p:nvSpPr>
        <p:spPr>
          <a:xfrm>
            <a:off x="6461608" y="4224528"/>
            <a:ext cx="4129888" cy="594360"/>
          </a:xfrm>
          <a:prstGeom prst="rect">
            <a:avLst/>
          </a:prstGeom>
          <a:noFill/>
          <a:ln/>
        </p:spPr>
        <p:txBody>
          <a:bodyPr wrap="square" lIns="0" tIns="0" rIns="0" bIns="0" rtlCol="0" anchor="ctr"/>
          <a:lstStyle/>
          <a:p>
            <a:pPr rtl="1" algn="r" indent="0" marL="0">
              <a:buNone/>
            </a:pPr>
            <a:r>
              <a:rPr lang="fa-IR" altLang="en-US" sz="1800" b="1" dirty="0">
                <a:solidFill>
                  <a:schemeClr val="tx2"/>
                </a:solidFill>
              </a:rPr>
              <a:t>CQRS سبک</a:t>
            </a:r>
            <a:endParaRPr lang="fa-IR" sz="1800" dirty="0"/>
          </a:p>
        </p:txBody>
      </p:sp>
      <p:sp>
        <p:nvSpPr>
          <p:cNvPr id="21" name="Text 15"/>
          <p:cNvSpPr txBox="1"/>
          <p:nvPr/>
        </p:nvSpPr>
        <p:spPr>
          <a:xfrm>
            <a:off x="6461608" y="4937760"/>
            <a:ext cx="4952848" cy="822960"/>
          </a:xfrm>
          <a:prstGeom prst="rect">
            <a:avLst/>
          </a:prstGeom>
          <a:noFill/>
          <a:ln/>
        </p:spPr>
        <p:txBody>
          <a:bodyPr wrap="square" lIns="0" tIns="0" rIns="0" bIns="0" rtlCol="0" anchor="t"/>
          <a:lstStyle/>
          <a:p>
            <a:pPr rtl="1" algn="r" indent="0" marL="0">
              <a:buNone/>
            </a:pPr>
            <a:r>
              <a:rPr lang="fa-IR" altLang="en-US" sz="1400" dirty="0">
                <a:solidFill>
                  <a:schemeClr val="tx1"/>
                </a:solidFill>
              </a:rPr>
              <a:t>نوشتن در PostgreSQL سرویس مالک، خواندن جستجو از OpenSearch؛ مدل خواندن با بازپخش رویدادها از نو ساخته می‌شود.</a:t>
            </a:r>
            <a:endParaRPr lang="fa-IR" sz="1400" dirty="0"/>
          </a:p>
        </p:txBody>
      </p:sp>
      <p:sp>
        <p:nvSpPr>
          <p:cNvPr id="22" name="Text 16"/>
          <p:cNvSpPr txBox="1"/>
          <p:nvPr/>
        </p:nvSpPr>
        <p:spPr>
          <a:xfrm>
            <a:off x="6461608" y="5779008"/>
            <a:ext cx="4952848" cy="292608"/>
          </a:xfrm>
          <a:prstGeom prst="rect">
            <a:avLst/>
          </a:prstGeom>
          <a:noFill/>
          <a:ln/>
        </p:spPr>
        <p:txBody>
          <a:bodyPr wrap="square" lIns="0" tIns="0" rIns="0" bIns="0" rtlCol="0" anchor="t"/>
          <a:lstStyle/>
          <a:p>
            <a:pPr rtl="1" algn="r" indent="0" marL="0">
              <a:buNone/>
            </a:pPr>
            <a:r>
              <a:rPr lang="fa-IR" altLang="en-US" sz="1200" dirty="0">
                <a:solidFill>
                  <a:schemeClr val="accent1"/>
                </a:solidFill>
              </a:rPr>
              <a:t>مثال: product.updated ← به‌روزرسانی ایندکس جستجو</a:t>
            </a:r>
            <a:endParaRPr lang="fa-IR" sz="1200" dirty="0"/>
          </a:p>
        </p:txBody>
      </p:sp>
      <p:sp>
        <p:nvSpPr>
          <p:cNvPr id="23" name="Shape 17"/>
          <p:cNvSpPr/>
          <p:nvPr/>
        </p:nvSpPr>
        <p:spPr>
          <a:xfrm>
            <a:off x="548640" y="4023360"/>
            <a:ext cx="5410048" cy="2148840"/>
          </a:xfrm>
          <a:prstGeom prst="roundRect">
            <a:avLst>
              <a:gd name="adj" fmla="val 5106"/>
            </a:avLst>
          </a:prstGeom>
          <a:solidFill>
            <a:schemeClr val="bg2"/>
          </a:solidFill>
          <a:ln/>
          <a:effectLst>
            <a:outerShdw sx="100000" sy="100000" kx="0" ky="0" algn="bl" rotWithShape="0" blurRad="101600" dist="25400" dir="5400000">
              <a:srgbClr val="1F4D2B">
                <a:alpha val="14000"/>
              </a:srgbClr>
            </a:outerShdw>
          </a:effectLst>
        </p:spPr>
      </p:sp>
      <p:sp>
        <p:nvSpPr>
          <p:cNvPr id="24" name="Shape 18"/>
          <p:cNvSpPr/>
          <p:nvPr/>
        </p:nvSpPr>
        <p:spPr>
          <a:xfrm>
            <a:off x="5135728" y="4224528"/>
            <a:ext cx="594360" cy="594360"/>
          </a:xfrm>
          <a:prstGeom prst="ellipse">
            <a:avLst/>
          </a:prstGeom>
          <a:solidFill>
            <a:schemeClr val="accent4"/>
          </a:solidFill>
          <a:ln/>
        </p:spPr>
      </p:sp>
      <p:pic>
        <p:nvPicPr>
          <p:cNvPr id="25" name="Image 3" descr="LuShieldCheck">    </p:cNvPr>
          <p:cNvPicPr>
            <a:picLocks noChangeAspect="1"/>
          </p:cNvPicPr>
          <p:nvPr/>
        </p:nvPicPr>
        <p:blipFill>
          <a:blip r:embed="rId4"/>
          <a:stretch>
            <a:fillRect/>
          </a:stretch>
        </p:blipFill>
        <p:spPr>
          <a:xfrm>
            <a:off x="5266487" y="4355287"/>
            <a:ext cx="332842" cy="332842"/>
          </a:xfrm>
          <a:prstGeom prst="rect">
            <a:avLst/>
          </a:prstGeom>
        </p:spPr>
      </p:pic>
      <p:sp>
        <p:nvSpPr>
          <p:cNvPr id="26" name="Text 19"/>
          <p:cNvSpPr txBox="1"/>
          <p:nvPr/>
        </p:nvSpPr>
        <p:spPr>
          <a:xfrm>
            <a:off x="777240" y="4224528"/>
            <a:ext cx="4129888" cy="594360"/>
          </a:xfrm>
          <a:prstGeom prst="rect">
            <a:avLst/>
          </a:prstGeom>
          <a:noFill/>
          <a:ln/>
        </p:spPr>
        <p:txBody>
          <a:bodyPr wrap="square" lIns="0" tIns="0" rIns="0" bIns="0" rtlCol="0" anchor="ctr"/>
          <a:lstStyle/>
          <a:p>
            <a:pPr rtl="1" algn="r" indent="0" marL="0">
              <a:buNone/>
            </a:pPr>
            <a:r>
              <a:rPr lang="fa-IR" altLang="en-US" sz="1800" b="1" dirty="0">
                <a:solidFill>
                  <a:schemeClr val="tx2"/>
                </a:solidFill>
              </a:rPr>
              <a:t>Circuit Breaker و تخریب تدریجی</a:t>
            </a:r>
            <a:endParaRPr lang="fa-IR" sz="1800" dirty="0"/>
          </a:p>
        </p:txBody>
      </p:sp>
      <p:sp>
        <p:nvSpPr>
          <p:cNvPr id="27" name="Text 20"/>
          <p:cNvSpPr txBox="1"/>
          <p:nvPr/>
        </p:nvSpPr>
        <p:spPr>
          <a:xfrm>
            <a:off x="777240" y="4937760"/>
            <a:ext cx="4952848" cy="822960"/>
          </a:xfrm>
          <a:prstGeom prst="rect">
            <a:avLst/>
          </a:prstGeom>
          <a:noFill/>
          <a:ln/>
        </p:spPr>
        <p:txBody>
          <a:bodyPr wrap="square" lIns="0" tIns="0" rIns="0" bIns="0" rtlCol="0" anchor="t"/>
          <a:lstStyle/>
          <a:p>
            <a:pPr rtl="1" algn="r" indent="0" marL="0">
              <a:buNone/>
            </a:pPr>
            <a:r>
              <a:rPr lang="fa-IR" altLang="en-US" sz="1400" dirty="0">
                <a:solidFill>
                  <a:schemeClr val="tx1"/>
                </a:solidFill>
              </a:rPr>
              <a:t>اگر درگاه پرداخت یا مدل زبانی قطع شود، مدار باز می‌شود؛ جستجوی عادی، فیلترها و پرداخت در محل همچنان کار می‌کنند.</a:t>
            </a:r>
            <a:endParaRPr lang="fa-IR" sz="1400" dirty="0"/>
          </a:p>
        </p:txBody>
      </p:sp>
      <p:sp>
        <p:nvSpPr>
          <p:cNvPr id="28" name="Text 21"/>
          <p:cNvSpPr txBox="1"/>
          <p:nvPr/>
        </p:nvSpPr>
        <p:spPr>
          <a:xfrm>
            <a:off x="777240" y="5779008"/>
            <a:ext cx="4952848" cy="292608"/>
          </a:xfrm>
          <a:prstGeom prst="rect">
            <a:avLst/>
          </a:prstGeom>
          <a:noFill/>
          <a:ln/>
        </p:spPr>
        <p:txBody>
          <a:bodyPr wrap="square" lIns="0" tIns="0" rIns="0" bIns="0" rtlCol="0" anchor="t"/>
          <a:lstStyle/>
          <a:p>
            <a:pPr rtl="1" algn="r" indent="0" marL="0">
              <a:buNone/>
            </a:pPr>
            <a:r>
              <a:rPr lang="fa-IR" altLang="en-US" sz="1200" dirty="0">
                <a:solidFill>
                  <a:schemeClr val="accent1"/>
                </a:solidFill>
              </a:rPr>
              <a:t>مثال: LLM در دسترس نیست ← GET /search بدون AI</a:t>
            </a:r>
            <a:endParaRPr lang="fa-IR" sz="12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داده: یک دیتابیس برای هر سرویس</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PostgreSQL برای تراکنش؛ هر ابزار تخصصی فقط جایی که واقعاً لازم است</a:t>
            </a:r>
            <a:endParaRPr lang="fa-IR" sz="1600" dirty="0"/>
          </a:p>
        </p:txBody>
      </p:sp>
      <p:sp>
        <p:nvSpPr>
          <p:cNvPr id="5" name="Shape 2"/>
          <p:cNvSpPr/>
          <p:nvPr/>
        </p:nvSpPr>
        <p:spPr>
          <a:xfrm>
            <a:off x="11076127" y="1746504"/>
            <a:ext cx="566928" cy="566928"/>
          </a:xfrm>
          <a:prstGeom prst="ellipse">
            <a:avLst/>
          </a:prstGeom>
          <a:solidFill>
            <a:schemeClr val="accent1"/>
          </a:solidFill>
          <a:ln/>
        </p:spPr>
      </p:sp>
      <p:pic>
        <p:nvPicPr>
          <p:cNvPr id="6" name="Image 0" descr="LuDatabase">    </p:cNvPr>
          <p:cNvPicPr>
            <a:picLocks noChangeAspect="1"/>
          </p:cNvPicPr>
          <p:nvPr/>
        </p:nvPicPr>
        <p:blipFill>
          <a:blip r:embed="rId1"/>
          <a:stretch>
            <a:fillRect/>
          </a:stretch>
        </p:blipFill>
        <p:spPr>
          <a:xfrm>
            <a:off x="11200851" y="1871228"/>
            <a:ext cx="317480" cy="317480"/>
          </a:xfrm>
          <a:prstGeom prst="rect">
            <a:avLst/>
          </a:prstGeom>
        </p:spPr>
      </p:pic>
      <p:sp>
        <p:nvSpPr>
          <p:cNvPr id="7" name="Text 3"/>
          <p:cNvSpPr txBox="1"/>
          <p:nvPr/>
        </p:nvSpPr>
        <p:spPr>
          <a:xfrm>
            <a:off x="5150815" y="1691640"/>
            <a:ext cx="5715000" cy="347472"/>
          </a:xfrm>
          <a:prstGeom prst="rect">
            <a:avLst/>
          </a:prstGeom>
          <a:noFill/>
          <a:ln/>
        </p:spPr>
        <p:txBody>
          <a:bodyPr wrap="square" lIns="0" tIns="0" rIns="0" bIns="0" rtlCol="0" anchor="t"/>
          <a:lstStyle/>
          <a:p>
            <a:pPr algn="r" indent="0" marL="0">
              <a:buNone/>
            </a:pPr>
            <a:r>
              <a:rPr lang="en-US" altLang="en-US" sz="1600" b="1" dirty="0">
                <a:solidFill>
                  <a:schemeClr val="tx2"/>
                </a:solidFill>
              </a:rPr>
              <a:t>PostgreSQL · PostGIS · pgvector</a:t>
            </a:r>
            <a:endParaRPr lang="en-US" sz="1600" dirty="0"/>
          </a:p>
        </p:txBody>
      </p:sp>
      <p:sp>
        <p:nvSpPr>
          <p:cNvPr id="8" name="Text 4"/>
          <p:cNvSpPr txBox="1"/>
          <p:nvPr/>
        </p:nvSpPr>
        <p:spPr>
          <a:xfrm>
            <a:off x="5150815" y="2057400"/>
            <a:ext cx="5715000" cy="329184"/>
          </a:xfrm>
          <a:prstGeom prst="rect">
            <a:avLst/>
          </a:prstGeom>
          <a:noFill/>
          <a:ln/>
        </p:spPr>
        <p:txBody>
          <a:bodyPr wrap="square" lIns="0" tIns="0" rIns="0" bIns="0" rtlCol="0" anchor="t"/>
          <a:lstStyle/>
          <a:p>
            <a:pPr rtl="1" algn="r" indent="0" marL="0">
              <a:buNone/>
            </a:pPr>
            <a:r>
              <a:rPr lang="fa-IR" altLang="en-US" sz="1400" dirty="0">
                <a:solidFill>
                  <a:srgbClr val="5E6E62"/>
                </a:solidFill>
              </a:rPr>
              <a:t>سفارش، پرداخت، موجودی؛ محدوده‌ی ارسال؛ بردار محصولات</a:t>
            </a:r>
            <a:endParaRPr lang="fa-IR" sz="1400" dirty="0"/>
          </a:p>
        </p:txBody>
      </p:sp>
      <p:sp>
        <p:nvSpPr>
          <p:cNvPr id="9" name="Shape 5"/>
          <p:cNvSpPr/>
          <p:nvPr/>
        </p:nvSpPr>
        <p:spPr>
          <a:xfrm>
            <a:off x="11076127" y="2615184"/>
            <a:ext cx="566928" cy="566928"/>
          </a:xfrm>
          <a:prstGeom prst="ellipse">
            <a:avLst/>
          </a:prstGeom>
          <a:solidFill>
            <a:schemeClr val="accent4"/>
          </a:solidFill>
          <a:ln/>
        </p:spPr>
      </p:sp>
      <p:pic>
        <p:nvPicPr>
          <p:cNvPr id="10" name="Image 1" descr="LuZap">    </p:cNvPr>
          <p:cNvPicPr>
            <a:picLocks noChangeAspect="1"/>
          </p:cNvPicPr>
          <p:nvPr/>
        </p:nvPicPr>
        <p:blipFill>
          <a:blip r:embed="rId2"/>
          <a:stretch>
            <a:fillRect/>
          </a:stretch>
        </p:blipFill>
        <p:spPr>
          <a:xfrm>
            <a:off x="11200851" y="2739908"/>
            <a:ext cx="317480" cy="317480"/>
          </a:xfrm>
          <a:prstGeom prst="rect">
            <a:avLst/>
          </a:prstGeom>
        </p:spPr>
      </p:pic>
      <p:sp>
        <p:nvSpPr>
          <p:cNvPr id="11" name="Text 6"/>
          <p:cNvSpPr txBox="1"/>
          <p:nvPr/>
        </p:nvSpPr>
        <p:spPr>
          <a:xfrm>
            <a:off x="5150815" y="2560320"/>
            <a:ext cx="5715000" cy="347472"/>
          </a:xfrm>
          <a:prstGeom prst="rect">
            <a:avLst/>
          </a:prstGeom>
          <a:noFill/>
          <a:ln/>
        </p:spPr>
        <p:txBody>
          <a:bodyPr wrap="square" lIns="0" tIns="0" rIns="0" bIns="0" rtlCol="0" anchor="t"/>
          <a:lstStyle/>
          <a:p>
            <a:pPr algn="r" indent="0" marL="0">
              <a:buNone/>
            </a:pPr>
            <a:r>
              <a:rPr lang="en-US" altLang="en-US" sz="1600" b="1" dirty="0">
                <a:solidFill>
                  <a:schemeClr val="tx2"/>
                </a:solidFill>
              </a:rPr>
              <a:t>Redis</a:t>
            </a:r>
            <a:endParaRPr lang="en-US" sz="1600" dirty="0"/>
          </a:p>
        </p:txBody>
      </p:sp>
      <p:sp>
        <p:nvSpPr>
          <p:cNvPr id="12" name="Text 7"/>
          <p:cNvSpPr txBox="1"/>
          <p:nvPr/>
        </p:nvSpPr>
        <p:spPr>
          <a:xfrm>
            <a:off x="5150815" y="2926080"/>
            <a:ext cx="5715000" cy="329184"/>
          </a:xfrm>
          <a:prstGeom prst="rect">
            <a:avLst/>
          </a:prstGeom>
          <a:noFill/>
          <a:ln/>
        </p:spPr>
        <p:txBody>
          <a:bodyPr wrap="square" lIns="0" tIns="0" rIns="0" bIns="0" rtlCol="0" anchor="t"/>
          <a:lstStyle/>
          <a:p>
            <a:pPr rtl="1" algn="r" indent="0" marL="0">
              <a:buNone/>
            </a:pPr>
            <a:r>
              <a:rPr lang="fa-IR" altLang="en-US" sz="1400" dirty="0">
                <a:solidFill>
                  <a:srgbClr val="5E6E62"/>
                </a:solidFill>
              </a:rPr>
              <a:t>سبد خرید، Rate Limit، کش معنایی هوش مصنوعی</a:t>
            </a:r>
            <a:endParaRPr lang="fa-IR" sz="1400" dirty="0"/>
          </a:p>
        </p:txBody>
      </p:sp>
      <p:sp>
        <p:nvSpPr>
          <p:cNvPr id="13" name="Shape 8"/>
          <p:cNvSpPr/>
          <p:nvPr/>
        </p:nvSpPr>
        <p:spPr>
          <a:xfrm>
            <a:off x="11076127" y="3483864"/>
            <a:ext cx="566928" cy="566928"/>
          </a:xfrm>
          <a:prstGeom prst="ellipse">
            <a:avLst/>
          </a:prstGeom>
          <a:solidFill>
            <a:schemeClr val="accent2"/>
          </a:solidFill>
          <a:ln/>
        </p:spPr>
      </p:sp>
      <p:pic>
        <p:nvPicPr>
          <p:cNvPr id="14" name="Image 2" descr="LuSearch">    </p:cNvPr>
          <p:cNvPicPr>
            <a:picLocks noChangeAspect="1"/>
          </p:cNvPicPr>
          <p:nvPr/>
        </p:nvPicPr>
        <p:blipFill>
          <a:blip r:embed="rId3"/>
          <a:stretch>
            <a:fillRect/>
          </a:stretch>
        </p:blipFill>
        <p:spPr>
          <a:xfrm>
            <a:off x="11200851" y="3608588"/>
            <a:ext cx="317480" cy="317480"/>
          </a:xfrm>
          <a:prstGeom prst="rect">
            <a:avLst/>
          </a:prstGeom>
        </p:spPr>
      </p:pic>
      <p:sp>
        <p:nvSpPr>
          <p:cNvPr id="15" name="Text 9"/>
          <p:cNvSpPr txBox="1"/>
          <p:nvPr/>
        </p:nvSpPr>
        <p:spPr>
          <a:xfrm>
            <a:off x="5150815" y="3429000"/>
            <a:ext cx="5715000" cy="347472"/>
          </a:xfrm>
          <a:prstGeom prst="rect">
            <a:avLst/>
          </a:prstGeom>
          <a:noFill/>
          <a:ln/>
        </p:spPr>
        <p:txBody>
          <a:bodyPr wrap="square" lIns="0" tIns="0" rIns="0" bIns="0" rtlCol="0" anchor="t"/>
          <a:lstStyle/>
          <a:p>
            <a:pPr algn="r" indent="0" marL="0">
              <a:buNone/>
            </a:pPr>
            <a:r>
              <a:rPr lang="en-US" altLang="en-US" sz="1600" b="1" dirty="0">
                <a:solidFill>
                  <a:schemeClr val="tx2"/>
                </a:solidFill>
              </a:rPr>
              <a:t>OpenSearch</a:t>
            </a:r>
            <a:endParaRPr lang="en-US" sz="1600" dirty="0"/>
          </a:p>
        </p:txBody>
      </p:sp>
      <p:sp>
        <p:nvSpPr>
          <p:cNvPr id="16" name="Text 10"/>
          <p:cNvSpPr txBox="1"/>
          <p:nvPr/>
        </p:nvSpPr>
        <p:spPr>
          <a:xfrm>
            <a:off x="5150815" y="3794760"/>
            <a:ext cx="5715000" cy="329184"/>
          </a:xfrm>
          <a:prstGeom prst="rect">
            <a:avLst/>
          </a:prstGeom>
          <a:noFill/>
          <a:ln/>
        </p:spPr>
        <p:txBody>
          <a:bodyPr wrap="square" lIns="0" tIns="0" rIns="0" bIns="0" rtlCol="0" anchor="t"/>
          <a:lstStyle/>
          <a:p>
            <a:pPr rtl="1" algn="r" indent="0" marL="0">
              <a:buNone/>
            </a:pPr>
            <a:r>
              <a:rPr lang="fa-IR" altLang="en-US" sz="1400" dirty="0">
                <a:solidFill>
                  <a:srgbClr val="5E6E62"/>
                </a:solidFill>
              </a:rPr>
              <a:t>جستجوی فارسی با تحلیلگر مخصوص؛ مدل خواندن</a:t>
            </a:r>
            <a:endParaRPr lang="fa-IR" sz="1400" dirty="0"/>
          </a:p>
        </p:txBody>
      </p:sp>
      <p:sp>
        <p:nvSpPr>
          <p:cNvPr id="17" name="Shape 11"/>
          <p:cNvSpPr/>
          <p:nvPr/>
        </p:nvSpPr>
        <p:spPr>
          <a:xfrm>
            <a:off x="11076127" y="4352544"/>
            <a:ext cx="566928" cy="566928"/>
          </a:xfrm>
          <a:prstGeom prst="ellipse">
            <a:avLst/>
          </a:prstGeom>
          <a:solidFill>
            <a:schemeClr val="accent6"/>
          </a:solidFill>
          <a:ln/>
        </p:spPr>
      </p:sp>
      <p:pic>
        <p:nvPicPr>
          <p:cNvPr id="18" name="Image 3" descr="LuImage">    </p:cNvPr>
          <p:cNvPicPr>
            <a:picLocks noChangeAspect="1"/>
          </p:cNvPicPr>
          <p:nvPr/>
        </p:nvPicPr>
        <p:blipFill>
          <a:blip r:embed="rId4"/>
          <a:stretch>
            <a:fillRect/>
          </a:stretch>
        </p:blipFill>
        <p:spPr>
          <a:xfrm>
            <a:off x="11200851" y="4477268"/>
            <a:ext cx="317480" cy="317480"/>
          </a:xfrm>
          <a:prstGeom prst="rect">
            <a:avLst/>
          </a:prstGeom>
        </p:spPr>
      </p:pic>
      <p:sp>
        <p:nvSpPr>
          <p:cNvPr id="19" name="Text 12"/>
          <p:cNvSpPr txBox="1"/>
          <p:nvPr/>
        </p:nvSpPr>
        <p:spPr>
          <a:xfrm>
            <a:off x="5150815" y="4297680"/>
            <a:ext cx="5715000" cy="347472"/>
          </a:xfrm>
          <a:prstGeom prst="rect">
            <a:avLst/>
          </a:prstGeom>
          <a:noFill/>
          <a:ln/>
        </p:spPr>
        <p:txBody>
          <a:bodyPr wrap="square" lIns="0" tIns="0" rIns="0" bIns="0" rtlCol="0" anchor="t"/>
          <a:lstStyle/>
          <a:p>
            <a:pPr algn="r" indent="0" marL="0">
              <a:buNone/>
            </a:pPr>
            <a:r>
              <a:rPr lang="en-US" altLang="en-US" sz="1600" b="1" dirty="0">
                <a:solidFill>
                  <a:schemeClr val="tx2"/>
                </a:solidFill>
              </a:rPr>
              <a:t>MinIO / S3</a:t>
            </a:r>
            <a:endParaRPr lang="en-US" sz="1600" dirty="0"/>
          </a:p>
        </p:txBody>
      </p:sp>
      <p:sp>
        <p:nvSpPr>
          <p:cNvPr id="20" name="Text 13"/>
          <p:cNvSpPr txBox="1"/>
          <p:nvPr/>
        </p:nvSpPr>
        <p:spPr>
          <a:xfrm>
            <a:off x="5150815" y="4663440"/>
            <a:ext cx="5715000" cy="329184"/>
          </a:xfrm>
          <a:prstGeom prst="rect">
            <a:avLst/>
          </a:prstGeom>
          <a:noFill/>
          <a:ln/>
        </p:spPr>
        <p:txBody>
          <a:bodyPr wrap="square" lIns="0" tIns="0" rIns="0" bIns="0" rtlCol="0" anchor="t"/>
          <a:lstStyle/>
          <a:p>
            <a:pPr rtl="1" algn="r" indent="0" marL="0">
              <a:buNone/>
            </a:pPr>
            <a:r>
              <a:rPr lang="fa-IR" altLang="en-US" sz="1400" dirty="0">
                <a:solidFill>
                  <a:srgbClr val="5E6E62"/>
                </a:solidFill>
              </a:rPr>
              <a:t>عکس محصول و مدارک فروشنده با لینک امضاشده</a:t>
            </a:r>
            <a:endParaRPr lang="fa-IR" sz="1400" dirty="0"/>
          </a:p>
        </p:txBody>
      </p:sp>
      <p:sp>
        <p:nvSpPr>
          <p:cNvPr id="21" name="Shape 14"/>
          <p:cNvSpPr/>
          <p:nvPr/>
        </p:nvSpPr>
        <p:spPr>
          <a:xfrm>
            <a:off x="11076127" y="5221224"/>
            <a:ext cx="566928" cy="566928"/>
          </a:xfrm>
          <a:prstGeom prst="ellipse">
            <a:avLst/>
          </a:prstGeom>
          <a:solidFill>
            <a:schemeClr val="tx2"/>
          </a:solidFill>
          <a:ln/>
        </p:spPr>
      </p:sp>
      <p:pic>
        <p:nvPicPr>
          <p:cNvPr id="22" name="Image 4" descr="LuActivity">    </p:cNvPr>
          <p:cNvPicPr>
            <a:picLocks noChangeAspect="1"/>
          </p:cNvPicPr>
          <p:nvPr/>
        </p:nvPicPr>
        <p:blipFill>
          <a:blip r:embed="rId5"/>
          <a:stretch>
            <a:fillRect/>
          </a:stretch>
        </p:blipFill>
        <p:spPr>
          <a:xfrm>
            <a:off x="11200851" y="5345948"/>
            <a:ext cx="317480" cy="317480"/>
          </a:xfrm>
          <a:prstGeom prst="rect">
            <a:avLst/>
          </a:prstGeom>
        </p:spPr>
      </p:pic>
      <p:sp>
        <p:nvSpPr>
          <p:cNvPr id="23" name="Text 15"/>
          <p:cNvSpPr txBox="1"/>
          <p:nvPr/>
        </p:nvSpPr>
        <p:spPr>
          <a:xfrm>
            <a:off x="5150815" y="5166360"/>
            <a:ext cx="5715000" cy="347472"/>
          </a:xfrm>
          <a:prstGeom prst="rect">
            <a:avLst/>
          </a:prstGeom>
          <a:noFill/>
          <a:ln/>
        </p:spPr>
        <p:txBody>
          <a:bodyPr wrap="square" lIns="0" tIns="0" rIns="0" bIns="0" rtlCol="0" anchor="t"/>
          <a:lstStyle/>
          <a:p>
            <a:pPr algn="r" indent="0" marL="0">
              <a:buNone/>
            </a:pPr>
            <a:r>
              <a:rPr lang="en-US" altLang="en-US" sz="1600" b="1" dirty="0">
                <a:solidFill>
                  <a:schemeClr val="tx2"/>
                </a:solidFill>
              </a:rPr>
              <a:t>ClickHouse</a:t>
            </a:r>
            <a:endParaRPr lang="en-US" sz="1600" dirty="0"/>
          </a:p>
        </p:txBody>
      </p:sp>
      <p:sp>
        <p:nvSpPr>
          <p:cNvPr id="24" name="Text 16"/>
          <p:cNvSpPr txBox="1"/>
          <p:nvPr/>
        </p:nvSpPr>
        <p:spPr>
          <a:xfrm>
            <a:off x="5150815" y="5532120"/>
            <a:ext cx="5715000" cy="329184"/>
          </a:xfrm>
          <a:prstGeom prst="rect">
            <a:avLst/>
          </a:prstGeom>
          <a:noFill/>
          <a:ln/>
        </p:spPr>
        <p:txBody>
          <a:bodyPr wrap="square" lIns="0" tIns="0" rIns="0" bIns="0" rtlCol="0" anchor="t"/>
          <a:lstStyle/>
          <a:p>
            <a:pPr rtl="1" algn="r" indent="0" marL="0">
              <a:buNone/>
            </a:pPr>
            <a:r>
              <a:rPr lang="fa-IR" altLang="en-US" sz="1400" dirty="0">
                <a:solidFill>
                  <a:srgbClr val="5E6E62"/>
                </a:solidFill>
              </a:rPr>
              <a:t>رویدادهای رفتاری، گزارش فروش، داده‌ی آموزش مدل پیشنهاد</a:t>
            </a:r>
            <a:endParaRPr lang="fa-IR" sz="1400" dirty="0"/>
          </a:p>
        </p:txBody>
      </p:sp>
      <p:sp>
        <p:nvSpPr>
          <p:cNvPr id="25" name="Shape 17"/>
          <p:cNvSpPr/>
          <p:nvPr/>
        </p:nvSpPr>
        <p:spPr>
          <a:xfrm>
            <a:off x="548640" y="1691640"/>
            <a:ext cx="4236415" cy="4297680"/>
          </a:xfrm>
          <a:prstGeom prst="roundRect">
            <a:avLst>
              <a:gd name="adj" fmla="val 2590"/>
            </a:avLst>
          </a:prstGeom>
          <a:solidFill>
            <a:schemeClr val="tx2"/>
          </a:solidFill>
          <a:ln/>
        </p:spPr>
      </p:sp>
      <p:sp>
        <p:nvSpPr>
          <p:cNvPr id="26" name="Text 18"/>
          <p:cNvSpPr txBox="1"/>
          <p:nvPr/>
        </p:nvSpPr>
        <p:spPr>
          <a:xfrm>
            <a:off x="822960" y="1874520"/>
            <a:ext cx="3687775" cy="457200"/>
          </a:xfrm>
          <a:prstGeom prst="rect">
            <a:avLst/>
          </a:prstGeom>
          <a:noFill/>
          <a:ln/>
        </p:spPr>
        <p:txBody>
          <a:bodyPr wrap="square" lIns="0" tIns="0" rIns="0" bIns="0" rtlCol="0" anchor="t"/>
          <a:lstStyle/>
          <a:p>
            <a:pPr rtl="1" algn="r" indent="0" marL="0">
              <a:buNone/>
            </a:pPr>
            <a:r>
              <a:rPr lang="fa-IR" altLang="en-US" sz="1900" b="1" dirty="0">
                <a:solidFill>
                  <a:schemeClr val="accent2"/>
                </a:solidFill>
              </a:rPr>
              <a:t>قواعد داده</a:t>
            </a:r>
            <a:endParaRPr lang="fa-IR" sz="1900" dirty="0"/>
          </a:p>
        </p:txBody>
      </p:sp>
      <p:sp>
        <p:nvSpPr>
          <p:cNvPr id="27" name="Text 19"/>
          <p:cNvSpPr txBox="1"/>
          <p:nvPr/>
        </p:nvSpPr>
        <p:spPr>
          <a:xfrm>
            <a:off x="822960" y="2468880"/>
            <a:ext cx="3687775" cy="3383280"/>
          </a:xfrm>
          <a:prstGeom prst="rect">
            <a:avLst/>
          </a:prstGeom>
          <a:noFill/>
          <a:ln/>
        </p:spPr>
        <p:txBody>
          <a:bodyPr wrap="square" lIns="0" tIns="0" rIns="0" bIns="0" rtlCol="0" anchor="t"/>
          <a:lstStyle/>
          <a:p>
            <a:pPr rtl="1" algn="r" marL="342900" indent="-342900">
              <a:spcAft>
                <a:spcPts val="1000"/>
              </a:spcAft>
              <a:buSzPct val="100000"/>
              <a:buChar char="•"/>
            </a:pPr>
            <a:r>
              <a:rPr lang="fa-IR" altLang="en-US" sz="1500" dirty="0">
                <a:solidFill>
                  <a:schemeClr val="bg1"/>
                </a:solidFill>
              </a:rPr>
              <a:t>پول = عدد صحیح ریال (bigint)؛ هرگز اعشاری</a:t>
            </a:r>
            <a:endParaRPr lang="fa-IR" sz="1500" dirty="0"/>
          </a:p>
          <a:p>
            <a:pPr rtl="1" algn="r" marL="342900" indent="-342900">
              <a:spcAft>
                <a:spcPts val="1000"/>
              </a:spcAft>
              <a:buSzPct val="100000"/>
              <a:buChar char="•"/>
            </a:pPr>
            <a:r>
              <a:rPr lang="fa-IR" altLang="en-US" sz="1500" dirty="0">
                <a:solidFill>
                  <a:schemeClr val="bg1"/>
                </a:solidFill>
              </a:rPr>
              <a:t>زمان در UTC؛ نمایش با تقویم شمسی و وقت تهران</a:t>
            </a:r>
            <a:endParaRPr lang="fa-IR" sz="1500" dirty="0"/>
          </a:p>
          <a:p>
            <a:pPr rtl="1" algn="r" marL="342900" indent="-342900">
              <a:spcAft>
                <a:spcPts val="1000"/>
              </a:spcAft>
              <a:buSzPct val="100000"/>
              <a:buChar char="•"/>
            </a:pPr>
            <a:r>
              <a:rPr lang="fa-IR" altLang="en-US" sz="1500" dirty="0">
                <a:solidFill>
                  <a:schemeClr val="bg1"/>
                </a:solidFill>
              </a:rPr>
              <a:t>دفتر کل دوطرفه برای کمیسیون و تسویه‌ی فروشندگان</a:t>
            </a:r>
            <a:endParaRPr lang="fa-IR" sz="1500" dirty="0"/>
          </a:p>
          <a:p>
            <a:pPr rtl="1" algn="r" marL="342900" indent="-342900">
              <a:spcAft>
                <a:spcPts val="1000"/>
              </a:spcAft>
              <a:buSzPct val="100000"/>
              <a:buChar char="•"/>
            </a:pPr>
            <a:r>
              <a:rPr lang="fa-IR" altLang="en-US" sz="1500" dirty="0">
                <a:solidFill>
                  <a:schemeClr val="bg1"/>
                </a:solidFill>
              </a:rPr>
              <a:t>قیمت و نام کالا هنگام سفارش ثبت و ثابت می‌شود</a:t>
            </a:r>
            <a:endParaRPr lang="fa-IR" sz="1500" dirty="0"/>
          </a:p>
          <a:p>
            <a:pPr rtl="1" algn="r" marL="342900" indent="-342900">
              <a:spcAft>
                <a:spcPts val="1000"/>
              </a:spcAft>
              <a:buSzPct val="100000"/>
              <a:buChar char="•"/>
            </a:pPr>
            <a:r>
              <a:rPr lang="fa-IR" altLang="en-US" sz="1500" dirty="0">
                <a:solidFill>
                  <a:schemeClr val="bg1"/>
                </a:solidFill>
              </a:rPr>
              <a:t>پشتیبان‌گیری خودکار و بازیابی لحظه‌ای (PITR)</a:t>
            </a:r>
            <a:endParaRPr lang="fa-IR" sz="15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Docker و محیط توسعه</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هر سرویس یک Image است؛ کل زیرساخت روی یک لپ‌تاپ ۸ گیگابایتی اجرا می‌شود</a:t>
            </a:r>
            <a:endParaRPr lang="fa-IR" sz="1600" dirty="0"/>
          </a:p>
        </p:txBody>
      </p:sp>
      <p:sp>
        <p:nvSpPr>
          <p:cNvPr id="5" name="Shape 2"/>
          <p:cNvSpPr/>
          <p:nvPr/>
        </p:nvSpPr>
        <p:spPr>
          <a:xfrm>
            <a:off x="11259007" y="1773936"/>
            <a:ext cx="384048" cy="384048"/>
          </a:xfrm>
          <a:prstGeom prst="ellipse">
            <a:avLst/>
          </a:prstGeom>
          <a:solidFill>
            <a:schemeClr val="accent1"/>
          </a:solidFill>
          <a:ln/>
        </p:spPr>
      </p:sp>
      <p:pic>
        <p:nvPicPr>
          <p:cNvPr id="6" name="Image 0" descr="LuCheck">    </p:cNvPr>
          <p:cNvPicPr>
            <a:picLocks noChangeAspect="1"/>
          </p:cNvPicPr>
          <p:nvPr/>
        </p:nvPicPr>
        <p:blipFill>
          <a:blip r:embed="rId1"/>
          <a:stretch>
            <a:fillRect/>
          </a:stretch>
        </p:blipFill>
        <p:spPr>
          <a:xfrm>
            <a:off x="11343498" y="1858427"/>
            <a:ext cx="215067" cy="215067"/>
          </a:xfrm>
          <a:prstGeom prst="rect">
            <a:avLst/>
          </a:prstGeom>
        </p:spPr>
      </p:pic>
      <p:sp>
        <p:nvSpPr>
          <p:cNvPr id="7" name="Text 3"/>
          <p:cNvSpPr txBox="1"/>
          <p:nvPr/>
        </p:nvSpPr>
        <p:spPr>
          <a:xfrm>
            <a:off x="6156655" y="1737360"/>
            <a:ext cx="4937760" cy="457200"/>
          </a:xfrm>
          <a:prstGeom prst="rect">
            <a:avLst/>
          </a:prstGeom>
          <a:noFill/>
          <a:ln/>
        </p:spPr>
        <p:txBody>
          <a:bodyPr wrap="square" lIns="0" tIns="0" rIns="0" bIns="0" rtlCol="0" anchor="ctr"/>
          <a:lstStyle/>
          <a:p>
            <a:pPr rtl="1" algn="r" indent="0" marL="0">
              <a:buNone/>
            </a:pPr>
            <a:r>
              <a:rPr lang="fa-IR" altLang="en-US" sz="1500" dirty="0">
                <a:solidFill>
                  <a:schemeClr val="tx1"/>
                </a:solidFill>
              </a:rPr>
              <a:t>ساخت چندمرحله‌ای: Image کوچک و بدون ابزار build</a:t>
            </a:r>
            <a:endParaRPr lang="fa-IR" sz="1500" dirty="0"/>
          </a:p>
        </p:txBody>
      </p:sp>
      <p:sp>
        <p:nvSpPr>
          <p:cNvPr id="8" name="Shape 4"/>
          <p:cNvSpPr/>
          <p:nvPr/>
        </p:nvSpPr>
        <p:spPr>
          <a:xfrm>
            <a:off x="11259007" y="2377440"/>
            <a:ext cx="384048" cy="384048"/>
          </a:xfrm>
          <a:prstGeom prst="ellipse">
            <a:avLst/>
          </a:prstGeom>
          <a:solidFill>
            <a:schemeClr val="accent1"/>
          </a:solidFill>
          <a:ln/>
        </p:spPr>
      </p:sp>
      <p:pic>
        <p:nvPicPr>
          <p:cNvPr id="9" name="Image 1" descr="LuCheck">    </p:cNvPr>
          <p:cNvPicPr>
            <a:picLocks noChangeAspect="1"/>
          </p:cNvPicPr>
          <p:nvPr/>
        </p:nvPicPr>
        <p:blipFill>
          <a:blip r:embed="rId2"/>
          <a:stretch>
            <a:fillRect/>
          </a:stretch>
        </p:blipFill>
        <p:spPr>
          <a:xfrm>
            <a:off x="11343498" y="2461931"/>
            <a:ext cx="215067" cy="215067"/>
          </a:xfrm>
          <a:prstGeom prst="rect">
            <a:avLst/>
          </a:prstGeom>
        </p:spPr>
      </p:pic>
      <p:sp>
        <p:nvSpPr>
          <p:cNvPr id="10" name="Text 5"/>
          <p:cNvSpPr txBox="1"/>
          <p:nvPr/>
        </p:nvSpPr>
        <p:spPr>
          <a:xfrm>
            <a:off x="6156655" y="2340864"/>
            <a:ext cx="4937760" cy="457200"/>
          </a:xfrm>
          <a:prstGeom prst="rect">
            <a:avLst/>
          </a:prstGeom>
          <a:noFill/>
          <a:ln/>
        </p:spPr>
        <p:txBody>
          <a:bodyPr wrap="square" lIns="0" tIns="0" rIns="0" bIns="0" rtlCol="0" anchor="ctr"/>
          <a:lstStyle/>
          <a:p>
            <a:pPr rtl="1" algn="r" indent="0" marL="0">
              <a:buNone/>
            </a:pPr>
            <a:r>
              <a:rPr lang="fa-IR" altLang="en-US" sz="1500" dirty="0">
                <a:solidFill>
                  <a:schemeClr val="tx1"/>
                </a:solidFill>
              </a:rPr>
              <a:t>اجرا با کاربر غیر root</a:t>
            </a:r>
            <a:endParaRPr lang="fa-IR" sz="1500" dirty="0"/>
          </a:p>
        </p:txBody>
      </p:sp>
      <p:sp>
        <p:nvSpPr>
          <p:cNvPr id="11" name="Shape 6"/>
          <p:cNvSpPr/>
          <p:nvPr/>
        </p:nvSpPr>
        <p:spPr>
          <a:xfrm>
            <a:off x="11259007" y="2980944"/>
            <a:ext cx="384048" cy="384048"/>
          </a:xfrm>
          <a:prstGeom prst="ellipse">
            <a:avLst/>
          </a:prstGeom>
          <a:solidFill>
            <a:schemeClr val="accent1"/>
          </a:solidFill>
          <a:ln/>
        </p:spPr>
      </p:sp>
      <p:pic>
        <p:nvPicPr>
          <p:cNvPr id="12" name="Image 2" descr="LuCheck">    </p:cNvPr>
          <p:cNvPicPr>
            <a:picLocks noChangeAspect="1"/>
          </p:cNvPicPr>
          <p:nvPr/>
        </p:nvPicPr>
        <p:blipFill>
          <a:blip r:embed="rId3"/>
          <a:stretch>
            <a:fillRect/>
          </a:stretch>
        </p:blipFill>
        <p:spPr>
          <a:xfrm>
            <a:off x="11343498" y="3065435"/>
            <a:ext cx="215067" cy="215067"/>
          </a:xfrm>
          <a:prstGeom prst="rect">
            <a:avLst/>
          </a:prstGeom>
        </p:spPr>
      </p:pic>
      <p:sp>
        <p:nvSpPr>
          <p:cNvPr id="13" name="Text 7"/>
          <p:cNvSpPr txBox="1"/>
          <p:nvPr/>
        </p:nvSpPr>
        <p:spPr>
          <a:xfrm>
            <a:off x="6156655" y="2944368"/>
            <a:ext cx="4937760" cy="457200"/>
          </a:xfrm>
          <a:prstGeom prst="rect">
            <a:avLst/>
          </a:prstGeom>
          <a:noFill/>
          <a:ln/>
        </p:spPr>
        <p:txBody>
          <a:bodyPr wrap="square" lIns="0" tIns="0" rIns="0" bIns="0" rtlCol="0" anchor="ctr"/>
          <a:lstStyle/>
          <a:p>
            <a:pPr rtl="1" algn="r" indent="0" marL="0">
              <a:buNone/>
            </a:pPr>
            <a:r>
              <a:rPr lang="fa-IR" altLang="en-US" sz="1500" dirty="0">
                <a:solidFill>
                  <a:schemeClr val="tx1"/>
                </a:solidFill>
              </a:rPr>
              <a:t>Healthcheck و endpointهای سلامت: healthz و readyz</a:t>
            </a:r>
            <a:endParaRPr lang="fa-IR" sz="1500" dirty="0"/>
          </a:p>
        </p:txBody>
      </p:sp>
      <p:sp>
        <p:nvSpPr>
          <p:cNvPr id="14" name="Shape 8"/>
          <p:cNvSpPr/>
          <p:nvPr/>
        </p:nvSpPr>
        <p:spPr>
          <a:xfrm>
            <a:off x="11259007" y="3584448"/>
            <a:ext cx="384048" cy="384048"/>
          </a:xfrm>
          <a:prstGeom prst="ellipse">
            <a:avLst/>
          </a:prstGeom>
          <a:solidFill>
            <a:schemeClr val="accent1"/>
          </a:solidFill>
          <a:ln/>
        </p:spPr>
      </p:sp>
      <p:pic>
        <p:nvPicPr>
          <p:cNvPr id="15" name="Image 3" descr="LuCheck">    </p:cNvPr>
          <p:cNvPicPr>
            <a:picLocks noChangeAspect="1"/>
          </p:cNvPicPr>
          <p:nvPr/>
        </p:nvPicPr>
        <p:blipFill>
          <a:blip r:embed="rId4"/>
          <a:stretch>
            <a:fillRect/>
          </a:stretch>
        </p:blipFill>
        <p:spPr>
          <a:xfrm>
            <a:off x="11343498" y="3668939"/>
            <a:ext cx="215067" cy="215067"/>
          </a:xfrm>
          <a:prstGeom prst="rect">
            <a:avLst/>
          </a:prstGeom>
        </p:spPr>
      </p:pic>
      <p:sp>
        <p:nvSpPr>
          <p:cNvPr id="16" name="Text 9"/>
          <p:cNvSpPr txBox="1"/>
          <p:nvPr/>
        </p:nvSpPr>
        <p:spPr>
          <a:xfrm>
            <a:off x="6156655" y="3547872"/>
            <a:ext cx="4937760" cy="457200"/>
          </a:xfrm>
          <a:prstGeom prst="rect">
            <a:avLst/>
          </a:prstGeom>
          <a:noFill/>
          <a:ln/>
        </p:spPr>
        <p:txBody>
          <a:bodyPr wrap="square" lIns="0" tIns="0" rIns="0" bIns="0" rtlCol="0" anchor="ctr"/>
          <a:lstStyle/>
          <a:p>
            <a:pPr rtl="1" algn="r" indent="0" marL="0">
              <a:buNone/>
            </a:pPr>
            <a:r>
              <a:rPr lang="fa-IR" altLang="en-US" sz="1500" dirty="0">
                <a:solidFill>
                  <a:schemeClr val="tx1"/>
                </a:solidFill>
              </a:rPr>
              <a:t>تنظیمات فقط با متغیر محیطی؛ بدون Secret در Image</a:t>
            </a:r>
            <a:endParaRPr lang="fa-IR" sz="1500" dirty="0"/>
          </a:p>
        </p:txBody>
      </p:sp>
      <p:sp>
        <p:nvSpPr>
          <p:cNvPr id="17" name="Shape 10"/>
          <p:cNvSpPr/>
          <p:nvPr/>
        </p:nvSpPr>
        <p:spPr>
          <a:xfrm>
            <a:off x="11259007" y="4187952"/>
            <a:ext cx="384048" cy="384048"/>
          </a:xfrm>
          <a:prstGeom prst="ellipse">
            <a:avLst/>
          </a:prstGeom>
          <a:solidFill>
            <a:schemeClr val="accent1"/>
          </a:solidFill>
          <a:ln/>
        </p:spPr>
      </p:sp>
      <p:pic>
        <p:nvPicPr>
          <p:cNvPr id="18" name="Image 4" descr="LuCheck">    </p:cNvPr>
          <p:cNvPicPr>
            <a:picLocks noChangeAspect="1"/>
          </p:cNvPicPr>
          <p:nvPr/>
        </p:nvPicPr>
        <p:blipFill>
          <a:blip r:embed="rId5"/>
          <a:stretch>
            <a:fillRect/>
          </a:stretch>
        </p:blipFill>
        <p:spPr>
          <a:xfrm>
            <a:off x="11343498" y="4272443"/>
            <a:ext cx="215067" cy="215067"/>
          </a:xfrm>
          <a:prstGeom prst="rect">
            <a:avLst/>
          </a:prstGeom>
        </p:spPr>
      </p:pic>
      <p:sp>
        <p:nvSpPr>
          <p:cNvPr id="19" name="Text 11"/>
          <p:cNvSpPr txBox="1"/>
          <p:nvPr/>
        </p:nvSpPr>
        <p:spPr>
          <a:xfrm>
            <a:off x="6156655" y="4151376"/>
            <a:ext cx="4937760" cy="457200"/>
          </a:xfrm>
          <a:prstGeom prst="rect">
            <a:avLst/>
          </a:prstGeom>
          <a:noFill/>
          <a:ln/>
        </p:spPr>
        <p:txBody>
          <a:bodyPr wrap="square" lIns="0" tIns="0" rIns="0" bIns="0" rtlCol="0" anchor="ctr"/>
          <a:lstStyle/>
          <a:p>
            <a:pPr rtl="1" algn="r" indent="0" marL="0">
              <a:buNone/>
            </a:pPr>
            <a:r>
              <a:rPr lang="fa-IR" altLang="en-US" sz="1500" dirty="0">
                <a:solidFill>
                  <a:schemeClr val="tx1"/>
                </a:solidFill>
              </a:rPr>
              <a:t>اسکن آسیب‌پذیری با Trivy در CI</a:t>
            </a:r>
            <a:endParaRPr lang="fa-IR" sz="1500" dirty="0"/>
          </a:p>
        </p:txBody>
      </p:sp>
      <p:sp>
        <p:nvSpPr>
          <p:cNvPr id="20" name="Shape 12"/>
          <p:cNvSpPr/>
          <p:nvPr/>
        </p:nvSpPr>
        <p:spPr>
          <a:xfrm>
            <a:off x="11259007" y="4791456"/>
            <a:ext cx="384048" cy="384048"/>
          </a:xfrm>
          <a:prstGeom prst="ellipse">
            <a:avLst/>
          </a:prstGeom>
          <a:solidFill>
            <a:schemeClr val="accent1"/>
          </a:solidFill>
          <a:ln/>
        </p:spPr>
      </p:sp>
      <p:pic>
        <p:nvPicPr>
          <p:cNvPr id="21" name="Image 5" descr="LuCheck">    </p:cNvPr>
          <p:cNvPicPr>
            <a:picLocks noChangeAspect="1"/>
          </p:cNvPicPr>
          <p:nvPr/>
        </p:nvPicPr>
        <p:blipFill>
          <a:blip r:embed="rId6"/>
          <a:stretch>
            <a:fillRect/>
          </a:stretch>
        </p:blipFill>
        <p:spPr>
          <a:xfrm>
            <a:off x="11343498" y="4875947"/>
            <a:ext cx="215067" cy="215067"/>
          </a:xfrm>
          <a:prstGeom prst="rect">
            <a:avLst/>
          </a:prstGeom>
        </p:spPr>
      </p:pic>
      <p:sp>
        <p:nvSpPr>
          <p:cNvPr id="22" name="Text 13"/>
          <p:cNvSpPr txBox="1"/>
          <p:nvPr/>
        </p:nvSpPr>
        <p:spPr>
          <a:xfrm>
            <a:off x="6156655" y="4754880"/>
            <a:ext cx="4937760" cy="457200"/>
          </a:xfrm>
          <a:prstGeom prst="rect">
            <a:avLst/>
          </a:prstGeom>
          <a:noFill/>
          <a:ln/>
        </p:spPr>
        <p:txBody>
          <a:bodyPr wrap="square" lIns="0" tIns="0" rIns="0" bIns="0" rtlCol="0" anchor="ctr"/>
          <a:lstStyle/>
          <a:p>
            <a:pPr rtl="1" algn="r" indent="0" marL="0">
              <a:buNone/>
            </a:pPr>
            <a:r>
              <a:rPr lang="fa-IR" altLang="en-US" sz="1500" dirty="0">
                <a:solidFill>
                  <a:schemeClr val="tx1"/>
                </a:solidFill>
              </a:rPr>
              <a:t>لاگ JSON و endpoint متریک در همه‌ی سرویس‌ها</a:t>
            </a:r>
            <a:endParaRPr lang="fa-IR" sz="1500" dirty="0"/>
          </a:p>
        </p:txBody>
      </p:sp>
      <p:sp>
        <p:nvSpPr>
          <p:cNvPr id="23" name="Text 14"/>
          <p:cNvSpPr txBox="1"/>
          <p:nvPr/>
        </p:nvSpPr>
        <p:spPr>
          <a:xfrm>
            <a:off x="548640" y="1691640"/>
            <a:ext cx="5150815" cy="365760"/>
          </a:xfrm>
          <a:prstGeom prst="rect">
            <a:avLst/>
          </a:prstGeom>
          <a:noFill/>
          <a:ln/>
        </p:spPr>
        <p:txBody>
          <a:bodyPr wrap="square" lIns="0" tIns="0" rIns="0" bIns="0" rtlCol="0" anchor="t"/>
          <a:lstStyle/>
          <a:p>
            <a:pPr rtl="1" algn="r" indent="0" marL="0">
              <a:buNone/>
            </a:pPr>
            <a:r>
              <a:rPr lang="fa-IR" altLang="en-US" sz="1400" b="1" dirty="0">
                <a:solidFill>
                  <a:schemeClr val="tx2"/>
                </a:solidFill>
              </a:rPr>
              <a:t>حافظه‌ی تقریبی هر پروفایل Docker Compose (مگابایت)</a:t>
            </a:r>
            <a:endParaRPr lang="fa-IR" sz="1400" dirty="0"/>
          </a:p>
        </p:txBody>
      </p:sp>
      <p:graphicFrame>
        <p:nvGraphicFramePr>
          <p:cNvPr id="24" name="Chart 0" descr=""/>
          <p:cNvGraphicFramePr/>
          <p:nvPr/>
        </p:nvGraphicFramePr>
        <p:xfrm>
          <a:off x="548640" y="2103120"/>
          <a:ext cx="5150815" cy="2651760"/>
        </p:xfrm>
        <a:graphic xmlns:a="http://schemas.openxmlformats.org/drawingml/2006/main">
          <a:graphicData uri="http://schemas.openxmlformats.org/drawingml/2006/chart">
            <c:chart xmlns:c="http://schemas.openxmlformats.org/drawingml/2006/chart" r:id="rId7"/>
          </a:graphicData>
        </a:graphic>
      </p:graphicFrame>
      <p:sp>
        <p:nvSpPr>
          <p:cNvPr id="25" name="Text 15"/>
          <p:cNvSpPr txBox="1"/>
          <p:nvPr/>
        </p:nvSpPr>
        <p:spPr>
          <a:xfrm>
            <a:off x="548640" y="4800600"/>
            <a:ext cx="5150815" cy="502920"/>
          </a:xfrm>
          <a:prstGeom prst="rect">
            <a:avLst/>
          </a:prstGeom>
          <a:noFill/>
          <a:ln/>
        </p:spPr>
        <p:txBody>
          <a:bodyPr wrap="square" lIns="0" tIns="0" rIns="0" bIns="0" rtlCol="0" anchor="t"/>
          <a:lstStyle/>
          <a:p>
            <a:pPr algn="l" indent="0" marL="0">
              <a:buNone/>
            </a:pPr>
            <a:r>
              <a:rPr lang="en-US" altLang="en-US" sz="1100" dirty="0">
                <a:solidFill>
                  <a:srgbClr val="5E6E62"/>
                </a:solidFill>
              </a:rPr>
              <a:t>core = PostgreSQL, Redis, NATS  ·  search = OpenSearch</a:t>
            </a:r>
            <a:endParaRPr lang="en-US" sz="1100" dirty="0"/>
          </a:p>
          <a:p>
            <a:pPr algn="l" indent="0" marL="0">
              <a:buNone/>
            </a:pPr>
            <a:r>
              <a:rPr lang="en-US" altLang="en-US" sz="1100" dirty="0">
                <a:solidFill>
                  <a:srgbClr val="5E6E62"/>
                </a:solidFill>
              </a:rPr>
              <a:t>storage = MinIO, Mailpit  ·  obs = Jaeger, Prometheus, Grafana</a:t>
            </a:r>
            <a:endParaRPr lang="en-US" sz="1100" dirty="0"/>
          </a:p>
        </p:txBody>
      </p:sp>
      <p:sp>
        <p:nvSpPr>
          <p:cNvPr id="26" name="Shape 16"/>
          <p:cNvSpPr/>
          <p:nvPr/>
        </p:nvSpPr>
        <p:spPr>
          <a:xfrm>
            <a:off x="548640" y="5440680"/>
            <a:ext cx="5150815" cy="685800"/>
          </a:xfrm>
          <a:prstGeom prst="roundRect">
            <a:avLst>
              <a:gd name="adj" fmla="val 16000"/>
            </a:avLst>
          </a:prstGeom>
          <a:solidFill>
            <a:schemeClr val="accent2">
              <a:alpha val="18000"/>
            </a:schemeClr>
          </a:solidFill>
          <a:ln/>
        </p:spPr>
      </p:sp>
      <p:sp>
        <p:nvSpPr>
          <p:cNvPr id="27" name="Text 17"/>
          <p:cNvSpPr txBox="1"/>
          <p:nvPr/>
        </p:nvSpPr>
        <p:spPr>
          <a:xfrm>
            <a:off x="731520" y="5440680"/>
            <a:ext cx="4785055" cy="685800"/>
          </a:xfrm>
          <a:prstGeom prst="rect">
            <a:avLst/>
          </a:prstGeom>
          <a:noFill/>
          <a:ln/>
        </p:spPr>
        <p:txBody>
          <a:bodyPr wrap="square" lIns="0" tIns="0" rIns="0" bIns="0" rtlCol="0" anchor="ctr"/>
          <a:lstStyle/>
          <a:p>
            <a:pPr rtl="1" algn="r" indent="0" marL="0">
              <a:buNone/>
            </a:pPr>
            <a:r>
              <a:rPr lang="fa-IR" altLang="en-US" sz="1500" b="1" dirty="0">
                <a:solidFill>
                  <a:schemeClr val="tx2"/>
                </a:solidFill>
              </a:rPr>
              <a:t>جمع همه حدود ۲٫۳ گیگابایت؛ فقط پروفایل لازم روشن می‌شود</a:t>
            </a:r>
            <a:endParaRPr lang="fa-IR" sz="15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استقرار روی Kubernetes</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سرویس‌های بدون‌وضعیت با مقیاس خودکار، خودترمیمی و دسترسی حداقلی</a:t>
            </a:r>
            <a:endParaRPr lang="fa-IR" sz="1600" dirty="0"/>
          </a:p>
        </p:txBody>
      </p:sp>
      <p:sp>
        <p:nvSpPr>
          <p:cNvPr id="5" name="Shape 2"/>
          <p:cNvSpPr/>
          <p:nvPr/>
        </p:nvSpPr>
        <p:spPr>
          <a:xfrm>
            <a:off x="11185855" y="1737360"/>
            <a:ext cx="457200" cy="457200"/>
          </a:xfrm>
          <a:prstGeom prst="ellipse">
            <a:avLst/>
          </a:prstGeom>
          <a:solidFill>
            <a:schemeClr val="accent1"/>
          </a:solidFill>
          <a:ln/>
        </p:spPr>
      </p:sp>
      <p:pic>
        <p:nvPicPr>
          <p:cNvPr id="6" name="Image 0" descr="LuGauge">    </p:cNvPr>
          <p:cNvPicPr>
            <a:picLocks noChangeAspect="1"/>
          </p:cNvPicPr>
          <p:nvPr/>
        </p:nvPicPr>
        <p:blipFill>
          <a:blip r:embed="rId1"/>
          <a:stretch>
            <a:fillRect/>
          </a:stretch>
        </p:blipFill>
        <p:spPr>
          <a:xfrm>
            <a:off x="11286439" y="1837944"/>
            <a:ext cx="256032" cy="256032"/>
          </a:xfrm>
          <a:prstGeom prst="rect">
            <a:avLst/>
          </a:prstGeom>
        </p:spPr>
      </p:pic>
      <p:sp>
        <p:nvSpPr>
          <p:cNvPr id="7" name="Text 3"/>
          <p:cNvSpPr txBox="1"/>
          <p:nvPr/>
        </p:nvSpPr>
        <p:spPr>
          <a:xfrm>
            <a:off x="6430975" y="1691640"/>
            <a:ext cx="4572000" cy="292608"/>
          </a:xfrm>
          <a:prstGeom prst="rect">
            <a:avLst/>
          </a:prstGeom>
          <a:noFill/>
          <a:ln/>
        </p:spPr>
        <p:txBody>
          <a:bodyPr wrap="square" lIns="0" tIns="0" rIns="0" bIns="0" rtlCol="0" anchor="t"/>
          <a:lstStyle/>
          <a:p>
            <a:pPr algn="r" indent="0" marL="0">
              <a:buNone/>
            </a:pPr>
            <a:r>
              <a:rPr lang="en-US" altLang="en-US" sz="1500" b="1" dirty="0">
                <a:solidFill>
                  <a:schemeClr val="tx2"/>
                </a:solidFill>
              </a:rPr>
              <a:t>Deployment + HPA</a:t>
            </a:r>
            <a:endParaRPr lang="en-US" sz="1500" dirty="0"/>
          </a:p>
        </p:txBody>
      </p:sp>
      <p:sp>
        <p:nvSpPr>
          <p:cNvPr id="8" name="Text 4"/>
          <p:cNvSpPr txBox="1"/>
          <p:nvPr/>
        </p:nvSpPr>
        <p:spPr>
          <a:xfrm>
            <a:off x="6430975" y="1984248"/>
            <a:ext cx="4572000"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مقیاس خودکار با CPU و نرخ درخواست</a:t>
            </a:r>
            <a:endParaRPr lang="fa-IR" sz="1300" dirty="0"/>
          </a:p>
        </p:txBody>
      </p:sp>
      <p:sp>
        <p:nvSpPr>
          <p:cNvPr id="9" name="Shape 5"/>
          <p:cNvSpPr/>
          <p:nvPr/>
        </p:nvSpPr>
        <p:spPr>
          <a:xfrm>
            <a:off x="11185855" y="2377440"/>
            <a:ext cx="457200" cy="457200"/>
          </a:xfrm>
          <a:prstGeom prst="ellipse">
            <a:avLst/>
          </a:prstGeom>
          <a:solidFill>
            <a:schemeClr val="accent1"/>
          </a:solidFill>
          <a:ln/>
        </p:spPr>
      </p:sp>
      <p:pic>
        <p:nvPicPr>
          <p:cNvPr id="10" name="Image 1" descr="LuTrendingUp">    </p:cNvPr>
          <p:cNvPicPr>
            <a:picLocks noChangeAspect="1"/>
          </p:cNvPicPr>
          <p:nvPr/>
        </p:nvPicPr>
        <p:blipFill>
          <a:blip r:embed="rId2"/>
          <a:stretch>
            <a:fillRect/>
          </a:stretch>
        </p:blipFill>
        <p:spPr>
          <a:xfrm>
            <a:off x="11286439" y="2478024"/>
            <a:ext cx="256032" cy="256032"/>
          </a:xfrm>
          <a:prstGeom prst="rect">
            <a:avLst/>
          </a:prstGeom>
        </p:spPr>
      </p:pic>
      <p:sp>
        <p:nvSpPr>
          <p:cNvPr id="11" name="Text 6"/>
          <p:cNvSpPr txBox="1"/>
          <p:nvPr/>
        </p:nvSpPr>
        <p:spPr>
          <a:xfrm>
            <a:off x="6430975" y="2331720"/>
            <a:ext cx="4572000" cy="292608"/>
          </a:xfrm>
          <a:prstGeom prst="rect">
            <a:avLst/>
          </a:prstGeom>
          <a:noFill/>
          <a:ln/>
        </p:spPr>
        <p:txBody>
          <a:bodyPr wrap="square" lIns="0" tIns="0" rIns="0" bIns="0" rtlCol="0" anchor="t"/>
          <a:lstStyle/>
          <a:p>
            <a:pPr algn="r" indent="0" marL="0">
              <a:buNone/>
            </a:pPr>
            <a:r>
              <a:rPr lang="en-US" altLang="en-US" sz="1500" b="1" dirty="0">
                <a:solidFill>
                  <a:schemeClr val="tx2"/>
                </a:solidFill>
              </a:rPr>
              <a:t>KEDA</a:t>
            </a:r>
            <a:endParaRPr lang="en-US" sz="1500" dirty="0"/>
          </a:p>
        </p:txBody>
      </p:sp>
      <p:sp>
        <p:nvSpPr>
          <p:cNvPr id="12" name="Text 7"/>
          <p:cNvSpPr txBox="1"/>
          <p:nvPr/>
        </p:nvSpPr>
        <p:spPr>
          <a:xfrm>
            <a:off x="6430975" y="2624328"/>
            <a:ext cx="4572000"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مقیاس بر اساس صف برای جستجو و AI</a:t>
            </a:r>
            <a:endParaRPr lang="fa-IR" sz="1300" dirty="0"/>
          </a:p>
        </p:txBody>
      </p:sp>
      <p:sp>
        <p:nvSpPr>
          <p:cNvPr id="13" name="Shape 8"/>
          <p:cNvSpPr/>
          <p:nvPr/>
        </p:nvSpPr>
        <p:spPr>
          <a:xfrm>
            <a:off x="11185855" y="3017520"/>
            <a:ext cx="457200" cy="457200"/>
          </a:xfrm>
          <a:prstGeom prst="ellipse">
            <a:avLst/>
          </a:prstGeom>
          <a:solidFill>
            <a:schemeClr val="accent1"/>
          </a:solidFill>
          <a:ln/>
        </p:spPr>
      </p:sp>
      <p:pic>
        <p:nvPicPr>
          <p:cNvPr id="14" name="Image 2" descr="LuHeartPulse">    </p:cNvPr>
          <p:cNvPicPr>
            <a:picLocks noChangeAspect="1"/>
          </p:cNvPicPr>
          <p:nvPr/>
        </p:nvPicPr>
        <p:blipFill>
          <a:blip r:embed="rId3"/>
          <a:stretch>
            <a:fillRect/>
          </a:stretch>
        </p:blipFill>
        <p:spPr>
          <a:xfrm>
            <a:off x="11286439" y="3118104"/>
            <a:ext cx="256032" cy="256032"/>
          </a:xfrm>
          <a:prstGeom prst="rect">
            <a:avLst/>
          </a:prstGeom>
        </p:spPr>
      </p:pic>
      <p:sp>
        <p:nvSpPr>
          <p:cNvPr id="15" name="Text 9"/>
          <p:cNvSpPr txBox="1"/>
          <p:nvPr/>
        </p:nvSpPr>
        <p:spPr>
          <a:xfrm>
            <a:off x="6430975" y="2971800"/>
            <a:ext cx="4572000" cy="292608"/>
          </a:xfrm>
          <a:prstGeom prst="rect">
            <a:avLst/>
          </a:prstGeom>
          <a:noFill/>
          <a:ln/>
        </p:spPr>
        <p:txBody>
          <a:bodyPr wrap="square" lIns="0" tIns="0" rIns="0" bIns="0" rtlCol="0" anchor="t"/>
          <a:lstStyle/>
          <a:p>
            <a:pPr algn="r" indent="0" marL="0">
              <a:buNone/>
            </a:pPr>
            <a:r>
              <a:rPr lang="en-US" altLang="en-US" sz="1500" b="1" dirty="0">
                <a:solidFill>
                  <a:schemeClr val="tx2"/>
                </a:solidFill>
              </a:rPr>
              <a:t>Probes</a:t>
            </a:r>
            <a:endParaRPr lang="en-US" sz="1500" dirty="0"/>
          </a:p>
        </p:txBody>
      </p:sp>
      <p:sp>
        <p:nvSpPr>
          <p:cNvPr id="16" name="Text 10"/>
          <p:cNvSpPr txBox="1"/>
          <p:nvPr/>
        </p:nvSpPr>
        <p:spPr>
          <a:xfrm>
            <a:off x="6430975" y="3264408"/>
            <a:ext cx="4572000"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readiness، liveness و startup برای خودترمیمی</a:t>
            </a:r>
            <a:endParaRPr lang="fa-IR" sz="1300" dirty="0"/>
          </a:p>
        </p:txBody>
      </p:sp>
      <p:sp>
        <p:nvSpPr>
          <p:cNvPr id="17" name="Shape 11"/>
          <p:cNvSpPr/>
          <p:nvPr/>
        </p:nvSpPr>
        <p:spPr>
          <a:xfrm>
            <a:off x="11185855" y="3657600"/>
            <a:ext cx="457200" cy="457200"/>
          </a:xfrm>
          <a:prstGeom prst="ellipse">
            <a:avLst/>
          </a:prstGeom>
          <a:solidFill>
            <a:schemeClr val="accent1"/>
          </a:solidFill>
          <a:ln/>
        </p:spPr>
      </p:sp>
      <p:pic>
        <p:nvPicPr>
          <p:cNvPr id="18" name="Image 3" descr="LuShield">    </p:cNvPr>
          <p:cNvPicPr>
            <a:picLocks noChangeAspect="1"/>
          </p:cNvPicPr>
          <p:nvPr/>
        </p:nvPicPr>
        <p:blipFill>
          <a:blip r:embed="rId4"/>
          <a:stretch>
            <a:fillRect/>
          </a:stretch>
        </p:blipFill>
        <p:spPr>
          <a:xfrm>
            <a:off x="11286439" y="3758184"/>
            <a:ext cx="256032" cy="256032"/>
          </a:xfrm>
          <a:prstGeom prst="rect">
            <a:avLst/>
          </a:prstGeom>
        </p:spPr>
      </p:pic>
      <p:sp>
        <p:nvSpPr>
          <p:cNvPr id="19" name="Text 12"/>
          <p:cNvSpPr txBox="1"/>
          <p:nvPr/>
        </p:nvSpPr>
        <p:spPr>
          <a:xfrm>
            <a:off x="6430975" y="3611880"/>
            <a:ext cx="4572000" cy="292608"/>
          </a:xfrm>
          <a:prstGeom prst="rect">
            <a:avLst/>
          </a:prstGeom>
          <a:noFill/>
          <a:ln/>
        </p:spPr>
        <p:txBody>
          <a:bodyPr wrap="square" lIns="0" tIns="0" rIns="0" bIns="0" rtlCol="0" anchor="t"/>
          <a:lstStyle/>
          <a:p>
            <a:pPr algn="r" indent="0" marL="0">
              <a:buNone/>
            </a:pPr>
            <a:r>
              <a:rPr lang="en-US" altLang="en-US" sz="1500" b="1" dirty="0">
                <a:solidFill>
                  <a:schemeClr val="tx2"/>
                </a:solidFill>
              </a:rPr>
              <a:t>PodDisruptionBudget</a:t>
            </a:r>
            <a:endParaRPr lang="en-US" sz="1500" dirty="0"/>
          </a:p>
        </p:txBody>
      </p:sp>
      <p:sp>
        <p:nvSpPr>
          <p:cNvPr id="20" name="Text 13"/>
          <p:cNvSpPr txBox="1"/>
          <p:nvPr/>
        </p:nvSpPr>
        <p:spPr>
          <a:xfrm>
            <a:off x="6430975" y="3904488"/>
            <a:ext cx="4572000"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حداقل نسخه‌ی سالم هنگام به‌روزرسانی</a:t>
            </a:r>
            <a:endParaRPr lang="fa-IR" sz="1300" dirty="0"/>
          </a:p>
        </p:txBody>
      </p:sp>
      <p:sp>
        <p:nvSpPr>
          <p:cNvPr id="21" name="Shape 14"/>
          <p:cNvSpPr/>
          <p:nvPr/>
        </p:nvSpPr>
        <p:spPr>
          <a:xfrm>
            <a:off x="11185855" y="4297680"/>
            <a:ext cx="457200" cy="457200"/>
          </a:xfrm>
          <a:prstGeom prst="ellipse">
            <a:avLst/>
          </a:prstGeom>
          <a:solidFill>
            <a:schemeClr val="accent1"/>
          </a:solidFill>
          <a:ln/>
        </p:spPr>
      </p:sp>
      <p:pic>
        <p:nvPicPr>
          <p:cNvPr id="22" name="Image 4" descr="LuNetwork">    </p:cNvPr>
          <p:cNvPicPr>
            <a:picLocks noChangeAspect="1"/>
          </p:cNvPicPr>
          <p:nvPr/>
        </p:nvPicPr>
        <p:blipFill>
          <a:blip r:embed="rId5"/>
          <a:stretch>
            <a:fillRect/>
          </a:stretch>
        </p:blipFill>
        <p:spPr>
          <a:xfrm>
            <a:off x="11286439" y="4398264"/>
            <a:ext cx="256032" cy="256032"/>
          </a:xfrm>
          <a:prstGeom prst="rect">
            <a:avLst/>
          </a:prstGeom>
        </p:spPr>
      </p:pic>
      <p:sp>
        <p:nvSpPr>
          <p:cNvPr id="23" name="Text 15"/>
          <p:cNvSpPr txBox="1"/>
          <p:nvPr/>
        </p:nvSpPr>
        <p:spPr>
          <a:xfrm>
            <a:off x="6430975" y="4251960"/>
            <a:ext cx="4572000" cy="292608"/>
          </a:xfrm>
          <a:prstGeom prst="rect">
            <a:avLst/>
          </a:prstGeom>
          <a:noFill/>
          <a:ln/>
        </p:spPr>
        <p:txBody>
          <a:bodyPr wrap="square" lIns="0" tIns="0" rIns="0" bIns="0" rtlCol="0" anchor="t"/>
          <a:lstStyle/>
          <a:p>
            <a:pPr algn="r" indent="0" marL="0">
              <a:buNone/>
            </a:pPr>
            <a:r>
              <a:rPr lang="en-US" altLang="en-US" sz="1500" b="1" dirty="0">
                <a:solidFill>
                  <a:schemeClr val="tx2"/>
                </a:solidFill>
              </a:rPr>
              <a:t>NetworkPolicy</a:t>
            </a:r>
            <a:endParaRPr lang="en-US" sz="1500" dirty="0"/>
          </a:p>
        </p:txBody>
      </p:sp>
      <p:sp>
        <p:nvSpPr>
          <p:cNvPr id="24" name="Text 16"/>
          <p:cNvSpPr txBox="1"/>
          <p:nvPr/>
        </p:nvSpPr>
        <p:spPr>
          <a:xfrm>
            <a:off x="6430975" y="4544568"/>
            <a:ext cx="4572000"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فقط ترافیک مجاز بین سرویس‌ها</a:t>
            </a:r>
            <a:endParaRPr lang="fa-IR" sz="1300" dirty="0"/>
          </a:p>
        </p:txBody>
      </p:sp>
      <p:sp>
        <p:nvSpPr>
          <p:cNvPr id="25" name="Shape 17"/>
          <p:cNvSpPr/>
          <p:nvPr/>
        </p:nvSpPr>
        <p:spPr>
          <a:xfrm>
            <a:off x="11185855" y="4937760"/>
            <a:ext cx="457200" cy="457200"/>
          </a:xfrm>
          <a:prstGeom prst="ellipse">
            <a:avLst/>
          </a:prstGeom>
          <a:solidFill>
            <a:schemeClr val="accent1"/>
          </a:solidFill>
          <a:ln/>
        </p:spPr>
      </p:sp>
      <p:pic>
        <p:nvPicPr>
          <p:cNvPr id="26" name="Image 5" descr="LuKeyRound">    </p:cNvPr>
          <p:cNvPicPr>
            <a:picLocks noChangeAspect="1"/>
          </p:cNvPicPr>
          <p:nvPr/>
        </p:nvPicPr>
        <p:blipFill>
          <a:blip r:embed="rId6"/>
          <a:stretch>
            <a:fillRect/>
          </a:stretch>
        </p:blipFill>
        <p:spPr>
          <a:xfrm>
            <a:off x="11286439" y="5038344"/>
            <a:ext cx="256032" cy="256032"/>
          </a:xfrm>
          <a:prstGeom prst="rect">
            <a:avLst/>
          </a:prstGeom>
        </p:spPr>
      </p:pic>
      <p:sp>
        <p:nvSpPr>
          <p:cNvPr id="27" name="Text 18"/>
          <p:cNvSpPr txBox="1"/>
          <p:nvPr/>
        </p:nvSpPr>
        <p:spPr>
          <a:xfrm>
            <a:off x="6430975" y="4892040"/>
            <a:ext cx="4572000" cy="292608"/>
          </a:xfrm>
          <a:prstGeom prst="rect">
            <a:avLst/>
          </a:prstGeom>
          <a:noFill/>
          <a:ln/>
        </p:spPr>
        <p:txBody>
          <a:bodyPr wrap="square" lIns="0" tIns="0" rIns="0" bIns="0" rtlCol="0" anchor="t"/>
          <a:lstStyle/>
          <a:p>
            <a:pPr algn="r" indent="0" marL="0">
              <a:buNone/>
            </a:pPr>
            <a:r>
              <a:rPr lang="en-US" altLang="en-US" sz="1500" b="1" dirty="0">
                <a:solidFill>
                  <a:schemeClr val="tx2"/>
                </a:solidFill>
              </a:rPr>
              <a:t>External Secrets</a:t>
            </a:r>
            <a:endParaRPr lang="en-US" sz="1500" dirty="0"/>
          </a:p>
        </p:txBody>
      </p:sp>
      <p:sp>
        <p:nvSpPr>
          <p:cNvPr id="28" name="Text 19"/>
          <p:cNvSpPr txBox="1"/>
          <p:nvPr/>
        </p:nvSpPr>
        <p:spPr>
          <a:xfrm>
            <a:off x="6430975" y="5184648"/>
            <a:ext cx="4572000" cy="274320"/>
          </a:xfrm>
          <a:prstGeom prst="rect">
            <a:avLst/>
          </a:prstGeom>
          <a:noFill/>
          <a:ln/>
        </p:spPr>
        <p:txBody>
          <a:bodyPr wrap="square" lIns="0" tIns="0" rIns="0" bIns="0" rtlCol="0" anchor="t"/>
          <a:lstStyle/>
          <a:p>
            <a:pPr rtl="1" algn="r" indent="0" marL="0">
              <a:buNone/>
            </a:pPr>
            <a:r>
              <a:rPr lang="fa-IR" altLang="en-US" sz="1300" dirty="0">
                <a:solidFill>
                  <a:srgbClr val="5E6E62"/>
                </a:solidFill>
              </a:rPr>
              <a:t>Secretها از Vault، نه از Git</a:t>
            </a:r>
            <a:endParaRPr lang="fa-IR" sz="1300" dirty="0"/>
          </a:p>
        </p:txBody>
      </p:sp>
      <p:sp>
        <p:nvSpPr>
          <p:cNvPr id="29" name="Shape 20"/>
          <p:cNvSpPr/>
          <p:nvPr/>
        </p:nvSpPr>
        <p:spPr>
          <a:xfrm>
            <a:off x="6430975" y="5623560"/>
            <a:ext cx="5212080" cy="548640"/>
          </a:xfrm>
          <a:prstGeom prst="roundRect">
            <a:avLst>
              <a:gd name="adj" fmla="val 20000"/>
            </a:avLst>
          </a:prstGeom>
          <a:solidFill>
            <a:schemeClr val="accent2">
              <a:alpha val="18000"/>
            </a:schemeClr>
          </a:solidFill>
          <a:ln/>
        </p:spPr>
      </p:sp>
      <p:sp>
        <p:nvSpPr>
          <p:cNvPr id="30" name="Text 21"/>
          <p:cNvSpPr txBox="1"/>
          <p:nvPr/>
        </p:nvSpPr>
        <p:spPr>
          <a:xfrm>
            <a:off x="6613855" y="5623560"/>
            <a:ext cx="4846320" cy="548640"/>
          </a:xfrm>
          <a:prstGeom prst="rect">
            <a:avLst/>
          </a:prstGeom>
          <a:noFill/>
          <a:ln/>
        </p:spPr>
        <p:txBody>
          <a:bodyPr wrap="square" lIns="0" tIns="0" rIns="0" bIns="0" rtlCol="0" anchor="ctr"/>
          <a:lstStyle/>
          <a:p>
            <a:pPr rtl="1" algn="r" indent="0" marL="0">
              <a:buNone/>
            </a:pPr>
            <a:r>
              <a:rPr lang="fa-IR" altLang="en-US" sz="1400" b="1" dirty="0">
                <a:solidFill>
                  <a:schemeClr val="tx2"/>
                </a:solidFill>
              </a:rPr>
              <a:t>اوج خرید صبح و عصر، یلدا و نوروز ← Autoscaling و CDN</a:t>
            </a:r>
            <a:endParaRPr lang="fa-IR" sz="1400" dirty="0"/>
          </a:p>
        </p:txBody>
      </p:sp>
      <p:sp>
        <p:nvSpPr>
          <p:cNvPr id="31" name="Shape 22"/>
          <p:cNvSpPr/>
          <p:nvPr/>
        </p:nvSpPr>
        <p:spPr>
          <a:xfrm>
            <a:off x="548640" y="1691640"/>
            <a:ext cx="5470855" cy="4480560"/>
          </a:xfrm>
          <a:prstGeom prst="roundRect">
            <a:avLst>
              <a:gd name="adj" fmla="val 2449"/>
            </a:avLst>
          </a:prstGeom>
          <a:solidFill>
            <a:schemeClr val="bg1"/>
          </a:solidFill>
          <a:ln w="15875">
            <a:solidFill>
              <a:srgbClr val="1F4D2B"/>
            </a:solidFill>
            <a:prstDash val="dash"/>
          </a:ln>
        </p:spPr>
      </p:sp>
      <p:sp>
        <p:nvSpPr>
          <p:cNvPr id="32" name="Text 23"/>
          <p:cNvSpPr txBox="1"/>
          <p:nvPr/>
        </p:nvSpPr>
        <p:spPr>
          <a:xfrm>
            <a:off x="777240" y="1783080"/>
            <a:ext cx="2743200" cy="320040"/>
          </a:xfrm>
          <a:prstGeom prst="rect">
            <a:avLst/>
          </a:prstGeom>
          <a:noFill/>
          <a:ln/>
        </p:spPr>
        <p:txBody>
          <a:bodyPr wrap="square" lIns="0" tIns="0" rIns="0" bIns="0" rtlCol="0" anchor="t"/>
          <a:lstStyle/>
          <a:p>
            <a:pPr algn="l" indent="0" marL="0">
              <a:buNone/>
            </a:pPr>
            <a:r>
              <a:rPr lang="en-US" altLang="en-US" sz="1300" b="1" dirty="0">
                <a:solidFill>
                  <a:schemeClr val="tx2"/>
                </a:solidFill>
              </a:rPr>
              <a:t>Kubernetes cluster</a:t>
            </a:r>
            <a:endParaRPr lang="en-US" sz="1300" dirty="0"/>
          </a:p>
        </p:txBody>
      </p:sp>
      <p:sp>
        <p:nvSpPr>
          <p:cNvPr id="33" name="Shape 24"/>
          <p:cNvSpPr/>
          <p:nvPr/>
        </p:nvSpPr>
        <p:spPr>
          <a:xfrm>
            <a:off x="731520" y="2194560"/>
            <a:ext cx="5105095" cy="1965960"/>
          </a:xfrm>
          <a:prstGeom prst="roundRect">
            <a:avLst>
              <a:gd name="adj" fmla="val 5581"/>
            </a:avLst>
          </a:prstGeom>
          <a:solidFill>
            <a:schemeClr val="bg2"/>
          </a:solidFill>
          <a:ln/>
        </p:spPr>
      </p:sp>
      <p:sp>
        <p:nvSpPr>
          <p:cNvPr id="34" name="Text 25"/>
          <p:cNvSpPr txBox="1"/>
          <p:nvPr/>
        </p:nvSpPr>
        <p:spPr>
          <a:xfrm>
            <a:off x="868680" y="2267712"/>
            <a:ext cx="2743200" cy="274320"/>
          </a:xfrm>
          <a:prstGeom prst="rect">
            <a:avLst/>
          </a:prstGeom>
          <a:noFill/>
          <a:ln/>
        </p:spPr>
        <p:txBody>
          <a:bodyPr wrap="square" lIns="0" tIns="0" rIns="0" bIns="0" rtlCol="0" anchor="t"/>
          <a:lstStyle/>
          <a:p>
            <a:pPr algn="l" indent="0" marL="0">
              <a:buNone/>
            </a:pPr>
            <a:r>
              <a:rPr lang="en-US" altLang="en-US" sz="1300" b="1" dirty="0">
                <a:solidFill>
                  <a:schemeClr val="accent1"/>
                </a:solidFill>
              </a:rPr>
              <a:t>nobar-prod</a:t>
            </a:r>
            <a:endParaRPr lang="en-US" sz="1300" dirty="0"/>
          </a:p>
        </p:txBody>
      </p:sp>
      <p:sp>
        <p:nvSpPr>
          <p:cNvPr id="35" name="Shape 26"/>
          <p:cNvSpPr/>
          <p:nvPr/>
        </p:nvSpPr>
        <p:spPr>
          <a:xfrm>
            <a:off x="868680" y="2670048"/>
            <a:ext cx="2346808" cy="548640"/>
          </a:xfrm>
          <a:prstGeom prst="roundRect">
            <a:avLst>
              <a:gd name="adj" fmla="val 13333"/>
            </a:avLst>
          </a:prstGeom>
          <a:solidFill>
            <a:schemeClr val="bg1"/>
          </a:solidFill>
          <a:ln w="12700">
            <a:solidFill>
              <a:srgbClr val="2E7D32"/>
            </a:solidFill>
            <a:prstDash val="solid"/>
          </a:ln>
        </p:spPr>
      </p:sp>
      <p:sp>
        <p:nvSpPr>
          <p:cNvPr id="36" name="Text 27"/>
          <p:cNvSpPr txBox="1"/>
          <p:nvPr/>
        </p:nvSpPr>
        <p:spPr>
          <a:xfrm>
            <a:off x="868680" y="2670048"/>
            <a:ext cx="2346808" cy="548640"/>
          </a:xfrm>
          <a:prstGeom prst="rect">
            <a:avLst/>
          </a:prstGeom>
          <a:noFill/>
          <a:ln/>
        </p:spPr>
        <p:txBody>
          <a:bodyPr wrap="square" lIns="0" tIns="0" rIns="0" bIns="0" rtlCol="0" anchor="ctr"/>
          <a:lstStyle/>
          <a:p>
            <a:pPr algn="ctr" indent="0" marL="0">
              <a:buNone/>
            </a:pPr>
            <a:r>
              <a:rPr lang="en-US" altLang="en-US" sz="1200" b="1" dirty="0">
                <a:solidFill>
                  <a:schemeClr val="tx2"/>
                </a:solidFill>
              </a:rPr>
              <a:t>Ingress + cert-manager</a:t>
            </a:r>
            <a:endParaRPr lang="en-US" sz="1200" dirty="0"/>
          </a:p>
        </p:txBody>
      </p:sp>
      <p:sp>
        <p:nvSpPr>
          <p:cNvPr id="37" name="Shape 28"/>
          <p:cNvSpPr/>
          <p:nvPr/>
        </p:nvSpPr>
        <p:spPr>
          <a:xfrm>
            <a:off x="3352648" y="2670048"/>
            <a:ext cx="2346808" cy="548640"/>
          </a:xfrm>
          <a:prstGeom prst="roundRect">
            <a:avLst>
              <a:gd name="adj" fmla="val 13333"/>
            </a:avLst>
          </a:prstGeom>
          <a:solidFill>
            <a:schemeClr val="bg1"/>
          </a:solidFill>
          <a:ln w="12700">
            <a:solidFill>
              <a:srgbClr val="2E7D32"/>
            </a:solidFill>
            <a:prstDash val="solid"/>
          </a:ln>
        </p:spPr>
      </p:sp>
      <p:sp>
        <p:nvSpPr>
          <p:cNvPr id="38" name="Text 29"/>
          <p:cNvSpPr txBox="1"/>
          <p:nvPr/>
        </p:nvSpPr>
        <p:spPr>
          <a:xfrm>
            <a:off x="3352648" y="2670048"/>
            <a:ext cx="2346808" cy="548640"/>
          </a:xfrm>
          <a:prstGeom prst="rect">
            <a:avLst/>
          </a:prstGeom>
          <a:noFill/>
          <a:ln/>
        </p:spPr>
        <p:txBody>
          <a:bodyPr wrap="square" lIns="0" tIns="0" rIns="0" bIns="0" rtlCol="0" anchor="ctr"/>
          <a:lstStyle/>
          <a:p>
            <a:pPr algn="ctr" indent="0" marL="0">
              <a:buNone/>
            </a:pPr>
            <a:r>
              <a:rPr lang="en-US" altLang="en-US" sz="1200" b="1" dirty="0">
                <a:solidFill>
                  <a:schemeClr val="tx2"/>
                </a:solidFill>
              </a:rPr>
              <a:t>Deployments + HPA</a:t>
            </a:r>
            <a:endParaRPr lang="en-US" sz="1200" dirty="0"/>
          </a:p>
        </p:txBody>
      </p:sp>
      <p:sp>
        <p:nvSpPr>
          <p:cNvPr id="39" name="Shape 30"/>
          <p:cNvSpPr/>
          <p:nvPr/>
        </p:nvSpPr>
        <p:spPr>
          <a:xfrm>
            <a:off x="868680" y="3355848"/>
            <a:ext cx="2346808" cy="548640"/>
          </a:xfrm>
          <a:prstGeom prst="roundRect">
            <a:avLst>
              <a:gd name="adj" fmla="val 13333"/>
            </a:avLst>
          </a:prstGeom>
          <a:solidFill>
            <a:schemeClr val="bg1"/>
          </a:solidFill>
          <a:ln w="12700">
            <a:solidFill>
              <a:srgbClr val="2E7D32"/>
            </a:solidFill>
            <a:prstDash val="solid"/>
          </a:ln>
        </p:spPr>
      </p:sp>
      <p:sp>
        <p:nvSpPr>
          <p:cNvPr id="40" name="Text 31"/>
          <p:cNvSpPr txBox="1"/>
          <p:nvPr/>
        </p:nvSpPr>
        <p:spPr>
          <a:xfrm>
            <a:off x="868680" y="3355848"/>
            <a:ext cx="2346808" cy="548640"/>
          </a:xfrm>
          <a:prstGeom prst="rect">
            <a:avLst/>
          </a:prstGeom>
          <a:noFill/>
          <a:ln/>
        </p:spPr>
        <p:txBody>
          <a:bodyPr wrap="square" lIns="0" tIns="0" rIns="0" bIns="0" rtlCol="0" anchor="ctr"/>
          <a:lstStyle/>
          <a:p>
            <a:pPr algn="ctr" indent="0" marL="0">
              <a:buNone/>
            </a:pPr>
            <a:r>
              <a:rPr lang="en-US" altLang="en-US" sz="1200" b="1" dirty="0">
                <a:solidFill>
                  <a:schemeClr val="tx2"/>
                </a:solidFill>
              </a:rPr>
              <a:t>CloudNativePG</a:t>
            </a:r>
            <a:endParaRPr lang="en-US" sz="1200" dirty="0"/>
          </a:p>
        </p:txBody>
      </p:sp>
      <p:sp>
        <p:nvSpPr>
          <p:cNvPr id="41" name="Shape 32"/>
          <p:cNvSpPr/>
          <p:nvPr/>
        </p:nvSpPr>
        <p:spPr>
          <a:xfrm>
            <a:off x="3352648" y="3355848"/>
            <a:ext cx="2346808" cy="548640"/>
          </a:xfrm>
          <a:prstGeom prst="roundRect">
            <a:avLst>
              <a:gd name="adj" fmla="val 13333"/>
            </a:avLst>
          </a:prstGeom>
          <a:solidFill>
            <a:schemeClr val="bg1"/>
          </a:solidFill>
          <a:ln w="12700">
            <a:solidFill>
              <a:srgbClr val="2E7D32"/>
            </a:solidFill>
            <a:prstDash val="solid"/>
          </a:ln>
        </p:spPr>
      </p:sp>
      <p:sp>
        <p:nvSpPr>
          <p:cNvPr id="42" name="Text 33"/>
          <p:cNvSpPr txBox="1"/>
          <p:nvPr/>
        </p:nvSpPr>
        <p:spPr>
          <a:xfrm>
            <a:off x="3352648" y="3355848"/>
            <a:ext cx="2346808" cy="548640"/>
          </a:xfrm>
          <a:prstGeom prst="rect">
            <a:avLst/>
          </a:prstGeom>
          <a:noFill/>
          <a:ln/>
        </p:spPr>
        <p:txBody>
          <a:bodyPr wrap="square" lIns="0" tIns="0" rIns="0" bIns="0" rtlCol="0" anchor="ctr"/>
          <a:lstStyle/>
          <a:p>
            <a:pPr algn="ctr" indent="0" marL="0">
              <a:buNone/>
            </a:pPr>
            <a:r>
              <a:rPr lang="en-US" altLang="en-US" sz="1200" b="1" dirty="0">
                <a:solidFill>
                  <a:schemeClr val="tx2"/>
                </a:solidFill>
              </a:rPr>
              <a:t>ConfigMap · Secret</a:t>
            </a:r>
            <a:endParaRPr lang="en-US" sz="1200" dirty="0"/>
          </a:p>
        </p:txBody>
      </p:sp>
      <p:sp>
        <p:nvSpPr>
          <p:cNvPr id="43" name="Shape 34"/>
          <p:cNvSpPr/>
          <p:nvPr/>
        </p:nvSpPr>
        <p:spPr>
          <a:xfrm>
            <a:off x="731520" y="4343400"/>
            <a:ext cx="1610258" cy="1645920"/>
          </a:xfrm>
          <a:prstGeom prst="roundRect">
            <a:avLst>
              <a:gd name="adj" fmla="val 6814"/>
            </a:avLst>
          </a:prstGeom>
          <a:solidFill>
            <a:schemeClr val="bg2"/>
          </a:solidFill>
          <a:ln/>
        </p:spPr>
      </p:sp>
      <p:sp>
        <p:nvSpPr>
          <p:cNvPr id="44" name="Text 35"/>
          <p:cNvSpPr txBox="1"/>
          <p:nvPr/>
        </p:nvSpPr>
        <p:spPr>
          <a:xfrm>
            <a:off x="841248" y="4434840"/>
            <a:ext cx="1390802" cy="292608"/>
          </a:xfrm>
          <a:prstGeom prst="rect">
            <a:avLst/>
          </a:prstGeom>
          <a:noFill/>
          <a:ln/>
        </p:spPr>
        <p:txBody>
          <a:bodyPr wrap="square" lIns="0" tIns="0" rIns="0" bIns="0" rtlCol="0" anchor="t"/>
          <a:lstStyle/>
          <a:p>
            <a:pPr algn="l" indent="0" marL="0">
              <a:buNone/>
            </a:pPr>
            <a:r>
              <a:rPr lang="en-US" altLang="en-US" sz="1200" b="1" dirty="0">
                <a:solidFill>
                  <a:schemeClr val="accent1"/>
                </a:solidFill>
              </a:rPr>
              <a:t>nobar-staging</a:t>
            </a:r>
            <a:endParaRPr lang="en-US" sz="1200" dirty="0"/>
          </a:p>
        </p:txBody>
      </p:sp>
      <p:sp>
        <p:nvSpPr>
          <p:cNvPr id="45" name="Text 36"/>
          <p:cNvSpPr txBox="1"/>
          <p:nvPr/>
        </p:nvSpPr>
        <p:spPr>
          <a:xfrm>
            <a:off x="841248" y="4800600"/>
            <a:ext cx="1390802" cy="1097280"/>
          </a:xfrm>
          <a:prstGeom prst="rect">
            <a:avLst/>
          </a:prstGeom>
          <a:noFill/>
          <a:ln/>
        </p:spPr>
        <p:txBody>
          <a:bodyPr wrap="square" lIns="0" tIns="0" rIns="0" bIns="0" rtlCol="0" anchor="t"/>
          <a:lstStyle/>
          <a:p>
            <a:pPr rtl="1" algn="r" indent="0" marL="0">
              <a:buNone/>
            </a:pPr>
            <a:r>
              <a:rPr lang="fa-IR" altLang="en-US" sz="1200" dirty="0">
                <a:solidFill>
                  <a:schemeClr val="tx1"/>
                </a:solidFill>
              </a:rPr>
              <a:t>همان Chartها با مقادیر دیگر</a:t>
            </a:r>
            <a:endParaRPr lang="fa-IR" sz="1200" dirty="0"/>
          </a:p>
        </p:txBody>
      </p:sp>
      <p:sp>
        <p:nvSpPr>
          <p:cNvPr id="46" name="Shape 37"/>
          <p:cNvSpPr/>
          <p:nvPr/>
        </p:nvSpPr>
        <p:spPr>
          <a:xfrm>
            <a:off x="2478938" y="4343400"/>
            <a:ext cx="1610258" cy="1645920"/>
          </a:xfrm>
          <a:prstGeom prst="roundRect">
            <a:avLst>
              <a:gd name="adj" fmla="val 6814"/>
            </a:avLst>
          </a:prstGeom>
          <a:solidFill>
            <a:schemeClr val="bg2"/>
          </a:solidFill>
          <a:ln/>
        </p:spPr>
      </p:sp>
      <p:sp>
        <p:nvSpPr>
          <p:cNvPr id="47" name="Text 38"/>
          <p:cNvSpPr txBox="1"/>
          <p:nvPr/>
        </p:nvSpPr>
        <p:spPr>
          <a:xfrm>
            <a:off x="2588666" y="4434840"/>
            <a:ext cx="1390802" cy="292608"/>
          </a:xfrm>
          <a:prstGeom prst="rect">
            <a:avLst/>
          </a:prstGeom>
          <a:noFill/>
          <a:ln/>
        </p:spPr>
        <p:txBody>
          <a:bodyPr wrap="square" lIns="0" tIns="0" rIns="0" bIns="0" rtlCol="0" anchor="t"/>
          <a:lstStyle/>
          <a:p>
            <a:pPr algn="l" indent="0" marL="0">
              <a:buNone/>
            </a:pPr>
            <a:r>
              <a:rPr lang="en-US" altLang="en-US" sz="1200" b="1" dirty="0">
                <a:solidFill>
                  <a:schemeClr val="accent1"/>
                </a:solidFill>
              </a:rPr>
              <a:t>observability</a:t>
            </a:r>
            <a:endParaRPr lang="en-US" sz="1200" dirty="0"/>
          </a:p>
        </p:txBody>
      </p:sp>
      <p:sp>
        <p:nvSpPr>
          <p:cNvPr id="48" name="Text 39"/>
          <p:cNvSpPr txBox="1"/>
          <p:nvPr/>
        </p:nvSpPr>
        <p:spPr>
          <a:xfrm>
            <a:off x="2588666" y="4800600"/>
            <a:ext cx="1390802" cy="1097280"/>
          </a:xfrm>
          <a:prstGeom prst="rect">
            <a:avLst/>
          </a:prstGeom>
          <a:noFill/>
          <a:ln/>
        </p:spPr>
        <p:txBody>
          <a:bodyPr wrap="square" lIns="0" tIns="0" rIns="0" bIns="0" rtlCol="0" anchor="t"/>
          <a:lstStyle/>
          <a:p>
            <a:pPr algn="l" indent="0" marL="0">
              <a:buNone/>
            </a:pPr>
            <a:r>
              <a:rPr lang="en-US" altLang="en-US" sz="1200" dirty="0">
                <a:solidFill>
                  <a:schemeClr val="tx1"/>
                </a:solidFill>
              </a:rPr>
              <a:t>Prometheus</a:t>
            </a:r>
            <a:endParaRPr lang="en-US" sz="1200" dirty="0"/>
          </a:p>
          <a:p>
            <a:pPr algn="l" indent="0" marL="0">
              <a:buNone/>
            </a:pPr>
            <a:r>
              <a:rPr lang="en-US" altLang="en-US" sz="1200" dirty="0">
                <a:solidFill>
                  <a:schemeClr val="tx1"/>
                </a:solidFill>
              </a:rPr>
              <a:t>Grafana</a:t>
            </a:r>
            <a:endParaRPr lang="en-US" sz="1200" dirty="0"/>
          </a:p>
          <a:p>
            <a:pPr algn="l" indent="0" marL="0">
              <a:buNone/>
            </a:pPr>
            <a:r>
              <a:rPr lang="en-US" altLang="en-US" sz="1200" dirty="0">
                <a:solidFill>
                  <a:schemeClr val="tx1"/>
                </a:solidFill>
              </a:rPr>
              <a:t>Loki · Jaeger</a:t>
            </a:r>
            <a:endParaRPr lang="en-US" sz="1200" dirty="0"/>
          </a:p>
        </p:txBody>
      </p:sp>
      <p:sp>
        <p:nvSpPr>
          <p:cNvPr id="49" name="Shape 40"/>
          <p:cNvSpPr/>
          <p:nvPr/>
        </p:nvSpPr>
        <p:spPr>
          <a:xfrm>
            <a:off x="4226357" y="4343400"/>
            <a:ext cx="1610258" cy="1645920"/>
          </a:xfrm>
          <a:prstGeom prst="roundRect">
            <a:avLst>
              <a:gd name="adj" fmla="val 6814"/>
            </a:avLst>
          </a:prstGeom>
          <a:solidFill>
            <a:schemeClr val="bg2"/>
          </a:solidFill>
          <a:ln/>
        </p:spPr>
      </p:sp>
      <p:sp>
        <p:nvSpPr>
          <p:cNvPr id="50" name="Text 41"/>
          <p:cNvSpPr txBox="1"/>
          <p:nvPr/>
        </p:nvSpPr>
        <p:spPr>
          <a:xfrm>
            <a:off x="4336085" y="4434840"/>
            <a:ext cx="1390802" cy="292608"/>
          </a:xfrm>
          <a:prstGeom prst="rect">
            <a:avLst/>
          </a:prstGeom>
          <a:noFill/>
          <a:ln/>
        </p:spPr>
        <p:txBody>
          <a:bodyPr wrap="square" lIns="0" tIns="0" rIns="0" bIns="0" rtlCol="0" anchor="t"/>
          <a:lstStyle/>
          <a:p>
            <a:pPr algn="l" indent="0" marL="0">
              <a:buNone/>
            </a:pPr>
            <a:r>
              <a:rPr lang="en-US" altLang="en-US" sz="1200" b="1" dirty="0">
                <a:solidFill>
                  <a:schemeClr val="accent2"/>
                </a:solidFill>
              </a:rPr>
              <a:t>ai</a:t>
            </a:r>
            <a:endParaRPr lang="en-US" sz="1200" dirty="0"/>
          </a:p>
        </p:txBody>
      </p:sp>
      <p:sp>
        <p:nvSpPr>
          <p:cNvPr id="51" name="Text 42"/>
          <p:cNvSpPr txBox="1"/>
          <p:nvPr/>
        </p:nvSpPr>
        <p:spPr>
          <a:xfrm>
            <a:off x="4336085" y="4800600"/>
            <a:ext cx="1390802" cy="1097280"/>
          </a:xfrm>
          <a:prstGeom prst="rect">
            <a:avLst/>
          </a:prstGeom>
          <a:noFill/>
          <a:ln/>
        </p:spPr>
        <p:txBody>
          <a:bodyPr wrap="square" lIns="0" tIns="0" rIns="0" bIns="0" rtlCol="0" anchor="t"/>
          <a:lstStyle/>
          <a:p>
            <a:pPr algn="l" indent="0" marL="0">
              <a:buNone/>
            </a:pPr>
            <a:r>
              <a:rPr lang="en-US" altLang="en-US" sz="1200" dirty="0">
                <a:solidFill>
                  <a:schemeClr val="tx1"/>
                </a:solidFill>
              </a:rPr>
              <a:t>ai-gateway</a:t>
            </a:r>
            <a:endParaRPr lang="en-US" sz="1200" dirty="0"/>
          </a:p>
          <a:p>
            <a:pPr algn="l" indent="0" marL="0">
              <a:buNone/>
            </a:pPr>
            <a:r>
              <a:rPr lang="en-US" altLang="en-US" sz="1200" dirty="0">
                <a:solidFill>
                  <a:schemeClr val="tx1"/>
                </a:solidFill>
              </a:rPr>
              <a:t>ai-workers</a:t>
            </a:r>
            <a:endParaRPr lang="en-US" sz="12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CI/CD و GitOps</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Git منبع حقیقت است؛ Argo CD کلاستر را با آن همگام نگه می‌دارد</a:t>
            </a:r>
            <a:endParaRPr lang="fa-IR" sz="1600" dirty="0"/>
          </a:p>
        </p:txBody>
      </p:sp>
      <p:sp>
        <p:nvSpPr>
          <p:cNvPr id="5" name="Text 2"/>
          <p:cNvSpPr txBox="1"/>
          <p:nvPr/>
        </p:nvSpPr>
        <p:spPr>
          <a:xfrm>
            <a:off x="7985455" y="1645920"/>
            <a:ext cx="3657600" cy="320040"/>
          </a:xfrm>
          <a:prstGeom prst="rect">
            <a:avLst/>
          </a:prstGeom>
          <a:noFill/>
          <a:ln/>
        </p:spPr>
        <p:txBody>
          <a:bodyPr wrap="square" lIns="0" tIns="0" rIns="0" bIns="0" rtlCol="0" anchor="t"/>
          <a:lstStyle/>
          <a:p>
            <a:pPr algn="r" indent="0" marL="0">
              <a:buNone/>
            </a:pPr>
            <a:r>
              <a:rPr lang="en-US" altLang="en-US" sz="1400" b="1" dirty="0">
                <a:solidFill>
                  <a:schemeClr val="accent1"/>
                </a:solidFill>
              </a:rPr>
              <a:t>CI · GitHub Actions</a:t>
            </a:r>
            <a:endParaRPr lang="en-US" sz="1400" dirty="0"/>
          </a:p>
        </p:txBody>
      </p:sp>
      <p:sp>
        <p:nvSpPr>
          <p:cNvPr id="6" name="Shape 3"/>
          <p:cNvSpPr/>
          <p:nvPr/>
        </p:nvSpPr>
        <p:spPr>
          <a:xfrm>
            <a:off x="9143771" y="2011680"/>
            <a:ext cx="2499284" cy="1234440"/>
          </a:xfrm>
          <a:prstGeom prst="roundRect">
            <a:avLst>
              <a:gd name="adj" fmla="val 8889"/>
            </a:avLst>
          </a:prstGeom>
          <a:solidFill>
            <a:schemeClr val="bg1"/>
          </a:solidFill>
          <a:ln w="19050">
            <a:solidFill>
              <a:srgbClr val="2E7D32"/>
            </a:solidFill>
            <a:prstDash val="solid"/>
          </a:ln>
          <a:effectLst>
            <a:outerShdw sx="100000" sy="100000" kx="0" ky="0" algn="bl" rotWithShape="0" blurRad="101600" dist="25400" dir="5400000">
              <a:srgbClr val="1F4D2B">
                <a:alpha val="14000"/>
              </a:srgbClr>
            </a:outerShdw>
          </a:effectLst>
        </p:spPr>
      </p:sp>
      <p:sp>
        <p:nvSpPr>
          <p:cNvPr id="7" name="Shape 4"/>
          <p:cNvSpPr/>
          <p:nvPr/>
        </p:nvSpPr>
        <p:spPr>
          <a:xfrm>
            <a:off x="11121847" y="2148840"/>
            <a:ext cx="384048" cy="384048"/>
          </a:xfrm>
          <a:prstGeom prst="ellipse">
            <a:avLst/>
          </a:prstGeom>
          <a:solidFill>
            <a:schemeClr val="accent1"/>
          </a:solidFill>
          <a:ln/>
        </p:spPr>
      </p:sp>
      <p:sp>
        <p:nvSpPr>
          <p:cNvPr id="8" name="Text 5"/>
          <p:cNvSpPr txBox="1"/>
          <p:nvPr/>
        </p:nvSpPr>
        <p:spPr>
          <a:xfrm>
            <a:off x="11121847" y="2148840"/>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۱</a:t>
            </a:r>
            <a:endParaRPr lang="fa-IR" sz="1400" dirty="0"/>
          </a:p>
        </p:txBody>
      </p:sp>
      <p:sp>
        <p:nvSpPr>
          <p:cNvPr id="9" name="Text 6"/>
          <p:cNvSpPr txBox="1"/>
          <p:nvPr/>
        </p:nvSpPr>
        <p:spPr>
          <a:xfrm>
            <a:off x="9280931" y="2148840"/>
            <a:ext cx="1676324" cy="384048"/>
          </a:xfrm>
          <a:prstGeom prst="rect">
            <a:avLst/>
          </a:prstGeom>
          <a:noFill/>
          <a:ln/>
        </p:spPr>
        <p:txBody>
          <a:bodyPr wrap="square" lIns="0" tIns="0" rIns="0" bIns="0" rtlCol="0" anchor="ctr"/>
          <a:lstStyle/>
          <a:p>
            <a:pPr rtl="1" algn="r" indent="0" marL="0">
              <a:buNone/>
            </a:pPr>
            <a:r>
              <a:rPr lang="fa-IR" altLang="en-US" sz="1600" b="1" dirty="0">
                <a:solidFill>
                  <a:schemeClr val="tx2"/>
                </a:solidFill>
              </a:rPr>
              <a:t>Pull Request</a:t>
            </a:r>
            <a:endParaRPr lang="fa-IR" sz="1600" dirty="0"/>
          </a:p>
        </p:txBody>
      </p:sp>
      <p:sp>
        <p:nvSpPr>
          <p:cNvPr id="10" name="Text 7"/>
          <p:cNvSpPr txBox="1"/>
          <p:nvPr/>
        </p:nvSpPr>
        <p:spPr>
          <a:xfrm>
            <a:off x="9280931" y="2633472"/>
            <a:ext cx="2224964" cy="548640"/>
          </a:xfrm>
          <a:prstGeom prst="rect">
            <a:avLst/>
          </a:prstGeom>
          <a:noFill/>
          <a:ln/>
        </p:spPr>
        <p:txBody>
          <a:bodyPr wrap="square" lIns="0" tIns="0" rIns="0" bIns="0" rtlCol="0" anchor="t"/>
          <a:lstStyle/>
          <a:p>
            <a:pPr rtl="1" algn="r" indent="0" marL="0">
              <a:buNone/>
            </a:pPr>
            <a:r>
              <a:rPr lang="fa-IR" altLang="en-US" sz="1300" dirty="0">
                <a:solidFill>
                  <a:srgbClr val="5E6E62"/>
                </a:solidFill>
              </a:rPr>
              <a:t>بازبینی کد و قراردادها</a:t>
            </a:r>
            <a:endParaRPr lang="fa-IR" sz="1300" dirty="0"/>
          </a:p>
        </p:txBody>
      </p:sp>
      <p:sp>
        <p:nvSpPr>
          <p:cNvPr id="11" name="Shape 8"/>
          <p:cNvSpPr/>
          <p:nvPr/>
        </p:nvSpPr>
        <p:spPr>
          <a:xfrm>
            <a:off x="8832875" y="2628900"/>
            <a:ext cx="256032" cy="0"/>
          </a:xfrm>
          <a:prstGeom prst="line">
            <a:avLst/>
          </a:prstGeom>
          <a:noFill/>
          <a:ln w="22225">
            <a:solidFill>
              <a:schemeClr val="accent1"/>
            </a:solidFill>
            <a:prstDash val="solid"/>
            <a:headEnd type="triangle"/>
          </a:ln>
        </p:spPr>
      </p:sp>
      <p:sp>
        <p:nvSpPr>
          <p:cNvPr id="12" name="Shape 9"/>
          <p:cNvSpPr/>
          <p:nvPr/>
        </p:nvSpPr>
        <p:spPr>
          <a:xfrm>
            <a:off x="6278728" y="2011680"/>
            <a:ext cx="2499284" cy="1234440"/>
          </a:xfrm>
          <a:prstGeom prst="roundRect">
            <a:avLst>
              <a:gd name="adj" fmla="val 8889"/>
            </a:avLst>
          </a:prstGeom>
          <a:solidFill>
            <a:schemeClr val="bg1"/>
          </a:solidFill>
          <a:ln w="19050">
            <a:solidFill>
              <a:srgbClr val="2E7D32"/>
            </a:solidFill>
            <a:prstDash val="solid"/>
          </a:ln>
          <a:effectLst>
            <a:outerShdw sx="100000" sy="100000" kx="0" ky="0" algn="bl" rotWithShape="0" blurRad="101600" dist="25400" dir="5400000">
              <a:srgbClr val="1F4D2B">
                <a:alpha val="14000"/>
              </a:srgbClr>
            </a:outerShdw>
          </a:effectLst>
        </p:spPr>
      </p:sp>
      <p:sp>
        <p:nvSpPr>
          <p:cNvPr id="13" name="Shape 10"/>
          <p:cNvSpPr/>
          <p:nvPr/>
        </p:nvSpPr>
        <p:spPr>
          <a:xfrm>
            <a:off x="8256803" y="2148840"/>
            <a:ext cx="384048" cy="384048"/>
          </a:xfrm>
          <a:prstGeom prst="ellipse">
            <a:avLst/>
          </a:prstGeom>
          <a:solidFill>
            <a:schemeClr val="accent1"/>
          </a:solidFill>
          <a:ln/>
        </p:spPr>
      </p:sp>
      <p:sp>
        <p:nvSpPr>
          <p:cNvPr id="14" name="Text 11"/>
          <p:cNvSpPr txBox="1"/>
          <p:nvPr/>
        </p:nvSpPr>
        <p:spPr>
          <a:xfrm>
            <a:off x="8256803" y="2148840"/>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۲</a:t>
            </a:r>
            <a:endParaRPr lang="fa-IR" sz="1400" dirty="0"/>
          </a:p>
        </p:txBody>
      </p:sp>
      <p:sp>
        <p:nvSpPr>
          <p:cNvPr id="15" name="Text 12"/>
          <p:cNvSpPr txBox="1"/>
          <p:nvPr/>
        </p:nvSpPr>
        <p:spPr>
          <a:xfrm>
            <a:off x="6415888" y="2148840"/>
            <a:ext cx="1676324" cy="384048"/>
          </a:xfrm>
          <a:prstGeom prst="rect">
            <a:avLst/>
          </a:prstGeom>
          <a:noFill/>
          <a:ln/>
        </p:spPr>
        <p:txBody>
          <a:bodyPr wrap="square" lIns="0" tIns="0" rIns="0" bIns="0" rtlCol="0" anchor="ctr"/>
          <a:lstStyle/>
          <a:p>
            <a:pPr rtl="1" algn="r" indent="0" marL="0">
              <a:buNone/>
            </a:pPr>
            <a:r>
              <a:rPr lang="fa-IR" altLang="en-US" sz="1600" b="1" dirty="0">
                <a:solidFill>
                  <a:schemeClr val="tx2"/>
                </a:solidFill>
              </a:rPr>
              <a:t>Lint و تست</a:t>
            </a:r>
            <a:endParaRPr lang="fa-IR" sz="1600" dirty="0"/>
          </a:p>
        </p:txBody>
      </p:sp>
      <p:sp>
        <p:nvSpPr>
          <p:cNvPr id="16" name="Text 13"/>
          <p:cNvSpPr txBox="1"/>
          <p:nvPr/>
        </p:nvSpPr>
        <p:spPr>
          <a:xfrm>
            <a:off x="6415888" y="2633472"/>
            <a:ext cx="2224964" cy="548640"/>
          </a:xfrm>
          <a:prstGeom prst="rect">
            <a:avLst/>
          </a:prstGeom>
          <a:noFill/>
          <a:ln/>
        </p:spPr>
        <p:txBody>
          <a:bodyPr wrap="square" lIns="0" tIns="0" rIns="0" bIns="0" rtlCol="0" anchor="t"/>
          <a:lstStyle/>
          <a:p>
            <a:pPr rtl="1" algn="r" indent="0" marL="0">
              <a:buNone/>
            </a:pPr>
            <a:r>
              <a:rPr lang="fa-IR" altLang="en-US" sz="1300" dirty="0">
                <a:solidFill>
                  <a:srgbClr val="5E6E62"/>
                </a:solidFill>
              </a:rPr>
              <a:t>واحد، یکپارچه، قرارداد</a:t>
            </a:r>
            <a:endParaRPr lang="fa-IR" sz="1300" dirty="0"/>
          </a:p>
        </p:txBody>
      </p:sp>
      <p:sp>
        <p:nvSpPr>
          <p:cNvPr id="17" name="Shape 14"/>
          <p:cNvSpPr/>
          <p:nvPr/>
        </p:nvSpPr>
        <p:spPr>
          <a:xfrm>
            <a:off x="5967832" y="2628900"/>
            <a:ext cx="256032" cy="0"/>
          </a:xfrm>
          <a:prstGeom prst="line">
            <a:avLst/>
          </a:prstGeom>
          <a:noFill/>
          <a:ln w="22225">
            <a:solidFill>
              <a:schemeClr val="accent1"/>
            </a:solidFill>
            <a:prstDash val="solid"/>
            <a:headEnd type="triangle"/>
          </a:ln>
        </p:spPr>
      </p:sp>
      <p:sp>
        <p:nvSpPr>
          <p:cNvPr id="18" name="Shape 15"/>
          <p:cNvSpPr/>
          <p:nvPr/>
        </p:nvSpPr>
        <p:spPr>
          <a:xfrm>
            <a:off x="3413684" y="2011680"/>
            <a:ext cx="2499284" cy="1234440"/>
          </a:xfrm>
          <a:prstGeom prst="roundRect">
            <a:avLst>
              <a:gd name="adj" fmla="val 8889"/>
            </a:avLst>
          </a:prstGeom>
          <a:solidFill>
            <a:schemeClr val="bg1"/>
          </a:solidFill>
          <a:ln w="19050">
            <a:solidFill>
              <a:srgbClr val="2E7D32"/>
            </a:solidFill>
            <a:prstDash val="solid"/>
          </a:ln>
          <a:effectLst>
            <a:outerShdw sx="100000" sy="100000" kx="0" ky="0" algn="bl" rotWithShape="0" blurRad="101600" dist="25400" dir="5400000">
              <a:srgbClr val="1F4D2B">
                <a:alpha val="14000"/>
              </a:srgbClr>
            </a:outerShdw>
          </a:effectLst>
        </p:spPr>
      </p:sp>
      <p:sp>
        <p:nvSpPr>
          <p:cNvPr id="19" name="Shape 16"/>
          <p:cNvSpPr/>
          <p:nvPr/>
        </p:nvSpPr>
        <p:spPr>
          <a:xfrm>
            <a:off x="5391760" y="2148840"/>
            <a:ext cx="384048" cy="384048"/>
          </a:xfrm>
          <a:prstGeom prst="ellipse">
            <a:avLst/>
          </a:prstGeom>
          <a:solidFill>
            <a:schemeClr val="accent1"/>
          </a:solidFill>
          <a:ln/>
        </p:spPr>
      </p:sp>
      <p:sp>
        <p:nvSpPr>
          <p:cNvPr id="20" name="Text 17"/>
          <p:cNvSpPr txBox="1"/>
          <p:nvPr/>
        </p:nvSpPr>
        <p:spPr>
          <a:xfrm>
            <a:off x="5391760" y="2148840"/>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۳</a:t>
            </a:r>
            <a:endParaRPr lang="fa-IR" sz="1400" dirty="0"/>
          </a:p>
        </p:txBody>
      </p:sp>
      <p:sp>
        <p:nvSpPr>
          <p:cNvPr id="21" name="Text 18"/>
          <p:cNvSpPr txBox="1"/>
          <p:nvPr/>
        </p:nvSpPr>
        <p:spPr>
          <a:xfrm>
            <a:off x="3550844" y="2148840"/>
            <a:ext cx="1676324" cy="384048"/>
          </a:xfrm>
          <a:prstGeom prst="rect">
            <a:avLst/>
          </a:prstGeom>
          <a:noFill/>
          <a:ln/>
        </p:spPr>
        <p:txBody>
          <a:bodyPr wrap="square" lIns="0" tIns="0" rIns="0" bIns="0" rtlCol="0" anchor="ctr"/>
          <a:lstStyle/>
          <a:p>
            <a:pPr rtl="1" algn="r" indent="0" marL="0">
              <a:buNone/>
            </a:pPr>
            <a:r>
              <a:rPr lang="fa-IR" altLang="en-US" sz="1600" b="1" dirty="0">
                <a:solidFill>
                  <a:schemeClr val="tx2"/>
                </a:solidFill>
              </a:rPr>
              <a:t>Build و اسکن</a:t>
            </a:r>
            <a:endParaRPr lang="fa-IR" sz="1600" dirty="0"/>
          </a:p>
        </p:txBody>
      </p:sp>
      <p:sp>
        <p:nvSpPr>
          <p:cNvPr id="22" name="Text 19"/>
          <p:cNvSpPr txBox="1"/>
          <p:nvPr/>
        </p:nvSpPr>
        <p:spPr>
          <a:xfrm>
            <a:off x="3550844" y="2633472"/>
            <a:ext cx="2224964" cy="548640"/>
          </a:xfrm>
          <a:prstGeom prst="rect">
            <a:avLst/>
          </a:prstGeom>
          <a:noFill/>
          <a:ln/>
        </p:spPr>
        <p:txBody>
          <a:bodyPr wrap="square" lIns="0" tIns="0" rIns="0" bIns="0" rtlCol="0" anchor="t"/>
          <a:lstStyle/>
          <a:p>
            <a:pPr rtl="1" algn="r" indent="0" marL="0">
              <a:buNone/>
            </a:pPr>
            <a:r>
              <a:rPr lang="fa-IR" altLang="en-US" sz="1300" dirty="0">
                <a:solidFill>
                  <a:srgbClr val="5E6E62"/>
                </a:solidFill>
              </a:rPr>
              <a:t>Image، Trivy، SBOM</a:t>
            </a:r>
            <a:endParaRPr lang="fa-IR" sz="1300" dirty="0"/>
          </a:p>
        </p:txBody>
      </p:sp>
      <p:sp>
        <p:nvSpPr>
          <p:cNvPr id="23" name="Shape 20"/>
          <p:cNvSpPr/>
          <p:nvPr/>
        </p:nvSpPr>
        <p:spPr>
          <a:xfrm>
            <a:off x="3102788" y="2628900"/>
            <a:ext cx="256032" cy="0"/>
          </a:xfrm>
          <a:prstGeom prst="line">
            <a:avLst/>
          </a:prstGeom>
          <a:noFill/>
          <a:ln w="22225">
            <a:solidFill>
              <a:schemeClr val="accent1"/>
            </a:solidFill>
            <a:prstDash val="solid"/>
            <a:headEnd type="triangle"/>
          </a:ln>
        </p:spPr>
      </p:sp>
      <p:sp>
        <p:nvSpPr>
          <p:cNvPr id="24" name="Shape 21"/>
          <p:cNvSpPr/>
          <p:nvPr/>
        </p:nvSpPr>
        <p:spPr>
          <a:xfrm>
            <a:off x="548640" y="2011680"/>
            <a:ext cx="2499284" cy="1234440"/>
          </a:xfrm>
          <a:prstGeom prst="roundRect">
            <a:avLst>
              <a:gd name="adj" fmla="val 8889"/>
            </a:avLst>
          </a:prstGeom>
          <a:solidFill>
            <a:schemeClr val="bg1"/>
          </a:solidFill>
          <a:ln w="19050">
            <a:solidFill>
              <a:srgbClr val="2E7D32"/>
            </a:solidFill>
            <a:prstDash val="solid"/>
          </a:ln>
          <a:effectLst>
            <a:outerShdw sx="100000" sy="100000" kx="0" ky="0" algn="bl" rotWithShape="0" blurRad="101600" dist="25400" dir="5400000">
              <a:srgbClr val="1F4D2B">
                <a:alpha val="14000"/>
              </a:srgbClr>
            </a:outerShdw>
          </a:effectLst>
        </p:spPr>
      </p:sp>
      <p:sp>
        <p:nvSpPr>
          <p:cNvPr id="25" name="Shape 22"/>
          <p:cNvSpPr/>
          <p:nvPr/>
        </p:nvSpPr>
        <p:spPr>
          <a:xfrm>
            <a:off x="2526716" y="2148840"/>
            <a:ext cx="384048" cy="384048"/>
          </a:xfrm>
          <a:prstGeom prst="ellipse">
            <a:avLst/>
          </a:prstGeom>
          <a:solidFill>
            <a:schemeClr val="accent1"/>
          </a:solidFill>
          <a:ln/>
        </p:spPr>
      </p:sp>
      <p:sp>
        <p:nvSpPr>
          <p:cNvPr id="26" name="Text 23"/>
          <p:cNvSpPr txBox="1"/>
          <p:nvPr/>
        </p:nvSpPr>
        <p:spPr>
          <a:xfrm>
            <a:off x="2526716" y="2148840"/>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۴</a:t>
            </a:r>
            <a:endParaRPr lang="fa-IR" sz="1400" dirty="0"/>
          </a:p>
        </p:txBody>
      </p:sp>
      <p:sp>
        <p:nvSpPr>
          <p:cNvPr id="27" name="Text 24"/>
          <p:cNvSpPr txBox="1"/>
          <p:nvPr/>
        </p:nvSpPr>
        <p:spPr>
          <a:xfrm>
            <a:off x="685800" y="2148840"/>
            <a:ext cx="1676324" cy="384048"/>
          </a:xfrm>
          <a:prstGeom prst="rect">
            <a:avLst/>
          </a:prstGeom>
          <a:noFill/>
          <a:ln/>
        </p:spPr>
        <p:txBody>
          <a:bodyPr wrap="square" lIns="0" tIns="0" rIns="0" bIns="0" rtlCol="0" anchor="ctr"/>
          <a:lstStyle/>
          <a:p>
            <a:pPr rtl="1" algn="r" indent="0" marL="0">
              <a:buNone/>
            </a:pPr>
            <a:r>
              <a:rPr lang="fa-IR" altLang="en-US" sz="1600" b="1" dirty="0">
                <a:solidFill>
                  <a:schemeClr val="tx2"/>
                </a:solidFill>
              </a:rPr>
              <a:t>Push</a:t>
            </a:r>
            <a:endParaRPr lang="fa-IR" sz="1600" dirty="0"/>
          </a:p>
        </p:txBody>
      </p:sp>
      <p:sp>
        <p:nvSpPr>
          <p:cNvPr id="28" name="Text 25"/>
          <p:cNvSpPr txBox="1"/>
          <p:nvPr/>
        </p:nvSpPr>
        <p:spPr>
          <a:xfrm>
            <a:off x="685800" y="2633472"/>
            <a:ext cx="2224964" cy="548640"/>
          </a:xfrm>
          <a:prstGeom prst="rect">
            <a:avLst/>
          </a:prstGeom>
          <a:noFill/>
          <a:ln/>
        </p:spPr>
        <p:txBody>
          <a:bodyPr wrap="square" lIns="0" tIns="0" rIns="0" bIns="0" rtlCol="0" anchor="t"/>
          <a:lstStyle/>
          <a:p>
            <a:pPr rtl="1" algn="r" indent="0" marL="0">
              <a:buNone/>
            </a:pPr>
            <a:r>
              <a:rPr lang="fa-IR" altLang="en-US" sz="1300" dirty="0">
                <a:solidFill>
                  <a:srgbClr val="5E6E62"/>
                </a:solidFill>
              </a:rPr>
              <a:t>ارسال به Registry و ثبت نسخه در Helm values</a:t>
            </a:r>
            <a:endParaRPr lang="fa-IR" sz="1300" dirty="0"/>
          </a:p>
        </p:txBody>
      </p:sp>
      <p:sp>
        <p:nvSpPr>
          <p:cNvPr id="29" name="Text 26"/>
          <p:cNvSpPr txBox="1"/>
          <p:nvPr/>
        </p:nvSpPr>
        <p:spPr>
          <a:xfrm>
            <a:off x="7985455" y="3611880"/>
            <a:ext cx="3657600" cy="320040"/>
          </a:xfrm>
          <a:prstGeom prst="rect">
            <a:avLst/>
          </a:prstGeom>
          <a:noFill/>
          <a:ln/>
        </p:spPr>
        <p:txBody>
          <a:bodyPr wrap="square" lIns="0" tIns="0" rIns="0" bIns="0" rtlCol="0" anchor="t"/>
          <a:lstStyle/>
          <a:p>
            <a:pPr algn="r" indent="0" marL="0">
              <a:buNone/>
            </a:pPr>
            <a:r>
              <a:rPr lang="en-US" altLang="en-US" sz="1400" b="1" dirty="0">
                <a:solidFill>
                  <a:schemeClr val="accent2"/>
                </a:solidFill>
              </a:rPr>
              <a:t>CD · GitOps</a:t>
            </a:r>
            <a:endParaRPr lang="en-US" sz="1400" dirty="0"/>
          </a:p>
        </p:txBody>
      </p:sp>
      <p:sp>
        <p:nvSpPr>
          <p:cNvPr id="30" name="Shape 27"/>
          <p:cNvSpPr/>
          <p:nvPr/>
        </p:nvSpPr>
        <p:spPr>
          <a:xfrm>
            <a:off x="9143771" y="3977640"/>
            <a:ext cx="2499284" cy="1234440"/>
          </a:xfrm>
          <a:prstGeom prst="roundRect">
            <a:avLst>
              <a:gd name="adj" fmla="val 8889"/>
            </a:avLst>
          </a:prstGeom>
          <a:solidFill>
            <a:schemeClr val="bg1"/>
          </a:solidFill>
          <a:ln w="19050">
            <a:solidFill>
              <a:srgbClr val="F28C38"/>
            </a:solidFill>
            <a:prstDash val="solid"/>
          </a:ln>
          <a:effectLst>
            <a:outerShdw sx="100000" sy="100000" kx="0" ky="0" algn="bl" rotWithShape="0" blurRad="101600" dist="25400" dir="5400000">
              <a:srgbClr val="1F4D2B">
                <a:alpha val="14000"/>
              </a:srgbClr>
            </a:outerShdw>
          </a:effectLst>
        </p:spPr>
      </p:sp>
      <p:sp>
        <p:nvSpPr>
          <p:cNvPr id="31" name="Shape 28"/>
          <p:cNvSpPr/>
          <p:nvPr/>
        </p:nvSpPr>
        <p:spPr>
          <a:xfrm>
            <a:off x="11121847" y="4114800"/>
            <a:ext cx="384048" cy="384048"/>
          </a:xfrm>
          <a:prstGeom prst="ellipse">
            <a:avLst/>
          </a:prstGeom>
          <a:solidFill>
            <a:schemeClr val="accent2"/>
          </a:solidFill>
          <a:ln/>
        </p:spPr>
      </p:sp>
      <p:sp>
        <p:nvSpPr>
          <p:cNvPr id="32" name="Text 29"/>
          <p:cNvSpPr txBox="1"/>
          <p:nvPr/>
        </p:nvSpPr>
        <p:spPr>
          <a:xfrm>
            <a:off x="11121847" y="4114800"/>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۵</a:t>
            </a:r>
            <a:endParaRPr lang="fa-IR" sz="1400" dirty="0"/>
          </a:p>
        </p:txBody>
      </p:sp>
      <p:sp>
        <p:nvSpPr>
          <p:cNvPr id="33" name="Text 30"/>
          <p:cNvSpPr txBox="1"/>
          <p:nvPr/>
        </p:nvSpPr>
        <p:spPr>
          <a:xfrm>
            <a:off x="9280931" y="4114800"/>
            <a:ext cx="1676324" cy="384048"/>
          </a:xfrm>
          <a:prstGeom prst="rect">
            <a:avLst/>
          </a:prstGeom>
          <a:noFill/>
          <a:ln/>
        </p:spPr>
        <p:txBody>
          <a:bodyPr wrap="square" lIns="0" tIns="0" rIns="0" bIns="0" rtlCol="0" anchor="ctr"/>
          <a:lstStyle/>
          <a:p>
            <a:pPr rtl="1" algn="r" indent="0" marL="0">
              <a:buNone/>
            </a:pPr>
            <a:r>
              <a:rPr lang="fa-IR" altLang="en-US" sz="1600" b="1" dirty="0">
                <a:solidFill>
                  <a:schemeClr val="tx2"/>
                </a:solidFill>
              </a:rPr>
              <a:t>Argo CD</a:t>
            </a:r>
            <a:endParaRPr lang="fa-IR" sz="1600" dirty="0"/>
          </a:p>
        </p:txBody>
      </p:sp>
      <p:sp>
        <p:nvSpPr>
          <p:cNvPr id="34" name="Text 31"/>
          <p:cNvSpPr txBox="1"/>
          <p:nvPr/>
        </p:nvSpPr>
        <p:spPr>
          <a:xfrm>
            <a:off x="9280931" y="4599432"/>
            <a:ext cx="2224964" cy="548640"/>
          </a:xfrm>
          <a:prstGeom prst="rect">
            <a:avLst/>
          </a:prstGeom>
          <a:noFill/>
          <a:ln/>
        </p:spPr>
        <p:txBody>
          <a:bodyPr wrap="square" lIns="0" tIns="0" rIns="0" bIns="0" rtlCol="0" anchor="t"/>
          <a:lstStyle/>
          <a:p>
            <a:pPr rtl="1" algn="r" indent="0" marL="0">
              <a:buNone/>
            </a:pPr>
            <a:r>
              <a:rPr lang="fa-IR" altLang="en-US" sz="1300" dirty="0">
                <a:solidFill>
                  <a:srgbClr val="5E6E62"/>
                </a:solidFill>
              </a:rPr>
              <a:t>همگام‌سازی کلاستر با Git</a:t>
            </a:r>
            <a:endParaRPr lang="fa-IR" sz="1300" dirty="0"/>
          </a:p>
        </p:txBody>
      </p:sp>
      <p:sp>
        <p:nvSpPr>
          <p:cNvPr id="35" name="Shape 32"/>
          <p:cNvSpPr/>
          <p:nvPr/>
        </p:nvSpPr>
        <p:spPr>
          <a:xfrm>
            <a:off x="8832875" y="4594860"/>
            <a:ext cx="256032" cy="0"/>
          </a:xfrm>
          <a:prstGeom prst="line">
            <a:avLst/>
          </a:prstGeom>
          <a:noFill/>
          <a:ln w="22225">
            <a:solidFill>
              <a:schemeClr val="accent2"/>
            </a:solidFill>
            <a:prstDash val="solid"/>
            <a:headEnd type="triangle"/>
          </a:ln>
        </p:spPr>
      </p:sp>
      <p:sp>
        <p:nvSpPr>
          <p:cNvPr id="36" name="Shape 33"/>
          <p:cNvSpPr/>
          <p:nvPr/>
        </p:nvSpPr>
        <p:spPr>
          <a:xfrm>
            <a:off x="6278728" y="3977640"/>
            <a:ext cx="2499284" cy="1234440"/>
          </a:xfrm>
          <a:prstGeom prst="roundRect">
            <a:avLst>
              <a:gd name="adj" fmla="val 8889"/>
            </a:avLst>
          </a:prstGeom>
          <a:solidFill>
            <a:schemeClr val="bg1"/>
          </a:solidFill>
          <a:ln w="19050">
            <a:solidFill>
              <a:srgbClr val="F28C38"/>
            </a:solidFill>
            <a:prstDash val="solid"/>
          </a:ln>
          <a:effectLst>
            <a:outerShdw sx="100000" sy="100000" kx="0" ky="0" algn="bl" rotWithShape="0" blurRad="101600" dist="25400" dir="5400000">
              <a:srgbClr val="1F4D2B">
                <a:alpha val="14000"/>
              </a:srgbClr>
            </a:outerShdw>
          </a:effectLst>
        </p:spPr>
      </p:sp>
      <p:sp>
        <p:nvSpPr>
          <p:cNvPr id="37" name="Shape 34"/>
          <p:cNvSpPr/>
          <p:nvPr/>
        </p:nvSpPr>
        <p:spPr>
          <a:xfrm>
            <a:off x="8256803" y="4114800"/>
            <a:ext cx="384048" cy="384048"/>
          </a:xfrm>
          <a:prstGeom prst="ellipse">
            <a:avLst/>
          </a:prstGeom>
          <a:solidFill>
            <a:schemeClr val="accent2"/>
          </a:solidFill>
          <a:ln/>
        </p:spPr>
      </p:sp>
      <p:sp>
        <p:nvSpPr>
          <p:cNvPr id="38" name="Text 35"/>
          <p:cNvSpPr txBox="1"/>
          <p:nvPr/>
        </p:nvSpPr>
        <p:spPr>
          <a:xfrm>
            <a:off x="8256803" y="4114800"/>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۶</a:t>
            </a:r>
            <a:endParaRPr lang="fa-IR" sz="1400" dirty="0"/>
          </a:p>
        </p:txBody>
      </p:sp>
      <p:sp>
        <p:nvSpPr>
          <p:cNvPr id="39" name="Text 36"/>
          <p:cNvSpPr txBox="1"/>
          <p:nvPr/>
        </p:nvSpPr>
        <p:spPr>
          <a:xfrm>
            <a:off x="6415888" y="4114800"/>
            <a:ext cx="1676324" cy="384048"/>
          </a:xfrm>
          <a:prstGeom prst="rect">
            <a:avLst/>
          </a:prstGeom>
          <a:noFill/>
          <a:ln/>
        </p:spPr>
        <p:txBody>
          <a:bodyPr wrap="square" lIns="0" tIns="0" rIns="0" bIns="0" rtlCol="0" anchor="ctr"/>
          <a:lstStyle/>
          <a:p>
            <a:pPr rtl="1" algn="r" indent="0" marL="0">
              <a:buNone/>
            </a:pPr>
            <a:r>
              <a:rPr lang="fa-IR" altLang="en-US" sz="1600" b="1" dirty="0">
                <a:solidFill>
                  <a:schemeClr val="tx2"/>
                </a:solidFill>
              </a:rPr>
              <a:t>Staging</a:t>
            </a:r>
            <a:endParaRPr lang="fa-IR" sz="1600" dirty="0"/>
          </a:p>
        </p:txBody>
      </p:sp>
      <p:sp>
        <p:nvSpPr>
          <p:cNvPr id="40" name="Text 37"/>
          <p:cNvSpPr txBox="1"/>
          <p:nvPr/>
        </p:nvSpPr>
        <p:spPr>
          <a:xfrm>
            <a:off x="6415888" y="4599432"/>
            <a:ext cx="2224964" cy="548640"/>
          </a:xfrm>
          <a:prstGeom prst="rect">
            <a:avLst/>
          </a:prstGeom>
          <a:noFill/>
          <a:ln/>
        </p:spPr>
        <p:txBody>
          <a:bodyPr wrap="square" lIns="0" tIns="0" rIns="0" bIns="0" rtlCol="0" anchor="t"/>
          <a:lstStyle/>
          <a:p>
            <a:pPr rtl="1" algn="r" indent="0" marL="0">
              <a:buNone/>
            </a:pPr>
            <a:r>
              <a:rPr lang="fa-IR" altLang="en-US" sz="1300" dirty="0">
                <a:solidFill>
                  <a:srgbClr val="5E6E62"/>
                </a:solidFill>
              </a:rPr>
              <a:t>استقرار خودکار</a:t>
            </a:r>
            <a:endParaRPr lang="fa-IR" sz="1300" dirty="0"/>
          </a:p>
        </p:txBody>
      </p:sp>
      <p:sp>
        <p:nvSpPr>
          <p:cNvPr id="41" name="Shape 38"/>
          <p:cNvSpPr/>
          <p:nvPr/>
        </p:nvSpPr>
        <p:spPr>
          <a:xfrm>
            <a:off x="5967832" y="4594860"/>
            <a:ext cx="256032" cy="0"/>
          </a:xfrm>
          <a:prstGeom prst="line">
            <a:avLst/>
          </a:prstGeom>
          <a:noFill/>
          <a:ln w="22225">
            <a:solidFill>
              <a:schemeClr val="accent2"/>
            </a:solidFill>
            <a:prstDash val="solid"/>
            <a:headEnd type="triangle"/>
          </a:ln>
        </p:spPr>
      </p:sp>
      <p:sp>
        <p:nvSpPr>
          <p:cNvPr id="42" name="Shape 39"/>
          <p:cNvSpPr/>
          <p:nvPr/>
        </p:nvSpPr>
        <p:spPr>
          <a:xfrm>
            <a:off x="3413684" y="3977640"/>
            <a:ext cx="2499284" cy="1234440"/>
          </a:xfrm>
          <a:prstGeom prst="roundRect">
            <a:avLst>
              <a:gd name="adj" fmla="val 8889"/>
            </a:avLst>
          </a:prstGeom>
          <a:solidFill>
            <a:schemeClr val="bg1"/>
          </a:solidFill>
          <a:ln w="19050">
            <a:solidFill>
              <a:srgbClr val="F28C38"/>
            </a:solidFill>
            <a:prstDash val="solid"/>
          </a:ln>
          <a:effectLst>
            <a:outerShdw sx="100000" sy="100000" kx="0" ky="0" algn="bl" rotWithShape="0" blurRad="101600" dist="25400" dir="5400000">
              <a:srgbClr val="1F4D2B">
                <a:alpha val="14000"/>
              </a:srgbClr>
            </a:outerShdw>
          </a:effectLst>
        </p:spPr>
      </p:sp>
      <p:sp>
        <p:nvSpPr>
          <p:cNvPr id="43" name="Shape 40"/>
          <p:cNvSpPr/>
          <p:nvPr/>
        </p:nvSpPr>
        <p:spPr>
          <a:xfrm>
            <a:off x="5391760" y="4114800"/>
            <a:ext cx="384048" cy="384048"/>
          </a:xfrm>
          <a:prstGeom prst="ellipse">
            <a:avLst/>
          </a:prstGeom>
          <a:solidFill>
            <a:schemeClr val="accent2"/>
          </a:solidFill>
          <a:ln/>
        </p:spPr>
      </p:sp>
      <p:sp>
        <p:nvSpPr>
          <p:cNvPr id="44" name="Text 41"/>
          <p:cNvSpPr txBox="1"/>
          <p:nvPr/>
        </p:nvSpPr>
        <p:spPr>
          <a:xfrm>
            <a:off x="5391760" y="4114800"/>
            <a:ext cx="384048" cy="384048"/>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۷</a:t>
            </a:r>
            <a:endParaRPr lang="fa-IR" sz="1400" dirty="0"/>
          </a:p>
        </p:txBody>
      </p:sp>
      <p:sp>
        <p:nvSpPr>
          <p:cNvPr id="45" name="Text 42"/>
          <p:cNvSpPr txBox="1"/>
          <p:nvPr/>
        </p:nvSpPr>
        <p:spPr>
          <a:xfrm>
            <a:off x="3550844" y="4114800"/>
            <a:ext cx="1676324" cy="384048"/>
          </a:xfrm>
          <a:prstGeom prst="rect">
            <a:avLst/>
          </a:prstGeom>
          <a:noFill/>
          <a:ln/>
        </p:spPr>
        <p:txBody>
          <a:bodyPr wrap="square" lIns="0" tIns="0" rIns="0" bIns="0" rtlCol="0" anchor="ctr"/>
          <a:lstStyle/>
          <a:p>
            <a:pPr rtl="1" algn="r" indent="0" marL="0">
              <a:buNone/>
            </a:pPr>
            <a:r>
              <a:rPr lang="fa-IR" altLang="en-US" sz="1600" b="1" dirty="0">
                <a:solidFill>
                  <a:schemeClr val="tx2"/>
                </a:solidFill>
              </a:rPr>
              <a:t>Production</a:t>
            </a:r>
            <a:endParaRPr lang="fa-IR" sz="1600" dirty="0"/>
          </a:p>
        </p:txBody>
      </p:sp>
      <p:sp>
        <p:nvSpPr>
          <p:cNvPr id="46" name="Text 43"/>
          <p:cNvSpPr txBox="1"/>
          <p:nvPr/>
        </p:nvSpPr>
        <p:spPr>
          <a:xfrm>
            <a:off x="3550844" y="4599432"/>
            <a:ext cx="2224964" cy="548640"/>
          </a:xfrm>
          <a:prstGeom prst="rect">
            <a:avLst/>
          </a:prstGeom>
          <a:noFill/>
          <a:ln/>
        </p:spPr>
        <p:txBody>
          <a:bodyPr wrap="square" lIns="0" tIns="0" rIns="0" bIns="0" rtlCol="0" anchor="t"/>
          <a:lstStyle/>
          <a:p>
            <a:pPr rtl="1" algn="r" indent="0" marL="0">
              <a:buNone/>
            </a:pPr>
            <a:r>
              <a:rPr lang="fa-IR" altLang="en-US" sz="1300" dirty="0">
                <a:solidFill>
                  <a:srgbClr val="5E6E62"/>
                </a:solidFill>
              </a:rPr>
              <a:t>با تأیید؛ Canary با Argo Rollouts</a:t>
            </a:r>
            <a:endParaRPr lang="fa-IR" sz="1300" dirty="0"/>
          </a:p>
        </p:txBody>
      </p:sp>
      <p:sp>
        <p:nvSpPr>
          <p:cNvPr id="47" name="Shape 44"/>
          <p:cNvSpPr/>
          <p:nvPr/>
        </p:nvSpPr>
        <p:spPr>
          <a:xfrm>
            <a:off x="548640" y="3977640"/>
            <a:ext cx="2499284" cy="1234440"/>
          </a:xfrm>
          <a:prstGeom prst="roundRect">
            <a:avLst>
              <a:gd name="adj" fmla="val 8889"/>
            </a:avLst>
          </a:prstGeom>
          <a:solidFill>
            <a:schemeClr val="bg2"/>
          </a:solidFill>
          <a:ln w="12700">
            <a:solidFill>
              <a:srgbClr val="1F4D2B"/>
            </a:solidFill>
            <a:prstDash val="dash"/>
          </a:ln>
        </p:spPr>
      </p:sp>
      <p:sp>
        <p:nvSpPr>
          <p:cNvPr id="48" name="Text 45"/>
          <p:cNvSpPr txBox="1"/>
          <p:nvPr/>
        </p:nvSpPr>
        <p:spPr>
          <a:xfrm>
            <a:off x="685800" y="4069080"/>
            <a:ext cx="2224964" cy="365760"/>
          </a:xfrm>
          <a:prstGeom prst="rect">
            <a:avLst/>
          </a:prstGeom>
          <a:noFill/>
          <a:ln/>
        </p:spPr>
        <p:txBody>
          <a:bodyPr wrap="square" lIns="0" tIns="0" rIns="0" bIns="0" rtlCol="0" anchor="t"/>
          <a:lstStyle/>
          <a:p>
            <a:pPr algn="r" indent="0" marL="0">
              <a:buNone/>
            </a:pPr>
            <a:r>
              <a:rPr lang="en-US" altLang="en-US" sz="1600" b="1" dirty="0">
                <a:solidFill>
                  <a:schemeClr val="tx2"/>
                </a:solidFill>
              </a:rPr>
              <a:t>Terraform</a:t>
            </a:r>
            <a:endParaRPr lang="en-US" sz="1600" dirty="0"/>
          </a:p>
        </p:txBody>
      </p:sp>
      <p:sp>
        <p:nvSpPr>
          <p:cNvPr id="49" name="Text 46"/>
          <p:cNvSpPr txBox="1"/>
          <p:nvPr/>
        </p:nvSpPr>
        <p:spPr>
          <a:xfrm>
            <a:off x="685800" y="4434840"/>
            <a:ext cx="2224964" cy="731520"/>
          </a:xfrm>
          <a:prstGeom prst="rect">
            <a:avLst/>
          </a:prstGeom>
          <a:noFill/>
          <a:ln/>
        </p:spPr>
        <p:txBody>
          <a:bodyPr wrap="square" lIns="0" tIns="0" rIns="0" bIns="0" rtlCol="0" anchor="t"/>
          <a:lstStyle/>
          <a:p>
            <a:pPr rtl="1" algn="r" indent="0" marL="0">
              <a:buNone/>
            </a:pPr>
            <a:r>
              <a:rPr lang="fa-IR" altLang="en-US" sz="1300" dirty="0">
                <a:solidFill>
                  <a:srgbClr val="5E6E62"/>
                </a:solidFill>
              </a:rPr>
              <a:t>کلاستر، Postgres مدیریت‌شده و Object Storage به‌صورت کد</a:t>
            </a:r>
            <a:endParaRPr lang="fa-IR" sz="1300" dirty="0"/>
          </a:p>
        </p:txBody>
      </p:sp>
      <p:sp>
        <p:nvSpPr>
          <p:cNvPr id="50" name="Shape 47"/>
          <p:cNvSpPr/>
          <p:nvPr/>
        </p:nvSpPr>
        <p:spPr>
          <a:xfrm>
            <a:off x="548640" y="5532120"/>
            <a:ext cx="11094415" cy="594360"/>
          </a:xfrm>
          <a:prstGeom prst="roundRect">
            <a:avLst>
              <a:gd name="adj" fmla="val 18462"/>
            </a:avLst>
          </a:prstGeom>
          <a:solidFill>
            <a:schemeClr val="bg2"/>
          </a:solidFill>
          <a:ln/>
        </p:spPr>
      </p:sp>
      <p:sp>
        <p:nvSpPr>
          <p:cNvPr id="51" name="Shape 48"/>
          <p:cNvSpPr/>
          <p:nvPr/>
        </p:nvSpPr>
        <p:spPr>
          <a:xfrm>
            <a:off x="11048695" y="5623560"/>
            <a:ext cx="411480" cy="411480"/>
          </a:xfrm>
          <a:prstGeom prst="ellipse">
            <a:avLst/>
          </a:prstGeom>
          <a:solidFill>
            <a:schemeClr val="tx2"/>
          </a:solidFill>
          <a:ln/>
        </p:spPr>
      </p:sp>
      <p:pic>
        <p:nvPicPr>
          <p:cNvPr id="52" name="Image 0" descr="LuGitBranch">    </p:cNvPr>
          <p:cNvPicPr>
            <a:picLocks noChangeAspect="1"/>
          </p:cNvPicPr>
          <p:nvPr/>
        </p:nvPicPr>
        <p:blipFill>
          <a:blip r:embed="rId1"/>
          <a:stretch>
            <a:fillRect/>
          </a:stretch>
        </p:blipFill>
        <p:spPr>
          <a:xfrm>
            <a:off x="11139221" y="5714086"/>
            <a:ext cx="230429" cy="230429"/>
          </a:xfrm>
          <a:prstGeom prst="rect">
            <a:avLst/>
          </a:prstGeom>
        </p:spPr>
      </p:pic>
      <p:sp>
        <p:nvSpPr>
          <p:cNvPr id="53" name="Text 49"/>
          <p:cNvSpPr txBox="1"/>
          <p:nvPr/>
        </p:nvSpPr>
        <p:spPr>
          <a:xfrm>
            <a:off x="822960" y="5532120"/>
            <a:ext cx="10088575" cy="594360"/>
          </a:xfrm>
          <a:prstGeom prst="rect">
            <a:avLst/>
          </a:prstGeom>
          <a:noFill/>
          <a:ln/>
        </p:spPr>
        <p:txBody>
          <a:bodyPr wrap="square" lIns="0" tIns="0" rIns="0" bIns="0" rtlCol="0" anchor="ctr"/>
          <a:lstStyle/>
          <a:p>
            <a:pPr rtl="1" algn="r" indent="0" marL="0">
              <a:buNone/>
            </a:pPr>
            <a:r>
              <a:rPr lang="fa-IR" altLang="en-US" sz="1500" dirty="0">
                <a:solidFill>
                  <a:schemeClr val="tx1"/>
                </a:solidFill>
              </a:rPr>
              <a:t>برگشت به نسخه‌ی قبل = یک git revert؛ هر تغییر در کلاستر از یک commit قابل ردیابی است</a:t>
            </a:r>
            <a:endParaRPr lang="fa-IR" sz="15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مشاهده‌پذیری</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هر درخواست از Gateway تا دیتابیس با یک trace_id قابل دنبال کردن است</a:t>
            </a:r>
            <a:endParaRPr lang="fa-IR" sz="1600" dirty="0"/>
          </a:p>
        </p:txBody>
      </p:sp>
      <p:sp>
        <p:nvSpPr>
          <p:cNvPr id="5" name="Shape 2"/>
          <p:cNvSpPr/>
          <p:nvPr/>
        </p:nvSpPr>
        <p:spPr>
          <a:xfrm>
            <a:off x="8158277" y="1645920"/>
            <a:ext cx="3484778" cy="2514600"/>
          </a:xfrm>
          <a:prstGeom prst="roundRect">
            <a:avLst>
              <a:gd name="adj" fmla="val 4364"/>
            </a:avLst>
          </a:prstGeom>
          <a:solidFill>
            <a:schemeClr val="bg2"/>
          </a:solidFill>
          <a:ln/>
          <a:effectLst>
            <a:outerShdw sx="100000" sy="100000" kx="0" ky="0" algn="bl" rotWithShape="0" blurRad="101600" dist="25400" dir="5400000">
              <a:srgbClr val="1F4D2B">
                <a:alpha val="14000"/>
              </a:srgbClr>
            </a:outerShdw>
          </a:effectLst>
        </p:spPr>
      </p:sp>
      <p:sp>
        <p:nvSpPr>
          <p:cNvPr id="6" name="Shape 3"/>
          <p:cNvSpPr/>
          <p:nvPr/>
        </p:nvSpPr>
        <p:spPr>
          <a:xfrm>
            <a:off x="10728655" y="1828800"/>
            <a:ext cx="640080" cy="640080"/>
          </a:xfrm>
          <a:prstGeom prst="ellipse">
            <a:avLst/>
          </a:prstGeom>
          <a:solidFill>
            <a:schemeClr val="accent1"/>
          </a:solidFill>
          <a:ln/>
        </p:spPr>
      </p:sp>
      <p:pic>
        <p:nvPicPr>
          <p:cNvPr id="7" name="Image 0" descr="LuGauge">    </p:cNvPr>
          <p:cNvPicPr>
            <a:picLocks noChangeAspect="1"/>
          </p:cNvPicPr>
          <p:nvPr/>
        </p:nvPicPr>
        <p:blipFill>
          <a:blip r:embed="rId1"/>
          <a:stretch>
            <a:fillRect/>
          </a:stretch>
        </p:blipFill>
        <p:spPr>
          <a:xfrm>
            <a:off x="10869473" y="1969618"/>
            <a:ext cx="358445" cy="358445"/>
          </a:xfrm>
          <a:prstGeom prst="rect">
            <a:avLst/>
          </a:prstGeom>
        </p:spPr>
      </p:pic>
      <p:sp>
        <p:nvSpPr>
          <p:cNvPr id="8" name="Text 4"/>
          <p:cNvSpPr txBox="1"/>
          <p:nvPr/>
        </p:nvSpPr>
        <p:spPr>
          <a:xfrm>
            <a:off x="8432597" y="1828800"/>
            <a:ext cx="2113178" cy="347472"/>
          </a:xfrm>
          <a:prstGeom prst="rect">
            <a:avLst/>
          </a:prstGeom>
          <a:noFill/>
          <a:ln/>
        </p:spPr>
        <p:txBody>
          <a:bodyPr wrap="square" lIns="0" tIns="0" rIns="0" bIns="0" rtlCol="0" anchor="t"/>
          <a:lstStyle/>
          <a:p>
            <a:pPr algn="r" indent="0" marL="0">
              <a:buNone/>
            </a:pPr>
            <a:r>
              <a:rPr lang="en-US" altLang="en-US" sz="2000" b="1" dirty="0">
                <a:solidFill>
                  <a:schemeClr val="tx2"/>
                </a:solidFill>
              </a:rPr>
              <a:t>Metrics</a:t>
            </a:r>
            <a:endParaRPr lang="en-US" sz="2000" dirty="0"/>
          </a:p>
        </p:txBody>
      </p:sp>
      <p:sp>
        <p:nvSpPr>
          <p:cNvPr id="9" name="Text 5"/>
          <p:cNvSpPr txBox="1"/>
          <p:nvPr/>
        </p:nvSpPr>
        <p:spPr>
          <a:xfrm>
            <a:off x="8432597" y="2176272"/>
            <a:ext cx="2113178" cy="292608"/>
          </a:xfrm>
          <a:prstGeom prst="rect">
            <a:avLst/>
          </a:prstGeom>
          <a:noFill/>
          <a:ln/>
        </p:spPr>
        <p:txBody>
          <a:bodyPr wrap="square" lIns="0" tIns="0" rIns="0" bIns="0" rtlCol="0" anchor="t"/>
          <a:lstStyle/>
          <a:p>
            <a:pPr algn="r" indent="0" marL="0">
              <a:buNone/>
            </a:pPr>
            <a:r>
              <a:rPr lang="en-US" altLang="en-US" sz="1300" dirty="0">
                <a:solidFill>
                  <a:srgbClr val="5E6E62"/>
                </a:solidFill>
              </a:rPr>
              <a:t>Prometheus + Grafana</a:t>
            </a:r>
            <a:endParaRPr lang="en-US" sz="1300" dirty="0"/>
          </a:p>
        </p:txBody>
      </p:sp>
      <p:sp>
        <p:nvSpPr>
          <p:cNvPr id="10" name="Text 6"/>
          <p:cNvSpPr txBox="1"/>
          <p:nvPr/>
        </p:nvSpPr>
        <p:spPr>
          <a:xfrm>
            <a:off x="8432597" y="2697480"/>
            <a:ext cx="2936138" cy="1920240"/>
          </a:xfrm>
          <a:prstGeom prst="rect">
            <a:avLst/>
          </a:prstGeom>
          <a:noFill/>
          <a:ln/>
        </p:spPr>
        <p:txBody>
          <a:bodyPr wrap="square" lIns="0" tIns="0" rIns="0" bIns="0" rtlCol="0" anchor="t"/>
          <a:lstStyle/>
          <a:p>
            <a:pPr rtl="1" algn="r" marL="342900" indent="-342900">
              <a:spcAft>
                <a:spcPts val="800"/>
              </a:spcAft>
              <a:buSzPct val="100000"/>
              <a:buChar char="•"/>
            </a:pPr>
            <a:r>
              <a:rPr lang="fa-IR" altLang="en-US" sz="1500" dirty="0">
                <a:solidFill>
                  <a:schemeClr val="tx1"/>
                </a:solidFill>
              </a:rPr>
              <a:t>نرخ سفارش، تأخیر و نرخ خطا</a:t>
            </a:r>
            <a:endParaRPr lang="fa-IR" sz="1500" dirty="0"/>
          </a:p>
          <a:p>
            <a:pPr rtl="1" algn="r" marL="342900" indent="-342900">
              <a:spcAft>
                <a:spcPts val="800"/>
              </a:spcAft>
              <a:buSzPct val="100000"/>
              <a:buChar char="•"/>
            </a:pPr>
            <a:r>
              <a:rPr lang="fa-IR" altLang="en-US" sz="1500" dirty="0">
                <a:solidFill>
                  <a:schemeClr val="tx1"/>
                </a:solidFill>
              </a:rPr>
              <a:t>هشدار موجودی بحرانی</a:t>
            </a:r>
            <a:endParaRPr lang="fa-IR" sz="1500" dirty="0"/>
          </a:p>
          <a:p>
            <a:pPr rtl="1" algn="r" marL="342900" indent="-342900">
              <a:spcAft>
                <a:spcPts val="800"/>
              </a:spcAft>
              <a:buSzPct val="100000"/>
              <a:buChar char="•"/>
            </a:pPr>
            <a:r>
              <a:rPr lang="fa-IR" altLang="en-US" sz="1500" dirty="0">
                <a:solidFill>
                  <a:schemeClr val="tx1"/>
                </a:solidFill>
              </a:rPr>
              <a:t>هزینه‌ی توکن و امتیاز Evals</a:t>
            </a:r>
            <a:endParaRPr lang="fa-IR" sz="1500" dirty="0"/>
          </a:p>
        </p:txBody>
      </p:sp>
      <p:sp>
        <p:nvSpPr>
          <p:cNvPr id="11" name="Shape 7"/>
          <p:cNvSpPr/>
          <p:nvPr/>
        </p:nvSpPr>
        <p:spPr>
          <a:xfrm>
            <a:off x="4353458" y="1645920"/>
            <a:ext cx="3484778" cy="2514600"/>
          </a:xfrm>
          <a:prstGeom prst="roundRect">
            <a:avLst>
              <a:gd name="adj" fmla="val 4364"/>
            </a:avLst>
          </a:prstGeom>
          <a:solidFill>
            <a:schemeClr val="bg2"/>
          </a:solidFill>
          <a:ln/>
          <a:effectLst>
            <a:outerShdw sx="100000" sy="100000" kx="0" ky="0" algn="bl" rotWithShape="0" blurRad="101600" dist="25400" dir="5400000">
              <a:srgbClr val="1F4D2B">
                <a:alpha val="14000"/>
              </a:srgbClr>
            </a:outerShdw>
          </a:effectLst>
        </p:spPr>
      </p:sp>
      <p:sp>
        <p:nvSpPr>
          <p:cNvPr id="12" name="Shape 8"/>
          <p:cNvSpPr/>
          <p:nvPr/>
        </p:nvSpPr>
        <p:spPr>
          <a:xfrm>
            <a:off x="6923837" y="1828800"/>
            <a:ext cx="640080" cy="640080"/>
          </a:xfrm>
          <a:prstGeom prst="ellipse">
            <a:avLst/>
          </a:prstGeom>
          <a:solidFill>
            <a:schemeClr val="accent2"/>
          </a:solidFill>
          <a:ln/>
        </p:spPr>
      </p:sp>
      <p:pic>
        <p:nvPicPr>
          <p:cNvPr id="13" name="Image 1" descr="LuFileText">    </p:cNvPr>
          <p:cNvPicPr>
            <a:picLocks noChangeAspect="1"/>
          </p:cNvPicPr>
          <p:nvPr/>
        </p:nvPicPr>
        <p:blipFill>
          <a:blip r:embed="rId2"/>
          <a:stretch>
            <a:fillRect/>
          </a:stretch>
        </p:blipFill>
        <p:spPr>
          <a:xfrm>
            <a:off x="7064654" y="1969618"/>
            <a:ext cx="358445" cy="358445"/>
          </a:xfrm>
          <a:prstGeom prst="rect">
            <a:avLst/>
          </a:prstGeom>
        </p:spPr>
      </p:pic>
      <p:sp>
        <p:nvSpPr>
          <p:cNvPr id="14" name="Text 9"/>
          <p:cNvSpPr txBox="1"/>
          <p:nvPr/>
        </p:nvSpPr>
        <p:spPr>
          <a:xfrm>
            <a:off x="4627778" y="1828800"/>
            <a:ext cx="2113178" cy="347472"/>
          </a:xfrm>
          <a:prstGeom prst="rect">
            <a:avLst/>
          </a:prstGeom>
          <a:noFill/>
          <a:ln/>
        </p:spPr>
        <p:txBody>
          <a:bodyPr wrap="square" lIns="0" tIns="0" rIns="0" bIns="0" rtlCol="0" anchor="t"/>
          <a:lstStyle/>
          <a:p>
            <a:pPr algn="r" indent="0" marL="0">
              <a:buNone/>
            </a:pPr>
            <a:r>
              <a:rPr lang="en-US" altLang="en-US" sz="2000" b="1" dirty="0">
                <a:solidFill>
                  <a:schemeClr val="tx2"/>
                </a:solidFill>
              </a:rPr>
              <a:t>Logs</a:t>
            </a:r>
            <a:endParaRPr lang="en-US" sz="2000" dirty="0"/>
          </a:p>
        </p:txBody>
      </p:sp>
      <p:sp>
        <p:nvSpPr>
          <p:cNvPr id="15" name="Text 10"/>
          <p:cNvSpPr txBox="1"/>
          <p:nvPr/>
        </p:nvSpPr>
        <p:spPr>
          <a:xfrm>
            <a:off x="4627778" y="2176272"/>
            <a:ext cx="2113178" cy="292608"/>
          </a:xfrm>
          <a:prstGeom prst="rect">
            <a:avLst/>
          </a:prstGeom>
          <a:noFill/>
          <a:ln/>
        </p:spPr>
        <p:txBody>
          <a:bodyPr wrap="square" lIns="0" tIns="0" rIns="0" bIns="0" rtlCol="0" anchor="t"/>
          <a:lstStyle/>
          <a:p>
            <a:pPr algn="r" indent="0" marL="0">
              <a:buNone/>
            </a:pPr>
            <a:r>
              <a:rPr lang="en-US" altLang="en-US" sz="1300" dirty="0">
                <a:solidFill>
                  <a:srgbClr val="5E6E62"/>
                </a:solidFill>
              </a:rPr>
              <a:t>Loki</a:t>
            </a:r>
            <a:endParaRPr lang="en-US" sz="1300" dirty="0"/>
          </a:p>
        </p:txBody>
      </p:sp>
      <p:sp>
        <p:nvSpPr>
          <p:cNvPr id="16" name="Text 11"/>
          <p:cNvSpPr txBox="1"/>
          <p:nvPr/>
        </p:nvSpPr>
        <p:spPr>
          <a:xfrm>
            <a:off x="4627778" y="2697480"/>
            <a:ext cx="2936138" cy="1920240"/>
          </a:xfrm>
          <a:prstGeom prst="rect">
            <a:avLst/>
          </a:prstGeom>
          <a:noFill/>
          <a:ln/>
        </p:spPr>
        <p:txBody>
          <a:bodyPr wrap="square" lIns="0" tIns="0" rIns="0" bIns="0" rtlCol="0" anchor="t"/>
          <a:lstStyle/>
          <a:p>
            <a:pPr rtl="1" algn="r" marL="342900" indent="-342900">
              <a:spcAft>
                <a:spcPts val="800"/>
              </a:spcAft>
              <a:buSzPct val="100000"/>
              <a:buChar char="•"/>
            </a:pPr>
            <a:r>
              <a:rPr lang="fa-IR" altLang="en-US" sz="1500" dirty="0">
                <a:solidFill>
                  <a:schemeClr val="tx1"/>
                </a:solidFill>
              </a:rPr>
              <a:t>لاگ JSON ساختاریافته</a:t>
            </a:r>
            <a:endParaRPr lang="fa-IR" sz="1500" dirty="0"/>
          </a:p>
          <a:p>
            <a:pPr rtl="1" algn="r" marL="342900" indent="-342900">
              <a:spcAft>
                <a:spcPts val="800"/>
              </a:spcAft>
              <a:buSzPct val="100000"/>
              <a:buChar char="•"/>
            </a:pPr>
            <a:r>
              <a:rPr lang="fa-IR" altLang="en-US" sz="1500" dirty="0">
                <a:solidFill>
                  <a:schemeClr val="tx1"/>
                </a:solidFill>
              </a:rPr>
              <a:t>trace_id در هر خط لاگ</a:t>
            </a:r>
            <a:endParaRPr lang="fa-IR" sz="1500" dirty="0"/>
          </a:p>
          <a:p>
            <a:pPr rtl="1" algn="r" marL="342900" indent="-342900">
              <a:spcAft>
                <a:spcPts val="800"/>
              </a:spcAft>
              <a:buSzPct val="100000"/>
              <a:buChar char="•"/>
            </a:pPr>
            <a:r>
              <a:rPr lang="fa-IR" altLang="en-US" sz="1500" dirty="0">
                <a:solidFill>
                  <a:schemeClr val="tx1"/>
                </a:solidFill>
              </a:rPr>
              <a:t>حذف اطلاعات شخصی از لاگ</a:t>
            </a:r>
            <a:endParaRPr lang="fa-IR" sz="1500" dirty="0"/>
          </a:p>
        </p:txBody>
      </p:sp>
      <p:sp>
        <p:nvSpPr>
          <p:cNvPr id="17" name="Shape 12"/>
          <p:cNvSpPr/>
          <p:nvPr/>
        </p:nvSpPr>
        <p:spPr>
          <a:xfrm>
            <a:off x="548640" y="1645920"/>
            <a:ext cx="3484778" cy="2514600"/>
          </a:xfrm>
          <a:prstGeom prst="roundRect">
            <a:avLst>
              <a:gd name="adj" fmla="val 4364"/>
            </a:avLst>
          </a:prstGeom>
          <a:solidFill>
            <a:schemeClr val="bg2"/>
          </a:solidFill>
          <a:ln/>
          <a:effectLst>
            <a:outerShdw sx="100000" sy="100000" kx="0" ky="0" algn="bl" rotWithShape="0" blurRad="101600" dist="25400" dir="5400000">
              <a:srgbClr val="1F4D2B">
                <a:alpha val="14000"/>
              </a:srgbClr>
            </a:outerShdw>
          </a:effectLst>
        </p:spPr>
      </p:sp>
      <p:sp>
        <p:nvSpPr>
          <p:cNvPr id="18" name="Shape 13"/>
          <p:cNvSpPr/>
          <p:nvPr/>
        </p:nvSpPr>
        <p:spPr>
          <a:xfrm>
            <a:off x="3119018" y="1828800"/>
            <a:ext cx="640080" cy="640080"/>
          </a:xfrm>
          <a:prstGeom prst="ellipse">
            <a:avLst/>
          </a:prstGeom>
          <a:solidFill>
            <a:schemeClr val="accent6"/>
          </a:solidFill>
          <a:ln/>
        </p:spPr>
      </p:sp>
      <p:pic>
        <p:nvPicPr>
          <p:cNvPr id="19" name="Image 2" descr="LuRoute">    </p:cNvPr>
          <p:cNvPicPr>
            <a:picLocks noChangeAspect="1"/>
          </p:cNvPicPr>
          <p:nvPr/>
        </p:nvPicPr>
        <p:blipFill>
          <a:blip r:embed="rId3"/>
          <a:stretch>
            <a:fillRect/>
          </a:stretch>
        </p:blipFill>
        <p:spPr>
          <a:xfrm>
            <a:off x="3259836" y="1969618"/>
            <a:ext cx="358445" cy="358445"/>
          </a:xfrm>
          <a:prstGeom prst="rect">
            <a:avLst/>
          </a:prstGeom>
        </p:spPr>
      </p:pic>
      <p:sp>
        <p:nvSpPr>
          <p:cNvPr id="20" name="Text 14"/>
          <p:cNvSpPr txBox="1"/>
          <p:nvPr/>
        </p:nvSpPr>
        <p:spPr>
          <a:xfrm>
            <a:off x="822960" y="1828800"/>
            <a:ext cx="2113178" cy="347472"/>
          </a:xfrm>
          <a:prstGeom prst="rect">
            <a:avLst/>
          </a:prstGeom>
          <a:noFill/>
          <a:ln/>
        </p:spPr>
        <p:txBody>
          <a:bodyPr wrap="square" lIns="0" tIns="0" rIns="0" bIns="0" rtlCol="0" anchor="t"/>
          <a:lstStyle/>
          <a:p>
            <a:pPr algn="r" indent="0" marL="0">
              <a:buNone/>
            </a:pPr>
            <a:r>
              <a:rPr lang="en-US" altLang="en-US" sz="2000" b="1" dirty="0">
                <a:solidFill>
                  <a:schemeClr val="tx2"/>
                </a:solidFill>
              </a:rPr>
              <a:t>Traces</a:t>
            </a:r>
            <a:endParaRPr lang="en-US" sz="2000" dirty="0"/>
          </a:p>
        </p:txBody>
      </p:sp>
      <p:sp>
        <p:nvSpPr>
          <p:cNvPr id="21" name="Text 15"/>
          <p:cNvSpPr txBox="1"/>
          <p:nvPr/>
        </p:nvSpPr>
        <p:spPr>
          <a:xfrm>
            <a:off x="822960" y="2176272"/>
            <a:ext cx="2113178" cy="292608"/>
          </a:xfrm>
          <a:prstGeom prst="rect">
            <a:avLst/>
          </a:prstGeom>
          <a:noFill/>
          <a:ln/>
        </p:spPr>
        <p:txBody>
          <a:bodyPr wrap="square" lIns="0" tIns="0" rIns="0" bIns="0" rtlCol="0" anchor="t"/>
          <a:lstStyle/>
          <a:p>
            <a:pPr algn="r" indent="0" marL="0">
              <a:buNone/>
            </a:pPr>
            <a:r>
              <a:rPr lang="en-US" altLang="en-US" sz="1300" dirty="0">
                <a:solidFill>
                  <a:srgbClr val="5E6E62"/>
                </a:solidFill>
              </a:rPr>
              <a:t>OpenTelemetry + Jaeger</a:t>
            </a:r>
            <a:endParaRPr lang="en-US" sz="1300" dirty="0"/>
          </a:p>
        </p:txBody>
      </p:sp>
      <p:sp>
        <p:nvSpPr>
          <p:cNvPr id="22" name="Text 16"/>
          <p:cNvSpPr txBox="1"/>
          <p:nvPr/>
        </p:nvSpPr>
        <p:spPr>
          <a:xfrm>
            <a:off x="822960" y="2697480"/>
            <a:ext cx="2936138" cy="1920240"/>
          </a:xfrm>
          <a:prstGeom prst="rect">
            <a:avLst/>
          </a:prstGeom>
          <a:noFill/>
          <a:ln/>
        </p:spPr>
        <p:txBody>
          <a:bodyPr wrap="square" lIns="0" tIns="0" rIns="0" bIns="0" rtlCol="0" anchor="t"/>
          <a:lstStyle/>
          <a:p>
            <a:pPr rtl="1" algn="r" marL="342900" indent="-342900">
              <a:spcAft>
                <a:spcPts val="800"/>
              </a:spcAft>
              <a:buSzPct val="100000"/>
              <a:buChar char="•"/>
            </a:pPr>
            <a:r>
              <a:rPr lang="fa-IR" altLang="en-US" sz="1500" dirty="0">
                <a:solidFill>
                  <a:schemeClr val="tx1"/>
                </a:solidFill>
              </a:rPr>
              <a:t>مسیر درخواست بین سرویس‌ها</a:t>
            </a:r>
            <a:endParaRPr lang="fa-IR" sz="1500" dirty="0"/>
          </a:p>
          <a:p>
            <a:pPr rtl="1" algn="r" marL="342900" indent="-342900">
              <a:spcAft>
                <a:spcPts val="800"/>
              </a:spcAft>
              <a:buSzPct val="100000"/>
              <a:buChar char="•"/>
            </a:pPr>
            <a:r>
              <a:rPr lang="fa-IR" altLang="en-US" sz="1500" dirty="0">
                <a:solidFill>
                  <a:schemeClr val="tx1"/>
                </a:solidFill>
              </a:rPr>
              <a:t>عبور از گذرگاه رویداد</a:t>
            </a:r>
            <a:endParaRPr lang="fa-IR" sz="1500" dirty="0"/>
          </a:p>
          <a:p>
            <a:pPr rtl="1" algn="r" marL="342900" indent="-342900">
              <a:spcAft>
                <a:spcPts val="800"/>
              </a:spcAft>
              <a:buSzPct val="100000"/>
              <a:buChar char="•"/>
            </a:pPr>
            <a:r>
              <a:rPr lang="fa-IR" altLang="en-US" sz="1500" dirty="0">
                <a:solidFill>
                  <a:schemeClr val="tx1"/>
                </a:solidFill>
              </a:rPr>
              <a:t>پیدا کردن کندترین قدم</a:t>
            </a:r>
            <a:endParaRPr lang="fa-IR" sz="1500" dirty="0"/>
          </a:p>
        </p:txBody>
      </p:sp>
      <p:sp>
        <p:nvSpPr>
          <p:cNvPr id="23" name="Shape 17"/>
          <p:cNvSpPr/>
          <p:nvPr/>
        </p:nvSpPr>
        <p:spPr>
          <a:xfrm>
            <a:off x="548640" y="4434840"/>
            <a:ext cx="11094415" cy="1691640"/>
          </a:xfrm>
          <a:prstGeom prst="roundRect">
            <a:avLst>
              <a:gd name="adj" fmla="val 6486"/>
            </a:avLst>
          </a:prstGeom>
          <a:solidFill>
            <a:schemeClr val="tx2"/>
          </a:solidFill>
          <a:ln/>
        </p:spPr>
      </p:sp>
      <p:sp>
        <p:nvSpPr>
          <p:cNvPr id="24" name="Text 18"/>
          <p:cNvSpPr txBox="1"/>
          <p:nvPr/>
        </p:nvSpPr>
        <p:spPr>
          <a:xfrm>
            <a:off x="8219237" y="4663440"/>
            <a:ext cx="3149498" cy="685800"/>
          </a:xfrm>
          <a:prstGeom prst="rect">
            <a:avLst/>
          </a:prstGeom>
          <a:noFill/>
          <a:ln/>
        </p:spPr>
        <p:txBody>
          <a:bodyPr wrap="square" lIns="0" tIns="0" rIns="0" bIns="0" rtlCol="0" anchor="ctr"/>
          <a:lstStyle/>
          <a:p>
            <a:pPr rtl="1" algn="ctr" indent="0" marL="0">
              <a:buNone/>
            </a:pPr>
            <a:r>
              <a:rPr lang="fa-IR" altLang="en-US" sz="3000" b="1" dirty="0">
                <a:solidFill>
                  <a:schemeClr val="accent5"/>
                </a:solidFill>
              </a:rPr>
              <a:t>۹۹٫۵٪</a:t>
            </a:r>
            <a:endParaRPr lang="fa-IR" sz="3000" dirty="0"/>
          </a:p>
        </p:txBody>
      </p:sp>
      <p:sp>
        <p:nvSpPr>
          <p:cNvPr id="25" name="Text 19"/>
          <p:cNvSpPr txBox="1"/>
          <p:nvPr/>
        </p:nvSpPr>
        <p:spPr>
          <a:xfrm>
            <a:off x="8219237" y="5394960"/>
            <a:ext cx="3149498" cy="457200"/>
          </a:xfrm>
          <a:prstGeom prst="rect">
            <a:avLst/>
          </a:prstGeom>
          <a:noFill/>
          <a:ln/>
        </p:spPr>
        <p:txBody>
          <a:bodyPr wrap="square" lIns="0" tIns="0" rIns="0" bIns="0" rtlCol="0" anchor="t"/>
          <a:lstStyle/>
          <a:p>
            <a:pPr rtl="1" algn="ctr" indent="0" marL="0">
              <a:buNone/>
            </a:pPr>
            <a:r>
              <a:rPr lang="fa-IR" altLang="en-US" sz="1500" dirty="0">
                <a:solidFill>
                  <a:schemeClr val="bg1"/>
                </a:solidFill>
              </a:rPr>
              <a:t>دسترس‌پذیری ثبت سفارش</a:t>
            </a:r>
            <a:endParaRPr lang="fa-IR" sz="1500" dirty="0"/>
          </a:p>
        </p:txBody>
      </p:sp>
      <p:sp>
        <p:nvSpPr>
          <p:cNvPr id="26" name="Text 20"/>
          <p:cNvSpPr txBox="1"/>
          <p:nvPr/>
        </p:nvSpPr>
        <p:spPr>
          <a:xfrm>
            <a:off x="4521098" y="4663440"/>
            <a:ext cx="3149498" cy="685800"/>
          </a:xfrm>
          <a:prstGeom prst="rect">
            <a:avLst/>
          </a:prstGeom>
          <a:noFill/>
          <a:ln/>
        </p:spPr>
        <p:txBody>
          <a:bodyPr wrap="square" lIns="0" tIns="0" rIns="0" bIns="0" rtlCol="0" anchor="ctr"/>
          <a:lstStyle/>
          <a:p>
            <a:pPr rtl="1" algn="ctr" indent="0" marL="0">
              <a:buNone/>
            </a:pPr>
            <a:r>
              <a:rPr lang="fa-IR" altLang="en-US" sz="3000" b="1" dirty="0">
                <a:solidFill>
                  <a:schemeClr val="accent5"/>
                </a:solidFill>
              </a:rPr>
              <a:t>۳۰۰ میلی‌ثانیه</a:t>
            </a:r>
            <a:endParaRPr lang="fa-IR" sz="3000" dirty="0"/>
          </a:p>
        </p:txBody>
      </p:sp>
      <p:sp>
        <p:nvSpPr>
          <p:cNvPr id="27" name="Text 21"/>
          <p:cNvSpPr txBox="1"/>
          <p:nvPr/>
        </p:nvSpPr>
        <p:spPr>
          <a:xfrm>
            <a:off x="4521098" y="5394960"/>
            <a:ext cx="3149498" cy="457200"/>
          </a:xfrm>
          <a:prstGeom prst="rect">
            <a:avLst/>
          </a:prstGeom>
          <a:noFill/>
          <a:ln/>
        </p:spPr>
        <p:txBody>
          <a:bodyPr wrap="square" lIns="0" tIns="0" rIns="0" bIns="0" rtlCol="0" anchor="t"/>
          <a:lstStyle/>
          <a:p>
            <a:pPr rtl="1" algn="ctr" indent="0" marL="0">
              <a:buNone/>
            </a:pPr>
            <a:r>
              <a:rPr lang="fa-IR" altLang="en-US" sz="1500" dirty="0">
                <a:solidFill>
                  <a:schemeClr val="bg1"/>
                </a:solidFill>
              </a:rPr>
              <a:t>سقف زمان پاسخ ۹۵٪ جستجوها</a:t>
            </a:r>
            <a:endParaRPr lang="fa-IR" sz="1500" dirty="0"/>
          </a:p>
        </p:txBody>
      </p:sp>
      <p:sp>
        <p:nvSpPr>
          <p:cNvPr id="28" name="Text 22"/>
          <p:cNvSpPr txBox="1"/>
          <p:nvPr/>
        </p:nvSpPr>
        <p:spPr>
          <a:xfrm>
            <a:off x="822960" y="4663440"/>
            <a:ext cx="3149498" cy="685800"/>
          </a:xfrm>
          <a:prstGeom prst="rect">
            <a:avLst/>
          </a:prstGeom>
          <a:noFill/>
          <a:ln/>
        </p:spPr>
        <p:txBody>
          <a:bodyPr wrap="square" lIns="0" tIns="0" rIns="0" bIns="0" rtlCol="0" anchor="ctr"/>
          <a:lstStyle/>
          <a:p>
            <a:pPr rtl="1" algn="ctr" indent="0" marL="0">
              <a:buNone/>
            </a:pPr>
            <a:r>
              <a:rPr lang="fa-IR" altLang="en-US" sz="3000" b="1" dirty="0">
                <a:solidFill>
                  <a:schemeClr val="accent5"/>
                </a:solidFill>
              </a:rPr>
              <a:t>Burn-rate</a:t>
            </a:r>
            <a:endParaRPr lang="fa-IR" sz="3000" dirty="0"/>
          </a:p>
        </p:txBody>
      </p:sp>
      <p:sp>
        <p:nvSpPr>
          <p:cNvPr id="29" name="Text 23"/>
          <p:cNvSpPr txBox="1"/>
          <p:nvPr/>
        </p:nvSpPr>
        <p:spPr>
          <a:xfrm>
            <a:off x="822960" y="5394960"/>
            <a:ext cx="3149498" cy="457200"/>
          </a:xfrm>
          <a:prstGeom prst="rect">
            <a:avLst/>
          </a:prstGeom>
          <a:noFill/>
          <a:ln/>
        </p:spPr>
        <p:txBody>
          <a:bodyPr wrap="square" lIns="0" tIns="0" rIns="0" bIns="0" rtlCol="0" anchor="t"/>
          <a:lstStyle/>
          <a:p>
            <a:pPr rtl="1" algn="ctr" indent="0" marL="0">
              <a:buNone/>
            </a:pPr>
            <a:r>
              <a:rPr lang="fa-IR" altLang="en-US" sz="1500" dirty="0">
                <a:solidFill>
                  <a:schemeClr val="bg1"/>
                </a:solidFill>
              </a:rPr>
              <a:t>Alertmanager ← تلگرام و پیامک تیم</a:t>
            </a:r>
            <a:endParaRPr lang="fa-IR" sz="15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لایه‌ی هوش مصنوعی</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همه‌ی قابلیت‌های AI از یک دروازه می‌گذرند و فقط از راه ابزارها به داده می‌رسند</a:t>
            </a:r>
            <a:endParaRPr lang="fa-IR" sz="1600" dirty="0"/>
          </a:p>
        </p:txBody>
      </p:sp>
      <p:sp>
        <p:nvSpPr>
          <p:cNvPr id="5" name="Shape 2"/>
          <p:cNvSpPr/>
          <p:nvPr/>
        </p:nvSpPr>
        <p:spPr>
          <a:xfrm>
            <a:off x="5745175" y="1645920"/>
            <a:ext cx="4389120" cy="438912"/>
          </a:xfrm>
          <a:prstGeom prst="roundRect">
            <a:avLst>
              <a:gd name="adj" fmla="val 50000"/>
            </a:avLst>
          </a:prstGeom>
          <a:solidFill>
            <a:schemeClr val="bg2"/>
          </a:solidFill>
          <a:ln/>
        </p:spPr>
      </p:sp>
      <p:sp>
        <p:nvSpPr>
          <p:cNvPr id="6" name="Text 3"/>
          <p:cNvSpPr txBox="1"/>
          <p:nvPr/>
        </p:nvSpPr>
        <p:spPr>
          <a:xfrm>
            <a:off x="5745175" y="1645920"/>
            <a:ext cx="4389120" cy="438912"/>
          </a:xfrm>
          <a:prstGeom prst="rect">
            <a:avLst/>
          </a:prstGeom>
          <a:noFill/>
          <a:ln/>
        </p:spPr>
        <p:txBody>
          <a:bodyPr wrap="square" lIns="0" tIns="0" rIns="0" bIns="0" rtlCol="0" anchor="ctr"/>
          <a:lstStyle/>
          <a:p>
            <a:pPr rtl="1" algn="ctr" indent="0" marL="0">
              <a:buNone/>
            </a:pPr>
            <a:r>
              <a:rPr lang="fa-IR" altLang="en-US" sz="1400" b="1" dirty="0">
                <a:solidFill>
                  <a:schemeClr val="tx2"/>
                </a:solidFill>
              </a:rPr>
              <a:t>کاربر: گفت‌وگو و جستجوی هوشمند</a:t>
            </a:r>
            <a:endParaRPr lang="fa-IR" sz="1400" dirty="0"/>
          </a:p>
        </p:txBody>
      </p:sp>
      <p:sp>
        <p:nvSpPr>
          <p:cNvPr id="7" name="Shape 4"/>
          <p:cNvSpPr/>
          <p:nvPr/>
        </p:nvSpPr>
        <p:spPr>
          <a:xfrm>
            <a:off x="7939735" y="2103120"/>
            <a:ext cx="0" cy="182880"/>
          </a:xfrm>
          <a:prstGeom prst="line">
            <a:avLst/>
          </a:prstGeom>
          <a:noFill/>
          <a:ln w="22225">
            <a:solidFill>
              <a:schemeClr val="tx2"/>
            </a:solidFill>
            <a:prstDash val="solid"/>
            <a:tailEnd type="triangle"/>
          </a:ln>
        </p:spPr>
      </p:sp>
      <p:sp>
        <p:nvSpPr>
          <p:cNvPr id="8" name="Shape 5"/>
          <p:cNvSpPr/>
          <p:nvPr/>
        </p:nvSpPr>
        <p:spPr>
          <a:xfrm>
            <a:off x="4236415" y="2304288"/>
            <a:ext cx="7406640" cy="960120"/>
          </a:xfrm>
          <a:prstGeom prst="roundRect">
            <a:avLst>
              <a:gd name="adj" fmla="val 11429"/>
            </a:avLst>
          </a:prstGeom>
          <a:solidFill>
            <a:schemeClr val="tx2"/>
          </a:solidFill>
          <a:ln/>
        </p:spPr>
      </p:sp>
      <p:sp>
        <p:nvSpPr>
          <p:cNvPr id="9" name="Text 6"/>
          <p:cNvSpPr txBox="1"/>
          <p:nvPr/>
        </p:nvSpPr>
        <p:spPr>
          <a:xfrm>
            <a:off x="4510735" y="2377440"/>
            <a:ext cx="6858000" cy="365760"/>
          </a:xfrm>
          <a:prstGeom prst="rect">
            <a:avLst/>
          </a:prstGeom>
          <a:noFill/>
          <a:ln/>
        </p:spPr>
        <p:txBody>
          <a:bodyPr wrap="square" lIns="0" tIns="0" rIns="0" bIns="0" rtlCol="0" anchor="t"/>
          <a:lstStyle/>
          <a:p>
            <a:pPr algn="ctr" indent="0" marL="0">
              <a:buNone/>
            </a:pPr>
            <a:r>
              <a:rPr lang="en-US" altLang="en-US" sz="1700" b="1" dirty="0">
                <a:solidFill>
                  <a:schemeClr val="accent2"/>
                </a:solidFill>
              </a:rPr>
              <a:t>AI Gateway</a:t>
            </a:r>
            <a:endParaRPr lang="en-US" sz="1700" dirty="0"/>
          </a:p>
        </p:txBody>
      </p:sp>
      <p:sp>
        <p:nvSpPr>
          <p:cNvPr id="10" name="Text 7"/>
          <p:cNvSpPr txBox="1"/>
          <p:nvPr/>
        </p:nvSpPr>
        <p:spPr>
          <a:xfrm>
            <a:off x="4510735" y="2788920"/>
            <a:ext cx="6858000" cy="365760"/>
          </a:xfrm>
          <a:prstGeom prst="rect">
            <a:avLst/>
          </a:prstGeom>
          <a:noFill/>
          <a:ln/>
        </p:spPr>
        <p:txBody>
          <a:bodyPr wrap="square" lIns="0" tIns="0" rIns="0" bIns="0" rtlCol="0" anchor="t"/>
          <a:lstStyle/>
          <a:p>
            <a:pPr rtl="1" algn="ctr" indent="0" marL="0">
              <a:buNone/>
            </a:pPr>
            <a:r>
              <a:rPr lang="fa-IR" altLang="en-US" sz="1400" dirty="0">
                <a:solidFill>
                  <a:schemeClr val="bg1"/>
                </a:solidFill>
              </a:rPr>
              <a:t>احراز هویت · Guardrailها · مسیریابی Agent · کش معنایی · بودجه‌ی توکن</a:t>
            </a:r>
            <a:endParaRPr lang="fa-IR" sz="1400" dirty="0"/>
          </a:p>
        </p:txBody>
      </p:sp>
      <p:sp>
        <p:nvSpPr>
          <p:cNvPr id="11" name="Shape 8"/>
          <p:cNvSpPr/>
          <p:nvPr/>
        </p:nvSpPr>
        <p:spPr>
          <a:xfrm>
            <a:off x="7939735" y="3282696"/>
            <a:ext cx="0" cy="182880"/>
          </a:xfrm>
          <a:prstGeom prst="line">
            <a:avLst/>
          </a:prstGeom>
          <a:noFill/>
          <a:ln w="22225">
            <a:solidFill>
              <a:schemeClr val="tx2"/>
            </a:solidFill>
            <a:prstDash val="solid"/>
            <a:tailEnd type="triangle"/>
          </a:ln>
        </p:spPr>
      </p:sp>
      <p:sp>
        <p:nvSpPr>
          <p:cNvPr id="12" name="Shape 9"/>
          <p:cNvSpPr/>
          <p:nvPr/>
        </p:nvSpPr>
        <p:spPr>
          <a:xfrm>
            <a:off x="10271455" y="3483864"/>
            <a:ext cx="1371600" cy="502920"/>
          </a:xfrm>
          <a:prstGeom prst="roundRect">
            <a:avLst>
              <a:gd name="adj" fmla="val 14545"/>
            </a:avLst>
          </a:prstGeom>
          <a:solidFill>
            <a:schemeClr val="bg1"/>
          </a:solidFill>
          <a:ln w="15875">
            <a:solidFill>
              <a:srgbClr val="F28C38"/>
            </a:solidFill>
            <a:prstDash val="solid"/>
          </a:ln>
        </p:spPr>
      </p:sp>
      <p:sp>
        <p:nvSpPr>
          <p:cNvPr id="13" name="Text 10"/>
          <p:cNvSpPr txBox="1"/>
          <p:nvPr/>
        </p:nvSpPr>
        <p:spPr>
          <a:xfrm>
            <a:off x="10271455" y="3483864"/>
            <a:ext cx="1371600" cy="502920"/>
          </a:xfrm>
          <a:prstGeom prst="rect">
            <a:avLst/>
          </a:prstGeom>
          <a:noFill/>
          <a:ln/>
        </p:spPr>
        <p:txBody>
          <a:bodyPr wrap="square" lIns="0" tIns="0" rIns="0" bIns="0" rtlCol="0" anchor="ctr"/>
          <a:lstStyle/>
          <a:p>
            <a:pPr algn="ctr" indent="0" marL="0">
              <a:buNone/>
            </a:pPr>
            <a:r>
              <a:rPr lang="en-US" altLang="en-US" sz="1200" b="1" dirty="0">
                <a:solidFill>
                  <a:schemeClr val="tx2"/>
                </a:solidFill>
              </a:rPr>
              <a:t>Shopping Agent</a:t>
            </a:r>
            <a:endParaRPr lang="en-US" sz="1200" dirty="0"/>
          </a:p>
        </p:txBody>
      </p:sp>
      <p:sp>
        <p:nvSpPr>
          <p:cNvPr id="14" name="Shape 11"/>
          <p:cNvSpPr/>
          <p:nvPr/>
        </p:nvSpPr>
        <p:spPr>
          <a:xfrm>
            <a:off x="8762695" y="3483864"/>
            <a:ext cx="1371600" cy="502920"/>
          </a:xfrm>
          <a:prstGeom prst="roundRect">
            <a:avLst>
              <a:gd name="adj" fmla="val 14545"/>
            </a:avLst>
          </a:prstGeom>
          <a:solidFill>
            <a:schemeClr val="bg1"/>
          </a:solidFill>
          <a:ln w="15875">
            <a:solidFill>
              <a:srgbClr val="F28C38"/>
            </a:solidFill>
            <a:prstDash val="solid"/>
          </a:ln>
        </p:spPr>
      </p:sp>
      <p:sp>
        <p:nvSpPr>
          <p:cNvPr id="15" name="Text 12"/>
          <p:cNvSpPr txBox="1"/>
          <p:nvPr/>
        </p:nvSpPr>
        <p:spPr>
          <a:xfrm>
            <a:off x="8762695" y="3483864"/>
            <a:ext cx="1371600" cy="502920"/>
          </a:xfrm>
          <a:prstGeom prst="rect">
            <a:avLst/>
          </a:prstGeom>
          <a:noFill/>
          <a:ln/>
        </p:spPr>
        <p:txBody>
          <a:bodyPr wrap="square" lIns="0" tIns="0" rIns="0" bIns="0" rtlCol="0" anchor="ctr"/>
          <a:lstStyle/>
          <a:p>
            <a:pPr algn="ctr" indent="0" marL="0">
              <a:buNone/>
            </a:pPr>
            <a:r>
              <a:rPr lang="en-US" altLang="en-US" sz="1200" b="1" dirty="0">
                <a:solidFill>
                  <a:schemeClr val="tx2"/>
                </a:solidFill>
              </a:rPr>
              <a:t>Compare</a:t>
            </a:r>
            <a:endParaRPr lang="en-US" sz="1200" dirty="0"/>
          </a:p>
        </p:txBody>
      </p:sp>
      <p:sp>
        <p:nvSpPr>
          <p:cNvPr id="16" name="Shape 13"/>
          <p:cNvSpPr/>
          <p:nvPr/>
        </p:nvSpPr>
        <p:spPr>
          <a:xfrm>
            <a:off x="7253935" y="3483864"/>
            <a:ext cx="1371600" cy="502920"/>
          </a:xfrm>
          <a:prstGeom prst="roundRect">
            <a:avLst>
              <a:gd name="adj" fmla="val 14545"/>
            </a:avLst>
          </a:prstGeom>
          <a:solidFill>
            <a:schemeClr val="bg1"/>
          </a:solidFill>
          <a:ln w="15875">
            <a:solidFill>
              <a:srgbClr val="F28C38"/>
            </a:solidFill>
            <a:prstDash val="solid"/>
          </a:ln>
        </p:spPr>
      </p:sp>
      <p:sp>
        <p:nvSpPr>
          <p:cNvPr id="17" name="Text 14"/>
          <p:cNvSpPr txBox="1"/>
          <p:nvPr/>
        </p:nvSpPr>
        <p:spPr>
          <a:xfrm>
            <a:off x="7253935" y="3483864"/>
            <a:ext cx="1371600" cy="502920"/>
          </a:xfrm>
          <a:prstGeom prst="rect">
            <a:avLst/>
          </a:prstGeom>
          <a:noFill/>
          <a:ln/>
        </p:spPr>
        <p:txBody>
          <a:bodyPr wrap="square" lIns="0" tIns="0" rIns="0" bIns="0" rtlCol="0" anchor="ctr"/>
          <a:lstStyle/>
          <a:p>
            <a:pPr algn="ctr" indent="0" marL="0">
              <a:buNone/>
            </a:pPr>
            <a:r>
              <a:rPr lang="en-US" altLang="en-US" sz="1200" b="1" dirty="0">
                <a:solidFill>
                  <a:schemeClr val="tx2"/>
                </a:solidFill>
              </a:rPr>
              <a:t>Recommend</a:t>
            </a:r>
            <a:endParaRPr lang="en-US" sz="1200" dirty="0"/>
          </a:p>
        </p:txBody>
      </p:sp>
      <p:sp>
        <p:nvSpPr>
          <p:cNvPr id="18" name="Shape 15"/>
          <p:cNvSpPr/>
          <p:nvPr/>
        </p:nvSpPr>
        <p:spPr>
          <a:xfrm>
            <a:off x="5745175" y="3483864"/>
            <a:ext cx="1371600" cy="502920"/>
          </a:xfrm>
          <a:prstGeom prst="roundRect">
            <a:avLst>
              <a:gd name="adj" fmla="val 14545"/>
            </a:avLst>
          </a:prstGeom>
          <a:solidFill>
            <a:schemeClr val="bg1"/>
          </a:solidFill>
          <a:ln w="15875">
            <a:solidFill>
              <a:srgbClr val="F28C38"/>
            </a:solidFill>
            <a:prstDash val="solid"/>
          </a:ln>
        </p:spPr>
      </p:sp>
      <p:sp>
        <p:nvSpPr>
          <p:cNvPr id="19" name="Text 16"/>
          <p:cNvSpPr txBox="1"/>
          <p:nvPr/>
        </p:nvSpPr>
        <p:spPr>
          <a:xfrm>
            <a:off x="5745175" y="3483864"/>
            <a:ext cx="1371600" cy="502920"/>
          </a:xfrm>
          <a:prstGeom prst="rect">
            <a:avLst/>
          </a:prstGeom>
          <a:noFill/>
          <a:ln/>
        </p:spPr>
        <p:txBody>
          <a:bodyPr wrap="square" lIns="0" tIns="0" rIns="0" bIns="0" rtlCol="0" anchor="ctr"/>
          <a:lstStyle/>
          <a:p>
            <a:pPr algn="ctr" indent="0" marL="0">
              <a:buNone/>
            </a:pPr>
            <a:r>
              <a:rPr lang="en-US" altLang="en-US" sz="1200" b="1" dirty="0">
                <a:solidFill>
                  <a:schemeClr val="tx2"/>
                </a:solidFill>
              </a:rPr>
              <a:t>Seller Copilot</a:t>
            </a:r>
            <a:endParaRPr lang="en-US" sz="1200" dirty="0"/>
          </a:p>
        </p:txBody>
      </p:sp>
      <p:sp>
        <p:nvSpPr>
          <p:cNvPr id="20" name="Shape 17"/>
          <p:cNvSpPr/>
          <p:nvPr/>
        </p:nvSpPr>
        <p:spPr>
          <a:xfrm>
            <a:off x="4236415" y="3483864"/>
            <a:ext cx="1371600" cy="502920"/>
          </a:xfrm>
          <a:prstGeom prst="roundRect">
            <a:avLst>
              <a:gd name="adj" fmla="val 14545"/>
            </a:avLst>
          </a:prstGeom>
          <a:solidFill>
            <a:schemeClr val="bg1"/>
          </a:solidFill>
          <a:ln w="15875">
            <a:solidFill>
              <a:srgbClr val="F28C38"/>
            </a:solidFill>
            <a:prstDash val="solid"/>
          </a:ln>
        </p:spPr>
      </p:sp>
      <p:sp>
        <p:nvSpPr>
          <p:cNvPr id="21" name="Text 18"/>
          <p:cNvSpPr txBox="1"/>
          <p:nvPr/>
        </p:nvSpPr>
        <p:spPr>
          <a:xfrm>
            <a:off x="4236415" y="3483864"/>
            <a:ext cx="1371600" cy="502920"/>
          </a:xfrm>
          <a:prstGeom prst="rect">
            <a:avLst/>
          </a:prstGeom>
          <a:noFill/>
          <a:ln/>
        </p:spPr>
        <p:txBody>
          <a:bodyPr wrap="square" lIns="0" tIns="0" rIns="0" bIns="0" rtlCol="0" anchor="ctr"/>
          <a:lstStyle/>
          <a:p>
            <a:pPr algn="ctr" indent="0" marL="0">
              <a:buNone/>
            </a:pPr>
            <a:r>
              <a:rPr lang="en-US" altLang="en-US" sz="1200" b="1" dirty="0">
                <a:solidFill>
                  <a:schemeClr val="tx2"/>
                </a:solidFill>
              </a:rPr>
              <a:t>Moderation</a:t>
            </a:r>
            <a:endParaRPr lang="en-US" sz="1200" dirty="0"/>
          </a:p>
        </p:txBody>
      </p:sp>
      <p:sp>
        <p:nvSpPr>
          <p:cNvPr id="22" name="Shape 19"/>
          <p:cNvSpPr/>
          <p:nvPr/>
        </p:nvSpPr>
        <p:spPr>
          <a:xfrm>
            <a:off x="7939735" y="4005072"/>
            <a:ext cx="0" cy="182880"/>
          </a:xfrm>
          <a:prstGeom prst="line">
            <a:avLst/>
          </a:prstGeom>
          <a:noFill/>
          <a:ln w="22225">
            <a:solidFill>
              <a:schemeClr val="tx2"/>
            </a:solidFill>
            <a:prstDash val="solid"/>
            <a:tailEnd type="triangle"/>
          </a:ln>
        </p:spPr>
      </p:sp>
      <p:sp>
        <p:nvSpPr>
          <p:cNvPr id="23" name="Shape 20"/>
          <p:cNvSpPr/>
          <p:nvPr/>
        </p:nvSpPr>
        <p:spPr>
          <a:xfrm>
            <a:off x="4236415" y="4206240"/>
            <a:ext cx="7406640" cy="960120"/>
          </a:xfrm>
          <a:prstGeom prst="roundRect">
            <a:avLst>
              <a:gd name="adj" fmla="val 11429"/>
            </a:avLst>
          </a:prstGeom>
          <a:solidFill>
            <a:schemeClr val="bg2"/>
          </a:solidFill>
          <a:ln w="15875">
            <a:solidFill>
              <a:srgbClr val="2E7D32"/>
            </a:solidFill>
            <a:prstDash val="solid"/>
          </a:ln>
        </p:spPr>
      </p:sp>
      <p:sp>
        <p:nvSpPr>
          <p:cNvPr id="24" name="Text 21"/>
          <p:cNvSpPr txBox="1"/>
          <p:nvPr/>
        </p:nvSpPr>
        <p:spPr>
          <a:xfrm>
            <a:off x="4510735" y="4261104"/>
            <a:ext cx="6858000" cy="365760"/>
          </a:xfrm>
          <a:prstGeom prst="rect">
            <a:avLst/>
          </a:prstGeom>
          <a:noFill/>
          <a:ln/>
        </p:spPr>
        <p:txBody>
          <a:bodyPr wrap="square" lIns="0" tIns="0" rIns="0" bIns="0" rtlCol="0" anchor="t"/>
          <a:lstStyle/>
          <a:p>
            <a:pPr rtl="1" algn="ctr" indent="0" marL="0">
              <a:buNone/>
            </a:pPr>
            <a:r>
              <a:rPr lang="fa-IR" altLang="en-US" sz="1400" b="1" dirty="0">
                <a:solidFill>
                  <a:schemeClr val="tx2"/>
                </a:solidFill>
              </a:rPr>
              <a:t>لایه‌ی ابزار: فقط API داخلی، با JWT خود کاربر، با اعتبارسنجی Schema</a:t>
            </a:r>
            <a:endParaRPr lang="fa-IR" sz="1400" dirty="0"/>
          </a:p>
        </p:txBody>
      </p:sp>
      <p:sp>
        <p:nvSpPr>
          <p:cNvPr id="25" name="Text 22"/>
          <p:cNvSpPr txBox="1"/>
          <p:nvPr/>
        </p:nvSpPr>
        <p:spPr>
          <a:xfrm>
            <a:off x="4510735" y="4626864"/>
            <a:ext cx="6858000" cy="457200"/>
          </a:xfrm>
          <a:prstGeom prst="rect">
            <a:avLst/>
          </a:prstGeom>
          <a:noFill/>
          <a:ln/>
        </p:spPr>
        <p:txBody>
          <a:bodyPr wrap="square" lIns="0" tIns="0" rIns="0" bIns="0" rtlCol="0" anchor="t"/>
          <a:lstStyle/>
          <a:p>
            <a:pPr algn="ctr" indent="0" marL="0">
              <a:buNone/>
            </a:pPr>
            <a:r>
              <a:rPr lang="en-US" altLang="en-US" sz="1200" dirty="0">
                <a:solidFill>
                  <a:schemeClr val="accent1"/>
                </a:solidFill>
                <a:latin typeface="Consolas" pitchFamily="34" charset="0"/>
                <a:ea typeface="Consolas" pitchFamily="34" charset="-122"/>
                <a:cs typeface="Consolas" pitchFamily="34" charset="-120"/>
              </a:rPr>
              <a:t>search_products · get_product · compare_products</a:t>
            </a:r>
            <a:endParaRPr lang="en-US" sz="1200" dirty="0"/>
          </a:p>
          <a:p>
            <a:pPr algn="ctr" indent="0" marL="0">
              <a:buNone/>
            </a:pPr>
            <a:r>
              <a:rPr lang="en-US" altLang="en-US" sz="1200" dirty="0">
                <a:solidFill>
                  <a:schemeClr val="accent1"/>
                </a:solidFill>
                <a:latin typeface="Consolas" pitchFamily="34" charset="0"/>
                <a:ea typeface="Consolas" pitchFamily="34" charset="-122"/>
                <a:cs typeface="Consolas" pitchFamily="34" charset="-120"/>
              </a:rPr>
              <a:t>add_to_cart · estimate_delivery</a:t>
            </a:r>
            <a:endParaRPr lang="en-US" sz="1200" dirty="0"/>
          </a:p>
        </p:txBody>
      </p:sp>
      <p:sp>
        <p:nvSpPr>
          <p:cNvPr id="26" name="Shape 23"/>
          <p:cNvSpPr/>
          <p:nvPr/>
        </p:nvSpPr>
        <p:spPr>
          <a:xfrm>
            <a:off x="7939735" y="5184648"/>
            <a:ext cx="0" cy="182880"/>
          </a:xfrm>
          <a:prstGeom prst="line">
            <a:avLst/>
          </a:prstGeom>
          <a:noFill/>
          <a:ln w="22225">
            <a:solidFill>
              <a:schemeClr val="tx2"/>
            </a:solidFill>
            <a:prstDash val="solid"/>
            <a:tailEnd type="triangle"/>
          </a:ln>
        </p:spPr>
      </p:sp>
      <p:sp>
        <p:nvSpPr>
          <p:cNvPr id="27" name="Shape 24"/>
          <p:cNvSpPr/>
          <p:nvPr/>
        </p:nvSpPr>
        <p:spPr>
          <a:xfrm>
            <a:off x="9296095" y="5385816"/>
            <a:ext cx="2346960" cy="457200"/>
          </a:xfrm>
          <a:prstGeom prst="roundRect">
            <a:avLst>
              <a:gd name="adj" fmla="val 16000"/>
            </a:avLst>
          </a:prstGeom>
          <a:solidFill>
            <a:schemeClr val="bg1"/>
          </a:solidFill>
          <a:ln w="12700">
            <a:solidFill>
              <a:srgbClr val="1F4D2B"/>
            </a:solidFill>
            <a:prstDash val="solid"/>
          </a:ln>
        </p:spPr>
      </p:sp>
      <p:sp>
        <p:nvSpPr>
          <p:cNvPr id="28" name="Text 25"/>
          <p:cNvSpPr txBox="1"/>
          <p:nvPr/>
        </p:nvSpPr>
        <p:spPr>
          <a:xfrm>
            <a:off x="9296095" y="5385816"/>
            <a:ext cx="2346960" cy="457200"/>
          </a:xfrm>
          <a:prstGeom prst="rect">
            <a:avLst/>
          </a:prstGeom>
          <a:noFill/>
          <a:ln/>
        </p:spPr>
        <p:txBody>
          <a:bodyPr wrap="square" lIns="0" tIns="0" rIns="0" bIns="0" rtlCol="0" anchor="ctr"/>
          <a:lstStyle/>
          <a:p>
            <a:pPr rtl="1" algn="ctr" indent="0" marL="0">
              <a:buNone/>
            </a:pPr>
            <a:r>
              <a:rPr lang="fa-IR" altLang="en-US" sz="1300" b="1" dirty="0">
                <a:solidFill>
                  <a:schemeClr val="tx2"/>
                </a:solidFill>
              </a:rPr>
              <a:t>سرویس‌های دامنه</a:t>
            </a:r>
            <a:endParaRPr lang="fa-IR" sz="1300" dirty="0"/>
          </a:p>
        </p:txBody>
      </p:sp>
      <p:sp>
        <p:nvSpPr>
          <p:cNvPr id="29" name="Shape 26"/>
          <p:cNvSpPr/>
          <p:nvPr/>
        </p:nvSpPr>
        <p:spPr>
          <a:xfrm>
            <a:off x="6766255" y="5385816"/>
            <a:ext cx="2346960" cy="457200"/>
          </a:xfrm>
          <a:prstGeom prst="roundRect">
            <a:avLst>
              <a:gd name="adj" fmla="val 16000"/>
            </a:avLst>
          </a:prstGeom>
          <a:solidFill>
            <a:schemeClr val="bg1"/>
          </a:solidFill>
          <a:ln w="12700">
            <a:solidFill>
              <a:srgbClr val="1F4D2B"/>
            </a:solidFill>
            <a:prstDash val="solid"/>
          </a:ln>
        </p:spPr>
      </p:sp>
      <p:sp>
        <p:nvSpPr>
          <p:cNvPr id="30" name="Text 27"/>
          <p:cNvSpPr txBox="1"/>
          <p:nvPr/>
        </p:nvSpPr>
        <p:spPr>
          <a:xfrm>
            <a:off x="6766255" y="5385816"/>
            <a:ext cx="2346960" cy="457200"/>
          </a:xfrm>
          <a:prstGeom prst="rect">
            <a:avLst/>
          </a:prstGeom>
          <a:noFill/>
          <a:ln/>
        </p:spPr>
        <p:txBody>
          <a:bodyPr wrap="square" lIns="0" tIns="0" rIns="0" bIns="0" rtlCol="0" anchor="ctr"/>
          <a:lstStyle/>
          <a:p>
            <a:pPr rtl="1" algn="ctr" indent="0" marL="0">
              <a:buNone/>
            </a:pPr>
            <a:r>
              <a:rPr lang="fa-IR" altLang="en-US" sz="1300" b="1" dirty="0">
                <a:solidFill>
                  <a:schemeClr val="tx2"/>
                </a:solidFill>
              </a:rPr>
              <a:t>ایندکس جستجو</a:t>
            </a:r>
            <a:endParaRPr lang="fa-IR" sz="1300" dirty="0"/>
          </a:p>
        </p:txBody>
      </p:sp>
      <p:sp>
        <p:nvSpPr>
          <p:cNvPr id="31" name="Shape 28"/>
          <p:cNvSpPr/>
          <p:nvPr/>
        </p:nvSpPr>
        <p:spPr>
          <a:xfrm>
            <a:off x="4236415" y="5385816"/>
            <a:ext cx="2346960" cy="457200"/>
          </a:xfrm>
          <a:prstGeom prst="roundRect">
            <a:avLst>
              <a:gd name="adj" fmla="val 16000"/>
            </a:avLst>
          </a:prstGeom>
          <a:solidFill>
            <a:schemeClr val="bg1"/>
          </a:solidFill>
          <a:ln w="12700">
            <a:solidFill>
              <a:srgbClr val="1F4D2B"/>
            </a:solidFill>
            <a:prstDash val="solid"/>
          </a:ln>
        </p:spPr>
      </p:sp>
      <p:sp>
        <p:nvSpPr>
          <p:cNvPr id="32" name="Text 29"/>
          <p:cNvSpPr txBox="1"/>
          <p:nvPr/>
        </p:nvSpPr>
        <p:spPr>
          <a:xfrm>
            <a:off x="4236415" y="5385816"/>
            <a:ext cx="2346960" cy="457200"/>
          </a:xfrm>
          <a:prstGeom prst="rect">
            <a:avLst/>
          </a:prstGeom>
          <a:noFill/>
          <a:ln/>
        </p:spPr>
        <p:txBody>
          <a:bodyPr wrap="square" lIns="0" tIns="0" rIns="0" bIns="0" rtlCol="0" anchor="ctr"/>
          <a:lstStyle/>
          <a:p>
            <a:pPr rtl="1" algn="ctr" indent="0" marL="0">
              <a:buNone/>
            </a:pPr>
            <a:r>
              <a:rPr lang="fa-IR" altLang="en-US" sz="1300" b="1" dirty="0">
                <a:solidFill>
                  <a:schemeClr val="tx2"/>
                </a:solidFill>
              </a:rPr>
              <a:t>Vector Store · pgvector</a:t>
            </a:r>
            <a:endParaRPr lang="fa-IR" sz="1300" dirty="0"/>
          </a:p>
        </p:txBody>
      </p:sp>
      <p:sp>
        <p:nvSpPr>
          <p:cNvPr id="33" name="Shape 30"/>
          <p:cNvSpPr/>
          <p:nvPr/>
        </p:nvSpPr>
        <p:spPr>
          <a:xfrm>
            <a:off x="548640" y="1645920"/>
            <a:ext cx="3322015" cy="4526280"/>
          </a:xfrm>
          <a:prstGeom prst="roundRect">
            <a:avLst>
              <a:gd name="adj" fmla="val 3303"/>
            </a:avLst>
          </a:prstGeom>
          <a:solidFill>
            <a:schemeClr val="bg2"/>
          </a:solidFill>
          <a:ln/>
        </p:spPr>
      </p:sp>
      <p:sp>
        <p:nvSpPr>
          <p:cNvPr id="34" name="Shape 31"/>
          <p:cNvSpPr/>
          <p:nvPr/>
        </p:nvSpPr>
        <p:spPr>
          <a:xfrm>
            <a:off x="3093415" y="1828800"/>
            <a:ext cx="548640" cy="548640"/>
          </a:xfrm>
          <a:prstGeom prst="ellipse">
            <a:avLst/>
          </a:prstGeom>
          <a:solidFill>
            <a:schemeClr val="accent2"/>
          </a:solidFill>
          <a:ln/>
        </p:spPr>
      </p:sp>
      <p:pic>
        <p:nvPicPr>
          <p:cNvPr id="35" name="Image 0" descr="LuCpu">    </p:cNvPr>
          <p:cNvPicPr>
            <a:picLocks noChangeAspect="1"/>
          </p:cNvPicPr>
          <p:nvPr/>
        </p:nvPicPr>
        <p:blipFill>
          <a:blip r:embed="rId1"/>
          <a:stretch>
            <a:fillRect/>
          </a:stretch>
        </p:blipFill>
        <p:spPr>
          <a:xfrm>
            <a:off x="3214116" y="1949501"/>
            <a:ext cx="307238" cy="307238"/>
          </a:xfrm>
          <a:prstGeom prst="rect">
            <a:avLst/>
          </a:prstGeom>
        </p:spPr>
      </p:pic>
      <p:sp>
        <p:nvSpPr>
          <p:cNvPr id="36" name="Text 32"/>
          <p:cNvSpPr txBox="1"/>
          <p:nvPr/>
        </p:nvSpPr>
        <p:spPr>
          <a:xfrm>
            <a:off x="777240" y="1828800"/>
            <a:ext cx="2133295" cy="548640"/>
          </a:xfrm>
          <a:prstGeom prst="rect">
            <a:avLst/>
          </a:prstGeom>
          <a:noFill/>
          <a:ln/>
        </p:spPr>
        <p:txBody>
          <a:bodyPr wrap="square" lIns="0" tIns="0" rIns="0" bIns="0" rtlCol="0" anchor="ctr"/>
          <a:lstStyle/>
          <a:p>
            <a:pPr algn="r" indent="0" marL="0">
              <a:buNone/>
            </a:pPr>
            <a:r>
              <a:rPr lang="en-US" altLang="en-US" sz="1700" b="1" dirty="0">
                <a:solidFill>
                  <a:schemeClr val="tx2"/>
                </a:solidFill>
              </a:rPr>
              <a:t>LLMProvider</a:t>
            </a:r>
            <a:endParaRPr lang="en-US" sz="1700" dirty="0"/>
          </a:p>
        </p:txBody>
      </p:sp>
      <p:sp>
        <p:nvSpPr>
          <p:cNvPr id="37" name="Text 33"/>
          <p:cNvSpPr txBox="1"/>
          <p:nvPr/>
        </p:nvSpPr>
        <p:spPr>
          <a:xfrm>
            <a:off x="777240" y="2468880"/>
            <a:ext cx="2864815" cy="548640"/>
          </a:xfrm>
          <a:prstGeom prst="rect">
            <a:avLst/>
          </a:prstGeom>
          <a:noFill/>
          <a:ln/>
        </p:spPr>
        <p:txBody>
          <a:bodyPr wrap="square" lIns="0" tIns="0" rIns="0" bIns="0" rtlCol="0" anchor="t"/>
          <a:lstStyle/>
          <a:p>
            <a:pPr rtl="1" algn="r" indent="0" marL="0">
              <a:buNone/>
            </a:pPr>
            <a:r>
              <a:rPr lang="fa-IR" altLang="en-US" sz="1400" dirty="0">
                <a:solidFill>
                  <a:schemeClr val="tx1"/>
                </a:solidFill>
              </a:rPr>
              <a:t>تعویض مدل فقط با تنظیمات، بدون تغییر کد</a:t>
            </a:r>
            <a:endParaRPr lang="fa-IR" sz="1400" dirty="0"/>
          </a:p>
        </p:txBody>
      </p:sp>
      <p:sp>
        <p:nvSpPr>
          <p:cNvPr id="38" name="Shape 34"/>
          <p:cNvSpPr/>
          <p:nvPr/>
        </p:nvSpPr>
        <p:spPr>
          <a:xfrm>
            <a:off x="777240" y="3108960"/>
            <a:ext cx="2864815" cy="512064"/>
          </a:xfrm>
          <a:prstGeom prst="roundRect">
            <a:avLst>
              <a:gd name="adj" fmla="val 14286"/>
            </a:avLst>
          </a:prstGeom>
          <a:solidFill>
            <a:schemeClr val="bg1"/>
          </a:solidFill>
          <a:ln/>
        </p:spPr>
      </p:sp>
      <p:sp>
        <p:nvSpPr>
          <p:cNvPr id="39" name="Text 35"/>
          <p:cNvSpPr txBox="1"/>
          <p:nvPr/>
        </p:nvSpPr>
        <p:spPr>
          <a:xfrm>
            <a:off x="914400" y="3108960"/>
            <a:ext cx="2590495" cy="512064"/>
          </a:xfrm>
          <a:prstGeom prst="rect">
            <a:avLst/>
          </a:prstGeom>
          <a:noFill/>
          <a:ln/>
        </p:spPr>
        <p:txBody>
          <a:bodyPr wrap="square" lIns="0" tIns="0" rIns="0" bIns="0" rtlCol="0" anchor="ctr"/>
          <a:lstStyle/>
          <a:p>
            <a:pPr rtl="1" algn="r" indent="0" marL="0">
              <a:buNone/>
            </a:pPr>
            <a:r>
              <a:rPr lang="fa-IR" altLang="en-US" sz="1300" dirty="0">
                <a:solidFill>
                  <a:schemeClr val="tx1"/>
                </a:solidFill>
              </a:rPr>
              <a:t>مدل میزبانی‌شده</a:t>
            </a:r>
            <a:endParaRPr lang="fa-IR" sz="1300" dirty="0"/>
          </a:p>
        </p:txBody>
      </p:sp>
      <p:sp>
        <p:nvSpPr>
          <p:cNvPr id="40" name="Shape 36"/>
          <p:cNvSpPr/>
          <p:nvPr/>
        </p:nvSpPr>
        <p:spPr>
          <a:xfrm>
            <a:off x="777240" y="3730752"/>
            <a:ext cx="2864815" cy="512064"/>
          </a:xfrm>
          <a:prstGeom prst="roundRect">
            <a:avLst>
              <a:gd name="adj" fmla="val 14286"/>
            </a:avLst>
          </a:prstGeom>
          <a:solidFill>
            <a:schemeClr val="bg1"/>
          </a:solidFill>
          <a:ln/>
        </p:spPr>
      </p:sp>
      <p:sp>
        <p:nvSpPr>
          <p:cNvPr id="41" name="Text 37"/>
          <p:cNvSpPr txBox="1"/>
          <p:nvPr/>
        </p:nvSpPr>
        <p:spPr>
          <a:xfrm>
            <a:off x="914400" y="3730752"/>
            <a:ext cx="2590495" cy="512064"/>
          </a:xfrm>
          <a:prstGeom prst="rect">
            <a:avLst/>
          </a:prstGeom>
          <a:noFill/>
          <a:ln/>
        </p:spPr>
        <p:txBody>
          <a:bodyPr wrap="square" lIns="0" tIns="0" rIns="0" bIns="0" rtlCol="0" anchor="ctr"/>
          <a:lstStyle/>
          <a:p>
            <a:pPr rtl="1" algn="r" indent="0" marL="0">
              <a:buNone/>
            </a:pPr>
            <a:r>
              <a:rPr lang="fa-IR" altLang="en-US" sz="1300" dirty="0">
                <a:solidFill>
                  <a:schemeClr val="tx1"/>
                </a:solidFill>
              </a:rPr>
              <a:t>مدل متن‌باز خودمیزبان</a:t>
            </a:r>
            <a:endParaRPr lang="fa-IR" sz="1300" dirty="0"/>
          </a:p>
        </p:txBody>
      </p:sp>
      <p:sp>
        <p:nvSpPr>
          <p:cNvPr id="42" name="Shape 38"/>
          <p:cNvSpPr/>
          <p:nvPr/>
        </p:nvSpPr>
        <p:spPr>
          <a:xfrm>
            <a:off x="777240" y="4352544"/>
            <a:ext cx="2864815" cy="512064"/>
          </a:xfrm>
          <a:prstGeom prst="roundRect">
            <a:avLst>
              <a:gd name="adj" fmla="val 14286"/>
            </a:avLst>
          </a:prstGeom>
          <a:solidFill>
            <a:schemeClr val="bg1"/>
          </a:solidFill>
          <a:ln/>
        </p:spPr>
      </p:sp>
      <p:sp>
        <p:nvSpPr>
          <p:cNvPr id="43" name="Text 39"/>
          <p:cNvSpPr txBox="1"/>
          <p:nvPr/>
        </p:nvSpPr>
        <p:spPr>
          <a:xfrm>
            <a:off x="914400" y="4352544"/>
            <a:ext cx="2590495" cy="512064"/>
          </a:xfrm>
          <a:prstGeom prst="rect">
            <a:avLst/>
          </a:prstGeom>
          <a:noFill/>
          <a:ln/>
        </p:spPr>
        <p:txBody>
          <a:bodyPr wrap="square" lIns="0" tIns="0" rIns="0" bIns="0" rtlCol="0" anchor="ctr"/>
          <a:lstStyle/>
          <a:p>
            <a:pPr rtl="1" algn="r" indent="0" marL="0">
              <a:buNone/>
            </a:pPr>
            <a:r>
              <a:rPr lang="fa-IR" altLang="en-US" sz="1300" dirty="0">
                <a:solidFill>
                  <a:schemeClr val="tx1"/>
                </a:solidFill>
              </a:rPr>
              <a:t>Fake قطعی برای تست و Evals</a:t>
            </a:r>
            <a:endParaRPr lang="fa-IR" sz="1300" dirty="0"/>
          </a:p>
        </p:txBody>
      </p:sp>
      <p:sp>
        <p:nvSpPr>
          <p:cNvPr id="44" name="Text 40"/>
          <p:cNvSpPr txBox="1"/>
          <p:nvPr/>
        </p:nvSpPr>
        <p:spPr>
          <a:xfrm>
            <a:off x="777240" y="5074920"/>
            <a:ext cx="2864815" cy="822960"/>
          </a:xfrm>
          <a:prstGeom prst="rect">
            <a:avLst/>
          </a:prstGeom>
          <a:noFill/>
          <a:ln/>
        </p:spPr>
        <p:txBody>
          <a:bodyPr wrap="square" lIns="0" tIns="0" rIns="0" bIns="0" rtlCol="0" anchor="t"/>
          <a:lstStyle/>
          <a:p>
            <a:pPr rtl="1" algn="r" indent="0" marL="0">
              <a:buNone/>
            </a:pPr>
            <a:r>
              <a:rPr lang="fa-IR" altLang="en-US" sz="1300" b="1" dirty="0">
                <a:solidFill>
                  <a:schemeClr val="accent2"/>
                </a:solidFill>
              </a:rPr>
              <a:t>اگر API خارجی در دسترس نبود، مدل داخلی جایگزین می‌شود</a:t>
            </a:r>
            <a:endParaRPr lang="fa-IR" sz="13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دستیار خرید در عمل</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مدل پیشنهاد می‌دهد؛ تصمیم و پرداخت همیشه با کاربر است</a:t>
            </a:r>
            <a:endParaRPr lang="fa-IR" sz="1600" dirty="0"/>
          </a:p>
        </p:txBody>
      </p:sp>
      <p:sp>
        <p:nvSpPr>
          <p:cNvPr id="5" name="Shape 2"/>
          <p:cNvSpPr/>
          <p:nvPr/>
        </p:nvSpPr>
        <p:spPr>
          <a:xfrm>
            <a:off x="5790895" y="1645920"/>
            <a:ext cx="5852160" cy="4526280"/>
          </a:xfrm>
          <a:prstGeom prst="roundRect">
            <a:avLst>
              <a:gd name="adj" fmla="val 2424"/>
            </a:avLst>
          </a:prstGeom>
          <a:solidFill>
            <a:schemeClr val="bg2"/>
          </a:solidFill>
          <a:ln/>
        </p:spPr>
      </p:sp>
      <p:sp>
        <p:nvSpPr>
          <p:cNvPr id="6" name="Shape 3"/>
          <p:cNvSpPr/>
          <p:nvPr/>
        </p:nvSpPr>
        <p:spPr>
          <a:xfrm>
            <a:off x="7482535" y="1828800"/>
            <a:ext cx="3931920" cy="822960"/>
          </a:xfrm>
          <a:prstGeom prst="roundRect">
            <a:avLst>
              <a:gd name="adj" fmla="val 20000"/>
            </a:avLst>
          </a:prstGeom>
          <a:solidFill>
            <a:schemeClr val="accent1"/>
          </a:solidFill>
          <a:ln/>
        </p:spPr>
      </p:sp>
      <p:sp>
        <p:nvSpPr>
          <p:cNvPr id="7" name="Text 4"/>
          <p:cNvSpPr txBox="1"/>
          <p:nvPr/>
        </p:nvSpPr>
        <p:spPr>
          <a:xfrm>
            <a:off x="7665415" y="1828800"/>
            <a:ext cx="3566160" cy="822960"/>
          </a:xfrm>
          <a:prstGeom prst="rect">
            <a:avLst/>
          </a:prstGeom>
          <a:noFill/>
          <a:ln/>
        </p:spPr>
        <p:txBody>
          <a:bodyPr wrap="square" lIns="0" tIns="0" rIns="0" bIns="0" rtlCol="0" anchor="ctr"/>
          <a:lstStyle/>
          <a:p>
            <a:pPr rtl="1" algn="r" indent="0" marL="0">
              <a:buNone/>
            </a:pPr>
            <a:r>
              <a:rPr lang="fa-IR" altLang="en-US" sz="1400" dirty="0">
                <a:solidFill>
                  <a:schemeClr val="bg1"/>
                </a:solidFill>
              </a:rPr>
              <a:t>برای مهمونی ۱۰ نفره دسر میوه‌ای می‌خوام، بودجه‌م ۸۰۰ هزار تومنه.</a:t>
            </a:r>
            <a:endParaRPr lang="fa-IR" sz="1400" dirty="0"/>
          </a:p>
        </p:txBody>
      </p:sp>
      <p:sp>
        <p:nvSpPr>
          <p:cNvPr id="8" name="Shape 5"/>
          <p:cNvSpPr/>
          <p:nvPr/>
        </p:nvSpPr>
        <p:spPr>
          <a:xfrm>
            <a:off x="6019495" y="2816352"/>
            <a:ext cx="2743200" cy="329184"/>
          </a:xfrm>
          <a:prstGeom prst="roundRect">
            <a:avLst>
              <a:gd name="adj" fmla="val 22222"/>
            </a:avLst>
          </a:prstGeom>
          <a:solidFill>
            <a:schemeClr val="bg1"/>
          </a:solidFill>
          <a:ln w="9525">
            <a:solidFill>
              <a:srgbClr val="2E7D32"/>
            </a:solidFill>
            <a:prstDash val="dash"/>
          </a:ln>
        </p:spPr>
      </p:sp>
      <p:sp>
        <p:nvSpPr>
          <p:cNvPr id="9" name="Text 6"/>
          <p:cNvSpPr txBox="1"/>
          <p:nvPr/>
        </p:nvSpPr>
        <p:spPr>
          <a:xfrm>
            <a:off x="6019495" y="2816352"/>
            <a:ext cx="2743200" cy="329184"/>
          </a:xfrm>
          <a:prstGeom prst="rect">
            <a:avLst/>
          </a:prstGeom>
          <a:noFill/>
          <a:ln/>
        </p:spPr>
        <p:txBody>
          <a:bodyPr wrap="square" lIns="0" tIns="0" rIns="0" bIns="0" rtlCol="0" anchor="ctr"/>
          <a:lstStyle/>
          <a:p>
            <a:pPr algn="ctr" indent="0" marL="0">
              <a:buNone/>
            </a:pPr>
            <a:r>
              <a:rPr lang="en-US" altLang="en-US" sz="1100" dirty="0">
                <a:solidFill>
                  <a:schemeClr val="accent1"/>
                </a:solidFill>
                <a:latin typeface="Consolas" pitchFamily="34" charset="0"/>
                <a:ea typeface="Consolas" pitchFamily="34" charset="-122"/>
                <a:cs typeface="Consolas" pitchFamily="34" charset="-120"/>
              </a:rPr>
              <a:t>search_products(city: "tehran")</a:t>
            </a:r>
            <a:endParaRPr lang="en-US" sz="1100" dirty="0"/>
          </a:p>
        </p:txBody>
      </p:sp>
      <p:sp>
        <p:nvSpPr>
          <p:cNvPr id="10" name="Shape 7"/>
          <p:cNvSpPr/>
          <p:nvPr/>
        </p:nvSpPr>
        <p:spPr>
          <a:xfrm>
            <a:off x="8899855" y="2816352"/>
            <a:ext cx="1737360" cy="329184"/>
          </a:xfrm>
          <a:prstGeom prst="roundRect">
            <a:avLst>
              <a:gd name="adj" fmla="val 22222"/>
            </a:avLst>
          </a:prstGeom>
          <a:solidFill>
            <a:schemeClr val="bg1"/>
          </a:solidFill>
          <a:ln w="9525">
            <a:solidFill>
              <a:srgbClr val="2E7D32"/>
            </a:solidFill>
            <a:prstDash val="dash"/>
          </a:ln>
        </p:spPr>
      </p:sp>
      <p:sp>
        <p:nvSpPr>
          <p:cNvPr id="11" name="Text 8"/>
          <p:cNvSpPr txBox="1"/>
          <p:nvPr/>
        </p:nvSpPr>
        <p:spPr>
          <a:xfrm>
            <a:off x="8899855" y="2816352"/>
            <a:ext cx="1737360" cy="329184"/>
          </a:xfrm>
          <a:prstGeom prst="rect">
            <a:avLst/>
          </a:prstGeom>
          <a:noFill/>
          <a:ln/>
        </p:spPr>
        <p:txBody>
          <a:bodyPr wrap="square" lIns="0" tIns="0" rIns="0" bIns="0" rtlCol="0" anchor="ctr"/>
          <a:lstStyle/>
          <a:p>
            <a:pPr algn="ctr" indent="0" marL="0">
              <a:buNone/>
            </a:pPr>
            <a:r>
              <a:rPr lang="en-US" altLang="en-US" sz="1100" dirty="0">
                <a:solidFill>
                  <a:schemeClr val="accent1"/>
                </a:solidFill>
                <a:latin typeface="Consolas" pitchFamily="34" charset="0"/>
                <a:ea typeface="Consolas" pitchFamily="34" charset="-122"/>
                <a:cs typeface="Consolas" pitchFamily="34" charset="-120"/>
              </a:rPr>
              <a:t>estimate_delivery()</a:t>
            </a:r>
            <a:endParaRPr lang="en-US" sz="1100" dirty="0"/>
          </a:p>
        </p:txBody>
      </p:sp>
      <p:sp>
        <p:nvSpPr>
          <p:cNvPr id="12" name="Shape 9"/>
          <p:cNvSpPr/>
          <p:nvPr/>
        </p:nvSpPr>
        <p:spPr>
          <a:xfrm>
            <a:off x="6019495" y="3310128"/>
            <a:ext cx="4572000" cy="1783080"/>
          </a:xfrm>
          <a:prstGeom prst="roundRect">
            <a:avLst>
              <a:gd name="adj" fmla="val 7179"/>
            </a:avLst>
          </a:prstGeom>
          <a:solidFill>
            <a:schemeClr val="bg1"/>
          </a:solidFill>
          <a:ln w="9525">
            <a:solidFill>
              <a:srgbClr val="1F4D2B"/>
            </a:solidFill>
            <a:prstDash val="solid"/>
          </a:ln>
        </p:spPr>
      </p:sp>
      <p:sp>
        <p:nvSpPr>
          <p:cNvPr id="13" name="Shape 10"/>
          <p:cNvSpPr/>
          <p:nvPr/>
        </p:nvSpPr>
        <p:spPr>
          <a:xfrm>
            <a:off x="9174175" y="3182112"/>
            <a:ext cx="1280160" cy="274320"/>
          </a:xfrm>
          <a:prstGeom prst="roundRect">
            <a:avLst>
              <a:gd name="adj" fmla="val 50000"/>
            </a:avLst>
          </a:prstGeom>
          <a:solidFill>
            <a:schemeClr val="accent2"/>
          </a:solidFill>
          <a:ln/>
        </p:spPr>
      </p:sp>
      <p:sp>
        <p:nvSpPr>
          <p:cNvPr id="14" name="Text 11"/>
          <p:cNvSpPr txBox="1"/>
          <p:nvPr/>
        </p:nvSpPr>
        <p:spPr>
          <a:xfrm>
            <a:off x="9174175" y="3182112"/>
            <a:ext cx="1280160" cy="274320"/>
          </a:xfrm>
          <a:prstGeom prst="rect">
            <a:avLst/>
          </a:prstGeom>
          <a:noFill/>
          <a:ln/>
        </p:spPr>
        <p:txBody>
          <a:bodyPr wrap="square" lIns="0" tIns="0" rIns="0" bIns="0" rtlCol="0" anchor="ctr"/>
          <a:lstStyle/>
          <a:p>
            <a:pPr rtl="1" algn="ctr" indent="0" marL="0">
              <a:buNone/>
            </a:pPr>
            <a:r>
              <a:rPr lang="fa-IR" altLang="en-US" sz="1100" b="1" dirty="0">
                <a:solidFill>
                  <a:schemeClr val="bg1"/>
                </a:solidFill>
              </a:rPr>
              <a:t>پیشنهاد هوشمند</a:t>
            </a:r>
            <a:endParaRPr lang="fa-IR" sz="1100" dirty="0"/>
          </a:p>
        </p:txBody>
      </p:sp>
      <p:sp>
        <p:nvSpPr>
          <p:cNvPr id="15" name="Text 12"/>
          <p:cNvSpPr txBox="1"/>
          <p:nvPr/>
        </p:nvSpPr>
        <p:spPr>
          <a:xfrm>
            <a:off x="6248095" y="3520440"/>
            <a:ext cx="4114800" cy="1645920"/>
          </a:xfrm>
          <a:prstGeom prst="rect">
            <a:avLst/>
          </a:prstGeom>
          <a:noFill/>
          <a:ln/>
        </p:spPr>
        <p:txBody>
          <a:bodyPr wrap="square" lIns="0" tIns="0" rIns="0" bIns="0" rtlCol="0" anchor="t"/>
          <a:lstStyle/>
          <a:p>
            <a:pPr rtl="1" algn="r" indent="0" marL="0">
              <a:spcAft>
                <a:spcPts val="200"/>
              </a:spcAft>
              <a:buNone/>
            </a:pPr>
            <a:r>
              <a:rPr lang="fa-IR" altLang="en-US" sz="1400" b="1" dirty="0">
                <a:solidFill>
                  <a:schemeClr val="tx1"/>
                </a:solidFill>
              </a:rPr>
              <a:t>این سبد در بودجه‌ی شماست:</a:t>
            </a:r>
            <a:endParaRPr lang="fa-IR" sz="1400" dirty="0"/>
          </a:p>
          <a:p>
            <a:pPr rtl="1" algn="r" indent="0" marL="0">
              <a:spcAft>
                <a:spcPts val="200"/>
              </a:spcAft>
              <a:buNone/>
            </a:pPr>
            <a:r>
              <a:rPr lang="fa-IR" altLang="en-US" sz="1400" dirty="0">
                <a:solidFill>
                  <a:schemeClr val="tx1"/>
                </a:solidFill>
              </a:rPr>
              <a:t>۳ کیلو هلو — ۳۶۰ هزار تومان</a:t>
            </a:r>
            <a:endParaRPr lang="fa-IR" sz="1400" dirty="0"/>
          </a:p>
          <a:p>
            <a:pPr rtl="1" algn="r" indent="0" marL="0">
              <a:spcAft>
                <a:spcPts val="200"/>
              </a:spcAft>
              <a:buNone/>
            </a:pPr>
            <a:r>
              <a:rPr lang="fa-IR" altLang="en-US" sz="1400" dirty="0">
                <a:solidFill>
                  <a:schemeClr val="tx1"/>
                </a:solidFill>
              </a:rPr>
              <a:t>۲ کیلو انگور بی‌دانه — ۱۸۰ هزار تومان</a:t>
            </a:r>
            <a:endParaRPr lang="fa-IR" sz="1400" dirty="0"/>
          </a:p>
          <a:p>
            <a:pPr rtl="1" algn="r" indent="0" marL="0">
              <a:spcAft>
                <a:spcPts val="200"/>
              </a:spcAft>
              <a:buNone/>
            </a:pPr>
            <a:r>
              <a:rPr lang="fa-IR" altLang="en-US" sz="1400" dirty="0">
                <a:solidFill>
                  <a:schemeClr val="tx1"/>
                </a:solidFill>
              </a:rPr>
              <a:t>۱ جعبه توت‌فرنگی — ۱۹۰ هزار تومان</a:t>
            </a:r>
            <a:endParaRPr lang="fa-IR" sz="1400" dirty="0"/>
          </a:p>
          <a:p>
            <a:pPr rtl="1" algn="r" indent="0" marL="0">
              <a:spcAft>
                <a:spcPts val="200"/>
              </a:spcAft>
              <a:buNone/>
            </a:pPr>
            <a:r>
              <a:rPr lang="fa-IR" altLang="en-US" sz="1400" b="1" dirty="0">
                <a:solidFill>
                  <a:schemeClr val="accent1"/>
                </a:solidFill>
              </a:rPr>
              <a:t>ارسال ۴۰ هزار · جمع: ۷۷۰ هزار تومان</a:t>
            </a:r>
            <a:endParaRPr lang="fa-IR" sz="1400" dirty="0"/>
          </a:p>
        </p:txBody>
      </p:sp>
      <p:sp>
        <p:nvSpPr>
          <p:cNvPr id="16" name="Shape 13"/>
          <p:cNvSpPr/>
          <p:nvPr/>
        </p:nvSpPr>
        <p:spPr>
          <a:xfrm>
            <a:off x="6019495" y="5440680"/>
            <a:ext cx="2011680" cy="457200"/>
          </a:xfrm>
          <a:prstGeom prst="roundRect">
            <a:avLst>
              <a:gd name="adj" fmla="val 50000"/>
            </a:avLst>
          </a:prstGeom>
          <a:solidFill>
            <a:schemeClr val="accent2"/>
          </a:solidFill>
          <a:ln/>
        </p:spPr>
      </p:sp>
      <p:sp>
        <p:nvSpPr>
          <p:cNvPr id="17" name="Text 14"/>
          <p:cNvSpPr txBox="1"/>
          <p:nvPr/>
        </p:nvSpPr>
        <p:spPr>
          <a:xfrm>
            <a:off x="6019495" y="5440680"/>
            <a:ext cx="2011680" cy="457200"/>
          </a:xfrm>
          <a:prstGeom prst="rect">
            <a:avLst/>
          </a:prstGeom>
          <a:noFill/>
          <a:ln/>
        </p:spPr>
        <p:txBody>
          <a:bodyPr wrap="square" lIns="0" tIns="0" rIns="0" bIns="0" rtlCol="0" anchor="ctr"/>
          <a:lstStyle/>
          <a:p>
            <a:pPr rtl="1" algn="ctr" indent="0" marL="0">
              <a:buNone/>
            </a:pPr>
            <a:r>
              <a:rPr lang="fa-IR" altLang="en-US" sz="1400" b="1" dirty="0">
                <a:solidFill>
                  <a:schemeClr val="bg1"/>
                </a:solidFill>
              </a:rPr>
              <a:t>افزودن به سبد</a:t>
            </a:r>
            <a:endParaRPr lang="fa-IR" sz="1400" dirty="0"/>
          </a:p>
        </p:txBody>
      </p:sp>
      <p:sp>
        <p:nvSpPr>
          <p:cNvPr id="18" name="Text 15"/>
          <p:cNvSpPr txBox="1"/>
          <p:nvPr/>
        </p:nvSpPr>
        <p:spPr>
          <a:xfrm>
            <a:off x="8168335" y="5440680"/>
            <a:ext cx="2011680" cy="457200"/>
          </a:xfrm>
          <a:prstGeom prst="rect">
            <a:avLst/>
          </a:prstGeom>
          <a:noFill/>
          <a:ln/>
        </p:spPr>
        <p:txBody>
          <a:bodyPr wrap="square" lIns="0" tIns="0" rIns="0" bIns="0" rtlCol="0" anchor="ctr"/>
          <a:lstStyle/>
          <a:p>
            <a:pPr rtl="1" algn="l" indent="0" marL="0">
              <a:buNone/>
            </a:pPr>
            <a:r>
              <a:rPr lang="fa-IR" altLang="en-US" sz="1300" dirty="0">
                <a:solidFill>
                  <a:srgbClr val="5E6E62"/>
                </a:solidFill>
              </a:rPr>
              <a:t>تأیید با کاربر</a:t>
            </a:r>
            <a:endParaRPr lang="fa-IR" sz="1300" dirty="0"/>
          </a:p>
        </p:txBody>
      </p:sp>
      <p:sp>
        <p:nvSpPr>
          <p:cNvPr id="19" name="Shape 16"/>
          <p:cNvSpPr/>
          <p:nvPr/>
        </p:nvSpPr>
        <p:spPr>
          <a:xfrm>
            <a:off x="4967935" y="1737360"/>
            <a:ext cx="457200" cy="457200"/>
          </a:xfrm>
          <a:prstGeom prst="ellipse">
            <a:avLst/>
          </a:prstGeom>
          <a:solidFill>
            <a:schemeClr val="tx2"/>
          </a:solidFill>
          <a:ln/>
        </p:spPr>
      </p:sp>
      <p:sp>
        <p:nvSpPr>
          <p:cNvPr id="20" name="Text 17"/>
          <p:cNvSpPr txBox="1"/>
          <p:nvPr/>
        </p:nvSpPr>
        <p:spPr>
          <a:xfrm>
            <a:off x="4967935" y="1737360"/>
            <a:ext cx="457200" cy="457200"/>
          </a:xfrm>
          <a:prstGeom prst="rect">
            <a:avLst/>
          </a:prstGeom>
          <a:noFill/>
          <a:ln/>
        </p:spPr>
        <p:txBody>
          <a:bodyPr wrap="square" lIns="0" tIns="0" rIns="0" bIns="0" rtlCol="0" anchor="ctr"/>
          <a:lstStyle/>
          <a:p>
            <a:pPr rtl="1" algn="ctr" indent="0" marL="0">
              <a:buNone/>
            </a:pPr>
            <a:r>
              <a:rPr lang="fa-IR" altLang="en-US" sz="1600" b="1" dirty="0">
                <a:solidFill>
                  <a:schemeClr val="bg1"/>
                </a:solidFill>
              </a:rPr>
              <a:t>۱</a:t>
            </a:r>
            <a:endParaRPr lang="fa-IR" sz="1600" dirty="0"/>
          </a:p>
        </p:txBody>
      </p:sp>
      <p:sp>
        <p:nvSpPr>
          <p:cNvPr id="21" name="Text 18"/>
          <p:cNvSpPr txBox="1"/>
          <p:nvPr/>
        </p:nvSpPr>
        <p:spPr>
          <a:xfrm>
            <a:off x="548640" y="1691640"/>
            <a:ext cx="4236415" cy="777240"/>
          </a:xfrm>
          <a:prstGeom prst="rect">
            <a:avLst/>
          </a:prstGeom>
          <a:noFill/>
          <a:ln/>
        </p:spPr>
        <p:txBody>
          <a:bodyPr wrap="square" lIns="0" tIns="0" rIns="0" bIns="0" rtlCol="0" anchor="t"/>
          <a:lstStyle/>
          <a:p>
            <a:pPr rtl="1" algn="r" indent="0" marL="0">
              <a:buNone/>
            </a:pPr>
            <a:r>
              <a:rPr lang="fa-IR" altLang="en-US" sz="1500" dirty="0">
                <a:solidFill>
                  <a:schemeClr val="tx1"/>
                </a:solidFill>
              </a:rPr>
              <a:t>قیمت، موجودی و امتیاز فقط از ابزار؛ هرگز از حافظه‌ی مدل</a:t>
            </a:r>
            <a:endParaRPr lang="fa-IR" sz="1500" dirty="0"/>
          </a:p>
        </p:txBody>
      </p:sp>
      <p:sp>
        <p:nvSpPr>
          <p:cNvPr id="22" name="Shape 19"/>
          <p:cNvSpPr/>
          <p:nvPr/>
        </p:nvSpPr>
        <p:spPr>
          <a:xfrm>
            <a:off x="4967935" y="2624328"/>
            <a:ext cx="457200" cy="457200"/>
          </a:xfrm>
          <a:prstGeom prst="ellipse">
            <a:avLst/>
          </a:prstGeom>
          <a:solidFill>
            <a:schemeClr val="tx2"/>
          </a:solidFill>
          <a:ln/>
        </p:spPr>
      </p:sp>
      <p:sp>
        <p:nvSpPr>
          <p:cNvPr id="23" name="Text 20"/>
          <p:cNvSpPr txBox="1"/>
          <p:nvPr/>
        </p:nvSpPr>
        <p:spPr>
          <a:xfrm>
            <a:off x="4967935" y="2624328"/>
            <a:ext cx="457200" cy="457200"/>
          </a:xfrm>
          <a:prstGeom prst="rect">
            <a:avLst/>
          </a:prstGeom>
          <a:noFill/>
          <a:ln/>
        </p:spPr>
        <p:txBody>
          <a:bodyPr wrap="square" lIns="0" tIns="0" rIns="0" bIns="0" rtlCol="0" anchor="ctr"/>
          <a:lstStyle/>
          <a:p>
            <a:pPr rtl="1" algn="ctr" indent="0" marL="0">
              <a:buNone/>
            </a:pPr>
            <a:r>
              <a:rPr lang="fa-IR" altLang="en-US" sz="1600" b="1" dirty="0">
                <a:solidFill>
                  <a:schemeClr val="bg1"/>
                </a:solidFill>
              </a:rPr>
              <a:t>۲</a:t>
            </a:r>
            <a:endParaRPr lang="fa-IR" sz="1600" dirty="0"/>
          </a:p>
        </p:txBody>
      </p:sp>
      <p:sp>
        <p:nvSpPr>
          <p:cNvPr id="24" name="Text 21"/>
          <p:cNvSpPr txBox="1"/>
          <p:nvPr/>
        </p:nvSpPr>
        <p:spPr>
          <a:xfrm>
            <a:off x="548640" y="2578608"/>
            <a:ext cx="4236415" cy="777240"/>
          </a:xfrm>
          <a:prstGeom prst="rect">
            <a:avLst/>
          </a:prstGeom>
          <a:noFill/>
          <a:ln/>
        </p:spPr>
        <p:txBody>
          <a:bodyPr wrap="square" lIns="0" tIns="0" rIns="0" bIns="0" rtlCol="0" anchor="t"/>
          <a:lstStyle/>
          <a:p>
            <a:pPr rtl="1" algn="r" indent="0" marL="0">
              <a:buNone/>
            </a:pPr>
            <a:r>
              <a:rPr lang="fa-IR" altLang="en-US" sz="1500" dirty="0">
                <a:solidFill>
                  <a:schemeClr val="tx1"/>
                </a:solidFill>
              </a:rPr>
              <a:t>نظرها و توضیح محصول «داده»اند، نه دستور؛ سد در برابر Prompt Injection</a:t>
            </a:r>
            <a:endParaRPr lang="fa-IR" sz="1500" dirty="0"/>
          </a:p>
        </p:txBody>
      </p:sp>
      <p:sp>
        <p:nvSpPr>
          <p:cNvPr id="25" name="Shape 22"/>
          <p:cNvSpPr/>
          <p:nvPr/>
        </p:nvSpPr>
        <p:spPr>
          <a:xfrm>
            <a:off x="4967935" y="3511296"/>
            <a:ext cx="457200" cy="457200"/>
          </a:xfrm>
          <a:prstGeom prst="ellipse">
            <a:avLst/>
          </a:prstGeom>
          <a:solidFill>
            <a:schemeClr val="tx2"/>
          </a:solidFill>
          <a:ln/>
        </p:spPr>
      </p:sp>
      <p:sp>
        <p:nvSpPr>
          <p:cNvPr id="26" name="Text 23"/>
          <p:cNvSpPr txBox="1"/>
          <p:nvPr/>
        </p:nvSpPr>
        <p:spPr>
          <a:xfrm>
            <a:off x="4967935" y="3511296"/>
            <a:ext cx="457200" cy="457200"/>
          </a:xfrm>
          <a:prstGeom prst="rect">
            <a:avLst/>
          </a:prstGeom>
          <a:noFill/>
          <a:ln/>
        </p:spPr>
        <p:txBody>
          <a:bodyPr wrap="square" lIns="0" tIns="0" rIns="0" bIns="0" rtlCol="0" anchor="ctr"/>
          <a:lstStyle/>
          <a:p>
            <a:pPr rtl="1" algn="ctr" indent="0" marL="0">
              <a:buNone/>
            </a:pPr>
            <a:r>
              <a:rPr lang="fa-IR" altLang="en-US" sz="1600" b="1" dirty="0">
                <a:solidFill>
                  <a:schemeClr val="bg1"/>
                </a:solidFill>
              </a:rPr>
              <a:t>۳</a:t>
            </a:r>
            <a:endParaRPr lang="fa-IR" sz="1600" dirty="0"/>
          </a:p>
        </p:txBody>
      </p:sp>
      <p:sp>
        <p:nvSpPr>
          <p:cNvPr id="27" name="Text 24"/>
          <p:cNvSpPr txBox="1"/>
          <p:nvPr/>
        </p:nvSpPr>
        <p:spPr>
          <a:xfrm>
            <a:off x="548640" y="3465576"/>
            <a:ext cx="4236415" cy="777240"/>
          </a:xfrm>
          <a:prstGeom prst="rect">
            <a:avLst/>
          </a:prstGeom>
          <a:noFill/>
          <a:ln/>
        </p:spPr>
        <p:txBody>
          <a:bodyPr wrap="square" lIns="0" tIns="0" rIns="0" bIns="0" rtlCol="0" anchor="t"/>
          <a:lstStyle/>
          <a:p>
            <a:pPr rtl="1" algn="r" indent="0" marL="0">
              <a:buNone/>
            </a:pPr>
            <a:r>
              <a:rPr lang="fa-IR" altLang="en-US" sz="1500" dirty="0">
                <a:solidFill>
                  <a:schemeClr val="tx1"/>
                </a:solidFill>
              </a:rPr>
              <a:t>ثبت سفارش و پرداخت ابزار نیست؛ تأیید صریح کاربر لازم است</a:t>
            </a:r>
            <a:endParaRPr lang="fa-IR" sz="1500" dirty="0"/>
          </a:p>
        </p:txBody>
      </p:sp>
      <p:sp>
        <p:nvSpPr>
          <p:cNvPr id="28" name="Shape 25"/>
          <p:cNvSpPr/>
          <p:nvPr/>
        </p:nvSpPr>
        <p:spPr>
          <a:xfrm>
            <a:off x="4967935" y="4398264"/>
            <a:ext cx="457200" cy="457200"/>
          </a:xfrm>
          <a:prstGeom prst="ellipse">
            <a:avLst/>
          </a:prstGeom>
          <a:solidFill>
            <a:schemeClr val="tx2"/>
          </a:solidFill>
          <a:ln/>
        </p:spPr>
      </p:sp>
      <p:sp>
        <p:nvSpPr>
          <p:cNvPr id="29" name="Text 26"/>
          <p:cNvSpPr txBox="1"/>
          <p:nvPr/>
        </p:nvSpPr>
        <p:spPr>
          <a:xfrm>
            <a:off x="4967935" y="4398264"/>
            <a:ext cx="457200" cy="457200"/>
          </a:xfrm>
          <a:prstGeom prst="rect">
            <a:avLst/>
          </a:prstGeom>
          <a:noFill/>
          <a:ln/>
        </p:spPr>
        <p:txBody>
          <a:bodyPr wrap="square" lIns="0" tIns="0" rIns="0" bIns="0" rtlCol="0" anchor="ctr"/>
          <a:lstStyle/>
          <a:p>
            <a:pPr rtl="1" algn="ctr" indent="0" marL="0">
              <a:buNone/>
            </a:pPr>
            <a:r>
              <a:rPr lang="fa-IR" altLang="en-US" sz="1600" b="1" dirty="0">
                <a:solidFill>
                  <a:schemeClr val="bg1"/>
                </a:solidFill>
              </a:rPr>
              <a:t>۴</a:t>
            </a:r>
            <a:endParaRPr lang="fa-IR" sz="1600" dirty="0"/>
          </a:p>
        </p:txBody>
      </p:sp>
      <p:sp>
        <p:nvSpPr>
          <p:cNvPr id="30" name="Text 27"/>
          <p:cNvSpPr txBox="1"/>
          <p:nvPr/>
        </p:nvSpPr>
        <p:spPr>
          <a:xfrm>
            <a:off x="548640" y="4352544"/>
            <a:ext cx="4236415" cy="777240"/>
          </a:xfrm>
          <a:prstGeom prst="rect">
            <a:avLst/>
          </a:prstGeom>
          <a:noFill/>
          <a:ln/>
        </p:spPr>
        <p:txBody>
          <a:bodyPr wrap="square" lIns="0" tIns="0" rIns="0" bIns="0" rtlCol="0" anchor="t"/>
          <a:lstStyle/>
          <a:p>
            <a:pPr rtl="1" algn="r" indent="0" marL="0">
              <a:buNone/>
            </a:pPr>
            <a:r>
              <a:rPr lang="fa-IR" altLang="en-US" sz="1500" dirty="0">
                <a:solidFill>
                  <a:schemeClr val="tx1"/>
                </a:solidFill>
              </a:rPr>
              <a:t>هر فراخوانی ابزار در ai_audit_log ثبت می‌شود</a:t>
            </a:r>
            <a:endParaRPr lang="fa-IR" sz="1500" dirty="0"/>
          </a:p>
        </p:txBody>
      </p:sp>
      <p:sp>
        <p:nvSpPr>
          <p:cNvPr id="31" name="Shape 28"/>
          <p:cNvSpPr/>
          <p:nvPr/>
        </p:nvSpPr>
        <p:spPr>
          <a:xfrm>
            <a:off x="4967935" y="5285232"/>
            <a:ext cx="457200" cy="457200"/>
          </a:xfrm>
          <a:prstGeom prst="ellipse">
            <a:avLst/>
          </a:prstGeom>
          <a:solidFill>
            <a:schemeClr val="tx2"/>
          </a:solidFill>
          <a:ln/>
        </p:spPr>
      </p:sp>
      <p:sp>
        <p:nvSpPr>
          <p:cNvPr id="32" name="Text 29"/>
          <p:cNvSpPr txBox="1"/>
          <p:nvPr/>
        </p:nvSpPr>
        <p:spPr>
          <a:xfrm>
            <a:off x="4967935" y="5285232"/>
            <a:ext cx="457200" cy="457200"/>
          </a:xfrm>
          <a:prstGeom prst="rect">
            <a:avLst/>
          </a:prstGeom>
          <a:noFill/>
          <a:ln/>
        </p:spPr>
        <p:txBody>
          <a:bodyPr wrap="square" lIns="0" tIns="0" rIns="0" bIns="0" rtlCol="0" anchor="ctr"/>
          <a:lstStyle/>
          <a:p>
            <a:pPr rtl="1" algn="ctr" indent="0" marL="0">
              <a:buNone/>
            </a:pPr>
            <a:r>
              <a:rPr lang="fa-IR" altLang="en-US" sz="1600" b="1" dirty="0">
                <a:solidFill>
                  <a:schemeClr val="bg1"/>
                </a:solidFill>
              </a:rPr>
              <a:t>۵</a:t>
            </a:r>
            <a:endParaRPr lang="fa-IR" sz="1600" dirty="0"/>
          </a:p>
        </p:txBody>
      </p:sp>
      <p:sp>
        <p:nvSpPr>
          <p:cNvPr id="33" name="Text 30"/>
          <p:cNvSpPr txBox="1"/>
          <p:nvPr/>
        </p:nvSpPr>
        <p:spPr>
          <a:xfrm>
            <a:off x="548640" y="5239512"/>
            <a:ext cx="4236415" cy="777240"/>
          </a:xfrm>
          <a:prstGeom prst="rect">
            <a:avLst/>
          </a:prstGeom>
          <a:noFill/>
          <a:ln/>
        </p:spPr>
        <p:txBody>
          <a:bodyPr wrap="square" lIns="0" tIns="0" rIns="0" bIns="0" rtlCol="0" anchor="t"/>
          <a:lstStyle/>
          <a:p>
            <a:pPr rtl="1" algn="r" indent="0" marL="0">
              <a:buNone/>
            </a:pPr>
            <a:r>
              <a:rPr lang="fa-IR" altLang="en-US" sz="1500" dirty="0">
                <a:solidFill>
                  <a:schemeClr val="tx1"/>
                </a:solidFill>
              </a:rPr>
              <a:t>Evals فارسی در CI؛ بدون AI، جستجوی عادی کار می‌کند</a:t>
            </a:r>
            <a:endParaRPr lang="fa-IR" sz="15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امنیت از پیش‌فرض</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حداقل دسترسی، رمزنگاری و ممیزی در هر لایه</a:t>
            </a:r>
            <a:endParaRPr lang="fa-IR" sz="1600" dirty="0"/>
          </a:p>
        </p:txBody>
      </p:sp>
      <p:sp>
        <p:nvSpPr>
          <p:cNvPr id="5" name="Shape 2"/>
          <p:cNvSpPr/>
          <p:nvPr/>
        </p:nvSpPr>
        <p:spPr>
          <a:xfrm>
            <a:off x="8158277" y="1645920"/>
            <a:ext cx="3484778"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6" name="Shape 3"/>
          <p:cNvSpPr/>
          <p:nvPr/>
        </p:nvSpPr>
        <p:spPr>
          <a:xfrm>
            <a:off x="10865815" y="1874520"/>
            <a:ext cx="548640" cy="548640"/>
          </a:xfrm>
          <a:prstGeom prst="ellipse">
            <a:avLst/>
          </a:prstGeom>
          <a:solidFill>
            <a:schemeClr val="tx2"/>
          </a:solidFill>
          <a:ln/>
        </p:spPr>
      </p:sp>
      <p:pic>
        <p:nvPicPr>
          <p:cNvPr id="7" name="Image 0" descr="LuKeyRound">    </p:cNvPr>
          <p:cNvPicPr>
            <a:picLocks noChangeAspect="1"/>
          </p:cNvPicPr>
          <p:nvPr/>
        </p:nvPicPr>
        <p:blipFill>
          <a:blip r:embed="rId1"/>
          <a:stretch>
            <a:fillRect/>
          </a:stretch>
        </p:blipFill>
        <p:spPr>
          <a:xfrm>
            <a:off x="10986516" y="1995221"/>
            <a:ext cx="307238" cy="307238"/>
          </a:xfrm>
          <a:prstGeom prst="rect">
            <a:avLst/>
          </a:prstGeom>
        </p:spPr>
      </p:pic>
      <p:sp>
        <p:nvSpPr>
          <p:cNvPr id="8" name="Text 4"/>
          <p:cNvSpPr txBox="1"/>
          <p:nvPr/>
        </p:nvSpPr>
        <p:spPr>
          <a:xfrm>
            <a:off x="8386877" y="1874520"/>
            <a:ext cx="2296058" cy="548640"/>
          </a:xfrm>
          <a:prstGeom prst="rect">
            <a:avLst/>
          </a:prstGeom>
          <a:noFill/>
          <a:ln/>
        </p:spPr>
        <p:txBody>
          <a:bodyPr wrap="square" lIns="0" tIns="0" rIns="0" bIns="0" rtlCol="0" anchor="ctr"/>
          <a:lstStyle/>
          <a:p>
            <a:pPr rtl="1" algn="r" indent="0" marL="0">
              <a:buNone/>
            </a:pPr>
            <a:r>
              <a:rPr lang="fa-IR" altLang="en-US" sz="1800" b="1" dirty="0">
                <a:solidFill>
                  <a:schemeClr val="tx2"/>
                </a:solidFill>
              </a:rPr>
              <a:t>احراز هویت</a:t>
            </a:r>
            <a:endParaRPr lang="fa-IR" sz="1800" dirty="0"/>
          </a:p>
        </p:txBody>
      </p:sp>
      <p:sp>
        <p:nvSpPr>
          <p:cNvPr id="9" name="Text 5"/>
          <p:cNvSpPr txBox="1"/>
          <p:nvPr/>
        </p:nvSpPr>
        <p:spPr>
          <a:xfrm>
            <a:off x="8386877" y="2560320"/>
            <a:ext cx="3027578" cy="1051560"/>
          </a:xfrm>
          <a:prstGeom prst="rect">
            <a:avLst/>
          </a:prstGeom>
          <a:noFill/>
          <a:ln/>
        </p:spPr>
        <p:txBody>
          <a:bodyPr wrap="square" lIns="0" tIns="0" rIns="0" bIns="0" rtlCol="0" anchor="t"/>
          <a:lstStyle/>
          <a:p>
            <a:pPr rtl="1" algn="r" indent="0" marL="0">
              <a:buNone/>
            </a:pPr>
            <a:r>
              <a:rPr lang="fa-IR" altLang="en-US" sz="1400" dirty="0">
                <a:solidFill>
                  <a:schemeClr val="tx1"/>
                </a:solidFill>
              </a:rPr>
              <a:t>کد یک‌بارمصرف پیامکی، JWT پانزده‌دقیقه‌ای، Refresh Token چرخشی؛ MFA برای ادمین و فروشنده</a:t>
            </a:r>
            <a:endParaRPr lang="fa-IR" sz="1400" dirty="0"/>
          </a:p>
        </p:txBody>
      </p:sp>
      <p:sp>
        <p:nvSpPr>
          <p:cNvPr id="10" name="Shape 6"/>
          <p:cNvSpPr/>
          <p:nvPr/>
        </p:nvSpPr>
        <p:spPr>
          <a:xfrm>
            <a:off x="4353458" y="1645920"/>
            <a:ext cx="3484778"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11" name="Shape 7"/>
          <p:cNvSpPr/>
          <p:nvPr/>
        </p:nvSpPr>
        <p:spPr>
          <a:xfrm>
            <a:off x="7060997" y="1874520"/>
            <a:ext cx="548640" cy="548640"/>
          </a:xfrm>
          <a:prstGeom prst="ellipse">
            <a:avLst/>
          </a:prstGeom>
          <a:solidFill>
            <a:schemeClr val="accent1"/>
          </a:solidFill>
          <a:ln/>
        </p:spPr>
      </p:sp>
      <p:pic>
        <p:nvPicPr>
          <p:cNvPr id="12" name="Image 1" descr="LuUserCheck">    </p:cNvPr>
          <p:cNvPicPr>
            <a:picLocks noChangeAspect="1"/>
          </p:cNvPicPr>
          <p:nvPr/>
        </p:nvPicPr>
        <p:blipFill>
          <a:blip r:embed="rId2"/>
          <a:stretch>
            <a:fillRect/>
          </a:stretch>
        </p:blipFill>
        <p:spPr>
          <a:xfrm>
            <a:off x="7181698" y="1995221"/>
            <a:ext cx="307238" cy="307238"/>
          </a:xfrm>
          <a:prstGeom prst="rect">
            <a:avLst/>
          </a:prstGeom>
        </p:spPr>
      </p:pic>
      <p:sp>
        <p:nvSpPr>
          <p:cNvPr id="13" name="Text 8"/>
          <p:cNvSpPr txBox="1"/>
          <p:nvPr/>
        </p:nvSpPr>
        <p:spPr>
          <a:xfrm>
            <a:off x="4582058" y="1874520"/>
            <a:ext cx="2296058" cy="548640"/>
          </a:xfrm>
          <a:prstGeom prst="rect">
            <a:avLst/>
          </a:prstGeom>
          <a:noFill/>
          <a:ln/>
        </p:spPr>
        <p:txBody>
          <a:bodyPr wrap="square" lIns="0" tIns="0" rIns="0" bIns="0" rtlCol="0" anchor="ctr"/>
          <a:lstStyle/>
          <a:p>
            <a:pPr rtl="1" algn="r" indent="0" marL="0">
              <a:buNone/>
            </a:pPr>
            <a:r>
              <a:rPr lang="fa-IR" altLang="en-US" sz="1800" b="1" dirty="0">
                <a:solidFill>
                  <a:schemeClr val="tx2"/>
                </a:solidFill>
              </a:rPr>
              <a:t>دسترسی</a:t>
            </a:r>
            <a:endParaRPr lang="fa-IR" sz="1800" dirty="0"/>
          </a:p>
        </p:txBody>
      </p:sp>
      <p:sp>
        <p:nvSpPr>
          <p:cNvPr id="14" name="Text 9"/>
          <p:cNvSpPr txBox="1"/>
          <p:nvPr/>
        </p:nvSpPr>
        <p:spPr>
          <a:xfrm>
            <a:off x="4582058" y="2560320"/>
            <a:ext cx="3027578" cy="1051560"/>
          </a:xfrm>
          <a:prstGeom prst="rect">
            <a:avLst/>
          </a:prstGeom>
          <a:noFill/>
          <a:ln/>
        </p:spPr>
        <p:txBody>
          <a:bodyPr wrap="square" lIns="0" tIns="0" rIns="0" bIns="0" rtlCol="0" anchor="t"/>
          <a:lstStyle/>
          <a:p>
            <a:pPr rtl="1" algn="r" indent="0" marL="0">
              <a:buNone/>
            </a:pPr>
            <a:r>
              <a:rPr lang="fa-IR" altLang="en-US" sz="1400" dirty="0">
                <a:solidFill>
                  <a:schemeClr val="tx1"/>
                </a:solidFill>
              </a:rPr>
              <a:t>RBAC با نقش‌های خریدار، فروشنده، پیک و ادمین + بررسی مالکیت در خود سرویس</a:t>
            </a:r>
            <a:endParaRPr lang="fa-IR" sz="1400" dirty="0"/>
          </a:p>
        </p:txBody>
      </p:sp>
      <p:sp>
        <p:nvSpPr>
          <p:cNvPr id="15" name="Shape 10"/>
          <p:cNvSpPr/>
          <p:nvPr/>
        </p:nvSpPr>
        <p:spPr>
          <a:xfrm>
            <a:off x="548640" y="1645920"/>
            <a:ext cx="3484778"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16" name="Shape 11"/>
          <p:cNvSpPr/>
          <p:nvPr/>
        </p:nvSpPr>
        <p:spPr>
          <a:xfrm>
            <a:off x="3256178" y="1874520"/>
            <a:ext cx="548640" cy="548640"/>
          </a:xfrm>
          <a:prstGeom prst="ellipse">
            <a:avLst/>
          </a:prstGeom>
          <a:solidFill>
            <a:schemeClr val="tx2"/>
          </a:solidFill>
          <a:ln/>
        </p:spPr>
      </p:sp>
      <p:pic>
        <p:nvPicPr>
          <p:cNvPr id="17" name="Image 2" descr="LuNetwork">    </p:cNvPr>
          <p:cNvPicPr>
            <a:picLocks noChangeAspect="1"/>
          </p:cNvPicPr>
          <p:nvPr/>
        </p:nvPicPr>
        <p:blipFill>
          <a:blip r:embed="rId3"/>
          <a:stretch>
            <a:fillRect/>
          </a:stretch>
        </p:blipFill>
        <p:spPr>
          <a:xfrm>
            <a:off x="3376879" y="1995221"/>
            <a:ext cx="307238" cy="307238"/>
          </a:xfrm>
          <a:prstGeom prst="rect">
            <a:avLst/>
          </a:prstGeom>
        </p:spPr>
      </p:pic>
      <p:sp>
        <p:nvSpPr>
          <p:cNvPr id="18" name="Text 12"/>
          <p:cNvSpPr txBox="1"/>
          <p:nvPr/>
        </p:nvSpPr>
        <p:spPr>
          <a:xfrm>
            <a:off x="777240" y="1874520"/>
            <a:ext cx="2296058" cy="548640"/>
          </a:xfrm>
          <a:prstGeom prst="rect">
            <a:avLst/>
          </a:prstGeom>
          <a:noFill/>
          <a:ln/>
        </p:spPr>
        <p:txBody>
          <a:bodyPr wrap="square" lIns="0" tIns="0" rIns="0" bIns="0" rtlCol="0" anchor="ctr"/>
          <a:lstStyle/>
          <a:p>
            <a:pPr rtl="1" algn="r" indent="0" marL="0">
              <a:buNone/>
            </a:pPr>
            <a:r>
              <a:rPr lang="fa-IR" altLang="en-US" sz="1800" b="1" dirty="0">
                <a:solidFill>
                  <a:schemeClr val="tx2"/>
                </a:solidFill>
              </a:rPr>
              <a:t>شبکه</a:t>
            </a:r>
            <a:endParaRPr lang="fa-IR" sz="1800" dirty="0"/>
          </a:p>
        </p:txBody>
      </p:sp>
      <p:sp>
        <p:nvSpPr>
          <p:cNvPr id="19" name="Text 13"/>
          <p:cNvSpPr txBox="1"/>
          <p:nvPr/>
        </p:nvSpPr>
        <p:spPr>
          <a:xfrm>
            <a:off x="777240" y="2560320"/>
            <a:ext cx="3027578" cy="1051560"/>
          </a:xfrm>
          <a:prstGeom prst="rect">
            <a:avLst/>
          </a:prstGeom>
          <a:noFill/>
          <a:ln/>
        </p:spPr>
        <p:txBody>
          <a:bodyPr wrap="square" lIns="0" tIns="0" rIns="0" bIns="0" rtlCol="0" anchor="t"/>
          <a:lstStyle/>
          <a:p>
            <a:pPr rtl="1" algn="r" indent="0" marL="0">
              <a:buNone/>
            </a:pPr>
            <a:r>
              <a:rPr lang="fa-IR" altLang="en-US" sz="1400" dirty="0">
                <a:solidFill>
                  <a:schemeClr val="tx1"/>
                </a:solidFill>
              </a:rPr>
              <a:t>فقط Gateway عمومی؛ NetworkPolicy، WAF و Rate Limit؛ mTLS با Linkerd در فاز بعد</a:t>
            </a:r>
            <a:endParaRPr lang="fa-IR" sz="1400" dirty="0"/>
          </a:p>
        </p:txBody>
      </p:sp>
      <p:sp>
        <p:nvSpPr>
          <p:cNvPr id="20" name="Shape 14"/>
          <p:cNvSpPr/>
          <p:nvPr/>
        </p:nvSpPr>
        <p:spPr>
          <a:xfrm>
            <a:off x="8158277" y="4023360"/>
            <a:ext cx="3484778"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21" name="Shape 15"/>
          <p:cNvSpPr/>
          <p:nvPr/>
        </p:nvSpPr>
        <p:spPr>
          <a:xfrm>
            <a:off x="10865815" y="4251960"/>
            <a:ext cx="548640" cy="548640"/>
          </a:xfrm>
          <a:prstGeom prst="ellipse">
            <a:avLst/>
          </a:prstGeom>
          <a:solidFill>
            <a:schemeClr val="accent1"/>
          </a:solidFill>
          <a:ln/>
        </p:spPr>
      </p:sp>
      <p:pic>
        <p:nvPicPr>
          <p:cNvPr id="22" name="Image 3" descr="LuLock">    </p:cNvPr>
          <p:cNvPicPr>
            <a:picLocks noChangeAspect="1"/>
          </p:cNvPicPr>
          <p:nvPr/>
        </p:nvPicPr>
        <p:blipFill>
          <a:blip r:embed="rId4"/>
          <a:stretch>
            <a:fillRect/>
          </a:stretch>
        </p:blipFill>
        <p:spPr>
          <a:xfrm>
            <a:off x="10986516" y="4372661"/>
            <a:ext cx="307238" cy="307238"/>
          </a:xfrm>
          <a:prstGeom prst="rect">
            <a:avLst/>
          </a:prstGeom>
        </p:spPr>
      </p:pic>
      <p:sp>
        <p:nvSpPr>
          <p:cNvPr id="23" name="Text 16"/>
          <p:cNvSpPr txBox="1"/>
          <p:nvPr/>
        </p:nvSpPr>
        <p:spPr>
          <a:xfrm>
            <a:off x="8386877" y="4251960"/>
            <a:ext cx="2296058" cy="548640"/>
          </a:xfrm>
          <a:prstGeom prst="rect">
            <a:avLst/>
          </a:prstGeom>
          <a:noFill/>
          <a:ln/>
        </p:spPr>
        <p:txBody>
          <a:bodyPr wrap="square" lIns="0" tIns="0" rIns="0" bIns="0" rtlCol="0" anchor="ctr"/>
          <a:lstStyle/>
          <a:p>
            <a:pPr rtl="1" algn="r" indent="0" marL="0">
              <a:buNone/>
            </a:pPr>
            <a:r>
              <a:rPr lang="fa-IR" altLang="en-US" sz="1800" b="1" dirty="0">
                <a:solidFill>
                  <a:schemeClr val="tx2"/>
                </a:solidFill>
              </a:rPr>
              <a:t>داده</a:t>
            </a:r>
            <a:endParaRPr lang="fa-IR" sz="1800" dirty="0"/>
          </a:p>
        </p:txBody>
      </p:sp>
      <p:sp>
        <p:nvSpPr>
          <p:cNvPr id="24" name="Text 17"/>
          <p:cNvSpPr txBox="1"/>
          <p:nvPr/>
        </p:nvSpPr>
        <p:spPr>
          <a:xfrm>
            <a:off x="8386877" y="4937760"/>
            <a:ext cx="3027578" cy="1051560"/>
          </a:xfrm>
          <a:prstGeom prst="rect">
            <a:avLst/>
          </a:prstGeom>
          <a:noFill/>
          <a:ln/>
        </p:spPr>
        <p:txBody>
          <a:bodyPr wrap="square" lIns="0" tIns="0" rIns="0" bIns="0" rtlCol="0" anchor="t"/>
          <a:lstStyle/>
          <a:p>
            <a:pPr rtl="1" algn="r" indent="0" marL="0">
              <a:buNone/>
            </a:pPr>
            <a:r>
              <a:rPr lang="fa-IR" altLang="en-US" sz="1400" dirty="0">
                <a:solidFill>
                  <a:schemeClr val="tx1"/>
                </a:solidFill>
              </a:rPr>
              <a:t>رمزنگاری در انتقال و ذخیره؛ هیچ اطلاعات کارت بانکی ذخیره نمی‌شود</a:t>
            </a:r>
            <a:endParaRPr lang="fa-IR" sz="1400" dirty="0"/>
          </a:p>
        </p:txBody>
      </p:sp>
      <p:sp>
        <p:nvSpPr>
          <p:cNvPr id="25" name="Shape 18"/>
          <p:cNvSpPr/>
          <p:nvPr/>
        </p:nvSpPr>
        <p:spPr>
          <a:xfrm>
            <a:off x="4353458" y="4023360"/>
            <a:ext cx="3484778"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26" name="Shape 19"/>
          <p:cNvSpPr/>
          <p:nvPr/>
        </p:nvSpPr>
        <p:spPr>
          <a:xfrm>
            <a:off x="7060997" y="4251960"/>
            <a:ext cx="548640" cy="548640"/>
          </a:xfrm>
          <a:prstGeom prst="ellipse">
            <a:avLst/>
          </a:prstGeom>
          <a:solidFill>
            <a:schemeClr val="tx2"/>
          </a:solidFill>
          <a:ln/>
        </p:spPr>
      </p:sp>
      <p:pic>
        <p:nvPicPr>
          <p:cNvPr id="27" name="Image 4" descr="LuFileText">    </p:cNvPr>
          <p:cNvPicPr>
            <a:picLocks noChangeAspect="1"/>
          </p:cNvPicPr>
          <p:nvPr/>
        </p:nvPicPr>
        <p:blipFill>
          <a:blip r:embed="rId5"/>
          <a:stretch>
            <a:fillRect/>
          </a:stretch>
        </p:blipFill>
        <p:spPr>
          <a:xfrm>
            <a:off x="7181698" y="4372661"/>
            <a:ext cx="307238" cy="307238"/>
          </a:xfrm>
          <a:prstGeom prst="rect">
            <a:avLst/>
          </a:prstGeom>
        </p:spPr>
      </p:pic>
      <p:sp>
        <p:nvSpPr>
          <p:cNvPr id="28" name="Text 20"/>
          <p:cNvSpPr txBox="1"/>
          <p:nvPr/>
        </p:nvSpPr>
        <p:spPr>
          <a:xfrm>
            <a:off x="4582058" y="4251960"/>
            <a:ext cx="2296058" cy="548640"/>
          </a:xfrm>
          <a:prstGeom prst="rect">
            <a:avLst/>
          </a:prstGeom>
          <a:noFill/>
          <a:ln/>
        </p:spPr>
        <p:txBody>
          <a:bodyPr wrap="square" lIns="0" tIns="0" rIns="0" bIns="0" rtlCol="0" anchor="ctr"/>
          <a:lstStyle/>
          <a:p>
            <a:pPr rtl="1" algn="r" indent="0" marL="0">
              <a:buNone/>
            </a:pPr>
            <a:r>
              <a:rPr lang="fa-IR" altLang="en-US" sz="1800" b="1" dirty="0">
                <a:solidFill>
                  <a:schemeClr val="tx2"/>
                </a:solidFill>
              </a:rPr>
              <a:t>ممیزی</a:t>
            </a:r>
            <a:endParaRPr lang="fa-IR" sz="1800" dirty="0"/>
          </a:p>
        </p:txBody>
      </p:sp>
      <p:sp>
        <p:nvSpPr>
          <p:cNvPr id="29" name="Text 21"/>
          <p:cNvSpPr txBox="1"/>
          <p:nvPr/>
        </p:nvSpPr>
        <p:spPr>
          <a:xfrm>
            <a:off x="4582058" y="4937760"/>
            <a:ext cx="3027578" cy="1051560"/>
          </a:xfrm>
          <a:prstGeom prst="rect">
            <a:avLst/>
          </a:prstGeom>
          <a:noFill/>
          <a:ln/>
        </p:spPr>
        <p:txBody>
          <a:bodyPr wrap="square" lIns="0" tIns="0" rIns="0" bIns="0" rtlCol="0" anchor="t"/>
          <a:lstStyle/>
          <a:p>
            <a:pPr rtl="1" algn="r" indent="0" marL="0">
              <a:buNone/>
            </a:pPr>
            <a:r>
              <a:rPr lang="fa-IR" altLang="en-US" sz="1400" dirty="0">
                <a:solidFill>
                  <a:schemeClr val="tx1"/>
                </a:solidFill>
              </a:rPr>
              <a:t>Audit Log برای عملیات مالی، اقدام‌های ادمین و همه‌ی ابزارهای AI</a:t>
            </a:r>
            <a:endParaRPr lang="fa-IR" sz="1400" dirty="0"/>
          </a:p>
        </p:txBody>
      </p:sp>
      <p:sp>
        <p:nvSpPr>
          <p:cNvPr id="30" name="Shape 22"/>
          <p:cNvSpPr/>
          <p:nvPr/>
        </p:nvSpPr>
        <p:spPr>
          <a:xfrm>
            <a:off x="548640" y="4023360"/>
            <a:ext cx="3484778" cy="2103120"/>
          </a:xfrm>
          <a:prstGeom prst="roundRect">
            <a:avLst>
              <a:gd name="adj" fmla="val 5217"/>
            </a:avLst>
          </a:prstGeom>
          <a:solidFill>
            <a:schemeClr val="bg2"/>
          </a:solidFill>
          <a:ln/>
          <a:effectLst>
            <a:outerShdw sx="100000" sy="100000" kx="0" ky="0" algn="bl" rotWithShape="0" blurRad="101600" dist="25400" dir="5400000">
              <a:srgbClr val="1F4D2B">
                <a:alpha val="14000"/>
              </a:srgbClr>
            </a:outerShdw>
          </a:effectLst>
        </p:spPr>
      </p:sp>
      <p:sp>
        <p:nvSpPr>
          <p:cNvPr id="31" name="Shape 23"/>
          <p:cNvSpPr/>
          <p:nvPr/>
        </p:nvSpPr>
        <p:spPr>
          <a:xfrm>
            <a:off x="3256178" y="4251960"/>
            <a:ext cx="548640" cy="548640"/>
          </a:xfrm>
          <a:prstGeom prst="ellipse">
            <a:avLst/>
          </a:prstGeom>
          <a:solidFill>
            <a:schemeClr val="accent1"/>
          </a:solidFill>
          <a:ln/>
        </p:spPr>
      </p:sp>
      <p:pic>
        <p:nvPicPr>
          <p:cNvPr id="32" name="Image 5" descr="LuPackageCheck">    </p:cNvPr>
          <p:cNvPicPr>
            <a:picLocks noChangeAspect="1"/>
          </p:cNvPicPr>
          <p:nvPr/>
        </p:nvPicPr>
        <p:blipFill>
          <a:blip r:embed="rId6"/>
          <a:stretch>
            <a:fillRect/>
          </a:stretch>
        </p:blipFill>
        <p:spPr>
          <a:xfrm>
            <a:off x="3376879" y="4372661"/>
            <a:ext cx="307238" cy="307238"/>
          </a:xfrm>
          <a:prstGeom prst="rect">
            <a:avLst/>
          </a:prstGeom>
        </p:spPr>
      </p:pic>
      <p:sp>
        <p:nvSpPr>
          <p:cNvPr id="33" name="Text 24"/>
          <p:cNvSpPr txBox="1"/>
          <p:nvPr/>
        </p:nvSpPr>
        <p:spPr>
          <a:xfrm>
            <a:off x="777240" y="4251960"/>
            <a:ext cx="2296058" cy="548640"/>
          </a:xfrm>
          <a:prstGeom prst="rect">
            <a:avLst/>
          </a:prstGeom>
          <a:noFill/>
          <a:ln/>
        </p:spPr>
        <p:txBody>
          <a:bodyPr wrap="square" lIns="0" tIns="0" rIns="0" bIns="0" rtlCol="0" anchor="ctr"/>
          <a:lstStyle/>
          <a:p>
            <a:pPr rtl="1" algn="r" indent="0" marL="0">
              <a:buNone/>
            </a:pPr>
            <a:r>
              <a:rPr lang="fa-IR" altLang="en-US" sz="1800" b="1" dirty="0">
                <a:solidFill>
                  <a:schemeClr val="tx2"/>
                </a:solidFill>
              </a:rPr>
              <a:t>زنجیره‌ی تأمین</a:t>
            </a:r>
            <a:endParaRPr lang="fa-IR" sz="1800" dirty="0"/>
          </a:p>
        </p:txBody>
      </p:sp>
      <p:sp>
        <p:nvSpPr>
          <p:cNvPr id="34" name="Text 25"/>
          <p:cNvSpPr txBox="1"/>
          <p:nvPr/>
        </p:nvSpPr>
        <p:spPr>
          <a:xfrm>
            <a:off x="777240" y="4937760"/>
            <a:ext cx="3027578" cy="1051560"/>
          </a:xfrm>
          <a:prstGeom prst="rect">
            <a:avLst/>
          </a:prstGeom>
          <a:noFill/>
          <a:ln/>
        </p:spPr>
        <p:txBody>
          <a:bodyPr wrap="square" lIns="0" tIns="0" rIns="0" bIns="0" rtlCol="0" anchor="t"/>
          <a:lstStyle/>
          <a:p>
            <a:pPr rtl="1" algn="r" indent="0" marL="0">
              <a:buNone/>
            </a:pPr>
            <a:r>
              <a:rPr lang="fa-IR" altLang="en-US" sz="1400" dirty="0">
                <a:solidFill>
                  <a:schemeClr val="tx1"/>
                </a:solidFill>
              </a:rPr>
              <a:t>Trivy، Dependabot، SBOM و اسکن Secret در هر بار اجرای CI</a:t>
            </a:r>
            <a:endParaRPr lang="fa-IR" sz="14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تصمیم‌های کلیدی</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هر انتخاب یک جایگزین جدی داشت؛ دلیل هر تصمیم در یک ADR ثبت شده است</a:t>
            </a:r>
            <a:endParaRPr lang="fa-IR"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242255"/>
                <a:gridCol w="2560320"/>
                <a:gridCol w="3291840"/>
              </a:tblGrid>
              <a:tr h="603504">
                <a:tc>
                  <a:txBody>
                    <a:bodyPr/>
                    <a:lstStyle/>
                    <a:p>
                      <a:pPr rtl="1" algn="r" indent="0" marL="0">
                        <a:buNone/>
                      </a:pPr>
                      <a:r>
                        <a:rPr lang="fa-IR" altLang="en-US" sz="1400" b="1" dirty="0">
                          <a:solidFill>
                            <a:schemeClr val="bg1"/>
                          </a:solidFill>
                        </a:rPr>
                        <a:t>چرا</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rtl="1" algn="r" indent="0" marL="0">
                        <a:buNone/>
                      </a:pPr>
                      <a:r>
                        <a:rPr lang="fa-IR" altLang="en-US" sz="1400" b="1" dirty="0">
                          <a:solidFill>
                            <a:schemeClr val="bg1"/>
                          </a:solidFill>
                        </a:rPr>
                        <a:t>جایگزین</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rtl="1" algn="r" indent="0" marL="0">
                        <a:buNone/>
                      </a:pPr>
                      <a:r>
                        <a:rPr lang="fa-IR" altLang="en-US" sz="1400" b="1" dirty="0">
                          <a:solidFill>
                            <a:schemeClr val="bg1"/>
                          </a:solidFill>
                        </a:rPr>
                        <a:t>تصمیم</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603504">
                <a:tc>
                  <a:txBody>
                    <a:bodyPr/>
                    <a:lstStyle/>
                    <a:p>
                      <a:pPr rtl="1" algn="r" indent="0" marL="0">
                        <a:buNone/>
                      </a:pPr>
                      <a:r>
                        <a:rPr lang="fa-IR" altLang="en-US" sz="1400" dirty="0">
                          <a:solidFill>
                            <a:srgbClr val="000000"/>
                          </a:solidFill>
                        </a:rPr>
                        <a:t>مقیاس مستقل، استقرار Canary و جداسازی خطا را نشان می‌دهد</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rtl="1" algn="r" indent="0" marL="0">
                        <a:buNone/>
                      </a:pPr>
                      <a:r>
                        <a:rPr lang="fa-IR" altLang="en-US" sz="1400" dirty="0">
                          <a:solidFill>
                            <a:srgbClr val="5E6E62"/>
                          </a:solidFill>
                        </a:rPr>
                        <a:t>Modular Monolith</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rtl="1" algn="r" indent="0" marL="0">
                        <a:buNone/>
                      </a:pPr>
                      <a:r>
                        <a:rPr lang="fa-IR" altLang="en-US" sz="1400" b="1" dirty="0">
                          <a:solidFill>
                            <a:schemeClr val="tx2"/>
                          </a:solidFill>
                        </a:rPr>
                        <a:t>میکروسرویس با مرز تمیز</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03504">
                <a:tc>
                  <a:txBody>
                    <a:bodyPr/>
                    <a:lstStyle/>
                    <a:p>
                      <a:pPr rtl="1" algn="r" indent="0" marL="0">
                        <a:buNone/>
                      </a:pPr>
                      <a:r>
                        <a:rPr lang="fa-IR" altLang="en-US" sz="1400" dirty="0">
                          <a:solidFill>
                            <a:srgbClr val="000000"/>
                          </a:solidFill>
                        </a:rPr>
                        <a:t>حدود ۳۰ مگابایت در برابر ۱ گیگابایت رم؛ پشت یک رابط قابل تعویض</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rtl="1" algn="r" indent="0" marL="0">
                        <a:buNone/>
                      </a:pPr>
                      <a:r>
                        <a:rPr lang="fa-IR" altLang="en-US" sz="1400" dirty="0">
                          <a:solidFill>
                            <a:srgbClr val="5E6E62"/>
                          </a:solidFill>
                        </a:rPr>
                        <a:t>Kafka</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rtl="1" algn="r" indent="0" marL="0">
                        <a:buNone/>
                      </a:pPr>
                      <a:r>
                        <a:rPr lang="fa-IR" altLang="en-US" sz="1400" b="1" dirty="0">
                          <a:solidFill>
                            <a:schemeClr val="tx2"/>
                          </a:solidFill>
                        </a:rPr>
                        <a:t>NATS JetStream</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603504">
                <a:tc>
                  <a:txBody>
                    <a:bodyPr/>
                    <a:lstStyle/>
                    <a:p>
                      <a:pPr rtl="1" algn="r" indent="0" marL="0">
                        <a:buNone/>
                      </a:pPr>
                      <a:r>
                        <a:rPr lang="fa-IR" altLang="en-US" sz="1400" dirty="0">
                          <a:solidFill>
                            <a:srgbClr val="000000"/>
                          </a:solidFill>
                        </a:rPr>
                        <a:t>استقلال استقرار؛ PostGIS و pgvector در یک موتور</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rtl="1" algn="r" indent="0" marL="0">
                        <a:buNone/>
                      </a:pPr>
                      <a:r>
                        <a:rPr lang="fa-IR" altLang="en-US" sz="1400" dirty="0">
                          <a:solidFill>
                            <a:srgbClr val="5E6E62"/>
                          </a:solidFill>
                        </a:rPr>
                        <a:t>دیتابیس مشترک</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rtl="1" algn="r" indent="0" marL="0">
                        <a:buNone/>
                      </a:pPr>
                      <a:r>
                        <a:rPr lang="fa-IR" altLang="en-US" sz="1400" b="1" dirty="0">
                          <a:solidFill>
                            <a:schemeClr val="tx2"/>
                          </a:solidFill>
                        </a:rPr>
                        <a:t>PostgreSQL برای هر سرویس</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03504">
                <a:tc>
                  <a:txBody>
                    <a:bodyPr/>
                    <a:lstStyle/>
                    <a:p>
                      <a:pPr rtl="1" algn="r" indent="0" marL="0">
                        <a:buNone/>
                      </a:pPr>
                      <a:r>
                        <a:rPr lang="fa-IR" altLang="en-US" sz="1400" dirty="0">
                          <a:solidFill>
                            <a:srgbClr val="000000"/>
                          </a:solidFill>
                        </a:rPr>
                        <a:t>بدون زیرساخت جدید؛ مهاجرت وقتی بردارها از ۵ میلیون بگذرند</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rtl="1" algn="r" indent="0" marL="0">
                        <a:buNone/>
                      </a:pPr>
                      <a:r>
                        <a:rPr lang="fa-IR" altLang="en-US" sz="1400" dirty="0">
                          <a:solidFill>
                            <a:srgbClr val="5E6E62"/>
                          </a:solidFill>
                        </a:rPr>
                        <a:t>Qdrant</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rtl="1" algn="r" indent="0" marL="0">
                        <a:buNone/>
                      </a:pPr>
                      <a:r>
                        <a:rPr lang="fa-IR" altLang="en-US" sz="1400" b="1" dirty="0">
                          <a:solidFill>
                            <a:schemeClr val="tx2"/>
                          </a:solidFill>
                        </a:rPr>
                        <a:t>pgvector</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603504">
                <a:tc>
                  <a:txBody>
                    <a:bodyPr/>
                    <a:lstStyle/>
                    <a:p>
                      <a:pPr rtl="1" algn="r" indent="0" marL="0">
                        <a:buNone/>
                      </a:pPr>
                      <a:r>
                        <a:rPr lang="fa-IR" altLang="en-US" sz="1400" dirty="0">
                          <a:solidFill>
                            <a:srgbClr val="000000"/>
                          </a:solidFill>
                        </a:rPr>
                        <a:t>JWT، Rate Limit و CORS آماده؛ پیکربندی به‌صورت کد</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rtl="1" algn="r" indent="0" marL="0">
                        <a:buNone/>
                      </a:pPr>
                      <a:r>
                        <a:rPr lang="fa-IR" altLang="en-US" sz="1400" dirty="0">
                          <a:solidFill>
                            <a:srgbClr val="5E6E62"/>
                          </a:solidFill>
                        </a:rPr>
                        <a:t>Traefik یا Gateway دست‌ساز</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rtl="1" algn="r" indent="0" marL="0">
                        <a:buNone/>
                      </a:pPr>
                      <a:r>
                        <a:rPr lang="fa-IR" altLang="en-US" sz="1400" b="1" dirty="0">
                          <a:solidFill>
                            <a:schemeClr val="tx2"/>
                          </a:solidFill>
                        </a:rPr>
                        <a:t>Kong بدون دیتابیس + BFF</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03504">
                <a:tc>
                  <a:txBody>
                    <a:bodyPr/>
                    <a:lstStyle/>
                    <a:p>
                      <a:pPr rtl="1" algn="r" indent="0" marL="0">
                        <a:buNone/>
                      </a:pPr>
                      <a:r>
                        <a:rPr lang="fa-IR" altLang="en-US" sz="1400" dirty="0">
                          <a:solidFill>
                            <a:srgbClr val="000000"/>
                          </a:solidFill>
                        </a:rPr>
                        <a:t>تغییر هم‌زمان قرارداد و سرویس‌ها در یک PR</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rtl="1" algn="r" indent="0" marL="0">
                        <a:buNone/>
                      </a:pPr>
                      <a:r>
                        <a:rPr lang="fa-IR" altLang="en-US" sz="1400" dirty="0">
                          <a:solidFill>
                            <a:srgbClr val="5E6E62"/>
                          </a:solidFill>
                        </a:rPr>
                        <a:t>Polyrepo</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rtl="1" algn="r" indent="0" marL="0">
                        <a:buNone/>
                      </a:pPr>
                      <a:r>
                        <a:rPr lang="fa-IR" altLang="en-US" sz="1400" b="1" dirty="0">
                          <a:solidFill>
                            <a:schemeClr val="tx2"/>
                          </a:solidFill>
                        </a:rPr>
                        <a:t>مونوریپو pnpm + Turborepo</a:t>
                      </a:r>
                      <a:endParaRPr lang="fa-IR"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rtl="1" algn="r" indent="0" marL="0">
              <a:buNone/>
            </a:pPr>
            <a:r>
              <a:rPr lang="fa-IR" altLang="en-US" sz="3000" b="1" dirty="0">
                <a:solidFill>
                  <a:schemeClr val="tx2"/>
                </a:solidFill>
              </a:rPr>
              <a:t>نقشه‌ی راه</a:t>
            </a:r>
            <a:endParaRPr lang="fa-IR" sz="30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rtl="1" algn="r" indent="0" marL="0">
              <a:buNone/>
            </a:pPr>
            <a:r>
              <a:rPr lang="fa-IR" altLang="en-US" sz="1600" dirty="0">
                <a:solidFill>
                  <a:srgbClr val="5E6E62"/>
                </a:solidFill>
              </a:rPr>
              <a:t>از زیرساخت توسعه تا مقیاس بزرگ در شش فاز</a:t>
            </a:r>
            <a:endParaRPr lang="fa-IR" sz="1600" dirty="0"/>
          </a:p>
        </p:txBody>
      </p:sp>
      <p:sp>
        <p:nvSpPr>
          <p:cNvPr id="5" name="Shape 2"/>
          <p:cNvSpPr/>
          <p:nvPr/>
        </p:nvSpPr>
        <p:spPr>
          <a:xfrm>
            <a:off x="4254886" y="1691640"/>
            <a:ext cx="7388169" cy="3246120"/>
          </a:xfrm>
          <a:prstGeom prst="roundRect">
            <a:avLst>
              <a:gd name="adj" fmla="val 3380"/>
            </a:avLst>
          </a:prstGeom>
          <a:solidFill>
            <a:schemeClr val="accent2">
              <a:alpha val="12000"/>
            </a:schemeClr>
          </a:solidFill>
          <a:ln/>
        </p:spPr>
      </p:sp>
      <p:sp>
        <p:nvSpPr>
          <p:cNvPr id="6" name="Text 3"/>
          <p:cNvSpPr txBox="1"/>
          <p:nvPr/>
        </p:nvSpPr>
        <p:spPr>
          <a:xfrm>
            <a:off x="9631375" y="1801368"/>
            <a:ext cx="1828800" cy="320040"/>
          </a:xfrm>
          <a:prstGeom prst="rect">
            <a:avLst/>
          </a:prstGeom>
          <a:noFill/>
          <a:ln/>
        </p:spPr>
        <p:txBody>
          <a:bodyPr wrap="square" lIns="0" tIns="0" rIns="0" bIns="0" rtlCol="0" anchor="t"/>
          <a:lstStyle/>
          <a:p>
            <a:pPr rtl="1" algn="r" indent="0" marL="0">
              <a:buNone/>
            </a:pPr>
            <a:r>
              <a:rPr lang="fa-IR" altLang="en-US" sz="1300" b="1" dirty="0">
                <a:solidFill>
                  <a:schemeClr val="accent2"/>
                </a:solidFill>
              </a:rPr>
              <a:t>مسیر سمینار</a:t>
            </a:r>
            <a:endParaRPr lang="fa-IR" sz="1300" dirty="0"/>
          </a:p>
        </p:txBody>
      </p:sp>
      <p:sp>
        <p:nvSpPr>
          <p:cNvPr id="7" name="Shape 4"/>
          <p:cNvSpPr/>
          <p:nvPr/>
        </p:nvSpPr>
        <p:spPr>
          <a:xfrm>
            <a:off x="1463040" y="2743200"/>
            <a:ext cx="9265615" cy="0"/>
          </a:xfrm>
          <a:prstGeom prst="line">
            <a:avLst/>
          </a:prstGeom>
          <a:noFill/>
          <a:ln w="25400">
            <a:solidFill>
              <a:srgbClr val="1F4D2B"/>
            </a:solidFill>
            <a:prstDash val="solid"/>
          </a:ln>
        </p:spPr>
      </p:sp>
      <p:sp>
        <p:nvSpPr>
          <p:cNvPr id="8" name="Shape 5"/>
          <p:cNvSpPr/>
          <p:nvPr/>
        </p:nvSpPr>
        <p:spPr>
          <a:xfrm>
            <a:off x="10362895" y="2377440"/>
            <a:ext cx="731520" cy="731520"/>
          </a:xfrm>
          <a:prstGeom prst="ellipse">
            <a:avLst/>
          </a:prstGeom>
          <a:solidFill>
            <a:schemeClr val="accent2"/>
          </a:solidFill>
          <a:ln w="38100">
            <a:solidFill>
              <a:srgbClr val="FFFFFF"/>
            </a:solidFill>
            <a:prstDash val="solid"/>
          </a:ln>
        </p:spPr>
      </p:sp>
      <p:sp>
        <p:nvSpPr>
          <p:cNvPr id="9" name="Text 6"/>
          <p:cNvSpPr txBox="1"/>
          <p:nvPr/>
        </p:nvSpPr>
        <p:spPr>
          <a:xfrm>
            <a:off x="10362895" y="2377440"/>
            <a:ext cx="731520" cy="731520"/>
          </a:xfrm>
          <a:prstGeom prst="rect">
            <a:avLst/>
          </a:prstGeom>
          <a:noFill/>
          <a:ln/>
        </p:spPr>
        <p:txBody>
          <a:bodyPr wrap="square" lIns="0" tIns="0" rIns="0" bIns="0" rtlCol="0" anchor="ctr"/>
          <a:lstStyle/>
          <a:p>
            <a:pPr rtl="1" algn="ctr" indent="0" marL="0">
              <a:buNone/>
            </a:pPr>
            <a:r>
              <a:rPr lang="fa-IR" altLang="en-US" sz="2200" b="1" dirty="0">
                <a:solidFill>
                  <a:schemeClr val="bg1"/>
                </a:solidFill>
              </a:rPr>
              <a:t>۰</a:t>
            </a:r>
            <a:endParaRPr lang="fa-IR" sz="2200" dirty="0"/>
          </a:p>
        </p:txBody>
      </p:sp>
      <p:sp>
        <p:nvSpPr>
          <p:cNvPr id="10" name="Text 7"/>
          <p:cNvSpPr txBox="1"/>
          <p:nvPr/>
        </p:nvSpPr>
        <p:spPr>
          <a:xfrm>
            <a:off x="9832543" y="3291840"/>
            <a:ext cx="1792224" cy="365760"/>
          </a:xfrm>
          <a:prstGeom prst="rect">
            <a:avLst/>
          </a:prstGeom>
          <a:noFill/>
          <a:ln/>
        </p:spPr>
        <p:txBody>
          <a:bodyPr wrap="square" lIns="0" tIns="0" rIns="0" bIns="0" rtlCol="0" anchor="t"/>
          <a:lstStyle/>
          <a:p>
            <a:pPr rtl="1" algn="ctr" indent="0" marL="0">
              <a:buNone/>
            </a:pPr>
            <a:r>
              <a:rPr lang="fa-IR" altLang="en-US" sz="1600" b="1" dirty="0">
                <a:solidFill>
                  <a:schemeClr val="tx2"/>
                </a:solidFill>
              </a:rPr>
              <a:t>زیرساخت توسعه</a:t>
            </a:r>
            <a:endParaRPr lang="fa-IR" sz="1600" dirty="0"/>
          </a:p>
        </p:txBody>
      </p:sp>
      <p:sp>
        <p:nvSpPr>
          <p:cNvPr id="11" name="Text 8"/>
          <p:cNvSpPr txBox="1"/>
          <p:nvPr/>
        </p:nvSpPr>
        <p:spPr>
          <a:xfrm>
            <a:off x="9832543" y="3703320"/>
            <a:ext cx="1792224" cy="1097280"/>
          </a:xfrm>
          <a:prstGeom prst="rect">
            <a:avLst/>
          </a:prstGeom>
          <a:noFill/>
          <a:ln/>
        </p:spPr>
        <p:txBody>
          <a:bodyPr wrap="square" lIns="0" tIns="0" rIns="0" bIns="0" rtlCol="0" anchor="t"/>
          <a:lstStyle/>
          <a:p>
            <a:pPr rtl="1" algn="ctr" indent="0" marL="0">
              <a:buNone/>
            </a:pPr>
            <a:r>
              <a:rPr lang="fa-IR" altLang="en-US" sz="1400" dirty="0">
                <a:solidFill>
                  <a:srgbClr val="5E6E62"/>
                </a:solidFill>
              </a:rPr>
              <a:t>مونوریپو، Docker Compose، CI</a:t>
            </a:r>
            <a:endParaRPr lang="fa-IR" sz="1400" dirty="0"/>
          </a:p>
        </p:txBody>
      </p:sp>
      <p:sp>
        <p:nvSpPr>
          <p:cNvPr id="12" name="Shape 9"/>
          <p:cNvSpPr/>
          <p:nvPr/>
        </p:nvSpPr>
        <p:spPr>
          <a:xfrm>
            <a:off x="8509772" y="2377440"/>
            <a:ext cx="731520" cy="731520"/>
          </a:xfrm>
          <a:prstGeom prst="ellipse">
            <a:avLst/>
          </a:prstGeom>
          <a:solidFill>
            <a:schemeClr val="accent2"/>
          </a:solidFill>
          <a:ln w="38100">
            <a:solidFill>
              <a:srgbClr val="FFFFFF"/>
            </a:solidFill>
            <a:prstDash val="solid"/>
          </a:ln>
        </p:spPr>
      </p:sp>
      <p:sp>
        <p:nvSpPr>
          <p:cNvPr id="13" name="Text 10"/>
          <p:cNvSpPr txBox="1"/>
          <p:nvPr/>
        </p:nvSpPr>
        <p:spPr>
          <a:xfrm>
            <a:off x="8509772" y="2377440"/>
            <a:ext cx="731520" cy="731520"/>
          </a:xfrm>
          <a:prstGeom prst="rect">
            <a:avLst/>
          </a:prstGeom>
          <a:noFill/>
          <a:ln/>
        </p:spPr>
        <p:txBody>
          <a:bodyPr wrap="square" lIns="0" tIns="0" rIns="0" bIns="0" rtlCol="0" anchor="ctr"/>
          <a:lstStyle/>
          <a:p>
            <a:pPr rtl="1" algn="ctr" indent="0" marL="0">
              <a:buNone/>
            </a:pPr>
            <a:r>
              <a:rPr lang="fa-IR" altLang="en-US" sz="2200" b="1" dirty="0">
                <a:solidFill>
                  <a:schemeClr val="bg1"/>
                </a:solidFill>
              </a:rPr>
              <a:t>۱</a:t>
            </a:r>
            <a:endParaRPr lang="fa-IR" sz="2200" dirty="0"/>
          </a:p>
        </p:txBody>
      </p:sp>
      <p:sp>
        <p:nvSpPr>
          <p:cNvPr id="14" name="Text 11"/>
          <p:cNvSpPr txBox="1"/>
          <p:nvPr/>
        </p:nvSpPr>
        <p:spPr>
          <a:xfrm>
            <a:off x="7979420" y="3291840"/>
            <a:ext cx="1792224" cy="365760"/>
          </a:xfrm>
          <a:prstGeom prst="rect">
            <a:avLst/>
          </a:prstGeom>
          <a:noFill/>
          <a:ln/>
        </p:spPr>
        <p:txBody>
          <a:bodyPr wrap="square" lIns="0" tIns="0" rIns="0" bIns="0" rtlCol="0" anchor="t"/>
          <a:lstStyle/>
          <a:p>
            <a:pPr rtl="1" algn="ctr" indent="0" marL="0">
              <a:buNone/>
            </a:pPr>
            <a:r>
              <a:rPr lang="fa-IR" altLang="en-US" sz="1600" b="1" dirty="0">
                <a:solidFill>
                  <a:schemeClr val="tx2"/>
                </a:solidFill>
              </a:rPr>
              <a:t>MVP بازار</a:t>
            </a:r>
            <a:endParaRPr lang="fa-IR" sz="1600" dirty="0"/>
          </a:p>
        </p:txBody>
      </p:sp>
      <p:sp>
        <p:nvSpPr>
          <p:cNvPr id="15" name="Text 12"/>
          <p:cNvSpPr txBox="1"/>
          <p:nvPr/>
        </p:nvSpPr>
        <p:spPr>
          <a:xfrm>
            <a:off x="7979420" y="3703320"/>
            <a:ext cx="1792224" cy="1097280"/>
          </a:xfrm>
          <a:prstGeom prst="rect">
            <a:avLst/>
          </a:prstGeom>
          <a:noFill/>
          <a:ln/>
        </p:spPr>
        <p:txBody>
          <a:bodyPr wrap="square" lIns="0" tIns="0" rIns="0" bIns="0" rtlCol="0" anchor="t"/>
          <a:lstStyle/>
          <a:p>
            <a:pPr rtl="1" algn="ctr" indent="0" marL="0">
              <a:buNone/>
            </a:pPr>
            <a:r>
              <a:rPr lang="fa-IR" altLang="en-US" sz="1400" dirty="0">
                <a:solidFill>
                  <a:srgbClr val="5E6E62"/>
                </a:solidFill>
              </a:rPr>
              <a:t>هویت، کاتالوگ، جستجو، سبد، سفارش، پرداخت</a:t>
            </a:r>
            <a:endParaRPr lang="fa-IR" sz="1400" dirty="0"/>
          </a:p>
        </p:txBody>
      </p:sp>
      <p:sp>
        <p:nvSpPr>
          <p:cNvPr id="16" name="Shape 13"/>
          <p:cNvSpPr/>
          <p:nvPr/>
        </p:nvSpPr>
        <p:spPr>
          <a:xfrm>
            <a:off x="6656649" y="2377440"/>
            <a:ext cx="731520" cy="731520"/>
          </a:xfrm>
          <a:prstGeom prst="ellipse">
            <a:avLst/>
          </a:prstGeom>
          <a:solidFill>
            <a:schemeClr val="accent2"/>
          </a:solidFill>
          <a:ln w="38100">
            <a:solidFill>
              <a:srgbClr val="FFFFFF"/>
            </a:solidFill>
            <a:prstDash val="solid"/>
          </a:ln>
        </p:spPr>
      </p:sp>
      <p:sp>
        <p:nvSpPr>
          <p:cNvPr id="17" name="Text 14"/>
          <p:cNvSpPr txBox="1"/>
          <p:nvPr/>
        </p:nvSpPr>
        <p:spPr>
          <a:xfrm>
            <a:off x="6656649" y="2377440"/>
            <a:ext cx="731520" cy="731520"/>
          </a:xfrm>
          <a:prstGeom prst="rect">
            <a:avLst/>
          </a:prstGeom>
          <a:noFill/>
          <a:ln/>
        </p:spPr>
        <p:txBody>
          <a:bodyPr wrap="square" lIns="0" tIns="0" rIns="0" bIns="0" rtlCol="0" anchor="ctr"/>
          <a:lstStyle/>
          <a:p>
            <a:pPr rtl="1" algn="ctr" indent="0" marL="0">
              <a:buNone/>
            </a:pPr>
            <a:r>
              <a:rPr lang="fa-IR" altLang="en-US" sz="2200" b="1" dirty="0">
                <a:solidFill>
                  <a:schemeClr val="bg1"/>
                </a:solidFill>
              </a:rPr>
              <a:t>۲</a:t>
            </a:r>
            <a:endParaRPr lang="fa-IR" sz="2200" dirty="0"/>
          </a:p>
        </p:txBody>
      </p:sp>
      <p:sp>
        <p:nvSpPr>
          <p:cNvPr id="18" name="Text 15"/>
          <p:cNvSpPr txBox="1"/>
          <p:nvPr/>
        </p:nvSpPr>
        <p:spPr>
          <a:xfrm>
            <a:off x="6126297" y="3291840"/>
            <a:ext cx="1792224" cy="365760"/>
          </a:xfrm>
          <a:prstGeom prst="rect">
            <a:avLst/>
          </a:prstGeom>
          <a:noFill/>
          <a:ln/>
        </p:spPr>
        <p:txBody>
          <a:bodyPr wrap="square" lIns="0" tIns="0" rIns="0" bIns="0" rtlCol="0" anchor="t"/>
          <a:lstStyle/>
          <a:p>
            <a:pPr rtl="1" algn="ctr" indent="0" marL="0">
              <a:buNone/>
            </a:pPr>
            <a:r>
              <a:rPr lang="fa-IR" altLang="en-US" sz="1600" b="1" dirty="0">
                <a:solidFill>
                  <a:schemeClr val="tx2"/>
                </a:solidFill>
              </a:rPr>
              <a:t>عملیاتی‌شدن</a:t>
            </a:r>
            <a:endParaRPr lang="fa-IR" sz="1600" dirty="0"/>
          </a:p>
        </p:txBody>
      </p:sp>
      <p:sp>
        <p:nvSpPr>
          <p:cNvPr id="19" name="Text 16"/>
          <p:cNvSpPr txBox="1"/>
          <p:nvPr/>
        </p:nvSpPr>
        <p:spPr>
          <a:xfrm>
            <a:off x="6126297" y="3703320"/>
            <a:ext cx="1792224" cy="1097280"/>
          </a:xfrm>
          <a:prstGeom prst="rect">
            <a:avLst/>
          </a:prstGeom>
          <a:noFill/>
          <a:ln/>
        </p:spPr>
        <p:txBody>
          <a:bodyPr wrap="square" lIns="0" tIns="0" rIns="0" bIns="0" rtlCol="0" anchor="t"/>
          <a:lstStyle/>
          <a:p>
            <a:pPr rtl="1" algn="ctr" indent="0" marL="0">
              <a:buNone/>
            </a:pPr>
            <a:r>
              <a:rPr lang="fa-IR" altLang="en-US" sz="1400" dirty="0">
                <a:solidFill>
                  <a:srgbClr val="5E6E62"/>
                </a:solidFill>
              </a:rPr>
              <a:t>ارسال، نظرها، اعلان‌ها، Kubernetes، GitOps</a:t>
            </a:r>
            <a:endParaRPr lang="fa-IR" sz="1400" dirty="0"/>
          </a:p>
        </p:txBody>
      </p:sp>
      <p:sp>
        <p:nvSpPr>
          <p:cNvPr id="20" name="Shape 17"/>
          <p:cNvSpPr/>
          <p:nvPr/>
        </p:nvSpPr>
        <p:spPr>
          <a:xfrm>
            <a:off x="4803526" y="2377440"/>
            <a:ext cx="731520" cy="731520"/>
          </a:xfrm>
          <a:prstGeom prst="ellipse">
            <a:avLst/>
          </a:prstGeom>
          <a:solidFill>
            <a:schemeClr val="accent2"/>
          </a:solidFill>
          <a:ln w="38100">
            <a:solidFill>
              <a:srgbClr val="FFFFFF"/>
            </a:solidFill>
            <a:prstDash val="solid"/>
          </a:ln>
        </p:spPr>
      </p:sp>
      <p:sp>
        <p:nvSpPr>
          <p:cNvPr id="21" name="Text 18"/>
          <p:cNvSpPr txBox="1"/>
          <p:nvPr/>
        </p:nvSpPr>
        <p:spPr>
          <a:xfrm>
            <a:off x="4803526" y="2377440"/>
            <a:ext cx="731520" cy="731520"/>
          </a:xfrm>
          <a:prstGeom prst="rect">
            <a:avLst/>
          </a:prstGeom>
          <a:noFill/>
          <a:ln/>
        </p:spPr>
        <p:txBody>
          <a:bodyPr wrap="square" lIns="0" tIns="0" rIns="0" bIns="0" rtlCol="0" anchor="ctr"/>
          <a:lstStyle/>
          <a:p>
            <a:pPr rtl="1" algn="ctr" indent="0" marL="0">
              <a:buNone/>
            </a:pPr>
            <a:r>
              <a:rPr lang="fa-IR" altLang="en-US" sz="2200" b="1" dirty="0">
                <a:solidFill>
                  <a:schemeClr val="bg1"/>
                </a:solidFill>
              </a:rPr>
              <a:t>۳</a:t>
            </a:r>
            <a:endParaRPr lang="fa-IR" sz="2200" dirty="0"/>
          </a:p>
        </p:txBody>
      </p:sp>
      <p:sp>
        <p:nvSpPr>
          <p:cNvPr id="22" name="Text 19"/>
          <p:cNvSpPr txBox="1"/>
          <p:nvPr/>
        </p:nvSpPr>
        <p:spPr>
          <a:xfrm>
            <a:off x="4273174" y="3291840"/>
            <a:ext cx="1792224" cy="365760"/>
          </a:xfrm>
          <a:prstGeom prst="rect">
            <a:avLst/>
          </a:prstGeom>
          <a:noFill/>
          <a:ln/>
        </p:spPr>
        <p:txBody>
          <a:bodyPr wrap="square" lIns="0" tIns="0" rIns="0" bIns="0" rtlCol="0" anchor="t"/>
          <a:lstStyle/>
          <a:p>
            <a:pPr rtl="1" algn="ctr" indent="0" marL="0">
              <a:buNone/>
            </a:pPr>
            <a:r>
              <a:rPr lang="fa-IR" altLang="en-US" sz="1600" b="1" dirty="0">
                <a:solidFill>
                  <a:schemeClr val="tx2"/>
                </a:solidFill>
              </a:rPr>
              <a:t>هوش مصنوعی</a:t>
            </a:r>
            <a:endParaRPr lang="fa-IR" sz="1600" dirty="0"/>
          </a:p>
        </p:txBody>
      </p:sp>
      <p:sp>
        <p:nvSpPr>
          <p:cNvPr id="23" name="Text 20"/>
          <p:cNvSpPr txBox="1"/>
          <p:nvPr/>
        </p:nvSpPr>
        <p:spPr>
          <a:xfrm>
            <a:off x="4273174" y="3703320"/>
            <a:ext cx="1792224" cy="1097280"/>
          </a:xfrm>
          <a:prstGeom prst="rect">
            <a:avLst/>
          </a:prstGeom>
          <a:noFill/>
          <a:ln/>
        </p:spPr>
        <p:txBody>
          <a:bodyPr wrap="square" lIns="0" tIns="0" rIns="0" bIns="0" rtlCol="0" anchor="t"/>
          <a:lstStyle/>
          <a:p>
            <a:pPr rtl="1" algn="ctr" indent="0" marL="0">
              <a:buNone/>
            </a:pPr>
            <a:r>
              <a:rPr lang="fa-IR" altLang="en-US" sz="1400" dirty="0">
                <a:solidFill>
                  <a:srgbClr val="5E6E62"/>
                </a:solidFill>
              </a:rPr>
              <a:t>جستجوی معنایی، دستیار خرید، مقایسه</a:t>
            </a:r>
            <a:endParaRPr lang="fa-IR" sz="1400" dirty="0"/>
          </a:p>
        </p:txBody>
      </p:sp>
      <p:sp>
        <p:nvSpPr>
          <p:cNvPr id="24" name="Shape 21"/>
          <p:cNvSpPr/>
          <p:nvPr/>
        </p:nvSpPr>
        <p:spPr>
          <a:xfrm>
            <a:off x="2950403" y="2377440"/>
            <a:ext cx="731520" cy="731520"/>
          </a:xfrm>
          <a:prstGeom prst="ellipse">
            <a:avLst/>
          </a:prstGeom>
          <a:solidFill>
            <a:schemeClr val="tx2"/>
          </a:solidFill>
          <a:ln w="38100">
            <a:solidFill>
              <a:srgbClr val="FFFFFF"/>
            </a:solidFill>
            <a:prstDash val="solid"/>
          </a:ln>
        </p:spPr>
      </p:sp>
      <p:sp>
        <p:nvSpPr>
          <p:cNvPr id="25" name="Text 22"/>
          <p:cNvSpPr txBox="1"/>
          <p:nvPr/>
        </p:nvSpPr>
        <p:spPr>
          <a:xfrm>
            <a:off x="2950403" y="2377440"/>
            <a:ext cx="731520" cy="731520"/>
          </a:xfrm>
          <a:prstGeom prst="rect">
            <a:avLst/>
          </a:prstGeom>
          <a:noFill/>
          <a:ln/>
        </p:spPr>
        <p:txBody>
          <a:bodyPr wrap="square" lIns="0" tIns="0" rIns="0" bIns="0" rtlCol="0" anchor="ctr"/>
          <a:lstStyle/>
          <a:p>
            <a:pPr rtl="1" algn="ctr" indent="0" marL="0">
              <a:buNone/>
            </a:pPr>
            <a:r>
              <a:rPr lang="fa-IR" altLang="en-US" sz="2200" b="1" dirty="0">
                <a:solidFill>
                  <a:schemeClr val="bg1"/>
                </a:solidFill>
              </a:rPr>
              <a:t>۴</a:t>
            </a:r>
            <a:endParaRPr lang="fa-IR" sz="2200" dirty="0"/>
          </a:p>
        </p:txBody>
      </p:sp>
      <p:sp>
        <p:nvSpPr>
          <p:cNvPr id="26" name="Text 23"/>
          <p:cNvSpPr txBox="1"/>
          <p:nvPr/>
        </p:nvSpPr>
        <p:spPr>
          <a:xfrm>
            <a:off x="2420051" y="3291840"/>
            <a:ext cx="1792224" cy="365760"/>
          </a:xfrm>
          <a:prstGeom prst="rect">
            <a:avLst/>
          </a:prstGeom>
          <a:noFill/>
          <a:ln/>
        </p:spPr>
        <p:txBody>
          <a:bodyPr wrap="square" lIns="0" tIns="0" rIns="0" bIns="0" rtlCol="0" anchor="t"/>
          <a:lstStyle/>
          <a:p>
            <a:pPr rtl="1" algn="ctr" indent="0" marL="0">
              <a:buNone/>
            </a:pPr>
            <a:r>
              <a:rPr lang="fa-IR" altLang="en-US" sz="1600" b="1" dirty="0">
                <a:solidFill>
                  <a:schemeClr val="tx2"/>
                </a:solidFill>
              </a:rPr>
              <a:t>رشد</a:t>
            </a:r>
            <a:endParaRPr lang="fa-IR" sz="1600" dirty="0"/>
          </a:p>
        </p:txBody>
      </p:sp>
      <p:sp>
        <p:nvSpPr>
          <p:cNvPr id="27" name="Text 24"/>
          <p:cNvSpPr txBox="1"/>
          <p:nvPr/>
        </p:nvSpPr>
        <p:spPr>
          <a:xfrm>
            <a:off x="2420051" y="3703320"/>
            <a:ext cx="1792224" cy="1097280"/>
          </a:xfrm>
          <a:prstGeom prst="rect">
            <a:avLst/>
          </a:prstGeom>
          <a:noFill/>
          <a:ln/>
        </p:spPr>
        <p:txBody>
          <a:bodyPr wrap="square" lIns="0" tIns="0" rIns="0" bIns="0" rtlCol="0" anchor="t"/>
          <a:lstStyle/>
          <a:p>
            <a:pPr rtl="1" algn="ctr" indent="0" marL="0">
              <a:buNone/>
            </a:pPr>
            <a:r>
              <a:rPr lang="fa-IR" altLang="en-US" sz="1400" dirty="0">
                <a:solidFill>
                  <a:srgbClr val="5E6E62"/>
                </a:solidFill>
              </a:rPr>
              <a:t>پیشنهاد شخصی، دستیار فروشنده، ضدتقلب</a:t>
            </a:r>
            <a:endParaRPr lang="fa-IR" sz="1400" dirty="0"/>
          </a:p>
        </p:txBody>
      </p:sp>
      <p:sp>
        <p:nvSpPr>
          <p:cNvPr id="28" name="Shape 25"/>
          <p:cNvSpPr/>
          <p:nvPr/>
        </p:nvSpPr>
        <p:spPr>
          <a:xfrm>
            <a:off x="1097280" y="2377440"/>
            <a:ext cx="731520" cy="731520"/>
          </a:xfrm>
          <a:prstGeom prst="ellipse">
            <a:avLst/>
          </a:prstGeom>
          <a:solidFill>
            <a:schemeClr val="tx2"/>
          </a:solidFill>
          <a:ln w="38100">
            <a:solidFill>
              <a:srgbClr val="FFFFFF"/>
            </a:solidFill>
            <a:prstDash val="solid"/>
          </a:ln>
        </p:spPr>
      </p:sp>
      <p:sp>
        <p:nvSpPr>
          <p:cNvPr id="29" name="Text 26"/>
          <p:cNvSpPr txBox="1"/>
          <p:nvPr/>
        </p:nvSpPr>
        <p:spPr>
          <a:xfrm>
            <a:off x="1097280" y="2377440"/>
            <a:ext cx="731520" cy="731520"/>
          </a:xfrm>
          <a:prstGeom prst="rect">
            <a:avLst/>
          </a:prstGeom>
          <a:noFill/>
          <a:ln/>
        </p:spPr>
        <p:txBody>
          <a:bodyPr wrap="square" lIns="0" tIns="0" rIns="0" bIns="0" rtlCol="0" anchor="ctr"/>
          <a:lstStyle/>
          <a:p>
            <a:pPr rtl="1" algn="ctr" indent="0" marL="0">
              <a:buNone/>
            </a:pPr>
            <a:r>
              <a:rPr lang="fa-IR" altLang="en-US" sz="2200" b="1" dirty="0">
                <a:solidFill>
                  <a:schemeClr val="bg1"/>
                </a:solidFill>
              </a:rPr>
              <a:t>۵</a:t>
            </a:r>
            <a:endParaRPr lang="fa-IR" sz="2200" dirty="0"/>
          </a:p>
        </p:txBody>
      </p:sp>
      <p:sp>
        <p:nvSpPr>
          <p:cNvPr id="30" name="Text 27"/>
          <p:cNvSpPr txBox="1"/>
          <p:nvPr/>
        </p:nvSpPr>
        <p:spPr>
          <a:xfrm>
            <a:off x="566928" y="3291840"/>
            <a:ext cx="1792224" cy="365760"/>
          </a:xfrm>
          <a:prstGeom prst="rect">
            <a:avLst/>
          </a:prstGeom>
          <a:noFill/>
          <a:ln/>
        </p:spPr>
        <p:txBody>
          <a:bodyPr wrap="square" lIns="0" tIns="0" rIns="0" bIns="0" rtlCol="0" anchor="t"/>
          <a:lstStyle/>
          <a:p>
            <a:pPr rtl="1" algn="ctr" indent="0" marL="0">
              <a:buNone/>
            </a:pPr>
            <a:r>
              <a:rPr lang="fa-IR" altLang="en-US" sz="1600" b="1" dirty="0">
                <a:solidFill>
                  <a:schemeClr val="tx2"/>
                </a:solidFill>
              </a:rPr>
              <a:t>مقیاس بزرگ</a:t>
            </a:r>
            <a:endParaRPr lang="fa-IR" sz="1600" dirty="0"/>
          </a:p>
        </p:txBody>
      </p:sp>
      <p:sp>
        <p:nvSpPr>
          <p:cNvPr id="31" name="Text 28"/>
          <p:cNvSpPr txBox="1"/>
          <p:nvPr/>
        </p:nvSpPr>
        <p:spPr>
          <a:xfrm>
            <a:off x="566928" y="3703320"/>
            <a:ext cx="1792224" cy="1097280"/>
          </a:xfrm>
          <a:prstGeom prst="rect">
            <a:avLst/>
          </a:prstGeom>
          <a:noFill/>
          <a:ln/>
        </p:spPr>
        <p:txBody>
          <a:bodyPr wrap="square" lIns="0" tIns="0" rIns="0" bIns="0" rtlCol="0" anchor="t"/>
          <a:lstStyle/>
          <a:p>
            <a:pPr rtl="1" algn="ctr" indent="0" marL="0">
              <a:buNone/>
            </a:pPr>
            <a:r>
              <a:rPr lang="fa-IR" altLang="en-US" sz="1400" dirty="0">
                <a:solidFill>
                  <a:srgbClr val="5E6E62"/>
                </a:solidFill>
              </a:rPr>
              <a:t>Service Mesh، چندمنطقه‌ای، اپ موبایل</a:t>
            </a:r>
            <a:endParaRPr lang="fa-IR" sz="1400" dirty="0"/>
          </a:p>
        </p:txBody>
      </p:sp>
      <p:sp>
        <p:nvSpPr>
          <p:cNvPr id="32" name="Shape 29"/>
          <p:cNvSpPr/>
          <p:nvPr/>
        </p:nvSpPr>
        <p:spPr>
          <a:xfrm>
            <a:off x="548640" y="5257800"/>
            <a:ext cx="11094415" cy="594360"/>
          </a:xfrm>
          <a:prstGeom prst="roundRect">
            <a:avLst>
              <a:gd name="adj" fmla="val 18462"/>
            </a:avLst>
          </a:prstGeom>
          <a:solidFill>
            <a:schemeClr val="bg2"/>
          </a:solidFill>
          <a:ln/>
        </p:spPr>
      </p:sp>
      <p:sp>
        <p:nvSpPr>
          <p:cNvPr id="33" name="Shape 30"/>
          <p:cNvSpPr/>
          <p:nvPr/>
        </p:nvSpPr>
        <p:spPr>
          <a:xfrm>
            <a:off x="11048695" y="5349240"/>
            <a:ext cx="411480" cy="411480"/>
          </a:xfrm>
          <a:prstGeom prst="ellipse">
            <a:avLst/>
          </a:prstGeom>
          <a:solidFill>
            <a:schemeClr val="accent1"/>
          </a:solidFill>
          <a:ln/>
        </p:spPr>
      </p:sp>
      <p:pic>
        <p:nvPicPr>
          <p:cNvPr id="34" name="Image 0" descr="LuCircleCheck">    </p:cNvPr>
          <p:cNvPicPr>
            <a:picLocks noChangeAspect="1"/>
          </p:cNvPicPr>
          <p:nvPr/>
        </p:nvPicPr>
        <p:blipFill>
          <a:blip r:embed="rId1"/>
          <a:stretch>
            <a:fillRect/>
          </a:stretch>
        </p:blipFill>
        <p:spPr>
          <a:xfrm>
            <a:off x="11139221" y="5439766"/>
            <a:ext cx="230429" cy="230429"/>
          </a:xfrm>
          <a:prstGeom prst="rect">
            <a:avLst/>
          </a:prstGeom>
        </p:spPr>
      </p:pic>
      <p:sp>
        <p:nvSpPr>
          <p:cNvPr id="35" name="Text 31"/>
          <p:cNvSpPr txBox="1"/>
          <p:nvPr/>
        </p:nvSpPr>
        <p:spPr>
          <a:xfrm>
            <a:off x="822960" y="5257800"/>
            <a:ext cx="10088575" cy="594360"/>
          </a:xfrm>
          <a:prstGeom prst="rect">
            <a:avLst/>
          </a:prstGeom>
          <a:noFill/>
          <a:ln/>
        </p:spPr>
        <p:txBody>
          <a:bodyPr wrap="square" lIns="0" tIns="0" rIns="0" bIns="0" rtlCol="0" anchor="ctr"/>
          <a:lstStyle/>
          <a:p>
            <a:pPr rtl="1" algn="r" indent="0" marL="0">
              <a:buNone/>
            </a:pPr>
            <a:r>
              <a:rPr lang="fa-IR" altLang="en-US" sz="1500" dirty="0">
                <a:solidFill>
                  <a:schemeClr val="tx1"/>
                </a:solidFill>
              </a:rPr>
              <a:t>وضعیت: مستندات معماری و ADRها تکمیل شد؛ پیاده‌سازی از فاز صفر آغاز شده است</a:t>
            </a:r>
            <a:endParaRPr lang="fa-IR" sz="1500" dirty="0"/>
          </a:p>
        </p:txBody>
      </p:sp>
      <p:sp>
        <p:nvSpPr>
          <p:cNvPr id="25" name="Slide Number Placeholder 0"/>
          <p:cNvSpPr>
            <a:spLocks noGrp="1"/>
          </p:cNvSpPr>
          <p:nvPr>
            <p:ph type="sldNum" sz="quarter" idx="4294967295"/>
          </p:nvPr>
        </p:nvSpPr>
        <p:spPr>
          <a:xfrm>
            <a:off x="548640" y="638251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E62"/>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480560" y="1143000"/>
            <a:ext cx="7159752" cy="1234440"/>
          </a:xfrm>
          <a:prstGeom prst="rect">
            <a:avLst/>
          </a:prstGeom>
          <a:noFill/>
          <a:ln/>
        </p:spPr>
        <p:txBody>
          <a:bodyPr wrap="square" lIns="0" tIns="0" rIns="0" bIns="0" rtlCol="0" anchor="b"/>
          <a:lstStyle/>
          <a:p>
            <a:pPr rtl="1" algn="r" indent="0" marL="0">
              <a:buNone/>
            </a:pPr>
            <a:r>
              <a:rPr lang="fa-IR" altLang="en-US" sz="6000" b="1" dirty="0">
                <a:solidFill>
                  <a:schemeClr val="bg1"/>
                </a:solidFill>
              </a:rPr>
              <a:t>جمع‌بندی</a:t>
            </a:r>
            <a:endParaRPr lang="fa-IR" sz="6000" dirty="0"/>
          </a:p>
        </p:txBody>
      </p:sp>
      <p:sp>
        <p:nvSpPr>
          <p:cNvPr id="3" name="Shape 1"/>
          <p:cNvSpPr/>
          <p:nvPr/>
        </p:nvSpPr>
        <p:spPr>
          <a:xfrm>
            <a:off x="4480560" y="2743200"/>
            <a:ext cx="7159752" cy="640080"/>
          </a:xfrm>
          <a:prstGeom prst="roundRect">
            <a:avLst>
              <a:gd name="adj" fmla="val 17143"/>
            </a:avLst>
          </a:prstGeom>
          <a:solidFill>
            <a:schemeClr val="bg1">
              <a:alpha val="12000"/>
            </a:schemeClr>
          </a:solidFill>
          <a:ln/>
        </p:spPr>
      </p:sp>
      <p:sp>
        <p:nvSpPr>
          <p:cNvPr id="4" name="Shape 2"/>
          <p:cNvSpPr/>
          <p:nvPr/>
        </p:nvSpPr>
        <p:spPr>
          <a:xfrm>
            <a:off x="11048695" y="2834640"/>
            <a:ext cx="457200" cy="457200"/>
          </a:xfrm>
          <a:prstGeom prst="ellipse">
            <a:avLst/>
          </a:prstGeom>
          <a:solidFill>
            <a:schemeClr val="accent2"/>
          </a:solidFill>
          <a:ln/>
        </p:spPr>
      </p:sp>
      <p:pic>
        <p:nvPicPr>
          <p:cNvPr id="5" name="Image 0" descr="LuBoxes">    </p:cNvPr>
          <p:cNvPicPr>
            <a:picLocks noChangeAspect="1"/>
          </p:cNvPicPr>
          <p:nvPr/>
        </p:nvPicPr>
        <p:blipFill>
          <a:blip r:embed="rId1"/>
          <a:stretch>
            <a:fillRect/>
          </a:stretch>
        </p:blipFill>
        <p:spPr>
          <a:xfrm>
            <a:off x="11149279" y="2935224"/>
            <a:ext cx="256032" cy="256032"/>
          </a:xfrm>
          <a:prstGeom prst="rect">
            <a:avLst/>
          </a:prstGeom>
        </p:spPr>
      </p:pic>
      <p:sp>
        <p:nvSpPr>
          <p:cNvPr id="6" name="Text 3"/>
          <p:cNvSpPr txBox="1"/>
          <p:nvPr/>
        </p:nvSpPr>
        <p:spPr>
          <a:xfrm>
            <a:off x="4663440" y="2743200"/>
            <a:ext cx="6172200" cy="640080"/>
          </a:xfrm>
          <a:prstGeom prst="rect">
            <a:avLst/>
          </a:prstGeom>
          <a:noFill/>
          <a:ln/>
        </p:spPr>
        <p:txBody>
          <a:bodyPr wrap="square" lIns="0" tIns="0" rIns="0" bIns="0" rtlCol="0" anchor="ctr"/>
          <a:lstStyle/>
          <a:p>
            <a:pPr rtl="1" algn="r" indent="0" marL="0">
              <a:buNone/>
            </a:pPr>
            <a:r>
              <a:rPr lang="fa-IR" altLang="en-US" sz="1800" dirty="0">
                <a:solidFill>
                  <a:schemeClr val="bg1"/>
                </a:solidFill>
              </a:rPr>
              <a:t>معماری Cloud-Native با مرزهای دامنه‌ای تمیز</a:t>
            </a:r>
            <a:endParaRPr lang="fa-IR" sz="1800" dirty="0"/>
          </a:p>
        </p:txBody>
      </p:sp>
      <p:sp>
        <p:nvSpPr>
          <p:cNvPr id="7" name="Shape 4"/>
          <p:cNvSpPr/>
          <p:nvPr/>
        </p:nvSpPr>
        <p:spPr>
          <a:xfrm>
            <a:off x="4480560" y="3520440"/>
            <a:ext cx="7159752" cy="640080"/>
          </a:xfrm>
          <a:prstGeom prst="roundRect">
            <a:avLst>
              <a:gd name="adj" fmla="val 17143"/>
            </a:avLst>
          </a:prstGeom>
          <a:solidFill>
            <a:schemeClr val="bg1">
              <a:alpha val="12000"/>
            </a:schemeClr>
          </a:solidFill>
          <a:ln/>
        </p:spPr>
      </p:sp>
      <p:sp>
        <p:nvSpPr>
          <p:cNvPr id="8" name="Shape 5"/>
          <p:cNvSpPr/>
          <p:nvPr/>
        </p:nvSpPr>
        <p:spPr>
          <a:xfrm>
            <a:off x="11048695" y="3611880"/>
            <a:ext cx="457200" cy="457200"/>
          </a:xfrm>
          <a:prstGeom prst="ellipse">
            <a:avLst/>
          </a:prstGeom>
          <a:solidFill>
            <a:schemeClr val="accent2"/>
          </a:solidFill>
          <a:ln/>
        </p:spPr>
      </p:sp>
      <p:pic>
        <p:nvPicPr>
          <p:cNvPr id="9" name="Image 1" descr="LuWorkflow">    </p:cNvPr>
          <p:cNvPicPr>
            <a:picLocks noChangeAspect="1"/>
          </p:cNvPicPr>
          <p:nvPr/>
        </p:nvPicPr>
        <p:blipFill>
          <a:blip r:embed="rId2"/>
          <a:stretch>
            <a:fillRect/>
          </a:stretch>
        </p:blipFill>
        <p:spPr>
          <a:xfrm>
            <a:off x="11149279" y="3712464"/>
            <a:ext cx="256032" cy="256032"/>
          </a:xfrm>
          <a:prstGeom prst="rect">
            <a:avLst/>
          </a:prstGeom>
        </p:spPr>
      </p:pic>
      <p:sp>
        <p:nvSpPr>
          <p:cNvPr id="10" name="Text 6"/>
          <p:cNvSpPr txBox="1"/>
          <p:nvPr/>
        </p:nvSpPr>
        <p:spPr>
          <a:xfrm>
            <a:off x="4663440" y="3520440"/>
            <a:ext cx="6172200" cy="640080"/>
          </a:xfrm>
          <a:prstGeom prst="rect">
            <a:avLst/>
          </a:prstGeom>
          <a:noFill/>
          <a:ln/>
        </p:spPr>
        <p:txBody>
          <a:bodyPr wrap="square" lIns="0" tIns="0" rIns="0" bIns="0" rtlCol="0" anchor="ctr"/>
          <a:lstStyle/>
          <a:p>
            <a:pPr rtl="1" algn="r" indent="0" marL="0">
              <a:buNone/>
            </a:pPr>
            <a:r>
              <a:rPr lang="fa-IR" altLang="en-US" sz="1800" dirty="0">
                <a:solidFill>
                  <a:schemeClr val="bg1"/>
                </a:solidFill>
              </a:rPr>
              <a:t>داده‌ی توزیع‌شده‌ی سازگار با Saga، Outbox و Idempotency</a:t>
            </a:r>
            <a:endParaRPr lang="fa-IR" sz="1800" dirty="0"/>
          </a:p>
        </p:txBody>
      </p:sp>
      <p:sp>
        <p:nvSpPr>
          <p:cNvPr id="11" name="Shape 7"/>
          <p:cNvSpPr/>
          <p:nvPr/>
        </p:nvSpPr>
        <p:spPr>
          <a:xfrm>
            <a:off x="4480560" y="4297680"/>
            <a:ext cx="7159752" cy="640080"/>
          </a:xfrm>
          <a:prstGeom prst="roundRect">
            <a:avLst>
              <a:gd name="adj" fmla="val 17143"/>
            </a:avLst>
          </a:prstGeom>
          <a:solidFill>
            <a:schemeClr val="bg1">
              <a:alpha val="12000"/>
            </a:schemeClr>
          </a:solidFill>
          <a:ln/>
        </p:spPr>
      </p:sp>
      <p:sp>
        <p:nvSpPr>
          <p:cNvPr id="12" name="Shape 8"/>
          <p:cNvSpPr/>
          <p:nvPr/>
        </p:nvSpPr>
        <p:spPr>
          <a:xfrm>
            <a:off x="11048695" y="4389120"/>
            <a:ext cx="457200" cy="457200"/>
          </a:xfrm>
          <a:prstGeom prst="ellipse">
            <a:avLst/>
          </a:prstGeom>
          <a:solidFill>
            <a:schemeClr val="accent2"/>
          </a:solidFill>
          <a:ln/>
        </p:spPr>
      </p:sp>
      <p:pic>
        <p:nvPicPr>
          <p:cNvPr id="13" name="Image 2" descr="LuSparkles">    </p:cNvPr>
          <p:cNvPicPr>
            <a:picLocks noChangeAspect="1"/>
          </p:cNvPicPr>
          <p:nvPr/>
        </p:nvPicPr>
        <p:blipFill>
          <a:blip r:embed="rId3"/>
          <a:stretch>
            <a:fillRect/>
          </a:stretch>
        </p:blipFill>
        <p:spPr>
          <a:xfrm>
            <a:off x="11149279" y="4489704"/>
            <a:ext cx="256032" cy="256032"/>
          </a:xfrm>
          <a:prstGeom prst="rect">
            <a:avLst/>
          </a:prstGeom>
        </p:spPr>
      </p:pic>
      <p:sp>
        <p:nvSpPr>
          <p:cNvPr id="14" name="Text 9"/>
          <p:cNvSpPr txBox="1"/>
          <p:nvPr/>
        </p:nvSpPr>
        <p:spPr>
          <a:xfrm>
            <a:off x="4663440" y="4297680"/>
            <a:ext cx="6172200" cy="640080"/>
          </a:xfrm>
          <a:prstGeom prst="rect">
            <a:avLst/>
          </a:prstGeom>
          <a:noFill/>
          <a:ln/>
        </p:spPr>
        <p:txBody>
          <a:bodyPr wrap="square" lIns="0" tIns="0" rIns="0" bIns="0" rtlCol="0" anchor="ctr"/>
          <a:lstStyle/>
          <a:p>
            <a:pPr rtl="1" algn="r" indent="0" marL="0">
              <a:buNone/>
            </a:pPr>
            <a:r>
              <a:rPr lang="fa-IR" altLang="en-US" sz="1800" dirty="0">
                <a:solidFill>
                  <a:schemeClr val="bg1"/>
                </a:solidFill>
              </a:rPr>
              <a:t>هوش مصنوعی صادق: واقعیت از ابزار، تصمیم با کاربر</a:t>
            </a:r>
            <a:endParaRPr lang="fa-IR" sz="1800" dirty="0"/>
          </a:p>
        </p:txBody>
      </p:sp>
      <p:sp>
        <p:nvSpPr>
          <p:cNvPr id="15" name="Text 10"/>
          <p:cNvSpPr txBox="1"/>
          <p:nvPr/>
        </p:nvSpPr>
        <p:spPr>
          <a:xfrm>
            <a:off x="4480560" y="5257800"/>
            <a:ext cx="7159752" cy="640080"/>
          </a:xfrm>
          <a:prstGeom prst="rect">
            <a:avLst/>
          </a:prstGeom>
          <a:noFill/>
          <a:ln/>
        </p:spPr>
        <p:txBody>
          <a:bodyPr wrap="square" lIns="0" tIns="0" rIns="0" bIns="0" rtlCol="0" anchor="ctr"/>
          <a:lstStyle/>
          <a:p>
            <a:pPr rtl="1" algn="r" indent="0" marL="0">
              <a:buNone/>
            </a:pPr>
            <a:r>
              <a:rPr lang="fa-IR" altLang="en-US" sz="3200" b="1" dirty="0">
                <a:solidFill>
                  <a:schemeClr val="accent2"/>
                </a:solidFill>
              </a:rPr>
              <a:t>پرسش و پاسخ</a:t>
            </a:r>
            <a:endParaRPr lang="fa-IR" sz="3200" dirty="0"/>
          </a:p>
        </p:txBody>
      </p:sp>
      <p:sp>
        <p:nvSpPr>
          <p:cNvPr id="16" name="Text 11"/>
          <p:cNvSpPr txBox="1"/>
          <p:nvPr/>
        </p:nvSpPr>
        <p:spPr>
          <a:xfrm>
            <a:off x="4480560" y="5870448"/>
            <a:ext cx="7159752" cy="411480"/>
          </a:xfrm>
          <a:prstGeom prst="rect">
            <a:avLst/>
          </a:prstGeom>
          <a:noFill/>
          <a:ln/>
        </p:spPr>
        <p:txBody>
          <a:bodyPr wrap="square" lIns="0" tIns="0" rIns="0" bIns="0" rtlCol="0" anchor="t"/>
          <a:lstStyle/>
          <a:p>
            <a:pPr rtl="1" algn="r" indent="0" marL="0">
              <a:buNone/>
            </a:pPr>
            <a:r>
              <a:rPr lang="fa-IR" altLang="en-US" sz="1600" dirty="0">
                <a:solidFill>
                  <a:schemeClr val="bg2"/>
                </a:solidFill>
              </a:rPr>
              <a:t>سپاس از توجه شما</a:t>
            </a:r>
            <a:endParaRPr lang="fa-IR" sz="1600" dirty="0"/>
          </a:p>
        </p:txBody>
      </p:sp>
      <p:sp>
        <p:nvSpPr>
          <p:cNvPr id="17" name="Shape 12"/>
          <p:cNvSpPr/>
          <p:nvPr/>
        </p:nvSpPr>
        <p:spPr>
          <a:xfrm>
            <a:off x="1280160" y="2011680"/>
            <a:ext cx="2377440" cy="2377440"/>
          </a:xfrm>
          <a:prstGeom prst="ellipse">
            <a:avLst/>
          </a:prstGeom>
          <a:solidFill>
            <a:schemeClr val="accent1"/>
          </a:solidFill>
          <a:ln/>
        </p:spPr>
      </p:sp>
      <p:pic>
        <p:nvPicPr>
          <p:cNvPr id="18" name="Image 3" descr="LuSprout">    </p:cNvPr>
          <p:cNvPicPr>
            <a:picLocks noChangeAspect="1"/>
          </p:cNvPicPr>
          <p:nvPr/>
        </p:nvPicPr>
        <p:blipFill>
          <a:blip r:embed="rId4"/>
          <a:stretch>
            <a:fillRect/>
          </a:stretch>
        </p:blipFill>
        <p:spPr>
          <a:xfrm>
            <a:off x="1803197" y="2534717"/>
            <a:ext cx="1331366" cy="1331366"/>
          </a:xfrm>
          <a:prstGeom prst="rect">
            <a:avLst/>
          </a:prstGeom>
        </p:spPr>
      </p:pic>
      <p:sp>
        <p:nvSpPr>
          <p:cNvPr id="20" name="Text 0"/>
          <p:cNvSpPr/>
          <p:nvPr>
            <p:ph idx="101" type="body" hasCustomPrompt="1"/>
          </p:nvPr>
        </p:nvSpPr>
        <p:spPr>
          <a:xfrm>
            <a:off x="4480560" y="3246120"/>
            <a:ext cx="7159752" cy="1371600"/>
          </a:xfrm>
          <a:prstGeom prst="rect">
            <a:avLst/>
          </a:prstGeom>
          <a:noFill/>
          <a:ln/>
        </p:spPr>
        <p:txBody>
          <a:bodyPr wrap="square" lIns="0" tIns="0" rIns="0" bIns="0" rtlCol="0" anchor="t"/>
          <a:lstStyle/>
          <a:p>
            <a:pPr algn="r" indent="0" marL="0">
              <a:buNone/>
            </a:pPr>
            <a:endParaRPr lang="en-US" sz="2000" dirty="0"/>
          </a:p>
        </p:txBody>
      </p:sp>
    </p:spTree>
  </p:cSld>
  <p:clrMapOvr>
    <a:masterClrMapping/>
  </p:clrMapOvr>
</p:sld>
</file>

<file path=ppt/theme/theme1.xml><?xml version="1.0" encoding="utf-8"?>
<a:theme xmlns:a="http://schemas.openxmlformats.org/drawingml/2006/main" name="Nobar Orchard">
  <a:themeElements>
    <a:clrScheme name="Nobar Orchard">
      <a:dk1>
        <a:srgbClr val="17301E"/>
      </a:dk1>
      <a:lt1>
        <a:srgbClr val="FFFFFF"/>
      </a:lt1>
      <a:dk2>
        <a:srgbClr val="1F4D2B"/>
      </a:dk2>
      <a:lt2>
        <a:srgbClr val="EEF5EA"/>
      </a:lt2>
      <a:accent1>
        <a:srgbClr val="2E7D32"/>
      </a:accent1>
      <a:accent2>
        <a:srgbClr val="F28C38"/>
      </a:accent2>
      <a:accent3>
        <a:srgbClr val="7CB342"/>
      </a:accent3>
      <a:accent4>
        <a:srgbClr val="D9534F"/>
      </a:accent4>
      <a:accent5>
        <a:srgbClr val="F4C542"/>
      </a:accent5>
      <a:accent6>
        <a:srgbClr val="7E57C2"/>
      </a:accent6>
      <a:hlink>
        <a:srgbClr val="2E7D32"/>
      </a:hlink>
      <a:folHlink>
        <a:srgbClr val="7E57C2"/>
      </a:folHlink>
    </a:clrScheme>
    <a:fontScheme name="Nobar Orchard">
      <a:majorFont>
        <a:latin typeface="Segoe UI"/>
        <a:ea typeface=""/>
        <a:cs typeface="Segoe UI"/>
        <a:font script="Jpan" typeface="游ゴシック Light"/>
        <a:font script="Hang" typeface="맑은 고딕"/>
        <a:font script="Hans" typeface="等线 Light"/>
        <a:font script="Hant" typeface="新細明體"/>
        <a:font script="Arab" typeface="Segoe U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Segoe UI"/>
        <a:font script="Jpan" typeface="游ゴシック"/>
        <a:font script="Hang" typeface="맑은 고딕"/>
        <a:font script="Hans" typeface="等线"/>
        <a:font script="Hant" typeface="新細明體"/>
        <a:font script="Arab" typeface="Segoe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نوبر — معماری سیستم</dc:title>
  <dc:subject>سمینار مهندسی نرم‌افزار</dc:subject>
  <dc:creator>Nobar</dc:creator>
  <cp:lastModifiedBy>Nobar</cp:lastModifiedBy>
  <cp:revision>1</cp:revision>
  <dcterms:created xsi:type="dcterms:W3CDTF">2026-10-22T10:06:51Z</dcterms:created>
  <dcterms:modified xsi:type="dcterms:W3CDTF">2026-10-22T10:06:51Z</dcterms:modified>
</cp:coreProperties>
</file>