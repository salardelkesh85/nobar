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Vazirmatn Nobar" pitchFamily="2" charset="0"/>
      <p:regular r:id="rIdFont1"/>
      <p:bold r:id="rIdFont2"/>
    </p:embeddedFont>
    <p:embeddedFont>
      <p:font typeface="Vazirmatn Nobar Medium" pitchFamily="2" charset="0"/>
      <p:regular r:id="rIdFont3"/>
    </p:embeddedFont>
    <p:embeddedFont>
      <p:font typeface="Vazirmatn Nobar SemiBold" pitchFamily="2" charset="0"/>
      <p:regular r:id="rIdFont4"/>
    </p:embeddedFont>
    <p:embeddedFont>
      <p:font typeface="Vazirmatn Nobar ExtraBold" pitchFamily="2" charset="0"/>
      <p:regular r:id="rIdFont5"/>
    </p:embeddedFont>
    <p:embeddedFont>
      <p:font typeface="Vazirmatn Nobar Black" pitchFamily="2" charset="0"/>
      <p:regular r:id="rIdFont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دمه" id="{51f3cea0-bf77-2a5f-1526-4ded9b3ea93c}">
          <p14:sldIdLst>
            <p14:sldId id="256"/>
            <p14:sldId id="257"/>
          </p14:sldIdLst>
        </p14:section>
        <p14:section name="مسئله و راه‌حل" id="{9291daf1-c97a-3330-2aff-45c9bb2bc4a1}">
          <p14:sldIdLst>
            <p14:sldId id="258"/>
            <p14:sldId id="259"/>
            <p14:sldId id="260"/>
          </p14:sldIdLst>
        </p14:section>
        <p14:section name="محصول" id="{927b2e9c-cfad-f939-0ad8-7965720ef3b5}">
          <p14:sldIdLst>
            <p14:sldId id="261"/>
            <p14:sldId id="262"/>
            <p14:sldId id="263"/>
          </p14:sldIdLst>
        </p14:section>
        <p14:section name="بازار و رقبا" id="{dc60fdf7-dd82-a0eb-d727-f9c0a7964786}">
          <p14:sldIdLst>
            <p14:sldId id="264"/>
            <p14:sldId id="265"/>
            <p14:sldId id="266"/>
          </p14:sldIdLst>
        </p14:section>
        <p14:section name="مدل کسب‌وکار" id="{ef125b70-c4c7-bc34-8af8-eca772787500}">
          <p14:sldIdLst>
            <p14:sldId id="267"/>
            <p14:sldId id="268"/>
          </p14:sldIdLst>
        </p14:section>
        <p14:section name="فناوری" id="{86a59fc5-a7fb-eb6b-b0b4-1975770df7e3}">
          <p14:sldIdLst>
            <p14:sldId id="269"/>
            <p14:sldId id="270"/>
            <p14:sldId id="271"/>
          </p14:sldIdLst>
        </p14:section>
        <p14:section name="اجرا" id="{4df92c27-2a7b-637b-10d6-2eea23546674}">
          <p14:sldIdLst>
            <p14:sldId id="272"/>
            <p14:sldId id="273"/>
            <p14:sldId id="274"/>
            <p14:sldId id="275"/>
          </p14:sldIdLst>
        </p14:section>
        <p14:section name="پایان" id="{be0b8209-2508-2ad3-bb2b-258ff72d39ce}">
          <p14:sldIdLst>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 Id="rIdFont3" Type="http://schemas.openxmlformats.org/officeDocument/2006/relationships/font" Target="fonts/font3.fntdata"/><Relationship Id="rIdFont4" Type="http://schemas.openxmlformats.org/officeDocument/2006/relationships/font" Target="fonts/font4.fntdata"/><Relationship Id="rIdFont5" Type="http://schemas.openxmlformats.org/officeDocument/2006/relationships/font" Target="fonts/font5.fntdata"/><Relationship Id="rIdFont6"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سلام. «نوبر» یک بازار آنلاین تخصصی برای میوه و سبزی است که باغداران و غرفه‌داران هر شهر محصولشان را مستقیم به خریداران سراسر کشور می‌فروشند. در این ارائه مسئله، راه‌حل، بازار و رقبا، مدل درآمد، معماری فنی و برنامه‌ی اجرا را مرور می‌کنم و در پایان درخواستمان از مرکز رشد را می‌گویم.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خلاصه‌ی کل طرح در چهار جمله: مسئله، راه‌حل، مزیت و درخواست. اگر وقت کم بود، همین اسلاید کل حرف ماست.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طبق گزارش خبرگزاری مهر، ۳۵ تا ۴۰ درصد محصولات کشاورزی در مراحل برداشت تا مصرف از بین می‌رود. گزارش‌های رسانه‌ای از اختلاف ۲۰۰ تا ۳۰۰ درصدی قیمت سر باغ تا بازار مصرف خبر می‌دهند. و ۸۸ درصد مردم کمتر از حد نیاز میوه و سبزی مصرف می‌کنند. یعنی هم تولیدکننده ضرر می‌کند، هم مصرف‌کننده.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امروز محصول از باغدار به واسطه‌ی محلی، بعد میدان بار، بعد مغازه و در نهایت به خانه می‌رسد. در هر مرحله هم زمان از دست می‌رود و هم قیمت بالا می‌رود. در نوبر باغدار مستقیم به خریدار می‌فروشد و نوبر نقش امانت‌دار پول، کنترل تازگی و هماهنگی ارسال را 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نوبر برای خریدار محصول تازه با مبدأ مشخص و قیمت منصفانه می‌آورد، برای باغدار بازار سراسری و پرداخت تضمینی، و برای اقتصاد کاهش ضایعات و شفافیت قیمت. تصویر سمت چپ صفحه‌ی یک محصول در اپلیکیشن است: تاریخ برداشت، تازه‌سنج و زمان رسیدن به شهر خریدار.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راست: صفحه‌ی اول با بخش «فصلشه» و اعلان «نوبر شد!»؛ صفحه‌ی محصول با تازه‌سنج، بسته‌ها و ارسال هوشمند که قیمت تمام‌شده تا درِ خانه را نشان می‌دهد؛ و گفتگو با باغبون که برای قورمه‌سبزی شش نفره سبد پیشنهاد می‌دهد و فقط با تأیید کاربر به سبد اضافه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تازه‌سنج و ارسال هوشمند مشکل فسادپذیری را حل می‌کنند؛ قیمت تمام‌شده مقایسه را منصفانه می‌کند؛ «نوبر شد!» و باغ‌نامه اعتماد و بازاریابی فصلی می‌سازند؛ و حالت ساده و صوتی، سالمندان و باغدارانی را که با فرم راحت نیستند وارد بازار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باغبون جمله‌ی خودمانی کاربر را می‌فهمد، سبد آماده پیشنهاد می‌دهد و انتخاب‌ها را توضیح می‌دهد. برای باغدار، از چند عکس و یک پیام صوتی پیش‌نویس محصول می‌سازد؛ تصویر سمت چپ همین را نشان می‌دهد. اصل مهم: قیمت و موجودی فقط از داده‌ی واقعی می‌آید و هیچ تغییری بدون تأیید کاربر انجام نمی‌شود.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کل بازار را بر اساس حجم تولید سنجیده‌ایم: حدود ۲۶ میلیون تن محصول باغی و ۲۸ میلیون تن سبزی و صیفی. با سهم ۵٫۶ درصدی فروش آنلاین از خرده‌فروشی، بازار در دسترس حدود ۳ میلیون تن است. هدف سال سوم ما فقط یک‌دهم درصد آن است، یعنی ۳ هزار تن. استان پایلوت، آذربایجان غربی، ۳۰ درصد سیب کشور را تولید می‌کند.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باسلام مدل بازار چندفروشنده دارد اما تخصصی تازه‌کالا نیست و تازگی و ماندگاری را کنترل نمی‌کند. اسنپ‌مارکت، دیجی‌کالا و اکالا در تحویل فوری درون‌شهری قوی‌اند، اما محصول را از عمده‌فروش و سوپرمارکت تأمین می‌کنند و مبدأ و تاریخ برداشت معلوم نیست. دیجی‌کالا دستیار هوشمند عمومی «دیا» را دارد؛ مزیت ما تخصص در تازه‌کالاست، نه انحصار در هوش مصنوعی.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روی این نقشه، محور افقی منبع کالاست و محور عمودی میزان تخصص در تازه‌کالا. نوبر در گوشه‌ای قرار دارد که رقیب جدی ندارد. مزیت پایدار ما سه چیز است: داده و قوانین تازگی که با هر سفارش دقیق‌تر می‌شود، شبکه‌ی باغداران از مبدأ، و هوش مصنوعی تخصصی. واقع‌بینانه بگویم: بازیگران بزرگ در برند و سرعت قوی‌ترند و ما وارد رقابت سرعت نمی‌شویم.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درآمد اصلی کمیسیون ۸ تا ۱۲ درصدی از هر فروش است. نمودار نشان می‌دهد ۱۰ تومان کمیسیون از هر ۱۰۰ تومان فروش کجا خرج می‌شود: در سال اول بیشترین هزینه بازاریابی و جذب است و با بزرگ‌شدن شبکه، حاشیه‌ی مشارکت از ۳ به حدود ۵ تومان می‌رسد. این ارقام برآورد اولیه‌ی ماست.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سال اول با ۱۰۰ غرفه و ۳۰۰ تن فروش در یک استان شروع می‌کنیم؛ سال دوم چهار استان و سال سوم سراسری. با فرض میانگین ۸۰ هزار تومان برای هر کیلو و کمیسیون مؤثر ۱۰ درصد، درآمد سال سوم حدود ۲۴ میلیارد تومان است. این‌ها اهداف برنامه‌ریزی‌اند، نه پیش‌بینی قطعی.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معماری در چهار لایه است: کاربران با سه اپلیکیشن تحت وب؛ دروازه برای امنیت و کش؛ هسته شامل API با ۲۱ ماژول مستقل، Worker برای رویدادها و زمان‌بندی‌ها و سرویس جدای هوش مصنوعی؛ و لایه‌ی داده. هر سرویس بیرونی مثل درگاه پرداخت، پیامک یا مدل زبانی پشت یک درگاه قابل‌تعویض است، پس به هیچ شرکت خاصی وابسته نیستیم.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سیستم از ۲۱ ماژول با مرز مشخص ساخته شده که ابزار خودکار نمی‌گذارد این مرزها شکسته شوند. همه‌ی گردش‌های پول در دفتر کل دوطرفه ثبت می‌شود، رویدادها با الگوی Outbox گم نمی‌شوند و ۱۳ تصمیم معماری با دلیلشان مستند شده‌اند. ساخت در ۱۷ فاز انجام می‌شود که هرکدام معیار پذیرش و تست خودکار دارد.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خریدار پرداخت می‌کند، پول در حساب امانی نوبر می‌ماند، محصول ارسال و تحویل می‌شود و بعد از پایان مهلت شکایت، مبلغ منهای کمیسیون به غرفه‌دار می‌رسد. اگر شکایت با عکس پذیرفته شود، پول به کیف پول خریدار برمی‌گردد. همه‌ی این جابه‌جایی‌ها در دفتر کل دوطرفه ثبت و هر شب خودکار بررسی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پایلوت را در آذربایجان غربی شروع می‌کنیم که ۳۰ درصد سیب کشور را تولید می‌کند. سمت عرضه باغداران سیب، انگور و صیفی استان‌اند و سمت تقاضا خریداران ارومیه و تبریز و تهران برای محصولات ماندگار. بعد استان‌های همسایه و قطب‌های تولید دیگر، و از سال دوم کل کشور و فروش عمده. جذب از راه همکاری با تعاونی‌ها و بازاریابی فصلی «نوبر شد!» انجام می‌شود.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 دو ماه اول پایه‌ها و طراحی را می‌سازیم، تا پایان ماه ششم نسخه‌ی اول بازار با پرداخت، ارسال و پنل‌ها آماده است. ماه هفتم تا نهم پایلوت را همراه با باغبون اجرا می‌کنیم و در سه ماه آخر صدا، امنیت، تست بار و گسترش را انجام می‌دهیم. چهار شاخص پایین معیار موفقیت سال اول‌اند.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بزرگ‌ترین ریسک‌ها فسادپذیری کالا و شروع سرد بازار دوطرفه است. برای اولی تازه‌سنج، ارسال آگاه از ماندگاری و مهلت شکایت را داریم و برای دومی شروع متمرکز از یک استان و همکاری با تعاونی‌ها. ریسک دسترسی به مدل‌های هوش مصنوعی را با معماری مستقل از ارائه‌دهنده و امکان اجرای مدل متن‌باز روی سرور داخلی کنترل کرده‌ایم.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درخواست ما سه بخش دارد: پذیرش در مرکز رشد و فضای کار، تسهیلات برای ۱۲ ماه اول و منتورینگ حقوقی و مالی و ارتباط با تعاونی‌های کشاورزی. نمودار نشان می‌دهد منابع چطور خرج می‌شود؛ ۴۵ درصد توسعه‌ی فنی و ۲۵ درصد جذب غرفه‌دار و بازاریابی. در تیم، سال اول به یک توسعه‌دهنده‌ی بک‌اند، یک توسعه‌دهنده‌ی فرانت‌اند، یک مسئول جذب غرفه‌داران و یک مشاور کشاورزی نیاز داریم.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از توجه شما سپاسگزارم. آماده‌ی پاسخ به پرسش‌ها هستم؛ جزئیات فنی، فرض‌های مالی و منابع آمار در اسلاید بعد و در مستندات فنی پروژه موجود 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این اسلاید برای مراجعه است. اگر درباره‌ی هر عدد سؤالی بود، منبع آن اینجاست.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NOBAR_CONTENT-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NOBAR_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OBAR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claude/e50823c0-d46f-5818-8f05-9d714cd67f5c/scratchpad/deck/img/logo_dark.png">    </p:cNvPr>
          <p:cNvPicPr>
            <a:picLocks noChangeAspect="1"/>
          </p:cNvPicPr>
          <p:nvPr/>
        </p:nvPicPr>
        <p:blipFill>
          <a:blip r:embed="rId1"/>
          <a:stretch>
            <a:fillRect/>
          </a:stretch>
        </p:blipFill>
        <p:spPr>
          <a:xfrm>
            <a:off x="502920" y="393192"/>
            <a:ext cx="987552" cy="475488"/>
          </a:xfrm>
          <a:prstGeom prst="rect">
            <a:avLst/>
          </a:prstGeom>
        </p:spPr>
      </p:pic>
      <p:sp>
        <p:nvSpPr>
          <p:cNvPr id="3" name="Text 0"/>
          <p:cNvSpPr/>
          <p:nvPr/>
        </p:nvSpPr>
        <p:spPr>
          <a:xfrm>
            <a:off x="6156655" y="6400800"/>
            <a:ext cx="5486400" cy="274320"/>
          </a:xfrm>
          <a:prstGeom prst="rect">
            <a:avLst/>
          </a:prstGeom>
          <a:noFill/>
          <a:ln/>
        </p:spPr>
        <p:txBody>
          <a:bodyPr wrap="square" lIns="0" tIns="0" rIns="0" bIns="0" rtlCol="0" anchor="ctr"/>
          <a:lstStyle/>
          <a:p>
            <a:pPr algn="r" indent="0" marL="0">
              <a:buNone/>
            </a:pPr>
            <a:r>
              <a:rPr lang="en-US" sz="1000" dirty="0">
                <a:solidFill>
                  <a:srgbClr val="5F6B5F"/>
                </a:solidFill>
                <a:latin typeface="Vazirmatn Nobar" pitchFamily="34" charset="0"/>
                <a:ea typeface="Vazirmatn Nobar" pitchFamily="34" charset="-122"/>
                <a:cs typeface="Vazirmatn Nobar" pitchFamily="34" charset="-120"/>
              </a:rPr>
              <a:t>نوبر  |  طرح کسب‌وکار و معماری فنی  |  آبان ۱۴۰۵</a:t>
            </a:r>
            <a:endParaRPr lang="en-US" sz="1000" dirty="0"/>
          </a:p>
        </p:txBody>
      </p:sp>
      <p:sp>
        <p:nvSpPr>
          <p:cNvPr id="4" name="Text 1"/>
          <p:cNvSpPr/>
          <p:nvPr>
            <p:ph idx="102" type="title" hasCustomPrompt="1"/>
          </p:nvPr>
        </p:nvSpPr>
        <p:spPr>
          <a:xfrm>
            <a:off x="1828800" y="329184"/>
            <a:ext cx="9814255" cy="658368"/>
          </a:xfrm>
          <a:prstGeom prst="rect">
            <a:avLst/>
          </a:prstGeom>
          <a:noFill/>
          <a:ln/>
        </p:spPr>
        <p:txBody>
          <a:bodyPr wrap="square" rtlCol="0"/>
          <a:lstStyle>
            <a:lvl1pPr algn="r" indent="0" marL="0">
              <a:buNone/>
              <a:defRPr lang="en-US" sz="3400" dirty="0">
                <a:solidFill>
                  <a:srgbClr val="14532D"/>
                </a:solidFill>
                <a:latin typeface="Vazirmatn Nobar ExtraBold" pitchFamily="34" charset="0"/>
                <a:ea typeface="Vazirmatn Nobar ExtraBold" pitchFamily="34" charset="-122"/>
                <a:cs typeface="Vazirmatn Nobar ExtraBold" pitchFamily="34" charset="-120"/>
              </a:defRPr>
            </a:lvl1pPr>
          </a:lstStyle>
          <a:p>
            <a:pPr algn="r"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OBAR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1.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slideLayout" Target="../slideLayouts/slideLayout2.xml"/><Relationship Id="rId1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slideLayout" Target="../slideLayouts/slideLayout2.xml"/><Relationship Id="rId1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slideLayout" Target="../slideLayouts/slideLayout2.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2.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3.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tmp/claude-0/-home-claude/e50823c0-d46f-5818-8f05-9d714cd67f5c/scratchpad/deck/img/hero.png">    </p:cNvPr>
          <p:cNvPicPr>
            <a:picLocks noChangeAspect="1"/>
          </p:cNvPicPr>
          <p:nvPr/>
        </p:nvPicPr>
        <p:blipFill>
          <a:blip r:embed="rId1"/>
          <a:stretch>
            <a:fillRect/>
          </a:stretch>
        </p:blipFill>
        <p:spPr>
          <a:xfrm>
            <a:off x="182880" y="109728"/>
            <a:ext cx="5582653" cy="6629400"/>
          </a:xfrm>
          <a:prstGeom prst="rect">
            <a:avLst/>
          </a:prstGeom>
        </p:spPr>
      </p:pic>
      <p:pic>
        <p:nvPicPr>
          <p:cNvPr id="3" name="Image 1" descr="/tmp/claude-0/-home-claude/e50823c0-d46f-5818-8f05-9d714cd67f5c/scratchpad/deck/img/logo_white.png">    </p:cNvPr>
          <p:cNvPicPr>
            <a:picLocks noChangeAspect="1"/>
          </p:cNvPicPr>
          <p:nvPr/>
        </p:nvPicPr>
        <p:blipFill>
          <a:blip r:embed="rId2"/>
          <a:stretch>
            <a:fillRect/>
          </a:stretch>
        </p:blipFill>
        <p:spPr>
          <a:xfrm>
            <a:off x="9585655" y="685800"/>
            <a:ext cx="2148840" cy="1040491"/>
          </a:xfrm>
          <a:prstGeom prst="rect">
            <a:avLst/>
          </a:prstGeom>
        </p:spPr>
      </p:pic>
      <p:sp>
        <p:nvSpPr>
          <p:cNvPr id="4" name="Shape 0"/>
          <p:cNvSpPr/>
          <p:nvPr/>
        </p:nvSpPr>
        <p:spPr>
          <a:xfrm>
            <a:off x="8442655" y="1920240"/>
            <a:ext cx="3200400" cy="420624"/>
          </a:xfrm>
          <a:prstGeom prst="roundRect">
            <a:avLst>
              <a:gd name="adj" fmla="val 50000"/>
            </a:avLst>
          </a:prstGeom>
          <a:solidFill>
            <a:srgbClr val="2E7D32"/>
          </a:solidFill>
          <a:ln w="12700">
            <a:solidFill>
              <a:srgbClr val="A5D6A7"/>
            </a:solidFill>
            <a:prstDash val="solid"/>
          </a:ln>
        </p:spPr>
      </p:sp>
      <p:sp>
        <p:nvSpPr>
          <p:cNvPr id="5" name="Text 1"/>
          <p:cNvSpPr txBox="1"/>
          <p:nvPr/>
        </p:nvSpPr>
        <p:spPr>
          <a:xfrm>
            <a:off x="8442655" y="1920240"/>
            <a:ext cx="3200400" cy="420624"/>
          </a:xfrm>
          <a:prstGeom prst="rect">
            <a:avLst/>
          </a:prstGeom>
          <a:noFill/>
          <a:ln/>
        </p:spPr>
        <p:txBody>
          <a:bodyPr wrap="square" lIns="0" tIns="0" rIns="0" bIns="0" rtlCol="0" anchor="ctr"/>
          <a:lstStyle/>
          <a:p>
            <a:pPr rtl="1" algn="ctr" indent="0" marL="0">
              <a:buNone/>
            </a:pPr>
            <a:r>
              <a:rPr lang="fa-IR" altLang="en-US" sz="1400" dirty="0">
                <a:solidFill>
                  <a:srgbClr val="FFFFFF"/>
                </a:solidFill>
                <a:latin typeface="Vazirmatn Nobar SemiBold" pitchFamily="34" charset="0"/>
                <a:ea typeface="Vazirmatn Nobar SemiBold" pitchFamily="34" charset="-122"/>
                <a:cs typeface="Vazirmatn Nobar SemiBold" pitchFamily="34" charset="-120"/>
              </a:rPr>
              <a:t>طرح کسب‌وکار و معماری فنی</a:t>
            </a:r>
            <a:endParaRPr lang="fa-IR" sz="1400" dirty="0"/>
          </a:p>
        </p:txBody>
      </p:sp>
      <p:sp>
        <p:nvSpPr>
          <p:cNvPr id="6" name="Text 2"/>
          <p:cNvSpPr txBox="1"/>
          <p:nvPr/>
        </p:nvSpPr>
        <p:spPr>
          <a:xfrm>
            <a:off x="5760720" y="2514600"/>
            <a:ext cx="5882335" cy="1600200"/>
          </a:xfrm>
          <a:prstGeom prst="rect">
            <a:avLst/>
          </a:prstGeom>
          <a:noFill/>
          <a:ln/>
        </p:spPr>
        <p:txBody>
          <a:bodyPr wrap="square" lIns="0" tIns="0" rIns="0" bIns="0" rtlCol="0" anchor="t"/>
          <a:lstStyle/>
          <a:p>
            <a:pPr rtl="1" algn="r" indent="0" marL="0">
              <a:lnSpc>
                <a:spcPct val="105000"/>
              </a:lnSpc>
              <a:buNone/>
            </a:pPr>
            <a:r>
              <a:rPr lang="fa-IR" altLang="en-US" sz="4200" dirty="0">
                <a:solidFill>
                  <a:srgbClr val="FFFFFF"/>
                </a:solidFill>
                <a:latin typeface="Vazirmatn Nobar Black" pitchFamily="34" charset="0"/>
                <a:ea typeface="Vazirmatn Nobar Black" pitchFamily="34" charset="-122"/>
                <a:cs typeface="Vazirmatn Nobar Black" pitchFamily="34" charset="-120"/>
              </a:rPr>
              <a:t>بازار آنلاین میوه و سبزی،</a:t>
            </a:r>
            <a:endParaRPr lang="fa-IR" sz="4200" dirty="0"/>
          </a:p>
          <a:p>
            <a:pPr rtl="1" algn="r" indent="0" marL="0">
              <a:lnSpc>
                <a:spcPct val="105000"/>
              </a:lnSpc>
              <a:buNone/>
            </a:pPr>
            <a:r>
              <a:rPr lang="fa-IR" altLang="en-US" sz="4200" dirty="0">
                <a:solidFill>
                  <a:srgbClr val="FFFFFF"/>
                </a:solidFill>
                <a:latin typeface="Vazirmatn Nobar Black" pitchFamily="34" charset="0"/>
                <a:ea typeface="Vazirmatn Nobar Black" pitchFamily="34" charset="-122"/>
                <a:cs typeface="Vazirmatn Nobar Black" pitchFamily="34" charset="-120"/>
              </a:rPr>
              <a:t>مستقیم از مبدأ</a:t>
            </a:r>
            <a:endParaRPr lang="fa-IR" sz="4200" dirty="0"/>
          </a:p>
        </p:txBody>
      </p:sp>
      <p:sp>
        <p:nvSpPr>
          <p:cNvPr id="7" name="Text 3"/>
          <p:cNvSpPr txBox="1"/>
          <p:nvPr/>
        </p:nvSpPr>
        <p:spPr>
          <a:xfrm>
            <a:off x="5760720" y="4160520"/>
            <a:ext cx="5882335" cy="777240"/>
          </a:xfrm>
          <a:prstGeom prst="rect">
            <a:avLst/>
          </a:prstGeom>
          <a:noFill/>
          <a:ln/>
        </p:spPr>
        <p:txBody>
          <a:bodyPr wrap="square" lIns="0" tIns="0" rIns="0" bIns="0" rtlCol="0" anchor="t"/>
          <a:lstStyle/>
          <a:p>
            <a:pPr rtl="1" algn="r" indent="0" marL="0">
              <a:buNone/>
            </a:pPr>
            <a:r>
              <a:rPr lang="fa-IR" altLang="en-US" sz="1800" dirty="0">
                <a:solidFill>
                  <a:srgbClr val="C5E1A5"/>
                </a:solidFill>
                <a:latin typeface="Vazirmatn Nobar Medium" pitchFamily="34" charset="0"/>
                <a:ea typeface="Vazirmatn Nobar Medium" pitchFamily="34" charset="-122"/>
                <a:cs typeface="Vazirmatn Nobar Medium" pitchFamily="34" charset="-120"/>
              </a:rPr>
              <a:t>تازه، شفاف و منصفانه؛ با دستیار هوش مصنوعیِ «باغبون» برای خریدار و باغدار</a:t>
            </a:r>
            <a:endParaRPr lang="fa-IR" sz="1800" dirty="0"/>
          </a:p>
        </p:txBody>
      </p:sp>
      <p:sp>
        <p:nvSpPr>
          <p:cNvPr id="8" name="Shape 4"/>
          <p:cNvSpPr/>
          <p:nvPr/>
        </p:nvSpPr>
        <p:spPr>
          <a:xfrm>
            <a:off x="10042855" y="5074920"/>
            <a:ext cx="1600200" cy="512064"/>
          </a:xfrm>
          <a:prstGeom prst="roundRect">
            <a:avLst>
              <a:gd name="adj" fmla="val 50000"/>
            </a:avLst>
          </a:prstGeom>
          <a:solidFill>
            <a:srgbClr val="FFFFFF">
              <a:alpha val="14000"/>
            </a:srgbClr>
          </a:solidFill>
          <a:ln w="9525">
            <a:solidFill>
              <a:srgbClr val="A5D6A7"/>
            </a:solidFill>
            <a:prstDash val="solid"/>
          </a:ln>
        </p:spPr>
      </p:sp>
      <p:pic>
        <p:nvPicPr>
          <p:cNvPr id="9" name="icon thermometer" descr="/tmp/claude-0/-home-claude/e50823c0-d46f-5818-8f05-9d714cd67f5c/scratchpad/assets/icons/thermometer.png">    </p:cNvPr>
          <p:cNvPicPr>
            <a:picLocks noChangeAspect="1"/>
          </p:cNvPicPr>
          <p:nvPr/>
        </p:nvPicPr>
        <p:blipFill>
          <a:blip r:embed="rId3"/>
          <a:stretch>
            <a:fillRect/>
          </a:stretch>
        </p:blipFill>
        <p:spPr>
          <a:xfrm>
            <a:off x="11185855" y="5138928"/>
            <a:ext cx="384048" cy="384048"/>
          </a:xfrm>
          <a:prstGeom prst="rect">
            <a:avLst/>
          </a:prstGeom>
        </p:spPr>
      </p:pic>
      <p:sp>
        <p:nvSpPr>
          <p:cNvPr id="10" name="Text 5"/>
          <p:cNvSpPr txBox="1"/>
          <p:nvPr/>
        </p:nvSpPr>
        <p:spPr>
          <a:xfrm>
            <a:off x="10134295" y="5074920"/>
            <a:ext cx="1005840" cy="512064"/>
          </a:xfrm>
          <a:prstGeom prst="rect">
            <a:avLst/>
          </a:prstGeom>
          <a:noFill/>
          <a:ln/>
        </p:spPr>
        <p:txBody>
          <a:bodyPr wrap="square" lIns="0" tIns="0" rIns="0" bIns="0" rtlCol="0" anchor="ctr"/>
          <a:lstStyle/>
          <a:p>
            <a:pPr rtl="1" algn="r" indent="0" marL="0">
              <a:buNone/>
            </a:pPr>
            <a:r>
              <a:rPr lang="fa-IR" altLang="en-US" sz="1400" dirty="0">
                <a:solidFill>
                  <a:srgbClr val="FFFFFF"/>
                </a:solidFill>
                <a:latin typeface="Vazirmatn Nobar SemiBold" pitchFamily="34" charset="0"/>
                <a:ea typeface="Vazirmatn Nobar SemiBold" pitchFamily="34" charset="-122"/>
                <a:cs typeface="Vazirmatn Nobar SemiBold" pitchFamily="34" charset="-120"/>
              </a:rPr>
              <a:t>تازه‌سنج</a:t>
            </a:r>
            <a:endParaRPr lang="fa-IR" sz="1400" dirty="0"/>
          </a:p>
        </p:txBody>
      </p:sp>
      <p:sp>
        <p:nvSpPr>
          <p:cNvPr id="11" name="Shape 6"/>
          <p:cNvSpPr/>
          <p:nvPr/>
        </p:nvSpPr>
        <p:spPr>
          <a:xfrm>
            <a:off x="8003743" y="5074920"/>
            <a:ext cx="1874520" cy="512064"/>
          </a:xfrm>
          <a:prstGeom prst="roundRect">
            <a:avLst>
              <a:gd name="adj" fmla="val 50000"/>
            </a:avLst>
          </a:prstGeom>
          <a:solidFill>
            <a:srgbClr val="FFFFFF">
              <a:alpha val="14000"/>
            </a:srgbClr>
          </a:solidFill>
          <a:ln w="9525">
            <a:solidFill>
              <a:srgbClr val="A5D6A7"/>
            </a:solidFill>
            <a:prstDash val="solid"/>
          </a:ln>
        </p:spPr>
      </p:sp>
      <p:pic>
        <p:nvPicPr>
          <p:cNvPr id="12" name="icon delivery_truck" descr="/tmp/claude-0/-home-claude/e50823c0-d46f-5818-8f05-9d714cd67f5c/scratchpad/assets/icons/delivery_truck.png">    </p:cNvPr>
          <p:cNvPicPr>
            <a:picLocks noChangeAspect="1"/>
          </p:cNvPicPr>
          <p:nvPr/>
        </p:nvPicPr>
        <p:blipFill>
          <a:blip r:embed="rId4"/>
          <a:stretch>
            <a:fillRect/>
          </a:stretch>
        </p:blipFill>
        <p:spPr>
          <a:xfrm>
            <a:off x="9421063" y="5138928"/>
            <a:ext cx="384048" cy="384048"/>
          </a:xfrm>
          <a:prstGeom prst="rect">
            <a:avLst/>
          </a:prstGeom>
        </p:spPr>
      </p:pic>
      <p:sp>
        <p:nvSpPr>
          <p:cNvPr id="13" name="Text 7"/>
          <p:cNvSpPr txBox="1"/>
          <p:nvPr/>
        </p:nvSpPr>
        <p:spPr>
          <a:xfrm>
            <a:off x="8095183" y="5074920"/>
            <a:ext cx="1280160" cy="512064"/>
          </a:xfrm>
          <a:prstGeom prst="rect">
            <a:avLst/>
          </a:prstGeom>
          <a:noFill/>
          <a:ln/>
        </p:spPr>
        <p:txBody>
          <a:bodyPr wrap="square" lIns="0" tIns="0" rIns="0" bIns="0" rtlCol="0" anchor="ctr"/>
          <a:lstStyle/>
          <a:p>
            <a:pPr rtl="1" algn="r" indent="0" marL="0">
              <a:buNone/>
            </a:pPr>
            <a:r>
              <a:rPr lang="fa-IR" altLang="en-US" sz="1400" dirty="0">
                <a:solidFill>
                  <a:srgbClr val="FFFFFF"/>
                </a:solidFill>
                <a:latin typeface="Vazirmatn Nobar SemiBold" pitchFamily="34" charset="0"/>
                <a:ea typeface="Vazirmatn Nobar SemiBold" pitchFamily="34" charset="-122"/>
                <a:cs typeface="Vazirmatn Nobar SemiBold" pitchFamily="34" charset="-120"/>
              </a:rPr>
              <a:t>ارسال هوشمند</a:t>
            </a:r>
            <a:endParaRPr lang="fa-IR" sz="1400" dirty="0"/>
          </a:p>
        </p:txBody>
      </p:sp>
      <p:sp>
        <p:nvSpPr>
          <p:cNvPr id="14" name="Shape 8"/>
          <p:cNvSpPr/>
          <p:nvPr/>
        </p:nvSpPr>
        <p:spPr>
          <a:xfrm>
            <a:off x="5598871" y="5074920"/>
            <a:ext cx="2240280" cy="512064"/>
          </a:xfrm>
          <a:prstGeom prst="roundRect">
            <a:avLst>
              <a:gd name="adj" fmla="val 50000"/>
            </a:avLst>
          </a:prstGeom>
          <a:solidFill>
            <a:srgbClr val="FFFFFF">
              <a:alpha val="14000"/>
            </a:srgbClr>
          </a:solidFill>
          <a:ln w="9525">
            <a:solidFill>
              <a:srgbClr val="A5D6A7"/>
            </a:solidFill>
            <a:prstDash val="solid"/>
          </a:ln>
        </p:spPr>
      </p:sp>
      <p:pic>
        <p:nvPicPr>
          <p:cNvPr id="15" name="icon robot" descr="/tmp/claude-0/-home-claude/e50823c0-d46f-5818-8f05-9d714cd67f5c/scratchpad/assets/icons/robot.png">    </p:cNvPr>
          <p:cNvPicPr>
            <a:picLocks noChangeAspect="1"/>
          </p:cNvPicPr>
          <p:nvPr/>
        </p:nvPicPr>
        <p:blipFill>
          <a:blip r:embed="rId5"/>
          <a:stretch>
            <a:fillRect/>
          </a:stretch>
        </p:blipFill>
        <p:spPr>
          <a:xfrm>
            <a:off x="7381951" y="5138928"/>
            <a:ext cx="384048" cy="384048"/>
          </a:xfrm>
          <a:prstGeom prst="rect">
            <a:avLst/>
          </a:prstGeom>
        </p:spPr>
      </p:pic>
      <p:sp>
        <p:nvSpPr>
          <p:cNvPr id="16" name="Text 9"/>
          <p:cNvSpPr txBox="1"/>
          <p:nvPr/>
        </p:nvSpPr>
        <p:spPr>
          <a:xfrm>
            <a:off x="5690311" y="5074920"/>
            <a:ext cx="1645920" cy="512064"/>
          </a:xfrm>
          <a:prstGeom prst="rect">
            <a:avLst/>
          </a:prstGeom>
          <a:noFill/>
          <a:ln/>
        </p:spPr>
        <p:txBody>
          <a:bodyPr wrap="square" lIns="0" tIns="0" rIns="0" bIns="0" rtlCol="0" anchor="ctr"/>
          <a:lstStyle/>
          <a:p>
            <a:pPr rtl="1" algn="r" indent="0" marL="0">
              <a:buNone/>
            </a:pPr>
            <a:r>
              <a:rPr lang="fa-IR" altLang="en-US" sz="1400" dirty="0">
                <a:solidFill>
                  <a:srgbClr val="FFFFFF"/>
                </a:solidFill>
                <a:latin typeface="Vazirmatn Nobar SemiBold" pitchFamily="34" charset="0"/>
                <a:ea typeface="Vazirmatn Nobar SemiBold" pitchFamily="34" charset="-122"/>
                <a:cs typeface="Vazirmatn Nobar SemiBold" pitchFamily="34" charset="-120"/>
              </a:rPr>
              <a:t>هوش مصنوعی باغبون</a:t>
            </a:r>
            <a:endParaRPr lang="fa-IR" sz="1400" dirty="0"/>
          </a:p>
        </p:txBody>
      </p:sp>
      <p:sp>
        <p:nvSpPr>
          <p:cNvPr id="17" name="Text 10"/>
          <p:cNvSpPr txBox="1"/>
          <p:nvPr/>
        </p:nvSpPr>
        <p:spPr>
          <a:xfrm>
            <a:off x="5760720" y="5989320"/>
            <a:ext cx="5882335" cy="365760"/>
          </a:xfrm>
          <a:prstGeom prst="rect">
            <a:avLst/>
          </a:prstGeom>
          <a:noFill/>
          <a:ln/>
        </p:spPr>
        <p:txBody>
          <a:bodyPr wrap="square" lIns="0" tIns="0" rIns="0" bIns="0" rtlCol="0" anchor="t"/>
          <a:lstStyle/>
          <a:p>
            <a:pPr rtl="1" algn="r" indent="0" marL="0">
              <a:buNone/>
            </a:pPr>
            <a:r>
              <a:rPr lang="fa-IR" altLang="en-US" sz="1300" dirty="0">
                <a:solidFill>
                  <a:srgbClr val="DCEDC8"/>
                </a:solidFill>
                <a:latin typeface="Vazirmatn Nobar" pitchFamily="34" charset="0"/>
                <a:ea typeface="Vazirmatn Nobar" pitchFamily="34" charset="-122"/>
                <a:cs typeface="Vazirmatn Nobar" pitchFamily="34" charset="-120"/>
              </a:rPr>
              <a:t>ارائه‌دهنده: [نام و نام خانوادگی]   |   ارائه به مرکز رشد   |   آبان ۱۴۰۵</a:t>
            </a:r>
            <a:endParaRPr lang="fa-IR"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۲</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نوبر در یک نگاه</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یک بازار تخصصی برای تازه‌ترین محصول هر شهر؛ با پول امانی، ارسال هوشمند و هوش مصنوعی</a:t>
            </a:r>
            <a:endParaRPr lang="fa-IR" sz="1600" dirty="0"/>
          </a:p>
        </p:txBody>
      </p:sp>
      <p:sp>
        <p:nvSpPr>
          <p:cNvPr id="6" name="Shape 3"/>
          <p:cNvSpPr/>
          <p:nvPr/>
        </p:nvSpPr>
        <p:spPr>
          <a:xfrm>
            <a:off x="9055303" y="1645920"/>
            <a:ext cx="2587752" cy="3474720"/>
          </a:xfrm>
          <a:prstGeom prst="roundRect">
            <a:avLst>
              <a:gd name="adj" fmla="val 5654"/>
            </a:avLst>
          </a:prstGeom>
          <a:solidFill>
            <a:srgbClr val="FFFFFF"/>
          </a:solidFill>
          <a:ln/>
          <a:effectLst>
            <a:outerShdw sx="100000" sy="100000" kx="0" ky="0" algn="bl" rotWithShape="0" blurRad="127000" dist="38100" dir="5400000">
              <a:srgbClr val="14532D">
                <a:alpha val="12000"/>
              </a:srgbClr>
            </a:outerShdw>
          </a:effectLst>
        </p:spPr>
      </p:sp>
      <p:sp>
        <p:nvSpPr>
          <p:cNvPr id="7" name="Shape 4"/>
          <p:cNvSpPr/>
          <p:nvPr/>
        </p:nvSpPr>
        <p:spPr>
          <a:xfrm>
            <a:off x="10545775" y="1920240"/>
            <a:ext cx="841248" cy="841248"/>
          </a:xfrm>
          <a:prstGeom prst="ellipse">
            <a:avLst/>
          </a:prstGeom>
          <a:solidFill>
            <a:srgbClr val="EAF5E6"/>
          </a:solidFill>
          <a:ln/>
        </p:spPr>
      </p:sp>
      <p:pic>
        <p:nvPicPr>
          <p:cNvPr id="8" name="icon warning" descr="/tmp/claude-0/-home-claude/e50823c0-d46f-5818-8f05-9d714cd67f5c/scratchpad/assets/icons/warning.png">    </p:cNvPr>
          <p:cNvPicPr>
            <a:picLocks noChangeAspect="1"/>
          </p:cNvPicPr>
          <p:nvPr/>
        </p:nvPicPr>
        <p:blipFill>
          <a:blip r:embed="rId1"/>
          <a:stretch>
            <a:fillRect/>
          </a:stretch>
        </p:blipFill>
        <p:spPr>
          <a:xfrm>
            <a:off x="10680375" y="2054840"/>
            <a:ext cx="572049" cy="572049"/>
          </a:xfrm>
          <a:prstGeom prst="rect">
            <a:avLst/>
          </a:prstGeom>
        </p:spPr>
      </p:pic>
      <p:sp>
        <p:nvSpPr>
          <p:cNvPr id="9" name="Text 5"/>
          <p:cNvSpPr txBox="1"/>
          <p:nvPr/>
        </p:nvSpPr>
        <p:spPr>
          <a:xfrm>
            <a:off x="9329623" y="2029968"/>
            <a:ext cx="731520" cy="457200"/>
          </a:xfrm>
          <a:prstGeom prst="rect">
            <a:avLst/>
          </a:prstGeom>
          <a:noFill/>
          <a:ln/>
        </p:spPr>
        <p:txBody>
          <a:bodyPr wrap="square" lIns="0" tIns="0" rIns="0" bIns="0" rtlCol="0" anchor="t"/>
          <a:lstStyle/>
          <a:p>
            <a:pPr rtl="1" algn="l" indent="0" marL="0">
              <a:buNone/>
            </a:pPr>
            <a:r>
              <a:rPr lang="fa-IR" altLang="en-US" sz="2200" dirty="0">
                <a:solidFill>
                  <a:srgbClr val="DDEFD6"/>
                </a:solidFill>
                <a:latin typeface="Vazirmatn Nobar Black" pitchFamily="34" charset="0"/>
                <a:ea typeface="Vazirmatn Nobar Black" pitchFamily="34" charset="-122"/>
                <a:cs typeface="Vazirmatn Nobar Black" pitchFamily="34" charset="-120"/>
              </a:rPr>
              <a:t>۱</a:t>
            </a:r>
            <a:endParaRPr lang="fa-IR" sz="2200" dirty="0"/>
          </a:p>
        </p:txBody>
      </p:sp>
      <p:sp>
        <p:nvSpPr>
          <p:cNvPr id="10" name="Text 6"/>
          <p:cNvSpPr txBox="1"/>
          <p:nvPr/>
        </p:nvSpPr>
        <p:spPr>
          <a:xfrm>
            <a:off x="9311335" y="2944368"/>
            <a:ext cx="2075688" cy="457200"/>
          </a:xfrm>
          <a:prstGeom prst="rect">
            <a:avLst/>
          </a:prstGeom>
          <a:noFill/>
          <a:ln/>
        </p:spPr>
        <p:txBody>
          <a:bodyPr wrap="square" lIns="0" tIns="0" rIns="0" bIns="0" rtlCol="0" anchor="t"/>
          <a:lstStyle/>
          <a:p>
            <a:pPr rtl="1" algn="r" indent="0" marL="0">
              <a:buNone/>
            </a:pPr>
            <a:r>
              <a:rPr lang="fa-IR" altLang="en-US" sz="2100" dirty="0">
                <a:solidFill>
                  <a:srgbClr val="14532D"/>
                </a:solidFill>
                <a:latin typeface="Vazirmatn Nobar ExtraBold" pitchFamily="34" charset="0"/>
                <a:ea typeface="Vazirmatn Nobar ExtraBold" pitchFamily="34" charset="-122"/>
                <a:cs typeface="Vazirmatn Nobar ExtraBold" pitchFamily="34" charset="-120"/>
              </a:rPr>
              <a:t>مسئله</a:t>
            </a:r>
            <a:endParaRPr lang="fa-IR" sz="2100" dirty="0"/>
          </a:p>
        </p:txBody>
      </p:sp>
      <p:sp>
        <p:nvSpPr>
          <p:cNvPr id="11" name="Text 7"/>
          <p:cNvSpPr txBox="1"/>
          <p:nvPr/>
        </p:nvSpPr>
        <p:spPr>
          <a:xfrm>
            <a:off x="9311335" y="3474720"/>
            <a:ext cx="2075688" cy="1508760"/>
          </a:xfrm>
          <a:prstGeom prst="rect">
            <a:avLst/>
          </a:prstGeom>
          <a:noFill/>
          <a:ln/>
        </p:spPr>
        <p:txBody>
          <a:bodyPr wrap="square" lIns="0" tIns="0" rIns="0" bIns="0" rtlCol="0" anchor="t"/>
          <a:lstStyle/>
          <a:p>
            <a:pPr rtl="1" algn="r" indent="0" marL="0">
              <a:lnSpc>
                <a:spcPct val="115000"/>
              </a:lnSpc>
              <a:buNone/>
            </a:pPr>
            <a:r>
              <a:rPr lang="fa-IR" altLang="en-US" sz="1400" dirty="0">
                <a:solidFill>
                  <a:srgbClr val="1F2A1F"/>
                </a:solidFill>
                <a:latin typeface="Vazirmatn Nobar" pitchFamily="34" charset="0"/>
                <a:ea typeface="Vazirmatn Nobar" pitchFamily="34" charset="-122"/>
                <a:cs typeface="Vazirmatn Nobar" pitchFamily="34" charset="-120"/>
              </a:rPr>
              <a:t>۳۵ تا ۴۰ درصد محصولات کشاورزی پیش از رسیدن به سفره از بین می‌رود و واسطه‌ها قیمت را چند برابر می‌کنند.</a:t>
            </a:r>
            <a:endParaRPr lang="fa-IR" sz="1400" dirty="0"/>
          </a:p>
        </p:txBody>
      </p:sp>
      <p:sp>
        <p:nvSpPr>
          <p:cNvPr id="12" name="Shape 8"/>
          <p:cNvSpPr/>
          <p:nvPr/>
        </p:nvSpPr>
        <p:spPr>
          <a:xfrm>
            <a:off x="6219749" y="1645920"/>
            <a:ext cx="2587752" cy="3474720"/>
          </a:xfrm>
          <a:prstGeom prst="roundRect">
            <a:avLst>
              <a:gd name="adj" fmla="val 5654"/>
            </a:avLst>
          </a:prstGeom>
          <a:solidFill>
            <a:srgbClr val="FFFFFF"/>
          </a:solidFill>
          <a:ln/>
          <a:effectLst>
            <a:outerShdw sx="100000" sy="100000" kx="0" ky="0" algn="bl" rotWithShape="0" blurRad="127000" dist="38100" dir="5400000">
              <a:srgbClr val="14532D">
                <a:alpha val="12000"/>
              </a:srgbClr>
            </a:outerShdw>
          </a:effectLst>
        </p:spPr>
      </p:sp>
      <p:sp>
        <p:nvSpPr>
          <p:cNvPr id="13" name="Shape 9"/>
          <p:cNvSpPr/>
          <p:nvPr/>
        </p:nvSpPr>
        <p:spPr>
          <a:xfrm>
            <a:off x="7710221" y="1920240"/>
            <a:ext cx="841248" cy="841248"/>
          </a:xfrm>
          <a:prstGeom prst="ellipse">
            <a:avLst/>
          </a:prstGeom>
          <a:solidFill>
            <a:srgbClr val="EAF5E6"/>
          </a:solidFill>
          <a:ln/>
        </p:spPr>
      </p:sp>
      <p:pic>
        <p:nvPicPr>
          <p:cNvPr id="14" name="icon seedling" descr="/tmp/claude-0/-home-claude/e50823c0-d46f-5818-8f05-9d714cd67f5c/scratchpad/assets/icons/seedling.png">    </p:cNvPr>
          <p:cNvPicPr>
            <a:picLocks noChangeAspect="1"/>
          </p:cNvPicPr>
          <p:nvPr/>
        </p:nvPicPr>
        <p:blipFill>
          <a:blip r:embed="rId2"/>
          <a:stretch>
            <a:fillRect/>
          </a:stretch>
        </p:blipFill>
        <p:spPr>
          <a:xfrm>
            <a:off x="7844820" y="2054840"/>
            <a:ext cx="572049" cy="572049"/>
          </a:xfrm>
          <a:prstGeom prst="rect">
            <a:avLst/>
          </a:prstGeom>
        </p:spPr>
      </p:pic>
      <p:sp>
        <p:nvSpPr>
          <p:cNvPr id="15" name="Text 10"/>
          <p:cNvSpPr txBox="1"/>
          <p:nvPr/>
        </p:nvSpPr>
        <p:spPr>
          <a:xfrm>
            <a:off x="6494069" y="2029968"/>
            <a:ext cx="731520" cy="457200"/>
          </a:xfrm>
          <a:prstGeom prst="rect">
            <a:avLst/>
          </a:prstGeom>
          <a:noFill/>
          <a:ln/>
        </p:spPr>
        <p:txBody>
          <a:bodyPr wrap="square" lIns="0" tIns="0" rIns="0" bIns="0" rtlCol="0" anchor="t"/>
          <a:lstStyle/>
          <a:p>
            <a:pPr rtl="1" algn="l" indent="0" marL="0">
              <a:buNone/>
            </a:pPr>
            <a:r>
              <a:rPr lang="fa-IR" altLang="en-US" sz="2200" dirty="0">
                <a:solidFill>
                  <a:srgbClr val="DDEFD6"/>
                </a:solidFill>
                <a:latin typeface="Vazirmatn Nobar Black" pitchFamily="34" charset="0"/>
                <a:ea typeface="Vazirmatn Nobar Black" pitchFamily="34" charset="-122"/>
                <a:cs typeface="Vazirmatn Nobar Black" pitchFamily="34" charset="-120"/>
              </a:rPr>
              <a:t>۲</a:t>
            </a:r>
            <a:endParaRPr lang="fa-IR" sz="2200" dirty="0"/>
          </a:p>
        </p:txBody>
      </p:sp>
      <p:sp>
        <p:nvSpPr>
          <p:cNvPr id="16" name="Text 11"/>
          <p:cNvSpPr txBox="1"/>
          <p:nvPr/>
        </p:nvSpPr>
        <p:spPr>
          <a:xfrm>
            <a:off x="6475781" y="2944368"/>
            <a:ext cx="2075688" cy="457200"/>
          </a:xfrm>
          <a:prstGeom prst="rect">
            <a:avLst/>
          </a:prstGeom>
          <a:noFill/>
          <a:ln/>
        </p:spPr>
        <p:txBody>
          <a:bodyPr wrap="square" lIns="0" tIns="0" rIns="0" bIns="0" rtlCol="0" anchor="t"/>
          <a:lstStyle/>
          <a:p>
            <a:pPr rtl="1" algn="r" indent="0" marL="0">
              <a:buNone/>
            </a:pPr>
            <a:r>
              <a:rPr lang="fa-IR" altLang="en-US" sz="2100" dirty="0">
                <a:solidFill>
                  <a:srgbClr val="14532D"/>
                </a:solidFill>
                <a:latin typeface="Vazirmatn Nobar ExtraBold" pitchFamily="34" charset="0"/>
                <a:ea typeface="Vazirmatn Nobar ExtraBold" pitchFamily="34" charset="-122"/>
                <a:cs typeface="Vazirmatn Nobar ExtraBold" pitchFamily="34" charset="-120"/>
              </a:rPr>
              <a:t>راه‌حل</a:t>
            </a:r>
            <a:endParaRPr lang="fa-IR" sz="2100" dirty="0"/>
          </a:p>
        </p:txBody>
      </p:sp>
      <p:sp>
        <p:nvSpPr>
          <p:cNvPr id="17" name="Text 12"/>
          <p:cNvSpPr txBox="1"/>
          <p:nvPr/>
        </p:nvSpPr>
        <p:spPr>
          <a:xfrm>
            <a:off x="6475781" y="3474720"/>
            <a:ext cx="2075688" cy="1508760"/>
          </a:xfrm>
          <a:prstGeom prst="rect">
            <a:avLst/>
          </a:prstGeom>
          <a:noFill/>
          <a:ln/>
        </p:spPr>
        <p:txBody>
          <a:bodyPr wrap="square" lIns="0" tIns="0" rIns="0" bIns="0" rtlCol="0" anchor="t"/>
          <a:lstStyle/>
          <a:p>
            <a:pPr rtl="1" algn="r" indent="0" marL="0">
              <a:lnSpc>
                <a:spcPct val="115000"/>
              </a:lnSpc>
              <a:buNone/>
            </a:pPr>
            <a:r>
              <a:rPr lang="fa-IR" altLang="en-US" sz="1400" dirty="0">
                <a:solidFill>
                  <a:srgbClr val="1F2A1F"/>
                </a:solidFill>
                <a:latin typeface="Vazirmatn Nobar" pitchFamily="34" charset="0"/>
                <a:ea typeface="Vazirmatn Nobar" pitchFamily="34" charset="-122"/>
                <a:cs typeface="Vazirmatn Nobar" pitchFamily="34" charset="-120"/>
              </a:rPr>
              <a:t>بازار چندفروشنده‌ی تخصصی تازه‌کالا: خرید مستقیم از باغدار هر شهر با کنترل تازگی و پرداخت امن.</a:t>
            </a:r>
            <a:endParaRPr lang="fa-IR" sz="1400" dirty="0"/>
          </a:p>
        </p:txBody>
      </p:sp>
      <p:sp>
        <p:nvSpPr>
          <p:cNvPr id="18" name="Shape 13"/>
          <p:cNvSpPr/>
          <p:nvPr/>
        </p:nvSpPr>
        <p:spPr>
          <a:xfrm>
            <a:off x="3384194" y="1645920"/>
            <a:ext cx="2587752" cy="3474720"/>
          </a:xfrm>
          <a:prstGeom prst="roundRect">
            <a:avLst>
              <a:gd name="adj" fmla="val 5654"/>
            </a:avLst>
          </a:prstGeom>
          <a:solidFill>
            <a:srgbClr val="FFFFFF"/>
          </a:solidFill>
          <a:ln/>
          <a:effectLst>
            <a:outerShdw sx="100000" sy="100000" kx="0" ky="0" algn="bl" rotWithShape="0" blurRad="127000" dist="38100" dir="5400000">
              <a:srgbClr val="14532D">
                <a:alpha val="12000"/>
              </a:srgbClr>
            </a:outerShdw>
          </a:effectLst>
        </p:spPr>
      </p:sp>
      <p:sp>
        <p:nvSpPr>
          <p:cNvPr id="19" name="Shape 14"/>
          <p:cNvSpPr/>
          <p:nvPr/>
        </p:nvSpPr>
        <p:spPr>
          <a:xfrm>
            <a:off x="4874666" y="1920240"/>
            <a:ext cx="841248" cy="841248"/>
          </a:xfrm>
          <a:prstGeom prst="ellipse">
            <a:avLst/>
          </a:prstGeom>
          <a:solidFill>
            <a:srgbClr val="EAF5E6"/>
          </a:solidFill>
          <a:ln/>
        </p:spPr>
      </p:sp>
      <p:pic>
        <p:nvPicPr>
          <p:cNvPr id="20" name="icon sparkles" descr="/tmp/claude-0/-home-claude/e50823c0-d46f-5818-8f05-9d714cd67f5c/scratchpad/assets/icons/sparkles.png">    </p:cNvPr>
          <p:cNvPicPr>
            <a:picLocks noChangeAspect="1"/>
          </p:cNvPicPr>
          <p:nvPr/>
        </p:nvPicPr>
        <p:blipFill>
          <a:blip r:embed="rId3"/>
          <a:stretch>
            <a:fillRect/>
          </a:stretch>
        </p:blipFill>
        <p:spPr>
          <a:xfrm>
            <a:off x="5009266" y="2054840"/>
            <a:ext cx="572049" cy="572049"/>
          </a:xfrm>
          <a:prstGeom prst="rect">
            <a:avLst/>
          </a:prstGeom>
        </p:spPr>
      </p:pic>
      <p:sp>
        <p:nvSpPr>
          <p:cNvPr id="21" name="Text 15"/>
          <p:cNvSpPr txBox="1"/>
          <p:nvPr/>
        </p:nvSpPr>
        <p:spPr>
          <a:xfrm>
            <a:off x="3658514" y="2029968"/>
            <a:ext cx="731520" cy="457200"/>
          </a:xfrm>
          <a:prstGeom prst="rect">
            <a:avLst/>
          </a:prstGeom>
          <a:noFill/>
          <a:ln/>
        </p:spPr>
        <p:txBody>
          <a:bodyPr wrap="square" lIns="0" tIns="0" rIns="0" bIns="0" rtlCol="0" anchor="t"/>
          <a:lstStyle/>
          <a:p>
            <a:pPr rtl="1" algn="l" indent="0" marL="0">
              <a:buNone/>
            </a:pPr>
            <a:r>
              <a:rPr lang="fa-IR" altLang="en-US" sz="2200" dirty="0">
                <a:solidFill>
                  <a:srgbClr val="DDEFD6"/>
                </a:solidFill>
                <a:latin typeface="Vazirmatn Nobar Black" pitchFamily="34" charset="0"/>
                <a:ea typeface="Vazirmatn Nobar Black" pitchFamily="34" charset="-122"/>
                <a:cs typeface="Vazirmatn Nobar Black" pitchFamily="34" charset="-120"/>
              </a:rPr>
              <a:t>۳</a:t>
            </a:r>
            <a:endParaRPr lang="fa-IR" sz="2200" dirty="0"/>
          </a:p>
        </p:txBody>
      </p:sp>
      <p:sp>
        <p:nvSpPr>
          <p:cNvPr id="22" name="Text 16"/>
          <p:cNvSpPr txBox="1"/>
          <p:nvPr/>
        </p:nvSpPr>
        <p:spPr>
          <a:xfrm>
            <a:off x="3640226" y="2944368"/>
            <a:ext cx="2075688" cy="457200"/>
          </a:xfrm>
          <a:prstGeom prst="rect">
            <a:avLst/>
          </a:prstGeom>
          <a:noFill/>
          <a:ln/>
        </p:spPr>
        <p:txBody>
          <a:bodyPr wrap="square" lIns="0" tIns="0" rIns="0" bIns="0" rtlCol="0" anchor="t"/>
          <a:lstStyle/>
          <a:p>
            <a:pPr rtl="1" algn="r" indent="0" marL="0">
              <a:buNone/>
            </a:pPr>
            <a:r>
              <a:rPr lang="fa-IR" altLang="en-US" sz="2100" dirty="0">
                <a:solidFill>
                  <a:srgbClr val="14532D"/>
                </a:solidFill>
                <a:latin typeface="Vazirmatn Nobar ExtraBold" pitchFamily="34" charset="0"/>
                <a:ea typeface="Vazirmatn Nobar ExtraBold" pitchFamily="34" charset="-122"/>
                <a:cs typeface="Vazirmatn Nobar ExtraBold" pitchFamily="34" charset="-120"/>
              </a:rPr>
              <a:t>مزیت</a:t>
            </a:r>
            <a:endParaRPr lang="fa-IR" sz="2100" dirty="0"/>
          </a:p>
        </p:txBody>
      </p:sp>
      <p:sp>
        <p:nvSpPr>
          <p:cNvPr id="23" name="Text 17"/>
          <p:cNvSpPr txBox="1"/>
          <p:nvPr/>
        </p:nvSpPr>
        <p:spPr>
          <a:xfrm>
            <a:off x="3640226" y="3474720"/>
            <a:ext cx="2075688" cy="1508760"/>
          </a:xfrm>
          <a:prstGeom prst="rect">
            <a:avLst/>
          </a:prstGeom>
          <a:noFill/>
          <a:ln/>
        </p:spPr>
        <p:txBody>
          <a:bodyPr wrap="square" lIns="0" tIns="0" rIns="0" bIns="0" rtlCol="0" anchor="t"/>
          <a:lstStyle/>
          <a:p>
            <a:pPr rtl="1" algn="r" indent="0" marL="0">
              <a:lnSpc>
                <a:spcPct val="115000"/>
              </a:lnSpc>
              <a:buNone/>
            </a:pPr>
            <a:r>
              <a:rPr lang="fa-IR" altLang="en-US" sz="1400" dirty="0">
                <a:solidFill>
                  <a:srgbClr val="1F2A1F"/>
                </a:solidFill>
                <a:latin typeface="Vazirmatn Nobar" pitchFamily="34" charset="0"/>
                <a:ea typeface="Vazirmatn Nobar" pitchFamily="34" charset="-122"/>
                <a:cs typeface="Vazirmatn Nobar" pitchFamily="34" charset="-120"/>
              </a:rPr>
              <a:t>تازه‌سنج، ارسال آگاه از ماندگاری، مقایسه‌ی قیمت تمام‌شده و دستیار هوش مصنوعی «باغبون».</a:t>
            </a:r>
            <a:endParaRPr lang="fa-IR" sz="1400" dirty="0"/>
          </a:p>
        </p:txBody>
      </p:sp>
      <p:sp>
        <p:nvSpPr>
          <p:cNvPr id="24" name="Shape 18"/>
          <p:cNvSpPr/>
          <p:nvPr/>
        </p:nvSpPr>
        <p:spPr>
          <a:xfrm>
            <a:off x="548640" y="1645920"/>
            <a:ext cx="2587752" cy="3474720"/>
          </a:xfrm>
          <a:prstGeom prst="roundRect">
            <a:avLst>
              <a:gd name="adj" fmla="val 5654"/>
            </a:avLst>
          </a:prstGeom>
          <a:solidFill>
            <a:srgbClr val="14532D"/>
          </a:solidFill>
          <a:ln/>
          <a:effectLst>
            <a:outerShdw sx="100000" sy="100000" kx="0" ky="0" algn="bl" rotWithShape="0" blurRad="127000" dist="38100" dir="5400000">
              <a:srgbClr val="14532D">
                <a:alpha val="12000"/>
              </a:srgbClr>
            </a:outerShdw>
          </a:effectLst>
        </p:spPr>
      </p:sp>
      <p:sp>
        <p:nvSpPr>
          <p:cNvPr id="25" name="Shape 19"/>
          <p:cNvSpPr/>
          <p:nvPr/>
        </p:nvSpPr>
        <p:spPr>
          <a:xfrm>
            <a:off x="2039112" y="1920240"/>
            <a:ext cx="841248" cy="841248"/>
          </a:xfrm>
          <a:prstGeom prst="ellipse">
            <a:avLst/>
          </a:prstGeom>
          <a:solidFill>
            <a:srgbClr val="2E7D32"/>
          </a:solidFill>
          <a:ln/>
        </p:spPr>
      </p:sp>
      <p:pic>
        <p:nvPicPr>
          <p:cNvPr id="26" name="icon handshake" descr="/tmp/claude-0/-home-claude/e50823c0-d46f-5818-8f05-9d714cd67f5c/scratchpad/assets/icons/handshake.png">    </p:cNvPr>
          <p:cNvPicPr>
            <a:picLocks noChangeAspect="1"/>
          </p:cNvPicPr>
          <p:nvPr/>
        </p:nvPicPr>
        <p:blipFill>
          <a:blip r:embed="rId4"/>
          <a:stretch>
            <a:fillRect/>
          </a:stretch>
        </p:blipFill>
        <p:spPr>
          <a:xfrm>
            <a:off x="2173712" y="2054840"/>
            <a:ext cx="572049" cy="572049"/>
          </a:xfrm>
          <a:prstGeom prst="rect">
            <a:avLst/>
          </a:prstGeom>
        </p:spPr>
      </p:pic>
      <p:sp>
        <p:nvSpPr>
          <p:cNvPr id="27" name="Text 20"/>
          <p:cNvSpPr txBox="1"/>
          <p:nvPr/>
        </p:nvSpPr>
        <p:spPr>
          <a:xfrm>
            <a:off x="822960" y="2029968"/>
            <a:ext cx="731520" cy="457200"/>
          </a:xfrm>
          <a:prstGeom prst="rect">
            <a:avLst/>
          </a:prstGeom>
          <a:noFill/>
          <a:ln/>
        </p:spPr>
        <p:txBody>
          <a:bodyPr wrap="square" lIns="0" tIns="0" rIns="0" bIns="0" rtlCol="0" anchor="t"/>
          <a:lstStyle/>
          <a:p>
            <a:pPr rtl="1" algn="l" indent="0" marL="0">
              <a:buNone/>
            </a:pPr>
            <a:r>
              <a:rPr lang="fa-IR" altLang="en-US" sz="2200" dirty="0">
                <a:solidFill>
                  <a:srgbClr val="A5D6A7"/>
                </a:solidFill>
                <a:latin typeface="Vazirmatn Nobar Black" pitchFamily="34" charset="0"/>
                <a:ea typeface="Vazirmatn Nobar Black" pitchFamily="34" charset="-122"/>
                <a:cs typeface="Vazirmatn Nobar Black" pitchFamily="34" charset="-120"/>
              </a:rPr>
              <a:t>۴</a:t>
            </a:r>
            <a:endParaRPr lang="fa-IR" sz="2200" dirty="0"/>
          </a:p>
        </p:txBody>
      </p:sp>
      <p:sp>
        <p:nvSpPr>
          <p:cNvPr id="28" name="Text 21"/>
          <p:cNvSpPr txBox="1"/>
          <p:nvPr/>
        </p:nvSpPr>
        <p:spPr>
          <a:xfrm>
            <a:off x="804672" y="2944368"/>
            <a:ext cx="2075688" cy="457200"/>
          </a:xfrm>
          <a:prstGeom prst="rect">
            <a:avLst/>
          </a:prstGeom>
          <a:noFill/>
          <a:ln/>
        </p:spPr>
        <p:txBody>
          <a:bodyPr wrap="square" lIns="0" tIns="0" rIns="0" bIns="0" rtlCol="0" anchor="t"/>
          <a:lstStyle/>
          <a:p>
            <a:pPr rtl="1" algn="r" indent="0" marL="0">
              <a:buNone/>
            </a:pPr>
            <a:r>
              <a:rPr lang="fa-IR" altLang="en-US" sz="2100" dirty="0">
                <a:solidFill>
                  <a:srgbClr val="FFFFFF"/>
                </a:solidFill>
                <a:latin typeface="Vazirmatn Nobar ExtraBold" pitchFamily="34" charset="0"/>
                <a:ea typeface="Vazirmatn Nobar ExtraBold" pitchFamily="34" charset="-122"/>
                <a:cs typeface="Vazirmatn Nobar ExtraBold" pitchFamily="34" charset="-120"/>
              </a:rPr>
              <a:t>درخواست</a:t>
            </a:r>
            <a:endParaRPr lang="fa-IR" sz="2100" dirty="0"/>
          </a:p>
        </p:txBody>
      </p:sp>
      <p:sp>
        <p:nvSpPr>
          <p:cNvPr id="29" name="Text 22"/>
          <p:cNvSpPr txBox="1"/>
          <p:nvPr/>
        </p:nvSpPr>
        <p:spPr>
          <a:xfrm>
            <a:off x="804672" y="3474720"/>
            <a:ext cx="2075688" cy="1508760"/>
          </a:xfrm>
          <a:prstGeom prst="rect">
            <a:avLst/>
          </a:prstGeom>
          <a:noFill/>
          <a:ln/>
        </p:spPr>
        <p:txBody>
          <a:bodyPr wrap="square" lIns="0" tIns="0" rIns="0" bIns="0" rtlCol="0" anchor="t"/>
          <a:lstStyle/>
          <a:p>
            <a:pPr rtl="1" algn="r" indent="0" marL="0">
              <a:lnSpc>
                <a:spcPct val="115000"/>
              </a:lnSpc>
              <a:buNone/>
            </a:pPr>
            <a:r>
              <a:rPr lang="fa-IR" altLang="en-US" sz="1400" dirty="0">
                <a:solidFill>
                  <a:srgbClr val="E8F5E9"/>
                </a:solidFill>
                <a:latin typeface="Vazirmatn Nobar" pitchFamily="34" charset="0"/>
                <a:ea typeface="Vazirmatn Nobar" pitchFamily="34" charset="-122"/>
                <a:cs typeface="Vazirmatn Nobar" pitchFamily="34" charset="-120"/>
              </a:rPr>
              <a:t>پذیرش در مرکز رشد و تسهیلات ۱۲ ماهه برای نسخه‌ی اول، پایلوت در آذربایجان غربی و گسترش.</a:t>
            </a:r>
            <a:endParaRPr lang="fa-IR" sz="1400" dirty="0"/>
          </a:p>
        </p:txBody>
      </p:sp>
      <p:sp>
        <p:nvSpPr>
          <p:cNvPr id="30" name="Shape 23"/>
          <p:cNvSpPr/>
          <p:nvPr/>
        </p:nvSpPr>
        <p:spPr>
          <a:xfrm>
            <a:off x="548640" y="5349240"/>
            <a:ext cx="11094415" cy="749808"/>
          </a:xfrm>
          <a:prstGeom prst="roundRect">
            <a:avLst>
              <a:gd name="adj" fmla="val 17073"/>
            </a:avLst>
          </a:prstGeom>
          <a:solidFill>
            <a:srgbClr val="DDEFD6"/>
          </a:solidFill>
          <a:ln/>
        </p:spPr>
      </p:sp>
      <p:pic>
        <p:nvPicPr>
          <p:cNvPr id="31" name="icon bullseye" descr="/tmp/claude-0/-home-claude/e50823c0-d46f-5818-8f05-9d714cd67f5c/scratchpad/assets/icons/bullseye.png">    </p:cNvPr>
          <p:cNvPicPr>
            <a:picLocks noChangeAspect="1"/>
          </p:cNvPicPr>
          <p:nvPr/>
        </p:nvPicPr>
        <p:blipFill>
          <a:blip r:embed="rId5"/>
          <a:stretch>
            <a:fillRect/>
          </a:stretch>
        </p:blipFill>
        <p:spPr>
          <a:xfrm>
            <a:off x="10893247" y="5440680"/>
            <a:ext cx="566928" cy="566928"/>
          </a:xfrm>
          <a:prstGeom prst="rect">
            <a:avLst/>
          </a:prstGeom>
        </p:spPr>
      </p:pic>
      <p:sp>
        <p:nvSpPr>
          <p:cNvPr id="32" name="Text 24"/>
          <p:cNvSpPr txBox="1"/>
          <p:nvPr/>
        </p:nvSpPr>
        <p:spPr>
          <a:xfrm>
            <a:off x="822960" y="5349240"/>
            <a:ext cx="9905695" cy="749808"/>
          </a:xfrm>
          <a:prstGeom prst="rect">
            <a:avLst/>
          </a:prstGeom>
          <a:noFill/>
          <a:ln/>
        </p:spPr>
        <p:txBody>
          <a:bodyPr wrap="square" lIns="0" tIns="0" rIns="0" bIns="0" rtlCol="0" anchor="ctr"/>
          <a:lstStyle/>
          <a:p>
            <a:pPr rtl="1" algn="r" indent="0" marL="0">
              <a:buNone/>
            </a:pPr>
            <a:r>
              <a:rPr lang="fa-IR" altLang="en-US" sz="1700" dirty="0">
                <a:solidFill>
                  <a:srgbClr val="14532D"/>
                </a:solidFill>
                <a:latin typeface="Vazirmatn Nobar ExtraBold" pitchFamily="34" charset="0"/>
                <a:ea typeface="Vazirmatn Nobar ExtraBold" pitchFamily="34" charset="-122"/>
                <a:cs typeface="Vazirmatn Nobar ExtraBold" pitchFamily="34" charset="-120"/>
              </a:rPr>
              <a:t>هدف سه‌ساله:  </a:t>
            </a:r>
            <a:pPr rtl="1" algn="r" indent="0" marL="0">
              <a:buNone/>
            </a:pPr>
            <a:r>
              <a:rPr lang="fa-IR" altLang="en-US" sz="1700" dirty="0">
                <a:solidFill>
                  <a:srgbClr val="1F2A1F"/>
                </a:solidFill>
                <a:latin typeface="Vazirmatn Nobar SemiBold" pitchFamily="34" charset="0"/>
                <a:ea typeface="Vazirmatn Nobar SemiBold" pitchFamily="34" charset="-122"/>
                <a:cs typeface="Vazirmatn Nobar SemiBold" pitchFamily="34" charset="-120"/>
              </a:rPr>
              <a:t>۸۰۰ غرفه‌ی فعال  |  ۳٬۰۰۰ تن فروش سالانه  |  نرخ شکایت از تازگی زیر ۳ درصد</a:t>
            </a:r>
            <a:endParaRPr lang="fa-IR"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۳</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از باغ تا سفره، تازگی و ارزش گم می‌شود</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سه عدد که مسئله را خلاصه می‌کند</a:t>
            </a:r>
            <a:endParaRPr lang="fa-IR" sz="1600" dirty="0"/>
          </a:p>
        </p:txBody>
      </p:sp>
      <p:sp>
        <p:nvSpPr>
          <p:cNvPr id="6" name="Shape 3"/>
          <p:cNvSpPr/>
          <p:nvPr/>
        </p:nvSpPr>
        <p:spPr>
          <a:xfrm>
            <a:off x="6156655" y="1600200"/>
            <a:ext cx="5486400" cy="1371600"/>
          </a:xfrm>
          <a:prstGeom prst="roundRect">
            <a:avLst>
              <a:gd name="adj" fmla="val 10667"/>
            </a:avLst>
          </a:prstGeom>
          <a:solidFill>
            <a:srgbClr val="FFFFFF"/>
          </a:solidFill>
          <a:ln/>
          <a:effectLst>
            <a:outerShdw sx="100000" sy="100000" kx="0" ky="0" algn="bl" rotWithShape="0" blurRad="127000" dist="38100" dir="5400000">
              <a:srgbClr val="14532D">
                <a:alpha val="12000"/>
              </a:srgbClr>
            </a:outerShdw>
          </a:effectLst>
        </p:spPr>
      </p:sp>
      <p:sp>
        <p:nvSpPr>
          <p:cNvPr id="7" name="Text 4"/>
          <p:cNvSpPr txBox="1"/>
          <p:nvPr/>
        </p:nvSpPr>
        <p:spPr>
          <a:xfrm>
            <a:off x="9311335" y="1600200"/>
            <a:ext cx="2148840" cy="1371600"/>
          </a:xfrm>
          <a:prstGeom prst="rect">
            <a:avLst/>
          </a:prstGeom>
          <a:noFill/>
          <a:ln/>
        </p:spPr>
        <p:txBody>
          <a:bodyPr wrap="square" lIns="0" tIns="0" rIns="0" bIns="0" rtlCol="0" anchor="ctr"/>
          <a:lstStyle/>
          <a:p>
            <a:pPr rtl="1" algn="ctr" indent="0" marL="0">
              <a:buNone/>
            </a:pPr>
            <a:r>
              <a:rPr lang="fa-IR" altLang="en-US" sz="3400" dirty="0">
                <a:solidFill>
                  <a:srgbClr val="C62828"/>
                </a:solidFill>
                <a:latin typeface="Vazirmatn Nobar Black" pitchFamily="34" charset="0"/>
                <a:ea typeface="Vazirmatn Nobar Black" pitchFamily="34" charset="-122"/>
                <a:cs typeface="Vazirmatn Nobar Black" pitchFamily="34" charset="-120"/>
              </a:rPr>
              <a:t>۳۵–۴۰٪</a:t>
            </a:r>
            <a:endParaRPr lang="fa-IR" sz="3400" dirty="0"/>
          </a:p>
        </p:txBody>
      </p:sp>
      <p:sp>
        <p:nvSpPr>
          <p:cNvPr id="8" name="Text 5"/>
          <p:cNvSpPr txBox="1"/>
          <p:nvPr/>
        </p:nvSpPr>
        <p:spPr>
          <a:xfrm>
            <a:off x="6385255" y="1783080"/>
            <a:ext cx="2834640" cy="777240"/>
          </a:xfrm>
          <a:prstGeom prst="rect">
            <a:avLst/>
          </a:prstGeom>
          <a:noFill/>
          <a:ln/>
        </p:spPr>
        <p:txBody>
          <a:bodyPr wrap="square" lIns="0" tIns="0" rIns="0" bIns="0" rtlCol="0" anchor="t"/>
          <a:lstStyle/>
          <a:p>
            <a:pPr rtl="1" algn="r" indent="0" marL="0">
              <a:lnSpc>
                <a:spcPct val="110000"/>
              </a:lnSpc>
              <a:buNone/>
            </a:pPr>
            <a:r>
              <a:rPr lang="fa-IR" altLang="en-US" sz="1400" dirty="0">
                <a:solidFill>
                  <a:srgbClr val="1F2A1F"/>
                </a:solidFill>
                <a:latin typeface="Vazirmatn Nobar Medium" pitchFamily="34" charset="0"/>
                <a:ea typeface="Vazirmatn Nobar Medium" pitchFamily="34" charset="-122"/>
                <a:cs typeface="Vazirmatn Nobar Medium" pitchFamily="34" charset="-120"/>
              </a:rPr>
              <a:t>از محصولات کشاورزی در برداشت، حمل، انبار و مصرف از بین می‌رود؛ حدود ۵۰ میلیون تن در سال.</a:t>
            </a:r>
            <a:endParaRPr lang="fa-IR" sz="1400" dirty="0"/>
          </a:p>
        </p:txBody>
      </p:sp>
      <p:sp>
        <p:nvSpPr>
          <p:cNvPr id="9" name="Text 6"/>
          <p:cNvSpPr txBox="1"/>
          <p:nvPr/>
        </p:nvSpPr>
        <p:spPr>
          <a:xfrm>
            <a:off x="6385255" y="2587752"/>
            <a:ext cx="2834640" cy="274320"/>
          </a:xfrm>
          <a:prstGeom prst="rect">
            <a:avLst/>
          </a:prstGeom>
          <a:noFill/>
          <a:ln/>
        </p:spPr>
        <p:txBody>
          <a:bodyPr wrap="square" lIns="0" tIns="0" rIns="0" bIns="0" rtlCol="0" anchor="t"/>
          <a:lstStyle/>
          <a:p>
            <a:pPr rtl="1" algn="r" indent="0" marL="0">
              <a:buNone/>
            </a:pPr>
            <a:r>
              <a:rPr lang="fa-IR" altLang="en-US" sz="1000" dirty="0">
                <a:solidFill>
                  <a:srgbClr val="5F6B5F"/>
                </a:solidFill>
                <a:latin typeface="Vazirmatn Nobar" pitchFamily="34" charset="0"/>
                <a:ea typeface="Vazirmatn Nobar" pitchFamily="34" charset="-122"/>
                <a:cs typeface="Vazirmatn Nobar" pitchFamily="34" charset="-120"/>
              </a:rPr>
              <a:t>منبع: خبرگزاری مهر، ۱۴۰۴</a:t>
            </a:r>
            <a:endParaRPr lang="fa-IR" sz="1000" dirty="0"/>
          </a:p>
        </p:txBody>
      </p:sp>
      <p:sp>
        <p:nvSpPr>
          <p:cNvPr id="10" name="Shape 7"/>
          <p:cNvSpPr/>
          <p:nvPr/>
        </p:nvSpPr>
        <p:spPr>
          <a:xfrm>
            <a:off x="6156655" y="3127248"/>
            <a:ext cx="5486400" cy="1371600"/>
          </a:xfrm>
          <a:prstGeom prst="roundRect">
            <a:avLst>
              <a:gd name="adj" fmla="val 10667"/>
            </a:avLst>
          </a:prstGeom>
          <a:solidFill>
            <a:srgbClr val="FFFFFF"/>
          </a:solidFill>
          <a:ln/>
          <a:effectLst>
            <a:outerShdw sx="100000" sy="100000" kx="0" ky="0" algn="bl" rotWithShape="0" blurRad="127000" dist="38100" dir="5400000">
              <a:srgbClr val="14532D">
                <a:alpha val="12000"/>
              </a:srgbClr>
            </a:outerShdw>
          </a:effectLst>
        </p:spPr>
      </p:sp>
      <p:sp>
        <p:nvSpPr>
          <p:cNvPr id="11" name="Text 8"/>
          <p:cNvSpPr txBox="1"/>
          <p:nvPr/>
        </p:nvSpPr>
        <p:spPr>
          <a:xfrm>
            <a:off x="9311335" y="3127248"/>
            <a:ext cx="2148840" cy="1371600"/>
          </a:xfrm>
          <a:prstGeom prst="rect">
            <a:avLst/>
          </a:prstGeom>
          <a:noFill/>
          <a:ln/>
        </p:spPr>
        <p:txBody>
          <a:bodyPr wrap="square" lIns="0" tIns="0" rIns="0" bIns="0" rtlCol="0" anchor="ctr"/>
          <a:lstStyle/>
          <a:p>
            <a:pPr rtl="1" algn="ctr" indent="0" marL="0">
              <a:buNone/>
            </a:pPr>
            <a:r>
              <a:rPr lang="fa-IR" altLang="en-US" sz="3400" dirty="0">
                <a:solidFill>
                  <a:srgbClr val="8A5A00"/>
                </a:solidFill>
                <a:latin typeface="Vazirmatn Nobar Black" pitchFamily="34" charset="0"/>
                <a:ea typeface="Vazirmatn Nobar Black" pitchFamily="34" charset="-122"/>
                <a:cs typeface="Vazirmatn Nobar Black" pitchFamily="34" charset="-120"/>
              </a:rPr>
              <a:t>۲۰۰–۳۰۰٪</a:t>
            </a:r>
            <a:endParaRPr lang="fa-IR" sz="3400" dirty="0"/>
          </a:p>
        </p:txBody>
      </p:sp>
      <p:sp>
        <p:nvSpPr>
          <p:cNvPr id="12" name="Text 9"/>
          <p:cNvSpPr txBox="1"/>
          <p:nvPr/>
        </p:nvSpPr>
        <p:spPr>
          <a:xfrm>
            <a:off x="6385255" y="3310128"/>
            <a:ext cx="2834640" cy="777240"/>
          </a:xfrm>
          <a:prstGeom prst="rect">
            <a:avLst/>
          </a:prstGeom>
          <a:noFill/>
          <a:ln/>
        </p:spPr>
        <p:txBody>
          <a:bodyPr wrap="square" lIns="0" tIns="0" rIns="0" bIns="0" rtlCol="0" anchor="t"/>
          <a:lstStyle/>
          <a:p>
            <a:pPr rtl="1" algn="r" indent="0" marL="0">
              <a:lnSpc>
                <a:spcPct val="110000"/>
              </a:lnSpc>
              <a:buNone/>
            </a:pPr>
            <a:r>
              <a:rPr lang="fa-IR" altLang="en-US" sz="1400" dirty="0">
                <a:solidFill>
                  <a:srgbClr val="1F2A1F"/>
                </a:solidFill>
                <a:latin typeface="Vazirmatn Nobar Medium" pitchFamily="34" charset="0"/>
                <a:ea typeface="Vazirmatn Nobar Medium" pitchFamily="34" charset="-122"/>
                <a:cs typeface="Vazirmatn Nobar Medium" pitchFamily="34" charset="-120"/>
              </a:rPr>
              <a:t>اختلاف قیمت سر باغ تا بازار مصرف در گزارش‌های بازار میوه؛ سهم بزرگی به واسطه‌ها می‌رسد.</a:t>
            </a:r>
            <a:endParaRPr lang="fa-IR" sz="1400" dirty="0"/>
          </a:p>
        </p:txBody>
      </p:sp>
      <p:sp>
        <p:nvSpPr>
          <p:cNvPr id="13" name="Text 10"/>
          <p:cNvSpPr txBox="1"/>
          <p:nvPr/>
        </p:nvSpPr>
        <p:spPr>
          <a:xfrm>
            <a:off x="6385255" y="4114800"/>
            <a:ext cx="2834640" cy="274320"/>
          </a:xfrm>
          <a:prstGeom prst="rect">
            <a:avLst/>
          </a:prstGeom>
          <a:noFill/>
          <a:ln/>
        </p:spPr>
        <p:txBody>
          <a:bodyPr wrap="square" lIns="0" tIns="0" rIns="0" bIns="0" rtlCol="0" anchor="t"/>
          <a:lstStyle/>
          <a:p>
            <a:pPr rtl="1" algn="r" indent="0" marL="0">
              <a:buNone/>
            </a:pPr>
            <a:r>
              <a:rPr lang="fa-IR" altLang="en-US" sz="1000" dirty="0">
                <a:solidFill>
                  <a:srgbClr val="5F6B5F"/>
                </a:solidFill>
                <a:latin typeface="Vazirmatn Nobar" pitchFamily="34" charset="0"/>
                <a:ea typeface="Vazirmatn Nobar" pitchFamily="34" charset="-122"/>
                <a:cs typeface="Vazirmatn Nobar" pitchFamily="34" charset="-120"/>
              </a:rPr>
              <a:t>منبع: اقتصادنیوز؛ روزنامه‌ی تعادل</a:t>
            </a:r>
            <a:endParaRPr lang="fa-IR" sz="1000" dirty="0"/>
          </a:p>
        </p:txBody>
      </p:sp>
      <p:sp>
        <p:nvSpPr>
          <p:cNvPr id="14" name="Shape 11"/>
          <p:cNvSpPr/>
          <p:nvPr/>
        </p:nvSpPr>
        <p:spPr>
          <a:xfrm>
            <a:off x="6156655" y="4654296"/>
            <a:ext cx="5486400" cy="1371600"/>
          </a:xfrm>
          <a:prstGeom prst="roundRect">
            <a:avLst>
              <a:gd name="adj" fmla="val 10667"/>
            </a:avLst>
          </a:prstGeom>
          <a:solidFill>
            <a:srgbClr val="FFFFFF"/>
          </a:solidFill>
          <a:ln/>
          <a:effectLst>
            <a:outerShdw sx="100000" sy="100000" kx="0" ky="0" algn="bl" rotWithShape="0" blurRad="127000" dist="38100" dir="5400000">
              <a:srgbClr val="14532D">
                <a:alpha val="12000"/>
              </a:srgbClr>
            </a:outerShdw>
          </a:effectLst>
        </p:spPr>
      </p:sp>
      <p:sp>
        <p:nvSpPr>
          <p:cNvPr id="15" name="Text 12"/>
          <p:cNvSpPr txBox="1"/>
          <p:nvPr/>
        </p:nvSpPr>
        <p:spPr>
          <a:xfrm>
            <a:off x="9311335" y="4654296"/>
            <a:ext cx="2148840" cy="1371600"/>
          </a:xfrm>
          <a:prstGeom prst="rect">
            <a:avLst/>
          </a:prstGeom>
          <a:noFill/>
          <a:ln/>
        </p:spPr>
        <p:txBody>
          <a:bodyPr wrap="square" lIns="0" tIns="0" rIns="0" bIns="0" rtlCol="0" anchor="ctr"/>
          <a:lstStyle/>
          <a:p>
            <a:pPr rtl="1" algn="ctr" indent="0" marL="0">
              <a:buNone/>
            </a:pPr>
            <a:r>
              <a:rPr lang="fa-IR" altLang="en-US" sz="3400" dirty="0">
                <a:solidFill>
                  <a:srgbClr val="2E7D32"/>
                </a:solidFill>
                <a:latin typeface="Vazirmatn Nobar Black" pitchFamily="34" charset="0"/>
                <a:ea typeface="Vazirmatn Nobar Black" pitchFamily="34" charset="-122"/>
                <a:cs typeface="Vazirmatn Nobar Black" pitchFamily="34" charset="-120"/>
              </a:rPr>
              <a:t>۸۸٪</a:t>
            </a:r>
            <a:endParaRPr lang="fa-IR" sz="3400" dirty="0"/>
          </a:p>
        </p:txBody>
      </p:sp>
      <p:sp>
        <p:nvSpPr>
          <p:cNvPr id="16" name="Text 13"/>
          <p:cNvSpPr txBox="1"/>
          <p:nvPr/>
        </p:nvSpPr>
        <p:spPr>
          <a:xfrm>
            <a:off x="6385255" y="4837176"/>
            <a:ext cx="2834640" cy="777240"/>
          </a:xfrm>
          <a:prstGeom prst="rect">
            <a:avLst/>
          </a:prstGeom>
          <a:noFill/>
          <a:ln/>
        </p:spPr>
        <p:txBody>
          <a:bodyPr wrap="square" lIns="0" tIns="0" rIns="0" bIns="0" rtlCol="0" anchor="t"/>
          <a:lstStyle/>
          <a:p>
            <a:pPr rtl="1" algn="r" indent="0" marL="0">
              <a:lnSpc>
                <a:spcPct val="110000"/>
              </a:lnSpc>
              <a:buNone/>
            </a:pPr>
            <a:r>
              <a:rPr lang="fa-IR" altLang="en-US" sz="1400" dirty="0">
                <a:solidFill>
                  <a:srgbClr val="1F2A1F"/>
                </a:solidFill>
                <a:latin typeface="Vazirmatn Nobar Medium" pitchFamily="34" charset="0"/>
                <a:ea typeface="Vazirmatn Nobar Medium" pitchFamily="34" charset="-122"/>
                <a:cs typeface="Vazirmatn Nobar Medium" pitchFamily="34" charset="-120"/>
              </a:rPr>
              <a:t>از مردم کمتر از حد نیاز میوه و سبزی مصرف می‌کنند.</a:t>
            </a:r>
            <a:endParaRPr lang="fa-IR" sz="1400" dirty="0"/>
          </a:p>
        </p:txBody>
      </p:sp>
      <p:sp>
        <p:nvSpPr>
          <p:cNvPr id="17" name="Text 14"/>
          <p:cNvSpPr txBox="1"/>
          <p:nvPr/>
        </p:nvSpPr>
        <p:spPr>
          <a:xfrm>
            <a:off x="6385255" y="5641848"/>
            <a:ext cx="2834640" cy="274320"/>
          </a:xfrm>
          <a:prstGeom prst="rect">
            <a:avLst/>
          </a:prstGeom>
          <a:noFill/>
          <a:ln/>
        </p:spPr>
        <p:txBody>
          <a:bodyPr wrap="square" lIns="0" tIns="0" rIns="0" bIns="0" rtlCol="0" anchor="t"/>
          <a:lstStyle/>
          <a:p>
            <a:pPr rtl="1" algn="r" indent="0" marL="0">
              <a:buNone/>
            </a:pPr>
            <a:r>
              <a:rPr lang="fa-IR" altLang="en-US" sz="1000" dirty="0">
                <a:solidFill>
                  <a:srgbClr val="5F6B5F"/>
                </a:solidFill>
                <a:latin typeface="Vazirmatn Nobar" pitchFamily="34" charset="0"/>
                <a:ea typeface="Vazirmatn Nobar" pitchFamily="34" charset="-122"/>
                <a:cs typeface="Vazirmatn Nobar" pitchFamily="34" charset="-120"/>
              </a:rPr>
              <a:t>منبع: آفتاب‌نیوز</a:t>
            </a:r>
            <a:endParaRPr lang="fa-IR" sz="1000" dirty="0"/>
          </a:p>
        </p:txBody>
      </p:sp>
      <p:sp>
        <p:nvSpPr>
          <p:cNvPr id="18" name="Shape 15"/>
          <p:cNvSpPr/>
          <p:nvPr/>
        </p:nvSpPr>
        <p:spPr>
          <a:xfrm>
            <a:off x="548640" y="1600200"/>
            <a:ext cx="5333695" cy="2212848"/>
          </a:xfrm>
          <a:prstGeom prst="roundRect">
            <a:avLst>
              <a:gd name="adj" fmla="val 6612"/>
            </a:avLst>
          </a:prstGeom>
          <a:solidFill>
            <a:srgbClr val="FFFFFF"/>
          </a:solidFill>
          <a:ln/>
          <a:effectLst>
            <a:outerShdw sx="100000" sy="100000" kx="0" ky="0" algn="bl" rotWithShape="0" blurRad="127000" dist="38100" dir="5400000">
              <a:srgbClr val="14532D">
                <a:alpha val="12000"/>
              </a:srgbClr>
            </a:outerShdw>
          </a:effectLst>
        </p:spPr>
      </p:sp>
      <p:sp>
        <p:nvSpPr>
          <p:cNvPr id="19" name="Shape 16"/>
          <p:cNvSpPr/>
          <p:nvPr/>
        </p:nvSpPr>
        <p:spPr>
          <a:xfrm>
            <a:off x="4830775" y="1828800"/>
            <a:ext cx="822960" cy="822960"/>
          </a:xfrm>
          <a:prstGeom prst="ellipse">
            <a:avLst/>
          </a:prstGeom>
          <a:solidFill>
            <a:srgbClr val="EAF5E6"/>
          </a:solidFill>
          <a:ln/>
        </p:spPr>
      </p:sp>
      <p:pic>
        <p:nvPicPr>
          <p:cNvPr id="20" name="icon woman_with_headscarf" descr="/tmp/claude-0/-home-claude/e50823c0-d46f-5818-8f05-9d714cd67f5c/scratchpad/assets/icons/woman_with_headscarf.png">    </p:cNvPr>
          <p:cNvPicPr>
            <a:picLocks noChangeAspect="1"/>
          </p:cNvPicPr>
          <p:nvPr/>
        </p:nvPicPr>
        <p:blipFill>
          <a:blip r:embed="rId1"/>
          <a:stretch>
            <a:fillRect/>
          </a:stretch>
        </p:blipFill>
        <p:spPr>
          <a:xfrm>
            <a:off x="4962449" y="1960474"/>
            <a:ext cx="559613" cy="559613"/>
          </a:xfrm>
          <a:prstGeom prst="rect">
            <a:avLst/>
          </a:prstGeom>
        </p:spPr>
      </p:pic>
      <p:sp>
        <p:nvSpPr>
          <p:cNvPr id="21" name="Text 17"/>
          <p:cNvSpPr txBox="1"/>
          <p:nvPr/>
        </p:nvSpPr>
        <p:spPr>
          <a:xfrm>
            <a:off x="822960" y="1920240"/>
            <a:ext cx="3870655" cy="457200"/>
          </a:xfrm>
          <a:prstGeom prst="rect">
            <a:avLst/>
          </a:prstGeom>
          <a:noFill/>
          <a:ln/>
        </p:spPr>
        <p:txBody>
          <a:bodyPr wrap="square" lIns="0" tIns="0" rIns="0" bIns="0" rtlCol="0" anchor="t"/>
          <a:lstStyle/>
          <a:p>
            <a:pPr rtl="1" algn="r" indent="0" marL="0">
              <a:buNone/>
            </a:pPr>
            <a:r>
              <a:rPr lang="fa-IR" altLang="en-US" sz="2000" dirty="0">
                <a:solidFill>
                  <a:srgbClr val="14532D"/>
                </a:solidFill>
                <a:latin typeface="Vazirmatn Nobar ExtraBold" pitchFamily="34" charset="0"/>
                <a:ea typeface="Vazirmatn Nobar ExtraBold" pitchFamily="34" charset="-122"/>
                <a:cs typeface="Vazirmatn Nobar ExtraBold" pitchFamily="34" charset="-120"/>
              </a:rPr>
              <a:t>برای خریدار</a:t>
            </a:r>
            <a:endParaRPr lang="fa-IR" sz="2000" dirty="0"/>
          </a:p>
        </p:txBody>
      </p:sp>
      <p:sp>
        <p:nvSpPr>
          <p:cNvPr id="22" name="Text 18"/>
          <p:cNvSpPr txBox="1"/>
          <p:nvPr/>
        </p:nvSpPr>
        <p:spPr>
          <a:xfrm>
            <a:off x="822960" y="2514600"/>
            <a:ext cx="4785055" cy="1188720"/>
          </a:xfrm>
          <a:prstGeom prst="rect">
            <a:avLst/>
          </a:prstGeom>
          <a:noFill/>
          <a:ln/>
        </p:spPr>
        <p:txBody>
          <a:bodyPr wrap="square" lIns="0" tIns="0" rIns="0" bIns="0" rtlCol="0" anchor="t"/>
          <a:lstStyle/>
          <a:p>
            <a:pPr rtl="1" algn="r" marL="177800" indent="-177800">
              <a:spcAft>
                <a:spcPts val="4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مبدأ و تاریخ برداشت معلوم نیست</a:t>
            </a:r>
            <a:endParaRPr lang="fa-IR" sz="1400" dirty="0"/>
          </a:p>
          <a:p>
            <a:pPr rtl="1" algn="r" marL="177800" indent="-177800">
              <a:spcAft>
                <a:spcPts val="4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کیفیت از هر خرید به خرید بعد فرق می‌کند</a:t>
            </a:r>
            <a:endParaRPr lang="fa-IR" sz="1400" dirty="0"/>
          </a:p>
          <a:p>
            <a:pPr rtl="1" algn="r" marL="177800" indent="-177800">
              <a:spcAft>
                <a:spcPts val="4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خرید مستقیم از باغ‌های شهرهای دیگر ممکن نیست</a:t>
            </a:r>
            <a:endParaRPr lang="fa-IR" sz="1400" dirty="0"/>
          </a:p>
        </p:txBody>
      </p:sp>
      <p:sp>
        <p:nvSpPr>
          <p:cNvPr id="23" name="Shape 19"/>
          <p:cNvSpPr/>
          <p:nvPr/>
        </p:nvSpPr>
        <p:spPr>
          <a:xfrm>
            <a:off x="548640" y="3968496"/>
            <a:ext cx="5333695" cy="2212848"/>
          </a:xfrm>
          <a:prstGeom prst="roundRect">
            <a:avLst>
              <a:gd name="adj" fmla="val 6612"/>
            </a:avLst>
          </a:prstGeom>
          <a:solidFill>
            <a:srgbClr val="FFFFFF"/>
          </a:solidFill>
          <a:ln/>
          <a:effectLst>
            <a:outerShdw sx="100000" sy="100000" kx="0" ky="0" algn="bl" rotWithShape="0" blurRad="127000" dist="38100" dir="5400000">
              <a:srgbClr val="14532D">
                <a:alpha val="12000"/>
              </a:srgbClr>
            </a:outerShdw>
          </a:effectLst>
        </p:spPr>
      </p:sp>
      <p:sp>
        <p:nvSpPr>
          <p:cNvPr id="24" name="Shape 20"/>
          <p:cNvSpPr/>
          <p:nvPr/>
        </p:nvSpPr>
        <p:spPr>
          <a:xfrm>
            <a:off x="4830775" y="4197096"/>
            <a:ext cx="822960" cy="822960"/>
          </a:xfrm>
          <a:prstGeom prst="ellipse">
            <a:avLst/>
          </a:prstGeom>
          <a:solidFill>
            <a:srgbClr val="EAF5E6"/>
          </a:solidFill>
          <a:ln/>
        </p:spPr>
      </p:sp>
      <p:pic>
        <p:nvPicPr>
          <p:cNvPr id="25" name="icon man_farmer" descr="/tmp/claude-0/-home-claude/e50823c0-d46f-5818-8f05-9d714cd67f5c/scratchpad/assets/icons/man_farmer.png">    </p:cNvPr>
          <p:cNvPicPr>
            <a:picLocks noChangeAspect="1"/>
          </p:cNvPicPr>
          <p:nvPr/>
        </p:nvPicPr>
        <p:blipFill>
          <a:blip r:embed="rId2"/>
          <a:stretch>
            <a:fillRect/>
          </a:stretch>
        </p:blipFill>
        <p:spPr>
          <a:xfrm>
            <a:off x="4962449" y="4328770"/>
            <a:ext cx="559613" cy="559613"/>
          </a:xfrm>
          <a:prstGeom prst="rect">
            <a:avLst/>
          </a:prstGeom>
        </p:spPr>
      </p:pic>
      <p:sp>
        <p:nvSpPr>
          <p:cNvPr id="26" name="Text 21"/>
          <p:cNvSpPr txBox="1"/>
          <p:nvPr/>
        </p:nvSpPr>
        <p:spPr>
          <a:xfrm>
            <a:off x="822960" y="4288536"/>
            <a:ext cx="3870655" cy="457200"/>
          </a:xfrm>
          <a:prstGeom prst="rect">
            <a:avLst/>
          </a:prstGeom>
          <a:noFill/>
          <a:ln/>
        </p:spPr>
        <p:txBody>
          <a:bodyPr wrap="square" lIns="0" tIns="0" rIns="0" bIns="0" rtlCol="0" anchor="t"/>
          <a:lstStyle/>
          <a:p>
            <a:pPr rtl="1" algn="r" indent="0" marL="0">
              <a:buNone/>
            </a:pPr>
            <a:r>
              <a:rPr lang="fa-IR" altLang="en-US" sz="2000" dirty="0">
                <a:solidFill>
                  <a:srgbClr val="14532D"/>
                </a:solidFill>
                <a:latin typeface="Vazirmatn Nobar ExtraBold" pitchFamily="34" charset="0"/>
                <a:ea typeface="Vazirmatn Nobar ExtraBold" pitchFamily="34" charset="-122"/>
                <a:cs typeface="Vazirmatn Nobar ExtraBold" pitchFamily="34" charset="-120"/>
              </a:rPr>
              <a:t>برای باغدار</a:t>
            </a:r>
            <a:endParaRPr lang="fa-IR" sz="2000" dirty="0"/>
          </a:p>
        </p:txBody>
      </p:sp>
      <p:sp>
        <p:nvSpPr>
          <p:cNvPr id="27" name="Text 22"/>
          <p:cNvSpPr txBox="1"/>
          <p:nvPr/>
        </p:nvSpPr>
        <p:spPr>
          <a:xfrm>
            <a:off x="822960" y="4882896"/>
            <a:ext cx="4785055" cy="1188720"/>
          </a:xfrm>
          <a:prstGeom prst="rect">
            <a:avLst/>
          </a:prstGeom>
          <a:noFill/>
          <a:ln/>
        </p:spPr>
        <p:txBody>
          <a:bodyPr wrap="square" lIns="0" tIns="0" rIns="0" bIns="0" rtlCol="0" anchor="t"/>
          <a:lstStyle/>
          <a:p>
            <a:pPr rtl="1" algn="r" marL="177800" indent="-177800">
              <a:spcAft>
                <a:spcPts val="4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سهم کمی از قیمت نهایی به باغدار می‌رسد</a:t>
            </a:r>
            <a:endParaRPr lang="fa-IR" sz="1400" dirty="0"/>
          </a:p>
          <a:p>
            <a:pPr rtl="1" algn="r" marL="177800" indent="-177800">
              <a:spcAft>
                <a:spcPts val="4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به دلال و میدان بار وابسته است</a:t>
            </a:r>
            <a:endParaRPr lang="fa-IR" sz="1400" dirty="0"/>
          </a:p>
          <a:p>
            <a:pPr rtl="1" algn="r" marL="177800" indent="-177800">
              <a:spcAft>
                <a:spcPts val="4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به خریدار شهرهای دیگر دسترسی مستقیم ندارد</a:t>
            </a:r>
            <a:endParaRPr lang="fa-IR"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۴</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زنجیره‌ی امروز در برابر نوبر</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حذف واسطه‌های غیرضروری، بدون حذف کیفیت و اعتماد</a:t>
            </a:r>
            <a:endParaRPr lang="fa-IR" sz="1600" dirty="0"/>
          </a:p>
        </p:txBody>
      </p:sp>
      <p:sp>
        <p:nvSpPr>
          <p:cNvPr id="6" name="Shape 3"/>
          <p:cNvSpPr/>
          <p:nvPr/>
        </p:nvSpPr>
        <p:spPr>
          <a:xfrm>
            <a:off x="548640" y="1536192"/>
            <a:ext cx="11094415"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sp>
        <p:nvSpPr>
          <p:cNvPr id="7" name="Shape 4"/>
          <p:cNvSpPr/>
          <p:nvPr/>
        </p:nvSpPr>
        <p:spPr>
          <a:xfrm>
            <a:off x="10408615" y="1664208"/>
            <a:ext cx="1005840" cy="347472"/>
          </a:xfrm>
          <a:prstGeom prst="roundRect">
            <a:avLst>
              <a:gd name="adj" fmla="val 50000"/>
            </a:avLst>
          </a:prstGeom>
          <a:solidFill>
            <a:srgbClr val="FDE3E1"/>
          </a:solidFill>
          <a:ln/>
        </p:spPr>
      </p:sp>
      <p:sp>
        <p:nvSpPr>
          <p:cNvPr id="8" name="Text 5"/>
          <p:cNvSpPr txBox="1"/>
          <p:nvPr/>
        </p:nvSpPr>
        <p:spPr>
          <a:xfrm>
            <a:off x="10408615" y="1664208"/>
            <a:ext cx="1005840" cy="347472"/>
          </a:xfrm>
          <a:prstGeom prst="rect">
            <a:avLst/>
          </a:prstGeom>
          <a:noFill/>
          <a:ln/>
        </p:spPr>
        <p:txBody>
          <a:bodyPr wrap="square" lIns="0" tIns="0" rIns="0" bIns="0" rtlCol="0" anchor="ctr"/>
          <a:lstStyle/>
          <a:p>
            <a:pPr rtl="1" algn="ctr" indent="0" marL="0">
              <a:buNone/>
            </a:pPr>
            <a:r>
              <a:rPr lang="fa-IR" altLang="en-US" sz="1300" dirty="0">
                <a:solidFill>
                  <a:srgbClr val="C62828"/>
                </a:solidFill>
                <a:latin typeface="Vazirmatn Nobar ExtraBold" pitchFamily="34" charset="0"/>
                <a:ea typeface="Vazirmatn Nobar ExtraBold" pitchFamily="34" charset="-122"/>
                <a:cs typeface="Vazirmatn Nobar ExtraBold" pitchFamily="34" charset="-120"/>
              </a:rPr>
              <a:t>امروز</a:t>
            </a:r>
            <a:endParaRPr lang="fa-IR" sz="1300" dirty="0"/>
          </a:p>
        </p:txBody>
      </p:sp>
      <p:pic>
        <p:nvPicPr>
          <p:cNvPr id="9" name="icon man_farmer" descr="/tmp/claude-0/-home-claude/e50823c0-d46f-5818-8f05-9d714cd67f5c/scratchpad/assets/icons/man_farmer.png">    </p:cNvPr>
          <p:cNvPicPr>
            <a:picLocks noChangeAspect="1"/>
          </p:cNvPicPr>
          <p:nvPr/>
        </p:nvPicPr>
        <p:blipFill>
          <a:blip r:embed="rId1"/>
          <a:stretch>
            <a:fillRect/>
          </a:stretch>
        </p:blipFill>
        <p:spPr>
          <a:xfrm>
            <a:off x="10088575" y="1847088"/>
            <a:ext cx="822960" cy="822960"/>
          </a:xfrm>
          <a:prstGeom prst="rect">
            <a:avLst/>
          </a:prstGeom>
        </p:spPr>
      </p:pic>
      <p:sp>
        <p:nvSpPr>
          <p:cNvPr id="10" name="Text 6"/>
          <p:cNvSpPr txBox="1"/>
          <p:nvPr/>
        </p:nvSpPr>
        <p:spPr>
          <a:xfrm>
            <a:off x="9585655" y="2724912"/>
            <a:ext cx="1828800" cy="347472"/>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باغدار</a:t>
            </a:r>
            <a:endParaRPr lang="fa-IR" sz="1400" dirty="0"/>
          </a:p>
        </p:txBody>
      </p:sp>
      <p:sp>
        <p:nvSpPr>
          <p:cNvPr id="11" name="Shape 7"/>
          <p:cNvSpPr/>
          <p:nvPr/>
        </p:nvSpPr>
        <p:spPr>
          <a:xfrm>
            <a:off x="8864879" y="2258568"/>
            <a:ext cx="1068248" cy="0"/>
          </a:xfrm>
          <a:prstGeom prst="line">
            <a:avLst/>
          </a:prstGeom>
          <a:noFill/>
          <a:ln w="22225">
            <a:solidFill>
              <a:srgbClr val="C62828"/>
            </a:solidFill>
            <a:prstDash val="dash"/>
            <a:headEnd type="triangle"/>
          </a:ln>
        </p:spPr>
      </p:sp>
      <p:pic>
        <p:nvPicPr>
          <p:cNvPr id="12" name="icon articulated_lorry" descr="/tmp/claude-0/-home-claude/e50823c0-d46f-5818-8f05-9d714cd67f5c/scratchpad/assets/icons/articulated_lorry.png">    </p:cNvPr>
          <p:cNvPicPr>
            <a:picLocks noChangeAspect="1"/>
          </p:cNvPicPr>
          <p:nvPr/>
        </p:nvPicPr>
        <p:blipFill>
          <a:blip r:embed="rId2"/>
          <a:stretch>
            <a:fillRect/>
          </a:stretch>
        </p:blipFill>
        <p:spPr>
          <a:xfrm>
            <a:off x="7886471" y="1847088"/>
            <a:ext cx="822960" cy="822960"/>
          </a:xfrm>
          <a:prstGeom prst="rect">
            <a:avLst/>
          </a:prstGeom>
        </p:spPr>
      </p:pic>
      <p:sp>
        <p:nvSpPr>
          <p:cNvPr id="13" name="Text 8"/>
          <p:cNvSpPr txBox="1"/>
          <p:nvPr/>
        </p:nvSpPr>
        <p:spPr>
          <a:xfrm>
            <a:off x="7383551" y="2724912"/>
            <a:ext cx="1828800" cy="347472"/>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واسطه‌ی محلی</a:t>
            </a:r>
            <a:endParaRPr lang="fa-IR" sz="1400" dirty="0"/>
          </a:p>
        </p:txBody>
      </p:sp>
      <p:sp>
        <p:nvSpPr>
          <p:cNvPr id="14" name="Shape 9"/>
          <p:cNvSpPr/>
          <p:nvPr/>
        </p:nvSpPr>
        <p:spPr>
          <a:xfrm>
            <a:off x="6662776" y="2258568"/>
            <a:ext cx="1068248" cy="0"/>
          </a:xfrm>
          <a:prstGeom prst="line">
            <a:avLst/>
          </a:prstGeom>
          <a:noFill/>
          <a:ln w="22225">
            <a:solidFill>
              <a:srgbClr val="C62828"/>
            </a:solidFill>
            <a:prstDash val="dash"/>
            <a:headEnd type="triangle"/>
          </a:ln>
        </p:spPr>
      </p:sp>
      <p:pic>
        <p:nvPicPr>
          <p:cNvPr id="15" name="icon department_store" descr="/tmp/claude-0/-home-claude/e50823c0-d46f-5818-8f05-9d714cd67f5c/scratchpad/assets/icons/department_store.png">    </p:cNvPr>
          <p:cNvPicPr>
            <a:picLocks noChangeAspect="1"/>
          </p:cNvPicPr>
          <p:nvPr/>
        </p:nvPicPr>
        <p:blipFill>
          <a:blip r:embed="rId3"/>
          <a:stretch>
            <a:fillRect/>
          </a:stretch>
        </p:blipFill>
        <p:spPr>
          <a:xfrm>
            <a:off x="5684368" y="1847088"/>
            <a:ext cx="822960" cy="822960"/>
          </a:xfrm>
          <a:prstGeom prst="rect">
            <a:avLst/>
          </a:prstGeom>
        </p:spPr>
      </p:pic>
      <p:sp>
        <p:nvSpPr>
          <p:cNvPr id="16" name="Text 10"/>
          <p:cNvSpPr txBox="1"/>
          <p:nvPr/>
        </p:nvSpPr>
        <p:spPr>
          <a:xfrm>
            <a:off x="5181448" y="2724912"/>
            <a:ext cx="1828800" cy="347472"/>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میدان بار</a:t>
            </a:r>
            <a:endParaRPr lang="fa-IR" sz="1400" dirty="0"/>
          </a:p>
        </p:txBody>
      </p:sp>
      <p:sp>
        <p:nvSpPr>
          <p:cNvPr id="17" name="Shape 11"/>
          <p:cNvSpPr/>
          <p:nvPr/>
        </p:nvSpPr>
        <p:spPr>
          <a:xfrm>
            <a:off x="4460672" y="2258568"/>
            <a:ext cx="1068248" cy="0"/>
          </a:xfrm>
          <a:prstGeom prst="line">
            <a:avLst/>
          </a:prstGeom>
          <a:noFill/>
          <a:ln w="22225">
            <a:solidFill>
              <a:srgbClr val="C62828"/>
            </a:solidFill>
            <a:prstDash val="dash"/>
            <a:headEnd type="triangle"/>
          </a:ln>
        </p:spPr>
      </p:sp>
      <p:pic>
        <p:nvPicPr>
          <p:cNvPr id="18" name="icon convenience_store" descr="/tmp/claude-0/-home-claude/e50823c0-d46f-5818-8f05-9d714cd67f5c/scratchpad/assets/icons/convenience_store.png">    </p:cNvPr>
          <p:cNvPicPr>
            <a:picLocks noChangeAspect="1"/>
          </p:cNvPicPr>
          <p:nvPr/>
        </p:nvPicPr>
        <p:blipFill>
          <a:blip r:embed="rId4"/>
          <a:stretch>
            <a:fillRect/>
          </a:stretch>
        </p:blipFill>
        <p:spPr>
          <a:xfrm>
            <a:off x="3482264" y="1847088"/>
            <a:ext cx="822960" cy="822960"/>
          </a:xfrm>
          <a:prstGeom prst="rect">
            <a:avLst/>
          </a:prstGeom>
        </p:spPr>
      </p:pic>
      <p:sp>
        <p:nvSpPr>
          <p:cNvPr id="19" name="Text 12"/>
          <p:cNvSpPr txBox="1"/>
          <p:nvPr/>
        </p:nvSpPr>
        <p:spPr>
          <a:xfrm>
            <a:off x="2979344" y="2724912"/>
            <a:ext cx="1828800" cy="347472"/>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میوه‌فروشی</a:t>
            </a:r>
            <a:endParaRPr lang="fa-IR" sz="1400" dirty="0"/>
          </a:p>
        </p:txBody>
      </p:sp>
      <p:sp>
        <p:nvSpPr>
          <p:cNvPr id="20" name="Shape 13"/>
          <p:cNvSpPr/>
          <p:nvPr/>
        </p:nvSpPr>
        <p:spPr>
          <a:xfrm>
            <a:off x="2258568" y="2258568"/>
            <a:ext cx="1068248" cy="0"/>
          </a:xfrm>
          <a:prstGeom prst="line">
            <a:avLst/>
          </a:prstGeom>
          <a:noFill/>
          <a:ln w="22225">
            <a:solidFill>
              <a:srgbClr val="C62828"/>
            </a:solidFill>
            <a:prstDash val="dash"/>
            <a:headEnd type="triangle"/>
          </a:ln>
        </p:spPr>
      </p:sp>
      <p:pic>
        <p:nvPicPr>
          <p:cNvPr id="21" name="icon house" descr="/tmp/claude-0/-home-claude/e50823c0-d46f-5818-8f05-9d714cd67f5c/scratchpad/assets/icons/house.png">    </p:cNvPr>
          <p:cNvPicPr>
            <a:picLocks noChangeAspect="1"/>
          </p:cNvPicPr>
          <p:nvPr/>
        </p:nvPicPr>
        <p:blipFill>
          <a:blip r:embed="rId5"/>
          <a:stretch>
            <a:fillRect/>
          </a:stretch>
        </p:blipFill>
        <p:spPr>
          <a:xfrm>
            <a:off x="1280160" y="1847088"/>
            <a:ext cx="822960" cy="822960"/>
          </a:xfrm>
          <a:prstGeom prst="rect">
            <a:avLst/>
          </a:prstGeom>
        </p:spPr>
      </p:pic>
      <p:sp>
        <p:nvSpPr>
          <p:cNvPr id="22" name="Text 14"/>
          <p:cNvSpPr txBox="1"/>
          <p:nvPr/>
        </p:nvSpPr>
        <p:spPr>
          <a:xfrm>
            <a:off x="777240" y="2724912"/>
            <a:ext cx="1828800" cy="347472"/>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مصرف‌کننده</a:t>
            </a:r>
            <a:endParaRPr lang="fa-IR" sz="1400" dirty="0"/>
          </a:p>
        </p:txBody>
      </p:sp>
      <p:sp>
        <p:nvSpPr>
          <p:cNvPr id="23" name="Text 15"/>
          <p:cNvSpPr txBox="1"/>
          <p:nvPr/>
        </p:nvSpPr>
        <p:spPr>
          <a:xfrm>
            <a:off x="822960" y="3182112"/>
            <a:ext cx="10545775" cy="365760"/>
          </a:xfrm>
          <a:prstGeom prst="rect">
            <a:avLst/>
          </a:prstGeom>
          <a:noFill/>
          <a:ln/>
        </p:spPr>
        <p:txBody>
          <a:bodyPr wrap="square" lIns="0" tIns="0" rIns="0" bIns="0" rtlCol="0" anchor="t"/>
          <a:lstStyle/>
          <a:p>
            <a:pPr rtl="1" algn="ctr" indent="0" marL="0">
              <a:buNone/>
            </a:pPr>
            <a:r>
              <a:rPr lang="fa-IR" altLang="en-US" sz="1400" dirty="0">
                <a:solidFill>
                  <a:srgbClr val="C62828"/>
                </a:solidFill>
                <a:latin typeface="Vazirmatn Nobar Medium" pitchFamily="34" charset="0"/>
                <a:ea typeface="Vazirmatn Nobar Medium" pitchFamily="34" charset="-122"/>
                <a:cs typeface="Vazirmatn Nobar Medium" pitchFamily="34" charset="-120"/>
              </a:rPr>
              <a:t>۳ تا ۴ واسطه  |  مبدأ و تاریخ برداشت نامعلوم  |  روزها در حمل و انبار  |  قیمت چند برابر</a:t>
            </a:r>
            <a:endParaRPr lang="fa-IR" sz="1400" dirty="0"/>
          </a:p>
        </p:txBody>
      </p:sp>
      <p:sp>
        <p:nvSpPr>
          <p:cNvPr id="24" name="Shape 16"/>
          <p:cNvSpPr/>
          <p:nvPr/>
        </p:nvSpPr>
        <p:spPr>
          <a:xfrm>
            <a:off x="548640" y="3913632"/>
            <a:ext cx="11094415" cy="2176272"/>
          </a:xfrm>
          <a:prstGeom prst="roundRect">
            <a:avLst>
              <a:gd name="adj" fmla="val 6723"/>
            </a:avLst>
          </a:prstGeom>
          <a:solidFill>
            <a:srgbClr val="EAF5E6"/>
          </a:solidFill>
          <a:ln w="12700">
            <a:solidFill>
              <a:srgbClr val="A5D6A7"/>
            </a:solidFill>
            <a:prstDash val="solid"/>
          </a:ln>
          <a:effectLst>
            <a:outerShdw sx="100000" sy="100000" kx="0" ky="0" algn="bl" rotWithShape="0" blurRad="127000" dist="38100" dir="5400000">
              <a:srgbClr val="14532D">
                <a:alpha val="12000"/>
              </a:srgbClr>
            </a:outerShdw>
          </a:effectLst>
        </p:spPr>
      </p:sp>
      <p:sp>
        <p:nvSpPr>
          <p:cNvPr id="25" name="Shape 17"/>
          <p:cNvSpPr/>
          <p:nvPr/>
        </p:nvSpPr>
        <p:spPr>
          <a:xfrm>
            <a:off x="10408615" y="4041648"/>
            <a:ext cx="1005840" cy="347472"/>
          </a:xfrm>
          <a:prstGeom prst="roundRect">
            <a:avLst>
              <a:gd name="adj" fmla="val 50000"/>
            </a:avLst>
          </a:prstGeom>
          <a:solidFill>
            <a:srgbClr val="2E7D32"/>
          </a:solidFill>
          <a:ln/>
        </p:spPr>
      </p:sp>
      <p:sp>
        <p:nvSpPr>
          <p:cNvPr id="26" name="Text 18"/>
          <p:cNvSpPr txBox="1"/>
          <p:nvPr/>
        </p:nvSpPr>
        <p:spPr>
          <a:xfrm>
            <a:off x="10408615" y="4041648"/>
            <a:ext cx="1005840" cy="347472"/>
          </a:xfrm>
          <a:prstGeom prst="rect">
            <a:avLst/>
          </a:prstGeom>
          <a:noFill/>
          <a:ln/>
        </p:spPr>
        <p:txBody>
          <a:bodyPr wrap="square" lIns="0" tIns="0" rIns="0" bIns="0" rtlCol="0" anchor="ctr"/>
          <a:lstStyle/>
          <a:p>
            <a:pPr rtl="1" algn="ctr" indent="0" marL="0">
              <a:buNone/>
            </a:pPr>
            <a:r>
              <a:rPr lang="fa-IR" altLang="en-US" sz="1300" dirty="0">
                <a:solidFill>
                  <a:srgbClr val="FFFFFF"/>
                </a:solidFill>
                <a:latin typeface="Vazirmatn Nobar ExtraBold" pitchFamily="34" charset="0"/>
                <a:ea typeface="Vazirmatn Nobar ExtraBold" pitchFamily="34" charset="-122"/>
                <a:cs typeface="Vazirmatn Nobar ExtraBold" pitchFamily="34" charset="-120"/>
              </a:rPr>
              <a:t>با نوبر</a:t>
            </a:r>
            <a:endParaRPr lang="fa-IR" sz="1300" dirty="0"/>
          </a:p>
        </p:txBody>
      </p:sp>
      <p:pic>
        <p:nvPicPr>
          <p:cNvPr id="27" name="icon man_farmer" descr="/tmp/claude-0/-home-claude/e50823c0-d46f-5818-8f05-9d714cd67f5c/scratchpad/assets/icons/man_farmer.png">    </p:cNvPr>
          <p:cNvPicPr>
            <a:picLocks noChangeAspect="1"/>
          </p:cNvPicPr>
          <p:nvPr/>
        </p:nvPicPr>
        <p:blipFill>
          <a:blip r:embed="rId6"/>
          <a:stretch>
            <a:fillRect/>
          </a:stretch>
        </p:blipFill>
        <p:spPr>
          <a:xfrm>
            <a:off x="10088575" y="4206240"/>
            <a:ext cx="822960" cy="822960"/>
          </a:xfrm>
          <a:prstGeom prst="rect">
            <a:avLst/>
          </a:prstGeom>
        </p:spPr>
      </p:pic>
      <p:sp>
        <p:nvSpPr>
          <p:cNvPr id="28" name="Text 19"/>
          <p:cNvSpPr txBox="1"/>
          <p:nvPr/>
        </p:nvSpPr>
        <p:spPr>
          <a:xfrm>
            <a:off x="9585655" y="5084064"/>
            <a:ext cx="1828800" cy="347472"/>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باغدار</a:t>
            </a:r>
            <a:endParaRPr lang="fa-IR" sz="1400" dirty="0"/>
          </a:p>
        </p:txBody>
      </p:sp>
      <p:sp>
        <p:nvSpPr>
          <p:cNvPr id="29" name="Shape 20"/>
          <p:cNvSpPr/>
          <p:nvPr/>
        </p:nvSpPr>
        <p:spPr>
          <a:xfrm>
            <a:off x="5528920" y="4114800"/>
            <a:ext cx="1133856" cy="1133856"/>
          </a:xfrm>
          <a:prstGeom prst="ellipse">
            <a:avLst/>
          </a:prstGeom>
          <a:solidFill>
            <a:srgbClr val="FFFFFF"/>
          </a:solidFill>
          <a:ln w="19050">
            <a:solidFill>
              <a:srgbClr val="A5D6A7"/>
            </a:solidFill>
            <a:prstDash val="solid"/>
          </a:ln>
          <a:effectLst>
            <a:outerShdw sx="100000" sy="100000" kx="0" ky="0" algn="bl" rotWithShape="0" blurRad="127000" dist="38100" dir="5400000">
              <a:srgbClr val="14532D">
                <a:alpha val="12000"/>
              </a:srgbClr>
            </a:outerShdw>
          </a:effectLst>
        </p:spPr>
      </p:sp>
      <p:pic>
        <p:nvPicPr>
          <p:cNvPr id="30" name="Image 6" descr="/tmp/claude-0/-home-claude/e50823c0-d46f-5818-8f05-9d714cd67f5c/scratchpad/deck/img/logo_dark.png">    </p:cNvPr>
          <p:cNvPicPr>
            <a:picLocks noChangeAspect="1"/>
          </p:cNvPicPr>
          <p:nvPr/>
        </p:nvPicPr>
        <p:blipFill>
          <a:blip r:embed="rId7"/>
          <a:stretch>
            <a:fillRect/>
          </a:stretch>
        </p:blipFill>
        <p:spPr>
          <a:xfrm>
            <a:off x="5638648" y="4460347"/>
            <a:ext cx="914400" cy="442762"/>
          </a:xfrm>
          <a:prstGeom prst="rect">
            <a:avLst/>
          </a:prstGeom>
        </p:spPr>
      </p:pic>
      <p:sp>
        <p:nvSpPr>
          <p:cNvPr id="31" name="Shape 21"/>
          <p:cNvSpPr/>
          <p:nvPr/>
        </p:nvSpPr>
        <p:spPr>
          <a:xfrm>
            <a:off x="6095848" y="5394960"/>
            <a:ext cx="1097280" cy="347472"/>
          </a:xfrm>
          <a:prstGeom prst="roundRect">
            <a:avLst>
              <a:gd name="adj" fmla="val 50000"/>
            </a:avLst>
          </a:prstGeom>
          <a:solidFill>
            <a:srgbClr val="FFFFFF"/>
          </a:solidFill>
          <a:ln w="12700">
            <a:solidFill>
              <a:srgbClr val="A5D6A7"/>
            </a:solidFill>
            <a:prstDash val="solid"/>
          </a:ln>
        </p:spPr>
      </p:sp>
      <p:sp>
        <p:nvSpPr>
          <p:cNvPr id="32" name="Text 22"/>
          <p:cNvSpPr txBox="1"/>
          <p:nvPr/>
        </p:nvSpPr>
        <p:spPr>
          <a:xfrm>
            <a:off x="6095848" y="5394960"/>
            <a:ext cx="1097280" cy="347472"/>
          </a:xfrm>
          <a:prstGeom prst="rect">
            <a:avLst/>
          </a:prstGeom>
          <a:noFill/>
          <a:ln/>
        </p:spPr>
        <p:txBody>
          <a:bodyPr wrap="square" lIns="0" tIns="0" rIns="0" bIns="0" rtlCol="0" anchor="ctr"/>
          <a:lstStyle/>
          <a:p>
            <a:pPr rtl="1" algn="ctr" indent="0" marL="0">
              <a:buNone/>
            </a:pPr>
            <a:r>
              <a:rPr lang="fa-IR" altLang="en-US" sz="1200" dirty="0">
                <a:solidFill>
                  <a:srgbClr val="2E7D32"/>
                </a:solidFill>
                <a:latin typeface="Vazirmatn Nobar SemiBold" pitchFamily="34" charset="0"/>
                <a:ea typeface="Vazirmatn Nobar SemiBold" pitchFamily="34" charset="-122"/>
                <a:cs typeface="Vazirmatn Nobar SemiBold" pitchFamily="34" charset="-120"/>
              </a:rPr>
              <a:t>پول امانی</a:t>
            </a:r>
            <a:endParaRPr lang="fa-IR" sz="1200" dirty="0"/>
          </a:p>
        </p:txBody>
      </p:sp>
      <p:sp>
        <p:nvSpPr>
          <p:cNvPr id="33" name="Shape 23"/>
          <p:cNvSpPr/>
          <p:nvPr/>
        </p:nvSpPr>
        <p:spPr>
          <a:xfrm>
            <a:off x="4907128" y="5394960"/>
            <a:ext cx="1097280" cy="347472"/>
          </a:xfrm>
          <a:prstGeom prst="roundRect">
            <a:avLst>
              <a:gd name="adj" fmla="val 50000"/>
            </a:avLst>
          </a:prstGeom>
          <a:solidFill>
            <a:srgbClr val="FFFFFF"/>
          </a:solidFill>
          <a:ln w="12700">
            <a:solidFill>
              <a:srgbClr val="A5D6A7"/>
            </a:solidFill>
            <a:prstDash val="solid"/>
          </a:ln>
        </p:spPr>
      </p:sp>
      <p:sp>
        <p:nvSpPr>
          <p:cNvPr id="34" name="Text 24"/>
          <p:cNvSpPr txBox="1"/>
          <p:nvPr/>
        </p:nvSpPr>
        <p:spPr>
          <a:xfrm>
            <a:off x="4907128" y="5394960"/>
            <a:ext cx="1097280" cy="347472"/>
          </a:xfrm>
          <a:prstGeom prst="rect">
            <a:avLst/>
          </a:prstGeom>
          <a:noFill/>
          <a:ln/>
        </p:spPr>
        <p:txBody>
          <a:bodyPr wrap="square" lIns="0" tIns="0" rIns="0" bIns="0" rtlCol="0" anchor="ctr"/>
          <a:lstStyle/>
          <a:p>
            <a:pPr rtl="1" algn="ctr" indent="0" marL="0">
              <a:buNone/>
            </a:pPr>
            <a:r>
              <a:rPr lang="fa-IR" altLang="en-US" sz="1200" dirty="0">
                <a:solidFill>
                  <a:srgbClr val="2E7D32"/>
                </a:solidFill>
                <a:latin typeface="Vazirmatn Nobar SemiBold" pitchFamily="34" charset="0"/>
                <a:ea typeface="Vazirmatn Nobar SemiBold" pitchFamily="34" charset="-122"/>
                <a:cs typeface="Vazirmatn Nobar SemiBold" pitchFamily="34" charset="-120"/>
              </a:rPr>
              <a:t>تازه‌سنج</a:t>
            </a:r>
            <a:endParaRPr lang="fa-IR" sz="1200" dirty="0"/>
          </a:p>
        </p:txBody>
      </p:sp>
      <p:sp>
        <p:nvSpPr>
          <p:cNvPr id="35" name="Shape 25"/>
          <p:cNvSpPr/>
          <p:nvPr/>
        </p:nvSpPr>
        <p:spPr>
          <a:xfrm>
            <a:off x="3718408" y="5394960"/>
            <a:ext cx="1097280" cy="347472"/>
          </a:xfrm>
          <a:prstGeom prst="roundRect">
            <a:avLst>
              <a:gd name="adj" fmla="val 50000"/>
            </a:avLst>
          </a:prstGeom>
          <a:solidFill>
            <a:srgbClr val="FFFFFF"/>
          </a:solidFill>
          <a:ln w="12700">
            <a:solidFill>
              <a:srgbClr val="A5D6A7"/>
            </a:solidFill>
            <a:prstDash val="solid"/>
          </a:ln>
        </p:spPr>
      </p:sp>
      <p:sp>
        <p:nvSpPr>
          <p:cNvPr id="36" name="Text 26"/>
          <p:cNvSpPr txBox="1"/>
          <p:nvPr/>
        </p:nvSpPr>
        <p:spPr>
          <a:xfrm>
            <a:off x="3718408" y="5394960"/>
            <a:ext cx="1097280" cy="347472"/>
          </a:xfrm>
          <a:prstGeom prst="rect">
            <a:avLst/>
          </a:prstGeom>
          <a:noFill/>
          <a:ln/>
        </p:spPr>
        <p:txBody>
          <a:bodyPr wrap="square" lIns="0" tIns="0" rIns="0" bIns="0" rtlCol="0" anchor="ctr"/>
          <a:lstStyle/>
          <a:p>
            <a:pPr rtl="1" algn="ctr" indent="0" marL="0">
              <a:buNone/>
            </a:pPr>
            <a:r>
              <a:rPr lang="fa-IR" altLang="en-US" sz="1200" dirty="0">
                <a:solidFill>
                  <a:srgbClr val="2E7D32"/>
                </a:solidFill>
                <a:latin typeface="Vazirmatn Nobar SemiBold" pitchFamily="34" charset="0"/>
                <a:ea typeface="Vazirmatn Nobar SemiBold" pitchFamily="34" charset="-122"/>
                <a:cs typeface="Vazirmatn Nobar SemiBold" pitchFamily="34" charset="-120"/>
              </a:rPr>
              <a:t>ارسال هوشمند</a:t>
            </a:r>
            <a:endParaRPr lang="fa-IR" sz="1200" dirty="0"/>
          </a:p>
        </p:txBody>
      </p:sp>
      <p:pic>
        <p:nvPicPr>
          <p:cNvPr id="37" name="icon house_with_garden" descr="/tmp/claude-0/-home-claude/e50823c0-d46f-5818-8f05-9d714cd67f5c/scratchpad/assets/icons/house_with_garden.png">    </p:cNvPr>
          <p:cNvPicPr>
            <a:picLocks noChangeAspect="1"/>
          </p:cNvPicPr>
          <p:nvPr/>
        </p:nvPicPr>
        <p:blipFill>
          <a:blip r:embed="rId8"/>
          <a:stretch>
            <a:fillRect/>
          </a:stretch>
        </p:blipFill>
        <p:spPr>
          <a:xfrm>
            <a:off x="1280160" y="4206240"/>
            <a:ext cx="822960" cy="822960"/>
          </a:xfrm>
          <a:prstGeom prst="rect">
            <a:avLst/>
          </a:prstGeom>
        </p:spPr>
      </p:pic>
      <p:sp>
        <p:nvSpPr>
          <p:cNvPr id="38" name="Text 27"/>
          <p:cNvSpPr txBox="1"/>
          <p:nvPr/>
        </p:nvSpPr>
        <p:spPr>
          <a:xfrm>
            <a:off x="777240" y="5084064"/>
            <a:ext cx="1828800" cy="347472"/>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مصرف‌کننده</a:t>
            </a:r>
            <a:endParaRPr lang="fa-IR" sz="1400" dirty="0"/>
          </a:p>
        </p:txBody>
      </p:sp>
      <p:sp>
        <p:nvSpPr>
          <p:cNvPr id="39" name="Shape 28"/>
          <p:cNvSpPr/>
          <p:nvPr/>
        </p:nvSpPr>
        <p:spPr>
          <a:xfrm>
            <a:off x="6781648" y="4681728"/>
            <a:ext cx="3124048" cy="0"/>
          </a:xfrm>
          <a:prstGeom prst="line">
            <a:avLst/>
          </a:prstGeom>
          <a:noFill/>
          <a:ln w="31750">
            <a:solidFill>
              <a:srgbClr val="2E7D32"/>
            </a:solidFill>
            <a:prstDash val="solid"/>
            <a:headEnd type="triangle"/>
          </a:ln>
        </p:spPr>
      </p:sp>
      <p:sp>
        <p:nvSpPr>
          <p:cNvPr id="40" name="Shape 29"/>
          <p:cNvSpPr/>
          <p:nvPr/>
        </p:nvSpPr>
        <p:spPr>
          <a:xfrm>
            <a:off x="2286000" y="4681728"/>
            <a:ext cx="3124048" cy="0"/>
          </a:xfrm>
          <a:prstGeom prst="line">
            <a:avLst/>
          </a:prstGeom>
          <a:noFill/>
          <a:ln w="31750">
            <a:solidFill>
              <a:srgbClr val="2E7D32"/>
            </a:solidFill>
            <a:prstDash val="solid"/>
            <a:headEnd type="triangle"/>
          </a:ln>
        </p:spPr>
      </p:sp>
      <p:sp>
        <p:nvSpPr>
          <p:cNvPr id="41" name="Text 30"/>
          <p:cNvSpPr txBox="1"/>
          <p:nvPr/>
        </p:nvSpPr>
        <p:spPr>
          <a:xfrm>
            <a:off x="6827368" y="4242816"/>
            <a:ext cx="3032608" cy="329184"/>
          </a:xfrm>
          <a:prstGeom prst="rect">
            <a:avLst/>
          </a:prstGeom>
          <a:noFill/>
          <a:ln/>
        </p:spPr>
        <p:txBody>
          <a:bodyPr wrap="square" lIns="0" tIns="0" rIns="0" bIns="0" rtlCol="0" anchor="t"/>
          <a:lstStyle/>
          <a:p>
            <a:pPr rtl="1" algn="ctr" indent="0" marL="0">
              <a:buNone/>
            </a:pPr>
            <a:r>
              <a:rPr lang="fa-IR" altLang="en-US" sz="1300" dirty="0">
                <a:solidFill>
                  <a:srgbClr val="14532D"/>
                </a:solidFill>
                <a:latin typeface="Vazirmatn Nobar SemiBold" pitchFamily="34" charset="0"/>
                <a:ea typeface="Vazirmatn Nobar SemiBold" pitchFamily="34" charset="-122"/>
                <a:cs typeface="Vazirmatn Nobar SemiBold" pitchFamily="34" charset="-120"/>
              </a:rPr>
              <a:t>فروش مستقیم و شفاف</a:t>
            </a:r>
            <a:endParaRPr lang="fa-IR" sz="1300" dirty="0"/>
          </a:p>
        </p:txBody>
      </p:sp>
      <p:sp>
        <p:nvSpPr>
          <p:cNvPr id="42" name="Text 31"/>
          <p:cNvSpPr txBox="1"/>
          <p:nvPr/>
        </p:nvSpPr>
        <p:spPr>
          <a:xfrm>
            <a:off x="2331720" y="4242816"/>
            <a:ext cx="3032608" cy="329184"/>
          </a:xfrm>
          <a:prstGeom prst="rect">
            <a:avLst/>
          </a:prstGeom>
          <a:noFill/>
          <a:ln/>
        </p:spPr>
        <p:txBody>
          <a:bodyPr wrap="square" lIns="0" tIns="0" rIns="0" bIns="0" rtlCol="0" anchor="t"/>
          <a:lstStyle/>
          <a:p>
            <a:pPr rtl="1" algn="ctr" indent="0" marL="0">
              <a:buNone/>
            </a:pPr>
            <a:r>
              <a:rPr lang="fa-IR" altLang="en-US" sz="1300" dirty="0">
                <a:solidFill>
                  <a:srgbClr val="14532D"/>
                </a:solidFill>
                <a:latin typeface="Vazirmatn Nobar SemiBold" pitchFamily="34" charset="0"/>
                <a:ea typeface="Vazirmatn Nobar SemiBold" pitchFamily="34" charset="-122"/>
                <a:cs typeface="Vazirmatn Nobar SemiBold" pitchFamily="34" charset="-120"/>
              </a:rPr>
              <a:t>تحویل تازه در زمان مشخص</a:t>
            </a:r>
            <a:endParaRPr lang="fa-IR"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۵</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راه‌حل: بازار تخصصی تازه‌کالا، مستقیم از مبدأ</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ارزش‌آفرینی برای سه طرف: خریدار، باغدار و اقتصاد محلی</a:t>
            </a:r>
            <a:endParaRPr lang="fa-IR" sz="1600" dirty="0"/>
          </a:p>
        </p:txBody>
      </p:sp>
      <p:pic>
        <p:nvPicPr>
          <p:cNvPr id="6" name="phone listing" descr="/tmp/claude-0/-home-claude/e50823c0-d46f-5818-8f05-9d714cd67f5c/scratchpad/deck/img/phone_listing_l.png">    </p:cNvPr>
          <p:cNvPicPr>
            <a:picLocks noChangeAspect="1"/>
          </p:cNvPicPr>
          <p:nvPr/>
        </p:nvPicPr>
        <p:blipFill>
          <a:blip r:embed="rId1"/>
          <a:stretch>
            <a:fillRect/>
          </a:stretch>
        </p:blipFill>
        <p:spPr>
          <a:xfrm>
            <a:off x="502920" y="1371600"/>
            <a:ext cx="2723108" cy="4892040"/>
          </a:xfrm>
          <a:prstGeom prst="rect">
            <a:avLst/>
          </a:prstGeom>
        </p:spPr>
      </p:pic>
      <p:sp>
        <p:nvSpPr>
          <p:cNvPr id="7" name="Shape 3"/>
          <p:cNvSpPr/>
          <p:nvPr/>
        </p:nvSpPr>
        <p:spPr>
          <a:xfrm>
            <a:off x="3886200" y="1600200"/>
            <a:ext cx="7756855" cy="1417320"/>
          </a:xfrm>
          <a:prstGeom prst="roundRect">
            <a:avLst>
              <a:gd name="adj" fmla="val 10323"/>
            </a:avLst>
          </a:prstGeom>
          <a:solidFill>
            <a:srgbClr val="FFFFFF"/>
          </a:solidFill>
          <a:ln/>
          <a:effectLst>
            <a:outerShdw sx="100000" sy="100000" kx="0" ky="0" algn="bl" rotWithShape="0" blurRad="127000" dist="38100" dir="5400000">
              <a:srgbClr val="14532D">
                <a:alpha val="12000"/>
              </a:srgbClr>
            </a:outerShdw>
          </a:effectLst>
        </p:spPr>
      </p:sp>
      <p:sp>
        <p:nvSpPr>
          <p:cNvPr id="8" name="Shape 4"/>
          <p:cNvSpPr/>
          <p:nvPr/>
        </p:nvSpPr>
        <p:spPr>
          <a:xfrm>
            <a:off x="10454335" y="1856232"/>
            <a:ext cx="914400" cy="914400"/>
          </a:xfrm>
          <a:prstGeom prst="ellipse">
            <a:avLst/>
          </a:prstGeom>
          <a:solidFill>
            <a:srgbClr val="EAF5E6"/>
          </a:solidFill>
          <a:ln/>
        </p:spPr>
      </p:sp>
      <p:pic>
        <p:nvPicPr>
          <p:cNvPr id="9" name="icon woman_with_headscarf" descr="/tmp/claude-0/-home-claude/e50823c0-d46f-5818-8f05-9d714cd67f5c/scratchpad/assets/icons/woman_with_headscarf.png">    </p:cNvPr>
          <p:cNvPicPr>
            <a:picLocks noChangeAspect="1"/>
          </p:cNvPicPr>
          <p:nvPr/>
        </p:nvPicPr>
        <p:blipFill>
          <a:blip r:embed="rId2"/>
          <a:stretch>
            <a:fillRect/>
          </a:stretch>
        </p:blipFill>
        <p:spPr>
          <a:xfrm>
            <a:off x="10600639" y="2002536"/>
            <a:ext cx="621792" cy="621792"/>
          </a:xfrm>
          <a:prstGeom prst="rect">
            <a:avLst/>
          </a:prstGeom>
        </p:spPr>
      </p:pic>
      <p:sp>
        <p:nvSpPr>
          <p:cNvPr id="10" name="Text 5"/>
          <p:cNvSpPr txBox="1"/>
          <p:nvPr/>
        </p:nvSpPr>
        <p:spPr>
          <a:xfrm>
            <a:off x="4160520" y="1801368"/>
            <a:ext cx="6110935" cy="411480"/>
          </a:xfrm>
          <a:prstGeom prst="rect">
            <a:avLst/>
          </a:prstGeom>
          <a:noFill/>
          <a:ln/>
        </p:spPr>
        <p:txBody>
          <a:bodyPr wrap="square" lIns="0" tIns="0" rIns="0" bIns="0" rtlCol="0" anchor="t"/>
          <a:lstStyle/>
          <a:p>
            <a:pPr rtl="1" algn="r" indent="0" marL="0">
              <a:buNone/>
            </a:pPr>
            <a:r>
              <a:rPr lang="fa-IR" altLang="en-US" sz="1900" dirty="0">
                <a:solidFill>
                  <a:srgbClr val="14532D"/>
                </a:solidFill>
                <a:latin typeface="Vazirmatn Nobar ExtraBold" pitchFamily="34" charset="0"/>
                <a:ea typeface="Vazirmatn Nobar ExtraBold" pitchFamily="34" charset="-122"/>
                <a:cs typeface="Vazirmatn Nobar ExtraBold" pitchFamily="34" charset="-120"/>
              </a:rPr>
              <a:t>برای خریدار</a:t>
            </a:r>
            <a:endParaRPr lang="fa-IR" sz="1900" dirty="0"/>
          </a:p>
        </p:txBody>
      </p:sp>
      <p:sp>
        <p:nvSpPr>
          <p:cNvPr id="11" name="Text 6"/>
          <p:cNvSpPr txBox="1"/>
          <p:nvPr/>
        </p:nvSpPr>
        <p:spPr>
          <a:xfrm>
            <a:off x="4160520" y="2258568"/>
            <a:ext cx="6110935" cy="68580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محصول تازه با مبدأ و تاریخ برداشت مشخص، مقایسه‌ی قیمت تمام‌شده تا درِ خانه، پرداخت امن و مهلت شکایت با بازگشت وجه</a:t>
            </a:r>
            <a:endParaRPr lang="fa-IR" sz="1400" dirty="0"/>
          </a:p>
        </p:txBody>
      </p:sp>
      <p:sp>
        <p:nvSpPr>
          <p:cNvPr id="12" name="Shape 7"/>
          <p:cNvSpPr/>
          <p:nvPr/>
        </p:nvSpPr>
        <p:spPr>
          <a:xfrm>
            <a:off x="3886200" y="3172968"/>
            <a:ext cx="7756855" cy="1417320"/>
          </a:xfrm>
          <a:prstGeom prst="roundRect">
            <a:avLst>
              <a:gd name="adj" fmla="val 10323"/>
            </a:avLst>
          </a:prstGeom>
          <a:solidFill>
            <a:srgbClr val="FFFFFF"/>
          </a:solidFill>
          <a:ln/>
          <a:effectLst>
            <a:outerShdw sx="100000" sy="100000" kx="0" ky="0" algn="bl" rotWithShape="0" blurRad="127000" dist="38100" dir="5400000">
              <a:srgbClr val="14532D">
                <a:alpha val="12000"/>
              </a:srgbClr>
            </a:outerShdw>
          </a:effectLst>
        </p:spPr>
      </p:sp>
      <p:sp>
        <p:nvSpPr>
          <p:cNvPr id="13" name="Shape 8"/>
          <p:cNvSpPr/>
          <p:nvPr/>
        </p:nvSpPr>
        <p:spPr>
          <a:xfrm>
            <a:off x="10454335" y="3429000"/>
            <a:ext cx="914400" cy="914400"/>
          </a:xfrm>
          <a:prstGeom prst="ellipse">
            <a:avLst/>
          </a:prstGeom>
          <a:solidFill>
            <a:srgbClr val="EAF5E6"/>
          </a:solidFill>
          <a:ln/>
        </p:spPr>
      </p:sp>
      <p:pic>
        <p:nvPicPr>
          <p:cNvPr id="14" name="icon man_farmer" descr="/tmp/claude-0/-home-claude/e50823c0-d46f-5818-8f05-9d714cd67f5c/scratchpad/assets/icons/man_farmer.png">    </p:cNvPr>
          <p:cNvPicPr>
            <a:picLocks noChangeAspect="1"/>
          </p:cNvPicPr>
          <p:nvPr/>
        </p:nvPicPr>
        <p:blipFill>
          <a:blip r:embed="rId3"/>
          <a:stretch>
            <a:fillRect/>
          </a:stretch>
        </p:blipFill>
        <p:spPr>
          <a:xfrm>
            <a:off x="10600639" y="3575304"/>
            <a:ext cx="621792" cy="621792"/>
          </a:xfrm>
          <a:prstGeom prst="rect">
            <a:avLst/>
          </a:prstGeom>
        </p:spPr>
      </p:pic>
      <p:sp>
        <p:nvSpPr>
          <p:cNvPr id="15" name="Text 9"/>
          <p:cNvSpPr txBox="1"/>
          <p:nvPr/>
        </p:nvSpPr>
        <p:spPr>
          <a:xfrm>
            <a:off x="4160520" y="3374136"/>
            <a:ext cx="6110935" cy="411480"/>
          </a:xfrm>
          <a:prstGeom prst="rect">
            <a:avLst/>
          </a:prstGeom>
          <a:noFill/>
          <a:ln/>
        </p:spPr>
        <p:txBody>
          <a:bodyPr wrap="square" lIns="0" tIns="0" rIns="0" bIns="0" rtlCol="0" anchor="t"/>
          <a:lstStyle/>
          <a:p>
            <a:pPr rtl="1" algn="r" indent="0" marL="0">
              <a:buNone/>
            </a:pPr>
            <a:r>
              <a:rPr lang="fa-IR" altLang="en-US" sz="1900" dirty="0">
                <a:solidFill>
                  <a:srgbClr val="14532D"/>
                </a:solidFill>
                <a:latin typeface="Vazirmatn Nobar ExtraBold" pitchFamily="34" charset="0"/>
                <a:ea typeface="Vazirmatn Nobar ExtraBold" pitchFamily="34" charset="-122"/>
                <a:cs typeface="Vazirmatn Nobar ExtraBold" pitchFamily="34" charset="-120"/>
              </a:rPr>
              <a:t>برای باغدار و غرفه‌دار</a:t>
            </a:r>
            <a:endParaRPr lang="fa-IR" sz="1900" dirty="0"/>
          </a:p>
        </p:txBody>
      </p:sp>
      <p:sp>
        <p:nvSpPr>
          <p:cNvPr id="16" name="Text 10"/>
          <p:cNvSpPr txBox="1"/>
          <p:nvPr/>
        </p:nvSpPr>
        <p:spPr>
          <a:xfrm>
            <a:off x="4160520" y="3831336"/>
            <a:ext cx="6110935" cy="68580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فروش مستقیم به همه‌ی شهرها، ثبت محصول با عکس و پیام صوتی، تسویه‌ی تضمینی پس از تحویل</a:t>
            </a:r>
            <a:endParaRPr lang="fa-IR" sz="1400" dirty="0"/>
          </a:p>
        </p:txBody>
      </p:sp>
      <p:sp>
        <p:nvSpPr>
          <p:cNvPr id="17" name="Shape 11"/>
          <p:cNvSpPr/>
          <p:nvPr/>
        </p:nvSpPr>
        <p:spPr>
          <a:xfrm>
            <a:off x="3886200" y="4745736"/>
            <a:ext cx="7756855" cy="1417320"/>
          </a:xfrm>
          <a:prstGeom prst="roundRect">
            <a:avLst>
              <a:gd name="adj" fmla="val 10323"/>
            </a:avLst>
          </a:prstGeom>
          <a:solidFill>
            <a:srgbClr val="FFFFFF"/>
          </a:solidFill>
          <a:ln/>
          <a:effectLst>
            <a:outerShdw sx="100000" sy="100000" kx="0" ky="0" algn="bl" rotWithShape="0" blurRad="127000" dist="38100" dir="5400000">
              <a:srgbClr val="14532D">
                <a:alpha val="12000"/>
              </a:srgbClr>
            </a:outerShdw>
          </a:effectLst>
        </p:spPr>
      </p:sp>
      <p:sp>
        <p:nvSpPr>
          <p:cNvPr id="18" name="Shape 12"/>
          <p:cNvSpPr/>
          <p:nvPr/>
        </p:nvSpPr>
        <p:spPr>
          <a:xfrm>
            <a:off x="10454335" y="5001768"/>
            <a:ext cx="914400" cy="914400"/>
          </a:xfrm>
          <a:prstGeom prst="ellipse">
            <a:avLst/>
          </a:prstGeom>
          <a:solidFill>
            <a:srgbClr val="EAF5E6"/>
          </a:solidFill>
          <a:ln/>
        </p:spPr>
      </p:sp>
      <p:pic>
        <p:nvPicPr>
          <p:cNvPr id="19" name="icon deciduous_tree" descr="/tmp/claude-0/-home-claude/e50823c0-d46f-5818-8f05-9d714cd67f5c/scratchpad/assets/icons/deciduous_tree.png">    </p:cNvPr>
          <p:cNvPicPr>
            <a:picLocks noChangeAspect="1"/>
          </p:cNvPicPr>
          <p:nvPr/>
        </p:nvPicPr>
        <p:blipFill>
          <a:blip r:embed="rId4"/>
          <a:stretch>
            <a:fillRect/>
          </a:stretch>
        </p:blipFill>
        <p:spPr>
          <a:xfrm>
            <a:off x="10600639" y="5148072"/>
            <a:ext cx="621792" cy="621792"/>
          </a:xfrm>
          <a:prstGeom prst="rect">
            <a:avLst/>
          </a:prstGeom>
        </p:spPr>
      </p:pic>
      <p:sp>
        <p:nvSpPr>
          <p:cNvPr id="20" name="Text 13"/>
          <p:cNvSpPr txBox="1"/>
          <p:nvPr/>
        </p:nvSpPr>
        <p:spPr>
          <a:xfrm>
            <a:off x="4160520" y="4946904"/>
            <a:ext cx="6110935" cy="411480"/>
          </a:xfrm>
          <a:prstGeom prst="rect">
            <a:avLst/>
          </a:prstGeom>
          <a:noFill/>
          <a:ln/>
        </p:spPr>
        <p:txBody>
          <a:bodyPr wrap="square" lIns="0" tIns="0" rIns="0" bIns="0" rtlCol="0" anchor="t"/>
          <a:lstStyle/>
          <a:p>
            <a:pPr rtl="1" algn="r" indent="0" marL="0">
              <a:buNone/>
            </a:pPr>
            <a:r>
              <a:rPr lang="fa-IR" altLang="en-US" sz="1900" dirty="0">
                <a:solidFill>
                  <a:srgbClr val="14532D"/>
                </a:solidFill>
                <a:latin typeface="Vazirmatn Nobar ExtraBold" pitchFamily="34" charset="0"/>
                <a:ea typeface="Vazirmatn Nobar ExtraBold" pitchFamily="34" charset="-122"/>
                <a:cs typeface="Vazirmatn Nobar ExtraBold" pitchFamily="34" charset="-120"/>
              </a:rPr>
              <a:t>برای اقتصاد و محیط زیست</a:t>
            </a:r>
            <a:endParaRPr lang="fa-IR" sz="1900" dirty="0"/>
          </a:p>
        </p:txBody>
      </p:sp>
      <p:sp>
        <p:nvSpPr>
          <p:cNvPr id="21" name="Text 14"/>
          <p:cNvSpPr txBox="1"/>
          <p:nvPr/>
        </p:nvSpPr>
        <p:spPr>
          <a:xfrm>
            <a:off x="4160520" y="5404104"/>
            <a:ext cx="6110935" cy="68580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کاهش ضایعات با ارسال فقط وقتی محصول تازه می‌رسد، کوتاه‌شدن زنجیره و شفافیت قیمت، رونق کسب‌وکارهای محلی و تعاونی‌ها</a:t>
            </a:r>
            <a:endParaRPr lang="fa-I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۶</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تجربه‌ی کاربری محصول</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طراحی اولیه‌ی سه صفحه‌ی کلیدی اپلیکیشن خریدار</a:t>
            </a:r>
            <a:endParaRPr lang="fa-IR" sz="1600" dirty="0"/>
          </a:p>
        </p:txBody>
      </p:sp>
      <p:pic>
        <p:nvPicPr>
          <p:cNvPr id="6" name="phone_home_r.png" descr="/tmp/claude-0/-home-claude/e50823c0-d46f-5818-8f05-9d714cd67f5c/scratchpad/deck/img/phone_home_r.png">    </p:cNvPr>
          <p:cNvPicPr>
            <a:picLocks noChangeAspect="1"/>
          </p:cNvPicPr>
          <p:nvPr/>
        </p:nvPicPr>
        <p:blipFill>
          <a:blip r:embed="rId1"/>
          <a:stretch>
            <a:fillRect/>
          </a:stretch>
        </p:blipFill>
        <p:spPr>
          <a:xfrm>
            <a:off x="8406981" y="1078992"/>
            <a:ext cx="2723108" cy="4892040"/>
          </a:xfrm>
          <a:prstGeom prst="rect">
            <a:avLst/>
          </a:prstGeom>
        </p:spPr>
      </p:pic>
      <p:sp>
        <p:nvSpPr>
          <p:cNvPr id="7" name="Shape 3"/>
          <p:cNvSpPr/>
          <p:nvPr/>
        </p:nvSpPr>
        <p:spPr>
          <a:xfrm>
            <a:off x="11094415" y="5742432"/>
            <a:ext cx="384048" cy="384048"/>
          </a:xfrm>
          <a:prstGeom prst="ellipse">
            <a:avLst/>
          </a:prstGeom>
          <a:solidFill>
            <a:srgbClr val="2E7D32"/>
          </a:solidFill>
          <a:ln/>
        </p:spPr>
      </p:sp>
      <p:sp>
        <p:nvSpPr>
          <p:cNvPr id="8" name="Text 4"/>
          <p:cNvSpPr txBox="1"/>
          <p:nvPr/>
        </p:nvSpPr>
        <p:spPr>
          <a:xfrm>
            <a:off x="11094415" y="5742432"/>
            <a:ext cx="384048" cy="384048"/>
          </a:xfrm>
          <a:prstGeom prst="rect">
            <a:avLst/>
          </a:prstGeom>
          <a:noFill/>
          <a:ln/>
        </p:spPr>
        <p:txBody>
          <a:bodyPr wrap="square" lIns="0" tIns="0" rIns="0" bIns="0" rtlCol="0" anchor="ctr"/>
          <a:lstStyle/>
          <a:p>
            <a:pPr rtl="1" algn="ctr" indent="0" marL="0">
              <a:buNone/>
            </a:pPr>
            <a:r>
              <a:rPr lang="fa-IR" altLang="en-US" sz="1400" dirty="0">
                <a:solidFill>
                  <a:srgbClr val="FFFFFF"/>
                </a:solidFill>
                <a:latin typeface="Vazirmatn Nobar ExtraBold" pitchFamily="34" charset="0"/>
                <a:ea typeface="Vazirmatn Nobar ExtraBold" pitchFamily="34" charset="-122"/>
                <a:cs typeface="Vazirmatn Nobar ExtraBold" pitchFamily="34" charset="-120"/>
              </a:rPr>
              <a:t>۱</a:t>
            </a:r>
            <a:endParaRPr lang="fa-IR" sz="1400" dirty="0"/>
          </a:p>
        </p:txBody>
      </p:sp>
      <p:sp>
        <p:nvSpPr>
          <p:cNvPr id="9" name="Text 5"/>
          <p:cNvSpPr txBox="1"/>
          <p:nvPr/>
        </p:nvSpPr>
        <p:spPr>
          <a:xfrm>
            <a:off x="8168335" y="5705856"/>
            <a:ext cx="2852928" cy="457200"/>
          </a:xfrm>
          <a:prstGeom prst="rect">
            <a:avLst/>
          </a:prstGeom>
          <a:noFill/>
          <a:ln/>
        </p:spPr>
        <p:txBody>
          <a:bodyPr wrap="square" lIns="0" tIns="0" rIns="0" bIns="0" rtlCol="0" anchor="ctr"/>
          <a:lstStyle/>
          <a:p>
            <a:pPr rtl="1" algn="r" indent="0" marL="0">
              <a:buNone/>
            </a:pPr>
            <a:r>
              <a:rPr lang="fa-IR" altLang="en-US" sz="1500" dirty="0">
                <a:solidFill>
                  <a:srgbClr val="14532D"/>
                </a:solidFill>
                <a:latin typeface="Vazirmatn Nobar SemiBold" pitchFamily="34" charset="0"/>
                <a:ea typeface="Vazirmatn Nobar SemiBold" pitchFamily="34" charset="-122"/>
                <a:cs typeface="Vazirmatn Nobar SemiBold" pitchFamily="34" charset="-120"/>
              </a:rPr>
              <a:t>ویترین فصل و «نوبر شد!»</a:t>
            </a:r>
            <a:endParaRPr lang="fa-IR" sz="1500" dirty="0"/>
          </a:p>
        </p:txBody>
      </p:sp>
      <p:pic>
        <p:nvPicPr>
          <p:cNvPr id="10" name="phone_listing.png" descr="/tmp/claude-0/-home-claude/e50823c0-d46f-5818-8f05-9d714cd67f5c/scratchpad/deck/img/phone_listing.png">    </p:cNvPr>
          <p:cNvPicPr>
            <a:picLocks noChangeAspect="1"/>
          </p:cNvPicPr>
          <p:nvPr/>
        </p:nvPicPr>
        <p:blipFill>
          <a:blip r:embed="rId2"/>
          <a:stretch>
            <a:fillRect/>
          </a:stretch>
        </p:blipFill>
        <p:spPr>
          <a:xfrm>
            <a:off x="4734293" y="1078992"/>
            <a:ext cx="2723108" cy="4892040"/>
          </a:xfrm>
          <a:prstGeom prst="rect">
            <a:avLst/>
          </a:prstGeom>
        </p:spPr>
      </p:pic>
      <p:sp>
        <p:nvSpPr>
          <p:cNvPr id="11" name="Shape 6"/>
          <p:cNvSpPr/>
          <p:nvPr/>
        </p:nvSpPr>
        <p:spPr>
          <a:xfrm>
            <a:off x="7421728" y="5742432"/>
            <a:ext cx="384048" cy="384048"/>
          </a:xfrm>
          <a:prstGeom prst="ellipse">
            <a:avLst/>
          </a:prstGeom>
          <a:solidFill>
            <a:srgbClr val="2E7D32"/>
          </a:solidFill>
          <a:ln/>
        </p:spPr>
      </p:sp>
      <p:sp>
        <p:nvSpPr>
          <p:cNvPr id="12" name="Text 7"/>
          <p:cNvSpPr txBox="1"/>
          <p:nvPr/>
        </p:nvSpPr>
        <p:spPr>
          <a:xfrm>
            <a:off x="7421728" y="5742432"/>
            <a:ext cx="384048" cy="384048"/>
          </a:xfrm>
          <a:prstGeom prst="rect">
            <a:avLst/>
          </a:prstGeom>
          <a:noFill/>
          <a:ln/>
        </p:spPr>
        <p:txBody>
          <a:bodyPr wrap="square" lIns="0" tIns="0" rIns="0" bIns="0" rtlCol="0" anchor="ctr"/>
          <a:lstStyle/>
          <a:p>
            <a:pPr rtl="1" algn="ctr" indent="0" marL="0">
              <a:buNone/>
            </a:pPr>
            <a:r>
              <a:rPr lang="fa-IR" altLang="en-US" sz="1400" dirty="0">
                <a:solidFill>
                  <a:srgbClr val="FFFFFF"/>
                </a:solidFill>
                <a:latin typeface="Vazirmatn Nobar ExtraBold" pitchFamily="34" charset="0"/>
                <a:ea typeface="Vazirmatn Nobar ExtraBold" pitchFamily="34" charset="-122"/>
                <a:cs typeface="Vazirmatn Nobar ExtraBold" pitchFamily="34" charset="-120"/>
              </a:rPr>
              <a:t>۲</a:t>
            </a:r>
            <a:endParaRPr lang="fa-IR" sz="1400" dirty="0"/>
          </a:p>
        </p:txBody>
      </p:sp>
      <p:sp>
        <p:nvSpPr>
          <p:cNvPr id="13" name="Text 8"/>
          <p:cNvSpPr txBox="1"/>
          <p:nvPr/>
        </p:nvSpPr>
        <p:spPr>
          <a:xfrm>
            <a:off x="4495648" y="5705856"/>
            <a:ext cx="2852928" cy="457200"/>
          </a:xfrm>
          <a:prstGeom prst="rect">
            <a:avLst/>
          </a:prstGeom>
          <a:noFill/>
          <a:ln/>
        </p:spPr>
        <p:txBody>
          <a:bodyPr wrap="square" lIns="0" tIns="0" rIns="0" bIns="0" rtlCol="0" anchor="ctr"/>
          <a:lstStyle/>
          <a:p>
            <a:pPr rtl="1" algn="r" indent="0" marL="0">
              <a:buNone/>
            </a:pPr>
            <a:r>
              <a:rPr lang="fa-IR" altLang="en-US" sz="1500" dirty="0">
                <a:solidFill>
                  <a:srgbClr val="14532D"/>
                </a:solidFill>
                <a:latin typeface="Vazirmatn Nobar SemiBold" pitchFamily="34" charset="0"/>
                <a:ea typeface="Vazirmatn Nobar SemiBold" pitchFamily="34" charset="-122"/>
                <a:cs typeface="Vazirmatn Nobar SemiBold" pitchFamily="34" charset="-120"/>
              </a:rPr>
              <a:t>صفحه‌ی محصول با تازه‌سنج</a:t>
            </a:r>
            <a:endParaRPr lang="fa-IR" sz="1500" dirty="0"/>
          </a:p>
        </p:txBody>
      </p:sp>
      <p:pic>
        <p:nvPicPr>
          <p:cNvPr id="14" name="phone_chat_l.png" descr="/tmp/claude-0/-home-claude/e50823c0-d46f-5818-8f05-9d714cd67f5c/scratchpad/deck/img/phone_chat_l.png">    </p:cNvPr>
          <p:cNvPicPr>
            <a:picLocks noChangeAspect="1"/>
          </p:cNvPicPr>
          <p:nvPr/>
        </p:nvPicPr>
        <p:blipFill>
          <a:blip r:embed="rId3"/>
          <a:stretch>
            <a:fillRect/>
          </a:stretch>
        </p:blipFill>
        <p:spPr>
          <a:xfrm>
            <a:off x="1061606" y="1078992"/>
            <a:ext cx="2723108" cy="4892040"/>
          </a:xfrm>
          <a:prstGeom prst="rect">
            <a:avLst/>
          </a:prstGeom>
        </p:spPr>
      </p:pic>
      <p:sp>
        <p:nvSpPr>
          <p:cNvPr id="15" name="Shape 9"/>
          <p:cNvSpPr/>
          <p:nvPr/>
        </p:nvSpPr>
        <p:spPr>
          <a:xfrm>
            <a:off x="3749040" y="5742432"/>
            <a:ext cx="384048" cy="384048"/>
          </a:xfrm>
          <a:prstGeom prst="ellipse">
            <a:avLst/>
          </a:prstGeom>
          <a:solidFill>
            <a:srgbClr val="2E7D32"/>
          </a:solidFill>
          <a:ln/>
        </p:spPr>
      </p:sp>
      <p:sp>
        <p:nvSpPr>
          <p:cNvPr id="16" name="Text 10"/>
          <p:cNvSpPr txBox="1"/>
          <p:nvPr/>
        </p:nvSpPr>
        <p:spPr>
          <a:xfrm>
            <a:off x="3749040" y="5742432"/>
            <a:ext cx="384048" cy="384048"/>
          </a:xfrm>
          <a:prstGeom prst="rect">
            <a:avLst/>
          </a:prstGeom>
          <a:noFill/>
          <a:ln/>
        </p:spPr>
        <p:txBody>
          <a:bodyPr wrap="square" lIns="0" tIns="0" rIns="0" bIns="0" rtlCol="0" anchor="ctr"/>
          <a:lstStyle/>
          <a:p>
            <a:pPr rtl="1" algn="ctr" indent="0" marL="0">
              <a:buNone/>
            </a:pPr>
            <a:r>
              <a:rPr lang="fa-IR" altLang="en-US" sz="1400" dirty="0">
                <a:solidFill>
                  <a:srgbClr val="FFFFFF"/>
                </a:solidFill>
                <a:latin typeface="Vazirmatn Nobar ExtraBold" pitchFamily="34" charset="0"/>
                <a:ea typeface="Vazirmatn Nobar ExtraBold" pitchFamily="34" charset="-122"/>
                <a:cs typeface="Vazirmatn Nobar ExtraBold" pitchFamily="34" charset="-120"/>
              </a:rPr>
              <a:t>۳</a:t>
            </a:r>
            <a:endParaRPr lang="fa-IR" sz="1400" dirty="0"/>
          </a:p>
        </p:txBody>
      </p:sp>
      <p:sp>
        <p:nvSpPr>
          <p:cNvPr id="17" name="Text 11"/>
          <p:cNvSpPr txBox="1"/>
          <p:nvPr/>
        </p:nvSpPr>
        <p:spPr>
          <a:xfrm>
            <a:off x="822960" y="5705856"/>
            <a:ext cx="2852928" cy="457200"/>
          </a:xfrm>
          <a:prstGeom prst="rect">
            <a:avLst/>
          </a:prstGeom>
          <a:noFill/>
          <a:ln/>
        </p:spPr>
        <p:txBody>
          <a:bodyPr wrap="square" lIns="0" tIns="0" rIns="0" bIns="0" rtlCol="0" anchor="ctr"/>
          <a:lstStyle/>
          <a:p>
            <a:pPr rtl="1" algn="r" indent="0" marL="0">
              <a:buNone/>
            </a:pPr>
            <a:r>
              <a:rPr lang="fa-IR" altLang="en-US" sz="1500" dirty="0">
                <a:solidFill>
                  <a:srgbClr val="14532D"/>
                </a:solidFill>
                <a:latin typeface="Vazirmatn Nobar SemiBold" pitchFamily="34" charset="0"/>
                <a:ea typeface="Vazirmatn Nobar SemiBold" pitchFamily="34" charset="-122"/>
                <a:cs typeface="Vazirmatn Nobar SemiBold" pitchFamily="34" charset="-120"/>
              </a:rPr>
              <a:t>گفتگو با باغبون و پیشنهاد سبد</a:t>
            </a:r>
            <a:endParaRPr lang="fa-IR"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۷</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شش ویژگی کلیدی</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هر ویژگی پاسخ مستقیم به بخشی از مسئله است</a:t>
            </a:r>
            <a:endParaRPr lang="fa-IR" sz="1600" dirty="0"/>
          </a:p>
        </p:txBody>
      </p:sp>
      <p:sp>
        <p:nvSpPr>
          <p:cNvPr id="6" name="Shape 3"/>
          <p:cNvSpPr/>
          <p:nvPr/>
        </p:nvSpPr>
        <p:spPr>
          <a:xfrm>
            <a:off x="8127797" y="1600200"/>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pic>
        <p:nvPicPr>
          <p:cNvPr id="7" name="icon thermometer" descr="/tmp/claude-0/-home-claude/e50823c0-d46f-5818-8f05-9d714cd67f5c/scratchpad/assets/icons/thermometer.png">    </p:cNvPr>
          <p:cNvPicPr>
            <a:picLocks noChangeAspect="1"/>
          </p:cNvPicPr>
          <p:nvPr/>
        </p:nvPicPr>
        <p:blipFill>
          <a:blip r:embed="rId1"/>
          <a:stretch>
            <a:fillRect/>
          </a:stretch>
        </p:blipFill>
        <p:spPr>
          <a:xfrm>
            <a:off x="10655503" y="1828800"/>
            <a:ext cx="731520" cy="731520"/>
          </a:xfrm>
          <a:prstGeom prst="rect">
            <a:avLst/>
          </a:prstGeom>
        </p:spPr>
      </p:pic>
      <p:sp>
        <p:nvSpPr>
          <p:cNvPr id="8" name="Text 4"/>
          <p:cNvSpPr txBox="1"/>
          <p:nvPr/>
        </p:nvSpPr>
        <p:spPr>
          <a:xfrm>
            <a:off x="8383829" y="1947672"/>
            <a:ext cx="2143658" cy="502920"/>
          </a:xfrm>
          <a:prstGeom prst="rect">
            <a:avLst/>
          </a:prstGeom>
          <a:noFill/>
          <a:ln/>
        </p:spPr>
        <p:txBody>
          <a:bodyPr wrap="square" lIns="0" tIns="0" rIns="0" bIns="0" rtlCol="0" anchor="ctr"/>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تازه‌سنج</a:t>
            </a:r>
            <a:endParaRPr lang="fa-IR" sz="1800" dirty="0"/>
          </a:p>
        </p:txBody>
      </p:sp>
      <p:sp>
        <p:nvSpPr>
          <p:cNvPr id="9" name="Text 5"/>
          <p:cNvSpPr txBox="1"/>
          <p:nvPr/>
        </p:nvSpPr>
        <p:spPr>
          <a:xfrm>
            <a:off x="8383829" y="2679192"/>
            <a:ext cx="3003194" cy="96012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نشان «تازه‌چین، تازه، مناسب» بر اساس تاریخ برداشت؛ محصول کهنه خودکار از فروش خارج می‌شود.</a:t>
            </a:r>
            <a:endParaRPr lang="fa-IR" sz="1400" dirty="0"/>
          </a:p>
        </p:txBody>
      </p:sp>
      <p:sp>
        <p:nvSpPr>
          <p:cNvPr id="10" name="Shape 6"/>
          <p:cNvSpPr/>
          <p:nvPr/>
        </p:nvSpPr>
        <p:spPr>
          <a:xfrm>
            <a:off x="4338218" y="1600200"/>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pic>
        <p:nvPicPr>
          <p:cNvPr id="11" name="icon delivery_truck" descr="/tmp/claude-0/-home-claude/e50823c0-d46f-5818-8f05-9d714cd67f5c/scratchpad/assets/icons/delivery_truck.png">    </p:cNvPr>
          <p:cNvPicPr>
            <a:picLocks noChangeAspect="1"/>
          </p:cNvPicPr>
          <p:nvPr/>
        </p:nvPicPr>
        <p:blipFill>
          <a:blip r:embed="rId2"/>
          <a:stretch>
            <a:fillRect/>
          </a:stretch>
        </p:blipFill>
        <p:spPr>
          <a:xfrm>
            <a:off x="6865925" y="1828800"/>
            <a:ext cx="731520" cy="731520"/>
          </a:xfrm>
          <a:prstGeom prst="rect">
            <a:avLst/>
          </a:prstGeom>
        </p:spPr>
      </p:pic>
      <p:sp>
        <p:nvSpPr>
          <p:cNvPr id="12" name="Text 7"/>
          <p:cNvSpPr txBox="1"/>
          <p:nvPr/>
        </p:nvSpPr>
        <p:spPr>
          <a:xfrm>
            <a:off x="4594250" y="1947672"/>
            <a:ext cx="2143658" cy="502920"/>
          </a:xfrm>
          <a:prstGeom prst="rect">
            <a:avLst/>
          </a:prstGeom>
          <a:noFill/>
          <a:ln/>
        </p:spPr>
        <p:txBody>
          <a:bodyPr wrap="square" lIns="0" tIns="0" rIns="0" bIns="0" rtlCol="0" anchor="ctr"/>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ارسال هوشمند</a:t>
            </a:r>
            <a:endParaRPr lang="fa-IR" sz="1800" dirty="0"/>
          </a:p>
        </p:txBody>
      </p:sp>
      <p:sp>
        <p:nvSpPr>
          <p:cNvPr id="13" name="Text 8"/>
          <p:cNvSpPr txBox="1"/>
          <p:nvPr/>
        </p:nvSpPr>
        <p:spPr>
          <a:xfrm>
            <a:off x="4594250" y="2679192"/>
            <a:ext cx="3003194" cy="96012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هر محصول فقط به شهری عرضه می‌شود که تازه به آن برسد؛ با زمان رسیدن واقعی و احتساب تعطیلات.</a:t>
            </a:r>
            <a:endParaRPr lang="fa-IR" sz="1400" dirty="0"/>
          </a:p>
        </p:txBody>
      </p:sp>
      <p:sp>
        <p:nvSpPr>
          <p:cNvPr id="14" name="Shape 9"/>
          <p:cNvSpPr/>
          <p:nvPr/>
        </p:nvSpPr>
        <p:spPr>
          <a:xfrm>
            <a:off x="548640" y="1600200"/>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pic>
        <p:nvPicPr>
          <p:cNvPr id="15" name="icon balance_scale" descr="/tmp/claude-0/-home-claude/e50823c0-d46f-5818-8f05-9d714cd67f5c/scratchpad/assets/icons/balance_scale.png">    </p:cNvPr>
          <p:cNvPicPr>
            <a:picLocks noChangeAspect="1"/>
          </p:cNvPicPr>
          <p:nvPr/>
        </p:nvPicPr>
        <p:blipFill>
          <a:blip r:embed="rId3"/>
          <a:stretch>
            <a:fillRect/>
          </a:stretch>
        </p:blipFill>
        <p:spPr>
          <a:xfrm>
            <a:off x="3076346" y="1828800"/>
            <a:ext cx="731520" cy="731520"/>
          </a:xfrm>
          <a:prstGeom prst="rect">
            <a:avLst/>
          </a:prstGeom>
        </p:spPr>
      </p:pic>
      <p:sp>
        <p:nvSpPr>
          <p:cNvPr id="16" name="Text 10"/>
          <p:cNvSpPr txBox="1"/>
          <p:nvPr/>
        </p:nvSpPr>
        <p:spPr>
          <a:xfrm>
            <a:off x="804672" y="1947672"/>
            <a:ext cx="2143658" cy="502920"/>
          </a:xfrm>
          <a:prstGeom prst="rect">
            <a:avLst/>
          </a:prstGeom>
          <a:noFill/>
          <a:ln/>
        </p:spPr>
        <p:txBody>
          <a:bodyPr wrap="square" lIns="0" tIns="0" rIns="0" bIns="0" rtlCol="0" anchor="ctr"/>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قیمت تمام‌شده</a:t>
            </a:r>
            <a:endParaRPr lang="fa-IR" sz="1800" dirty="0"/>
          </a:p>
        </p:txBody>
      </p:sp>
      <p:sp>
        <p:nvSpPr>
          <p:cNvPr id="17" name="Text 11"/>
          <p:cNvSpPr txBox="1"/>
          <p:nvPr/>
        </p:nvSpPr>
        <p:spPr>
          <a:xfrm>
            <a:off x="804672" y="2679192"/>
            <a:ext cx="3003194" cy="96012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مقایسه‌ی قیمت هر کیلو تا درِ خانه، با هزینه‌ی ارسال، تازگی هنگام رسیدن و اعتبار غرفه.</a:t>
            </a:r>
            <a:endParaRPr lang="fa-IR" sz="1400" dirty="0"/>
          </a:p>
        </p:txBody>
      </p:sp>
      <p:sp>
        <p:nvSpPr>
          <p:cNvPr id="18" name="Shape 12"/>
          <p:cNvSpPr/>
          <p:nvPr/>
        </p:nvSpPr>
        <p:spPr>
          <a:xfrm>
            <a:off x="8127797" y="3959352"/>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pic>
        <p:nvPicPr>
          <p:cNvPr id="19" name="icon bell" descr="/tmp/claude-0/-home-claude/e50823c0-d46f-5818-8f05-9d714cd67f5c/scratchpad/assets/icons/bell.png">    </p:cNvPr>
          <p:cNvPicPr>
            <a:picLocks noChangeAspect="1"/>
          </p:cNvPicPr>
          <p:nvPr/>
        </p:nvPicPr>
        <p:blipFill>
          <a:blip r:embed="rId4"/>
          <a:stretch>
            <a:fillRect/>
          </a:stretch>
        </p:blipFill>
        <p:spPr>
          <a:xfrm>
            <a:off x="10655503" y="4187952"/>
            <a:ext cx="731520" cy="731520"/>
          </a:xfrm>
          <a:prstGeom prst="rect">
            <a:avLst/>
          </a:prstGeom>
        </p:spPr>
      </p:pic>
      <p:sp>
        <p:nvSpPr>
          <p:cNvPr id="20" name="Text 13"/>
          <p:cNvSpPr txBox="1"/>
          <p:nvPr/>
        </p:nvSpPr>
        <p:spPr>
          <a:xfrm>
            <a:off x="8383829" y="4306824"/>
            <a:ext cx="2143658" cy="502920"/>
          </a:xfrm>
          <a:prstGeom prst="rect">
            <a:avLst/>
          </a:prstGeom>
          <a:noFill/>
          <a:ln/>
        </p:spPr>
        <p:txBody>
          <a:bodyPr wrap="square" lIns="0" tIns="0" rIns="0" bIns="0" rtlCol="0" anchor="ctr"/>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«نوبر شد!»</a:t>
            </a:r>
            <a:endParaRPr lang="fa-IR" sz="1800" dirty="0"/>
          </a:p>
        </p:txBody>
      </p:sp>
      <p:sp>
        <p:nvSpPr>
          <p:cNvPr id="21" name="Text 14"/>
          <p:cNvSpPr txBox="1"/>
          <p:nvPr/>
        </p:nvSpPr>
        <p:spPr>
          <a:xfrm>
            <a:off x="8383829" y="5038344"/>
            <a:ext cx="3003194" cy="96012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اشتراک برای اولین محصول فصل هر منطقه و اعلان لحظه‌ی رسیدن؛ موتور بازاریابی فصلی.</a:t>
            </a:r>
            <a:endParaRPr lang="fa-IR" sz="1400" dirty="0"/>
          </a:p>
        </p:txBody>
      </p:sp>
      <p:sp>
        <p:nvSpPr>
          <p:cNvPr id="22" name="Shape 15"/>
          <p:cNvSpPr/>
          <p:nvPr/>
        </p:nvSpPr>
        <p:spPr>
          <a:xfrm>
            <a:off x="4338218" y="3959352"/>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pic>
        <p:nvPicPr>
          <p:cNvPr id="23" name="icon man_farmer" descr="/tmp/claude-0/-home-claude/e50823c0-d46f-5818-8f05-9d714cd67f5c/scratchpad/assets/icons/man_farmer.png">    </p:cNvPr>
          <p:cNvPicPr>
            <a:picLocks noChangeAspect="1"/>
          </p:cNvPicPr>
          <p:nvPr/>
        </p:nvPicPr>
        <p:blipFill>
          <a:blip r:embed="rId5"/>
          <a:stretch>
            <a:fillRect/>
          </a:stretch>
        </p:blipFill>
        <p:spPr>
          <a:xfrm>
            <a:off x="6865925" y="4187952"/>
            <a:ext cx="731520" cy="731520"/>
          </a:xfrm>
          <a:prstGeom prst="rect">
            <a:avLst/>
          </a:prstGeom>
        </p:spPr>
      </p:pic>
      <p:sp>
        <p:nvSpPr>
          <p:cNvPr id="24" name="Text 16"/>
          <p:cNvSpPr txBox="1"/>
          <p:nvPr/>
        </p:nvSpPr>
        <p:spPr>
          <a:xfrm>
            <a:off x="4594250" y="4306824"/>
            <a:ext cx="2143658" cy="502920"/>
          </a:xfrm>
          <a:prstGeom prst="rect">
            <a:avLst/>
          </a:prstGeom>
          <a:noFill/>
          <a:ln/>
        </p:spPr>
        <p:txBody>
          <a:bodyPr wrap="square" lIns="0" tIns="0" rIns="0" bIns="0" rtlCol="0" anchor="ctr"/>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باغ‌نامه</a:t>
            </a:r>
            <a:endParaRPr lang="fa-IR" sz="1800" dirty="0"/>
          </a:p>
        </p:txBody>
      </p:sp>
      <p:sp>
        <p:nvSpPr>
          <p:cNvPr id="25" name="Text 17"/>
          <p:cNvSpPr txBox="1"/>
          <p:nvPr/>
        </p:nvSpPr>
        <p:spPr>
          <a:xfrm>
            <a:off x="4594250" y="5038344"/>
            <a:ext cx="3003194" cy="96012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داستان هر باغ با عکس واقعی، روش کشت و سابقه؛ اعتماد از راه شفافیت.</a:t>
            </a:r>
            <a:endParaRPr lang="fa-IR" sz="1400" dirty="0"/>
          </a:p>
        </p:txBody>
      </p:sp>
      <p:sp>
        <p:nvSpPr>
          <p:cNvPr id="26" name="Shape 18"/>
          <p:cNvSpPr/>
          <p:nvPr/>
        </p:nvSpPr>
        <p:spPr>
          <a:xfrm>
            <a:off x="548640" y="3959352"/>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pic>
        <p:nvPicPr>
          <p:cNvPr id="27" name="icon studio_microphone" descr="/tmp/claude-0/-home-claude/e50823c0-d46f-5818-8f05-9d714cd67f5c/scratchpad/assets/icons/studio_microphone.png">    </p:cNvPr>
          <p:cNvPicPr>
            <a:picLocks noChangeAspect="1"/>
          </p:cNvPicPr>
          <p:nvPr/>
        </p:nvPicPr>
        <p:blipFill>
          <a:blip r:embed="rId6"/>
          <a:stretch>
            <a:fillRect/>
          </a:stretch>
        </p:blipFill>
        <p:spPr>
          <a:xfrm>
            <a:off x="3076346" y="4187952"/>
            <a:ext cx="731520" cy="731520"/>
          </a:xfrm>
          <a:prstGeom prst="rect">
            <a:avLst/>
          </a:prstGeom>
        </p:spPr>
      </p:pic>
      <p:sp>
        <p:nvSpPr>
          <p:cNvPr id="28" name="Text 19"/>
          <p:cNvSpPr txBox="1"/>
          <p:nvPr/>
        </p:nvSpPr>
        <p:spPr>
          <a:xfrm>
            <a:off x="804672" y="4306824"/>
            <a:ext cx="2143658" cy="502920"/>
          </a:xfrm>
          <a:prstGeom prst="rect">
            <a:avLst/>
          </a:prstGeom>
          <a:noFill/>
          <a:ln/>
        </p:spPr>
        <p:txBody>
          <a:bodyPr wrap="square" lIns="0" tIns="0" rIns="0" bIns="0" rtlCol="0" anchor="ctr"/>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حالت ساده و صوتی</a:t>
            </a:r>
            <a:endParaRPr lang="fa-IR" sz="1800" dirty="0"/>
          </a:p>
        </p:txBody>
      </p:sp>
      <p:sp>
        <p:nvSpPr>
          <p:cNvPr id="29" name="Text 20"/>
          <p:cNvSpPr txBox="1"/>
          <p:nvPr/>
        </p:nvSpPr>
        <p:spPr>
          <a:xfrm>
            <a:off x="804672" y="5038344"/>
            <a:ext cx="3003194" cy="960120"/>
          </a:xfrm>
          <a:prstGeom prst="rect">
            <a:avLst/>
          </a:prstGeom>
          <a:noFill/>
          <a:ln/>
        </p:spPr>
        <p:txBody>
          <a:bodyPr wrap="square" lIns="0" tIns="0" rIns="0" bIns="0" rtlCol="0" anchor="t"/>
          <a:lstStyle/>
          <a:p>
            <a:pPr rtl="1" algn="r" indent="0" marL="0">
              <a:lnSpc>
                <a:spcPct val="112000"/>
              </a:lnSpc>
              <a:buNone/>
            </a:pPr>
            <a:r>
              <a:rPr lang="fa-IR" altLang="en-US" sz="1400" dirty="0">
                <a:solidFill>
                  <a:srgbClr val="1F2A1F"/>
                </a:solidFill>
                <a:latin typeface="Vazirmatn Nobar" pitchFamily="34" charset="0"/>
                <a:ea typeface="Vazirmatn Nobar" pitchFamily="34" charset="-122"/>
                <a:cs typeface="Vazirmatn Nobar" pitchFamily="34" charset="-120"/>
              </a:rPr>
              <a:t>متن درشت، گزینه‌های کم و خرید با صدا برای سالمندان و تازه‌واردها.</a:t>
            </a:r>
            <a:endParaRPr lang="fa-IR"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۸</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باغبون: دستیار هوش مصنوعی نوبر</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برای خریدار، باغدار و تیم پشتیبانی؛ با اصول ایمنی سخت‌گیرانه</a:t>
            </a:r>
            <a:endParaRPr lang="fa-IR" sz="1600" dirty="0"/>
          </a:p>
        </p:txBody>
      </p:sp>
      <p:pic>
        <p:nvPicPr>
          <p:cNvPr id="6" name="phone seller" descr="/tmp/claude-0/-home-claude/e50823c0-d46f-5818-8f05-9d714cd67f5c/scratchpad/deck/img/phone_seller_l.png">    </p:cNvPr>
          <p:cNvPicPr>
            <a:picLocks noChangeAspect="1"/>
          </p:cNvPicPr>
          <p:nvPr/>
        </p:nvPicPr>
        <p:blipFill>
          <a:blip r:embed="rId1"/>
          <a:stretch>
            <a:fillRect/>
          </a:stretch>
        </p:blipFill>
        <p:spPr>
          <a:xfrm>
            <a:off x="457200" y="1371600"/>
            <a:ext cx="2646759" cy="4754880"/>
          </a:xfrm>
          <a:prstGeom prst="rect">
            <a:avLst/>
          </a:prstGeom>
        </p:spPr>
      </p:pic>
      <p:sp>
        <p:nvSpPr>
          <p:cNvPr id="7" name="Shape 3"/>
          <p:cNvSpPr/>
          <p:nvPr/>
        </p:nvSpPr>
        <p:spPr>
          <a:xfrm>
            <a:off x="3611880" y="1554480"/>
            <a:ext cx="8031175"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sp>
        <p:nvSpPr>
          <p:cNvPr id="8" name="Shape 4"/>
          <p:cNvSpPr/>
          <p:nvPr/>
        </p:nvSpPr>
        <p:spPr>
          <a:xfrm>
            <a:off x="10728655" y="1673352"/>
            <a:ext cx="658368" cy="658368"/>
          </a:xfrm>
          <a:prstGeom prst="ellipse">
            <a:avLst/>
          </a:prstGeom>
          <a:solidFill>
            <a:srgbClr val="EAF5E6"/>
          </a:solidFill>
          <a:ln/>
        </p:spPr>
      </p:sp>
      <p:pic>
        <p:nvPicPr>
          <p:cNvPr id="9" name="icon magnifying_glass_tilted_left" descr="/tmp/claude-0/-home-claude/e50823c0-d46f-5818-8f05-9d714cd67f5c/scratchpad/assets/icons/magnifying_glass_tilted_left.png">    </p:cNvPr>
          <p:cNvPicPr>
            <a:picLocks noChangeAspect="1"/>
          </p:cNvPicPr>
          <p:nvPr/>
        </p:nvPicPr>
        <p:blipFill>
          <a:blip r:embed="rId2"/>
          <a:stretch>
            <a:fillRect/>
          </a:stretch>
        </p:blipFill>
        <p:spPr>
          <a:xfrm>
            <a:off x="10833994" y="1778691"/>
            <a:ext cx="447690" cy="447690"/>
          </a:xfrm>
          <a:prstGeom prst="rect">
            <a:avLst/>
          </a:prstGeom>
        </p:spPr>
      </p:pic>
      <p:sp>
        <p:nvSpPr>
          <p:cNvPr id="10" name="Text 5"/>
          <p:cNvSpPr txBox="1"/>
          <p:nvPr/>
        </p:nvSpPr>
        <p:spPr>
          <a:xfrm>
            <a:off x="3840480" y="1645920"/>
            <a:ext cx="6796735" cy="365760"/>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جستجوی محاوره‌ای و صوتی</a:t>
            </a:r>
            <a:endParaRPr lang="fa-IR" sz="1600" dirty="0"/>
          </a:p>
        </p:txBody>
      </p:sp>
      <p:sp>
        <p:nvSpPr>
          <p:cNvPr id="11" name="Text 6"/>
          <p:cNvSpPr txBox="1"/>
          <p:nvPr/>
        </p:nvSpPr>
        <p:spPr>
          <a:xfrm>
            <a:off x="3840480" y="2011680"/>
            <a:ext cx="6796735" cy="365760"/>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pitchFamily="34" charset="0"/>
                <a:ea typeface="Vazirmatn Nobar" pitchFamily="34" charset="-122"/>
                <a:cs typeface="Vazirmatn Nobar" pitchFamily="34" charset="-120"/>
              </a:rPr>
              <a:t>«یه سیب ترش برای کمپوت، کیلویی زیر ۸۰ تومن، که تا کرج تازه برسه»</a:t>
            </a:r>
            <a:endParaRPr lang="fa-IR" sz="1400" dirty="0"/>
          </a:p>
        </p:txBody>
      </p:sp>
      <p:sp>
        <p:nvSpPr>
          <p:cNvPr id="12" name="Shape 7"/>
          <p:cNvSpPr/>
          <p:nvPr/>
        </p:nvSpPr>
        <p:spPr>
          <a:xfrm>
            <a:off x="3611880" y="2542032"/>
            <a:ext cx="8031175"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sp>
        <p:nvSpPr>
          <p:cNvPr id="13" name="Shape 8"/>
          <p:cNvSpPr/>
          <p:nvPr/>
        </p:nvSpPr>
        <p:spPr>
          <a:xfrm>
            <a:off x="10728655" y="2660904"/>
            <a:ext cx="658368" cy="658368"/>
          </a:xfrm>
          <a:prstGeom prst="ellipse">
            <a:avLst/>
          </a:prstGeom>
          <a:solidFill>
            <a:srgbClr val="EAF5E6"/>
          </a:solidFill>
          <a:ln/>
        </p:spPr>
      </p:sp>
      <p:pic>
        <p:nvPicPr>
          <p:cNvPr id="14" name="icon shopping_cart" descr="/tmp/claude-0/-home-claude/e50823c0-d46f-5818-8f05-9d714cd67f5c/scratchpad/assets/icons/shopping_cart.png">    </p:cNvPr>
          <p:cNvPicPr>
            <a:picLocks noChangeAspect="1"/>
          </p:cNvPicPr>
          <p:nvPr/>
        </p:nvPicPr>
        <p:blipFill>
          <a:blip r:embed="rId3"/>
          <a:stretch>
            <a:fillRect/>
          </a:stretch>
        </p:blipFill>
        <p:spPr>
          <a:xfrm>
            <a:off x="10833994" y="2766243"/>
            <a:ext cx="447690" cy="447690"/>
          </a:xfrm>
          <a:prstGeom prst="rect">
            <a:avLst/>
          </a:prstGeom>
        </p:spPr>
      </p:pic>
      <p:sp>
        <p:nvSpPr>
          <p:cNvPr id="15" name="Text 9"/>
          <p:cNvSpPr txBox="1"/>
          <p:nvPr/>
        </p:nvSpPr>
        <p:spPr>
          <a:xfrm>
            <a:off x="3840480" y="2633472"/>
            <a:ext cx="6796735" cy="365760"/>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دستیار خرید و سبد آماده</a:t>
            </a:r>
            <a:endParaRPr lang="fa-IR" sz="1600" dirty="0"/>
          </a:p>
        </p:txBody>
      </p:sp>
      <p:sp>
        <p:nvSpPr>
          <p:cNvPr id="16" name="Text 10"/>
          <p:cNvSpPr txBox="1"/>
          <p:nvPr/>
        </p:nvSpPr>
        <p:spPr>
          <a:xfrm>
            <a:off x="3840480" y="2999232"/>
            <a:ext cx="6796735" cy="365760"/>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pitchFamily="34" charset="0"/>
                <a:ea typeface="Vazirmatn Nobar" pitchFamily="34" charset="-122"/>
                <a:cs typeface="Vazirmatn Nobar" pitchFamily="34" charset="-120"/>
              </a:rPr>
              <a:t>دستور پخت، بودجه و مناسبت‌ها؛ تغییر سبد فقط با تأیید کاربر</a:t>
            </a:r>
            <a:endParaRPr lang="fa-IR" sz="1400" dirty="0"/>
          </a:p>
        </p:txBody>
      </p:sp>
      <p:sp>
        <p:nvSpPr>
          <p:cNvPr id="17" name="Shape 11"/>
          <p:cNvSpPr/>
          <p:nvPr/>
        </p:nvSpPr>
        <p:spPr>
          <a:xfrm>
            <a:off x="3611880" y="3529584"/>
            <a:ext cx="8031175"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sp>
        <p:nvSpPr>
          <p:cNvPr id="18" name="Shape 12"/>
          <p:cNvSpPr/>
          <p:nvPr/>
        </p:nvSpPr>
        <p:spPr>
          <a:xfrm>
            <a:off x="10728655" y="3648456"/>
            <a:ext cx="658368" cy="658368"/>
          </a:xfrm>
          <a:prstGeom prst="ellipse">
            <a:avLst/>
          </a:prstGeom>
          <a:solidFill>
            <a:srgbClr val="EAF5E6"/>
          </a:solidFill>
          <a:ln/>
        </p:spPr>
      </p:sp>
      <p:pic>
        <p:nvPicPr>
          <p:cNvPr id="19" name="icon balance_scale" descr="/tmp/claude-0/-home-claude/e50823c0-d46f-5818-8f05-9d714cd67f5c/scratchpad/assets/icons/balance_scale.png">    </p:cNvPr>
          <p:cNvPicPr>
            <a:picLocks noChangeAspect="1"/>
          </p:cNvPicPr>
          <p:nvPr/>
        </p:nvPicPr>
        <p:blipFill>
          <a:blip r:embed="rId4"/>
          <a:stretch>
            <a:fillRect/>
          </a:stretch>
        </p:blipFill>
        <p:spPr>
          <a:xfrm>
            <a:off x="10833994" y="3753795"/>
            <a:ext cx="447690" cy="447690"/>
          </a:xfrm>
          <a:prstGeom prst="rect">
            <a:avLst/>
          </a:prstGeom>
        </p:spPr>
      </p:pic>
      <p:sp>
        <p:nvSpPr>
          <p:cNvPr id="20" name="Text 13"/>
          <p:cNvSpPr txBox="1"/>
          <p:nvPr/>
        </p:nvSpPr>
        <p:spPr>
          <a:xfrm>
            <a:off x="3840480" y="3621024"/>
            <a:ext cx="6796735" cy="365760"/>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مقایسه‌گر و راهنمای فصل</a:t>
            </a:r>
            <a:endParaRPr lang="fa-IR" sz="1600" dirty="0"/>
          </a:p>
        </p:txBody>
      </p:sp>
      <p:sp>
        <p:nvSpPr>
          <p:cNvPr id="21" name="Text 14"/>
          <p:cNvSpPr txBox="1"/>
          <p:nvPr/>
        </p:nvSpPr>
        <p:spPr>
          <a:xfrm>
            <a:off x="3840480" y="3986784"/>
            <a:ext cx="6796735" cy="365760"/>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pitchFamily="34" charset="0"/>
                <a:ea typeface="Vazirmatn Nobar" pitchFamily="34" charset="-122"/>
                <a:cs typeface="Vazirmatn Nobar" pitchFamily="34" charset="-120"/>
              </a:rPr>
              <a:t>توضیح بهترین انتخاب بر اساس قیمت تمام‌شده، تازگی و زمان رسیدن</a:t>
            </a:r>
            <a:endParaRPr lang="fa-IR" sz="1400" dirty="0"/>
          </a:p>
        </p:txBody>
      </p:sp>
      <p:sp>
        <p:nvSpPr>
          <p:cNvPr id="22" name="Shape 15"/>
          <p:cNvSpPr/>
          <p:nvPr/>
        </p:nvSpPr>
        <p:spPr>
          <a:xfrm>
            <a:off x="3611880" y="4517136"/>
            <a:ext cx="8031175"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sp>
        <p:nvSpPr>
          <p:cNvPr id="23" name="Shape 16"/>
          <p:cNvSpPr/>
          <p:nvPr/>
        </p:nvSpPr>
        <p:spPr>
          <a:xfrm>
            <a:off x="10728655" y="4636008"/>
            <a:ext cx="658368" cy="658368"/>
          </a:xfrm>
          <a:prstGeom prst="ellipse">
            <a:avLst/>
          </a:prstGeom>
          <a:solidFill>
            <a:srgbClr val="EAF5E6"/>
          </a:solidFill>
          <a:ln/>
        </p:spPr>
      </p:sp>
      <p:pic>
        <p:nvPicPr>
          <p:cNvPr id="24" name="icon camera_with_flash" descr="/tmp/claude-0/-home-claude/e50823c0-d46f-5818-8f05-9d714cd67f5c/scratchpad/assets/icons/camera_with_flash.png">    </p:cNvPr>
          <p:cNvPicPr>
            <a:picLocks noChangeAspect="1"/>
          </p:cNvPicPr>
          <p:nvPr/>
        </p:nvPicPr>
        <p:blipFill>
          <a:blip r:embed="rId5"/>
          <a:stretch>
            <a:fillRect/>
          </a:stretch>
        </p:blipFill>
        <p:spPr>
          <a:xfrm>
            <a:off x="10833994" y="4741347"/>
            <a:ext cx="447690" cy="447690"/>
          </a:xfrm>
          <a:prstGeom prst="rect">
            <a:avLst/>
          </a:prstGeom>
        </p:spPr>
      </p:pic>
      <p:sp>
        <p:nvSpPr>
          <p:cNvPr id="25" name="Text 17"/>
          <p:cNvSpPr txBox="1"/>
          <p:nvPr/>
        </p:nvSpPr>
        <p:spPr>
          <a:xfrm>
            <a:off x="3840480" y="4608576"/>
            <a:ext cx="6796735" cy="365760"/>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دستیار غرفه‌دار و کارمندان</a:t>
            </a:r>
            <a:endParaRPr lang="fa-IR" sz="1600" dirty="0"/>
          </a:p>
        </p:txBody>
      </p:sp>
      <p:sp>
        <p:nvSpPr>
          <p:cNvPr id="26" name="Text 18"/>
          <p:cNvSpPr txBox="1"/>
          <p:nvPr/>
        </p:nvSpPr>
        <p:spPr>
          <a:xfrm>
            <a:off x="3840480" y="4974336"/>
            <a:ext cx="6796735" cy="365760"/>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pitchFamily="34" charset="0"/>
                <a:ea typeface="Vazirmatn Nobar" pitchFamily="34" charset="-122"/>
                <a:cs typeface="Vazirmatn Nobar" pitchFamily="34" charset="-120"/>
              </a:rPr>
              <a:t>پیش‌نویس محصول از عکس و پیام صوتی؛ خلاصه‌ی شکایت‌ها و نظرها</a:t>
            </a:r>
            <a:endParaRPr lang="fa-IR" sz="1400" dirty="0"/>
          </a:p>
        </p:txBody>
      </p:sp>
      <p:sp>
        <p:nvSpPr>
          <p:cNvPr id="27" name="Shape 19"/>
          <p:cNvSpPr/>
          <p:nvPr/>
        </p:nvSpPr>
        <p:spPr>
          <a:xfrm>
            <a:off x="3611880" y="5559552"/>
            <a:ext cx="8031175" cy="603504"/>
          </a:xfrm>
          <a:prstGeom prst="roundRect">
            <a:avLst>
              <a:gd name="adj" fmla="val 21212"/>
            </a:avLst>
          </a:prstGeom>
          <a:solidFill>
            <a:srgbClr val="14532D"/>
          </a:solidFill>
          <a:ln/>
          <a:effectLst>
            <a:outerShdw sx="100000" sy="100000" kx="0" ky="0" algn="bl" rotWithShape="0" blurRad="127000" dist="38100" dir="5400000">
              <a:srgbClr val="14532D">
                <a:alpha val="12000"/>
              </a:srgbClr>
            </a:outerShdw>
          </a:effectLst>
        </p:spPr>
      </p:sp>
      <p:pic>
        <p:nvPicPr>
          <p:cNvPr id="28" name="icon shield" descr="/tmp/claude-0/-home-claude/e50823c0-d46f-5818-8f05-9d714cd67f5c/scratchpad/assets/icons/shield.png">    </p:cNvPr>
          <p:cNvPicPr>
            <a:picLocks noChangeAspect="1"/>
          </p:cNvPicPr>
          <p:nvPr/>
        </p:nvPicPr>
        <p:blipFill>
          <a:blip r:embed="rId6"/>
          <a:stretch>
            <a:fillRect/>
          </a:stretch>
        </p:blipFill>
        <p:spPr>
          <a:xfrm>
            <a:off x="11002975" y="5632704"/>
            <a:ext cx="457200" cy="457200"/>
          </a:xfrm>
          <a:prstGeom prst="rect">
            <a:avLst/>
          </a:prstGeom>
        </p:spPr>
      </p:pic>
      <p:sp>
        <p:nvSpPr>
          <p:cNvPr id="29" name="Text 20"/>
          <p:cNvSpPr txBox="1"/>
          <p:nvPr/>
        </p:nvSpPr>
        <p:spPr>
          <a:xfrm>
            <a:off x="3794760" y="5559552"/>
            <a:ext cx="7071055" cy="603504"/>
          </a:xfrm>
          <a:prstGeom prst="rect">
            <a:avLst/>
          </a:prstGeom>
          <a:noFill/>
          <a:ln/>
        </p:spPr>
        <p:txBody>
          <a:bodyPr wrap="square" lIns="0" tIns="0" rIns="0" bIns="0" rtlCol="0" anchor="ctr"/>
          <a:lstStyle/>
          <a:p>
            <a:pPr rtl="1" algn="r" indent="0" marL="0">
              <a:buNone/>
            </a:pPr>
            <a:r>
              <a:rPr lang="fa-IR" altLang="en-US" sz="1300" dirty="0">
                <a:solidFill>
                  <a:srgbClr val="FFFFFF"/>
                </a:solidFill>
                <a:latin typeface="Vazirmatn Nobar ExtraBold" pitchFamily="34" charset="0"/>
                <a:ea typeface="Vazirmatn Nobar ExtraBold" pitchFamily="34" charset="-122"/>
                <a:cs typeface="Vazirmatn Nobar ExtraBold" pitchFamily="34" charset="-120"/>
              </a:rPr>
              <a:t>اصول ایمنی:  </a:t>
            </a:r>
            <a:pPr rtl="1" algn="r" indent="0" marL="0">
              <a:buNone/>
            </a:pPr>
            <a:r>
              <a:rPr lang="fa-IR" altLang="en-US" sz="1300" dirty="0">
                <a:solidFill>
                  <a:srgbClr val="FFFFFF"/>
                </a:solidFill>
                <a:latin typeface="Vazirmatn Nobar Medium" pitchFamily="34" charset="0"/>
                <a:ea typeface="Vazirmatn Nobar Medium" pitchFamily="34" charset="-122"/>
                <a:cs typeface="Vazirmatn Nobar Medium" pitchFamily="34" charset="-120"/>
              </a:rPr>
              <a:t>قیمت‌ها فقط از داده‌ی واقعی، هیچ تغییری بدون تأیید کاربر، سایت بدون هوش مصنوعی هم کار می‌کند.</a:t>
            </a:r>
            <a:endParaRPr lang="fa-IR"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۹</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اندازه‌ی بازار</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بازاری ده‌ها میلیون تنی که فروش آنلاین در آن تازه شروع به رشد کرده است</a:t>
            </a:r>
            <a:endParaRPr lang="fa-IR" sz="1600" dirty="0"/>
          </a:p>
        </p:txBody>
      </p:sp>
      <p:sp>
        <p:nvSpPr>
          <p:cNvPr id="6" name="Shape 3"/>
          <p:cNvSpPr/>
          <p:nvPr/>
        </p:nvSpPr>
        <p:spPr>
          <a:xfrm>
            <a:off x="914400" y="1600200"/>
            <a:ext cx="4297680" cy="4297680"/>
          </a:xfrm>
          <a:prstGeom prst="ellipse">
            <a:avLst/>
          </a:prstGeom>
          <a:solidFill>
            <a:srgbClr val="DDEFD6"/>
          </a:solidFill>
          <a:ln w="25400">
            <a:solidFill>
              <a:srgbClr val="FFFFFF"/>
            </a:solidFill>
            <a:prstDash val="solid"/>
          </a:ln>
        </p:spPr>
      </p:sp>
      <p:sp>
        <p:nvSpPr>
          <p:cNvPr id="7" name="Shape 4"/>
          <p:cNvSpPr/>
          <p:nvPr/>
        </p:nvSpPr>
        <p:spPr>
          <a:xfrm>
            <a:off x="1668780" y="3108960"/>
            <a:ext cx="2788920" cy="2788920"/>
          </a:xfrm>
          <a:prstGeom prst="ellipse">
            <a:avLst/>
          </a:prstGeom>
          <a:solidFill>
            <a:srgbClr val="A5D6A7"/>
          </a:solidFill>
          <a:ln w="25400">
            <a:solidFill>
              <a:srgbClr val="FFFFFF"/>
            </a:solidFill>
            <a:prstDash val="solid"/>
          </a:ln>
        </p:spPr>
      </p:sp>
      <p:sp>
        <p:nvSpPr>
          <p:cNvPr id="8" name="Shape 5"/>
          <p:cNvSpPr/>
          <p:nvPr/>
        </p:nvSpPr>
        <p:spPr>
          <a:xfrm>
            <a:off x="2377440" y="4526280"/>
            <a:ext cx="1371600" cy="1371600"/>
          </a:xfrm>
          <a:prstGeom prst="ellipse">
            <a:avLst/>
          </a:prstGeom>
          <a:solidFill>
            <a:srgbClr val="14532D"/>
          </a:solidFill>
          <a:ln w="25400">
            <a:solidFill>
              <a:srgbClr val="FFFFFF"/>
            </a:solidFill>
            <a:prstDash val="solid"/>
          </a:ln>
        </p:spPr>
      </p:sp>
      <p:sp>
        <p:nvSpPr>
          <p:cNvPr id="9" name="Text 6"/>
          <p:cNvSpPr txBox="1"/>
          <p:nvPr/>
        </p:nvSpPr>
        <p:spPr>
          <a:xfrm>
            <a:off x="1874520" y="1737360"/>
            <a:ext cx="2377440" cy="658368"/>
          </a:xfrm>
          <a:prstGeom prst="rect">
            <a:avLst/>
          </a:prstGeom>
          <a:noFill/>
          <a:ln/>
        </p:spPr>
        <p:txBody>
          <a:bodyPr wrap="square" lIns="0" tIns="0" rIns="0" bIns="0" rtlCol="0" anchor="t"/>
          <a:lstStyle/>
          <a:p>
            <a:pPr rtl="1" algn="ct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TAM</a:t>
            </a:r>
            <a:endParaRPr lang="fa-IR" sz="1500" dirty="0"/>
          </a:p>
          <a:p>
            <a:pPr rtl="1" algn="ctr" indent="0" marL="0">
              <a:buNone/>
            </a:pPr>
            <a:r>
              <a:rPr lang="fa-IR" altLang="en-US" sz="1500" dirty="0">
                <a:solidFill>
                  <a:srgbClr val="14532D"/>
                </a:solidFill>
                <a:latin typeface="Vazirmatn Nobar" pitchFamily="34" charset="0"/>
                <a:ea typeface="Vazirmatn Nobar" pitchFamily="34" charset="-122"/>
                <a:cs typeface="Vazirmatn Nobar" pitchFamily="34" charset="-120"/>
              </a:rPr>
              <a:t>۵۴ میلیون تن</a:t>
            </a:r>
            <a:endParaRPr lang="fa-IR" sz="1500" dirty="0"/>
          </a:p>
        </p:txBody>
      </p:sp>
      <p:sp>
        <p:nvSpPr>
          <p:cNvPr id="10" name="Text 7"/>
          <p:cNvSpPr txBox="1"/>
          <p:nvPr/>
        </p:nvSpPr>
        <p:spPr>
          <a:xfrm>
            <a:off x="1965960" y="3227832"/>
            <a:ext cx="2194560" cy="658368"/>
          </a:xfrm>
          <a:prstGeom prst="rect">
            <a:avLst/>
          </a:prstGeom>
          <a:noFill/>
          <a:ln/>
        </p:spPr>
        <p:txBody>
          <a:bodyPr wrap="square" lIns="0" tIns="0" rIns="0" bIns="0" rtlCol="0" anchor="t"/>
          <a:lstStyle/>
          <a:p>
            <a:pPr rtl="1" algn="ct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SAM</a:t>
            </a:r>
            <a:endParaRPr lang="fa-IR" sz="1500" dirty="0"/>
          </a:p>
          <a:p>
            <a:pPr rtl="1" algn="ctr" indent="0" marL="0">
              <a:buNone/>
            </a:pPr>
            <a:r>
              <a:rPr lang="fa-IR" altLang="en-US" sz="1500" dirty="0">
                <a:solidFill>
                  <a:srgbClr val="14532D"/>
                </a:solidFill>
                <a:latin typeface="Vazirmatn Nobar" pitchFamily="34" charset="0"/>
                <a:ea typeface="Vazirmatn Nobar" pitchFamily="34" charset="-122"/>
                <a:cs typeface="Vazirmatn Nobar" pitchFamily="34" charset="-120"/>
              </a:rPr>
              <a:t>۳ میلیون تن</a:t>
            </a:r>
            <a:endParaRPr lang="fa-IR" sz="1500" dirty="0"/>
          </a:p>
        </p:txBody>
      </p:sp>
      <p:sp>
        <p:nvSpPr>
          <p:cNvPr id="11" name="Text 8"/>
          <p:cNvSpPr txBox="1"/>
          <p:nvPr/>
        </p:nvSpPr>
        <p:spPr>
          <a:xfrm>
            <a:off x="2377440" y="4846320"/>
            <a:ext cx="1371600" cy="685800"/>
          </a:xfrm>
          <a:prstGeom prst="rect">
            <a:avLst/>
          </a:prstGeom>
          <a:noFill/>
          <a:ln/>
        </p:spPr>
        <p:txBody>
          <a:bodyPr wrap="square" lIns="0" tIns="0" rIns="0" bIns="0" rtlCol="0" anchor="t"/>
          <a:lstStyle/>
          <a:p>
            <a:pPr rtl="1" algn="ctr" indent="0" marL="0">
              <a:buNone/>
            </a:pPr>
            <a:r>
              <a:rPr lang="fa-IR" altLang="en-US" sz="1400" dirty="0">
                <a:solidFill>
                  <a:srgbClr val="FFFFFF"/>
                </a:solidFill>
                <a:latin typeface="Vazirmatn Nobar ExtraBold" pitchFamily="34" charset="0"/>
                <a:ea typeface="Vazirmatn Nobar ExtraBold" pitchFamily="34" charset="-122"/>
                <a:cs typeface="Vazirmatn Nobar ExtraBold" pitchFamily="34" charset="-120"/>
              </a:rPr>
              <a:t>SOM</a:t>
            </a:r>
            <a:endParaRPr lang="fa-IR" sz="1400" dirty="0"/>
          </a:p>
          <a:p>
            <a:pPr rtl="1" algn="ctr" indent="0" marL="0">
              <a:buNone/>
            </a:pPr>
            <a:r>
              <a:rPr lang="fa-IR" altLang="en-US" sz="1400" dirty="0">
                <a:solidFill>
                  <a:srgbClr val="FFFFFF"/>
                </a:solidFill>
                <a:latin typeface="Vazirmatn Nobar" pitchFamily="34" charset="0"/>
                <a:ea typeface="Vazirmatn Nobar" pitchFamily="34" charset="-122"/>
                <a:cs typeface="Vazirmatn Nobar" pitchFamily="34" charset="-120"/>
              </a:rPr>
              <a:t>۳٬۰۰۰ تن</a:t>
            </a:r>
            <a:endParaRPr lang="fa-IR" sz="1400" dirty="0"/>
          </a:p>
        </p:txBody>
      </p:sp>
      <p:sp>
        <p:nvSpPr>
          <p:cNvPr id="12" name="Shape 9"/>
          <p:cNvSpPr/>
          <p:nvPr/>
        </p:nvSpPr>
        <p:spPr>
          <a:xfrm>
            <a:off x="5989320" y="1572768"/>
            <a:ext cx="5653735" cy="960120"/>
          </a:xfrm>
          <a:prstGeom prst="roundRect">
            <a:avLst>
              <a:gd name="adj" fmla="val 13333"/>
            </a:avLst>
          </a:prstGeom>
          <a:solidFill>
            <a:srgbClr val="FFFFFF"/>
          </a:solidFill>
          <a:ln/>
          <a:effectLst>
            <a:outerShdw sx="100000" sy="100000" kx="0" ky="0" algn="bl" rotWithShape="0" blurRad="127000" dist="38100" dir="5400000">
              <a:srgbClr val="14532D">
                <a:alpha val="12000"/>
              </a:srgbClr>
            </a:outerShdw>
          </a:effectLst>
        </p:spPr>
      </p:sp>
      <p:sp>
        <p:nvSpPr>
          <p:cNvPr id="13" name="Text 10"/>
          <p:cNvSpPr txBox="1"/>
          <p:nvPr/>
        </p:nvSpPr>
        <p:spPr>
          <a:xfrm>
            <a:off x="6217920" y="1682496"/>
            <a:ext cx="5196535" cy="329184"/>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TAM — کل بازار</a:t>
            </a:r>
            <a:endParaRPr lang="fa-IR" sz="1500" dirty="0"/>
          </a:p>
        </p:txBody>
      </p:sp>
      <p:sp>
        <p:nvSpPr>
          <p:cNvPr id="14" name="Text 11"/>
          <p:cNvSpPr txBox="1"/>
          <p:nvPr/>
        </p:nvSpPr>
        <p:spPr>
          <a:xfrm>
            <a:off x="6217920" y="1682496"/>
            <a:ext cx="5196535" cy="329184"/>
          </a:xfrm>
          <a:prstGeom prst="rect">
            <a:avLst/>
          </a:prstGeom>
          <a:noFill/>
          <a:ln/>
        </p:spPr>
        <p:txBody>
          <a:bodyPr wrap="square" lIns="0" tIns="0" rIns="0" bIns="0" rtlCol="0" anchor="t"/>
          <a:lstStyle/>
          <a:p>
            <a:pPr rtl="1" algn="l" indent="0" marL="0">
              <a:buNone/>
            </a:pPr>
            <a:r>
              <a:rPr lang="fa-IR" altLang="en-US" sz="1500" dirty="0">
                <a:solidFill>
                  <a:srgbClr val="2E7D32"/>
                </a:solidFill>
                <a:latin typeface="Vazirmatn Nobar ExtraBold" pitchFamily="34" charset="0"/>
                <a:ea typeface="Vazirmatn Nobar ExtraBold" pitchFamily="34" charset="-122"/>
                <a:cs typeface="Vazirmatn Nobar ExtraBold" pitchFamily="34" charset="-120"/>
              </a:rPr>
              <a:t>≈ ۵۴ میلیون تن در سال</a:t>
            </a:r>
            <a:endParaRPr lang="fa-IR" sz="1500" dirty="0"/>
          </a:p>
        </p:txBody>
      </p:sp>
      <p:sp>
        <p:nvSpPr>
          <p:cNvPr id="15" name="Text 12"/>
          <p:cNvSpPr txBox="1"/>
          <p:nvPr/>
        </p:nvSpPr>
        <p:spPr>
          <a:xfrm>
            <a:off x="6217920" y="2075688"/>
            <a:ext cx="5196535" cy="365760"/>
          </a:xfrm>
          <a:prstGeom prst="rect">
            <a:avLst/>
          </a:prstGeom>
          <a:noFill/>
          <a:ln/>
        </p:spPr>
        <p:txBody>
          <a:bodyPr wrap="square" lIns="0" tIns="0" rIns="0" bIns="0" rtlCol="0" anchor="t"/>
          <a:lstStyle/>
          <a:p>
            <a:pPr rtl="1" algn="r" indent="0" marL="0">
              <a:buNone/>
            </a:pPr>
            <a:r>
              <a:rPr lang="fa-IR" altLang="en-US" sz="1350" dirty="0">
                <a:solidFill>
                  <a:srgbClr val="1F2A1F"/>
                </a:solidFill>
                <a:latin typeface="Vazirmatn Nobar" pitchFamily="34" charset="0"/>
                <a:ea typeface="Vazirmatn Nobar" pitchFamily="34" charset="-122"/>
                <a:cs typeface="Vazirmatn Nobar" pitchFamily="34" charset="-120"/>
              </a:rPr>
              <a:t>تولید محصولات باغی (۲۶ میلیون تن) + سبزی و صیفی (۲۸ میلیون تن)</a:t>
            </a:r>
            <a:endParaRPr lang="fa-IR" sz="1350" dirty="0"/>
          </a:p>
        </p:txBody>
      </p:sp>
      <p:sp>
        <p:nvSpPr>
          <p:cNvPr id="16" name="Shape 13"/>
          <p:cNvSpPr/>
          <p:nvPr/>
        </p:nvSpPr>
        <p:spPr>
          <a:xfrm>
            <a:off x="5989320" y="2642616"/>
            <a:ext cx="5653735" cy="960120"/>
          </a:xfrm>
          <a:prstGeom prst="roundRect">
            <a:avLst>
              <a:gd name="adj" fmla="val 13333"/>
            </a:avLst>
          </a:prstGeom>
          <a:solidFill>
            <a:srgbClr val="FFFFFF"/>
          </a:solidFill>
          <a:ln/>
          <a:effectLst>
            <a:outerShdw sx="100000" sy="100000" kx="0" ky="0" algn="bl" rotWithShape="0" blurRad="127000" dist="38100" dir="5400000">
              <a:srgbClr val="14532D">
                <a:alpha val="12000"/>
              </a:srgbClr>
            </a:outerShdw>
          </a:effectLst>
        </p:spPr>
      </p:sp>
      <p:sp>
        <p:nvSpPr>
          <p:cNvPr id="17" name="Text 14"/>
          <p:cNvSpPr txBox="1"/>
          <p:nvPr/>
        </p:nvSpPr>
        <p:spPr>
          <a:xfrm>
            <a:off x="6217920" y="2752344"/>
            <a:ext cx="5196535" cy="329184"/>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SAM — بازار در دسترس آنلاین</a:t>
            </a:r>
            <a:endParaRPr lang="fa-IR" sz="1500" dirty="0"/>
          </a:p>
        </p:txBody>
      </p:sp>
      <p:sp>
        <p:nvSpPr>
          <p:cNvPr id="18" name="Text 15"/>
          <p:cNvSpPr txBox="1"/>
          <p:nvPr/>
        </p:nvSpPr>
        <p:spPr>
          <a:xfrm>
            <a:off x="6217920" y="2752344"/>
            <a:ext cx="5196535" cy="329184"/>
          </a:xfrm>
          <a:prstGeom prst="rect">
            <a:avLst/>
          </a:prstGeom>
          <a:noFill/>
          <a:ln/>
        </p:spPr>
        <p:txBody>
          <a:bodyPr wrap="square" lIns="0" tIns="0" rIns="0" bIns="0" rtlCol="0" anchor="t"/>
          <a:lstStyle/>
          <a:p>
            <a:pPr rtl="1" algn="l" indent="0" marL="0">
              <a:buNone/>
            </a:pPr>
            <a:r>
              <a:rPr lang="fa-IR" altLang="en-US" sz="1500" dirty="0">
                <a:solidFill>
                  <a:srgbClr val="2E7D32"/>
                </a:solidFill>
                <a:latin typeface="Vazirmatn Nobar ExtraBold" pitchFamily="34" charset="0"/>
                <a:ea typeface="Vazirmatn Nobar ExtraBold" pitchFamily="34" charset="-122"/>
                <a:cs typeface="Vazirmatn Nobar ExtraBold" pitchFamily="34" charset="-120"/>
              </a:rPr>
              <a:t>≈ ۳ میلیون تن</a:t>
            </a:r>
            <a:endParaRPr lang="fa-IR" sz="1500" dirty="0"/>
          </a:p>
        </p:txBody>
      </p:sp>
      <p:sp>
        <p:nvSpPr>
          <p:cNvPr id="19" name="Text 16"/>
          <p:cNvSpPr txBox="1"/>
          <p:nvPr/>
        </p:nvSpPr>
        <p:spPr>
          <a:xfrm>
            <a:off x="6217920" y="3145536"/>
            <a:ext cx="5196535" cy="365760"/>
          </a:xfrm>
          <a:prstGeom prst="rect">
            <a:avLst/>
          </a:prstGeom>
          <a:noFill/>
          <a:ln/>
        </p:spPr>
        <p:txBody>
          <a:bodyPr wrap="square" lIns="0" tIns="0" rIns="0" bIns="0" rtlCol="0" anchor="t"/>
          <a:lstStyle/>
          <a:p>
            <a:pPr rtl="1" algn="r" indent="0" marL="0">
              <a:buNone/>
            </a:pPr>
            <a:r>
              <a:rPr lang="fa-IR" altLang="en-US" sz="1350" dirty="0">
                <a:solidFill>
                  <a:srgbClr val="1F2A1F"/>
                </a:solidFill>
                <a:latin typeface="Vazirmatn Nobar" pitchFamily="34" charset="0"/>
                <a:ea typeface="Vazirmatn Nobar" pitchFamily="34" charset="-122"/>
                <a:cs typeface="Vazirmatn Nobar" pitchFamily="34" charset="-120"/>
              </a:rPr>
              <a:t>سهم ۵٫۶ درصدی فروش آنلاین از خرده‌فروشی کشور × TAM</a:t>
            </a:r>
            <a:endParaRPr lang="fa-IR" sz="1350" dirty="0"/>
          </a:p>
        </p:txBody>
      </p:sp>
      <p:sp>
        <p:nvSpPr>
          <p:cNvPr id="20" name="Shape 17"/>
          <p:cNvSpPr/>
          <p:nvPr/>
        </p:nvSpPr>
        <p:spPr>
          <a:xfrm>
            <a:off x="5989320" y="3712464"/>
            <a:ext cx="5653735" cy="960120"/>
          </a:xfrm>
          <a:prstGeom prst="roundRect">
            <a:avLst>
              <a:gd name="adj" fmla="val 13333"/>
            </a:avLst>
          </a:prstGeom>
          <a:solidFill>
            <a:srgbClr val="FFFFFF"/>
          </a:solidFill>
          <a:ln/>
          <a:effectLst>
            <a:outerShdw sx="100000" sy="100000" kx="0" ky="0" algn="bl" rotWithShape="0" blurRad="127000" dist="38100" dir="5400000">
              <a:srgbClr val="14532D">
                <a:alpha val="12000"/>
              </a:srgbClr>
            </a:outerShdw>
          </a:effectLst>
        </p:spPr>
      </p:sp>
      <p:sp>
        <p:nvSpPr>
          <p:cNvPr id="21" name="Text 18"/>
          <p:cNvSpPr txBox="1"/>
          <p:nvPr/>
        </p:nvSpPr>
        <p:spPr>
          <a:xfrm>
            <a:off x="6217920" y="3822192"/>
            <a:ext cx="5196535" cy="329184"/>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SOM — هدف سال سوم</a:t>
            </a:r>
            <a:endParaRPr lang="fa-IR" sz="1500" dirty="0"/>
          </a:p>
        </p:txBody>
      </p:sp>
      <p:sp>
        <p:nvSpPr>
          <p:cNvPr id="22" name="Text 19"/>
          <p:cNvSpPr txBox="1"/>
          <p:nvPr/>
        </p:nvSpPr>
        <p:spPr>
          <a:xfrm>
            <a:off x="6217920" y="3822192"/>
            <a:ext cx="5196535" cy="329184"/>
          </a:xfrm>
          <a:prstGeom prst="rect">
            <a:avLst/>
          </a:prstGeom>
          <a:noFill/>
          <a:ln/>
        </p:spPr>
        <p:txBody>
          <a:bodyPr wrap="square" lIns="0" tIns="0" rIns="0" bIns="0" rtlCol="0" anchor="t"/>
          <a:lstStyle/>
          <a:p>
            <a:pPr rtl="1" algn="l" indent="0" marL="0">
              <a:buNone/>
            </a:pPr>
            <a:r>
              <a:rPr lang="fa-IR" altLang="en-US" sz="1500" dirty="0">
                <a:solidFill>
                  <a:srgbClr val="2E7D32"/>
                </a:solidFill>
                <a:latin typeface="Vazirmatn Nobar ExtraBold" pitchFamily="34" charset="0"/>
                <a:ea typeface="Vazirmatn Nobar ExtraBold" pitchFamily="34" charset="-122"/>
                <a:cs typeface="Vazirmatn Nobar ExtraBold" pitchFamily="34" charset="-120"/>
              </a:rPr>
              <a:t>۳٬۰۰۰ تن</a:t>
            </a:r>
            <a:endParaRPr lang="fa-IR" sz="1500" dirty="0"/>
          </a:p>
        </p:txBody>
      </p:sp>
      <p:sp>
        <p:nvSpPr>
          <p:cNvPr id="23" name="Text 20"/>
          <p:cNvSpPr txBox="1"/>
          <p:nvPr/>
        </p:nvSpPr>
        <p:spPr>
          <a:xfrm>
            <a:off x="6217920" y="4215384"/>
            <a:ext cx="5196535" cy="365760"/>
          </a:xfrm>
          <a:prstGeom prst="rect">
            <a:avLst/>
          </a:prstGeom>
          <a:noFill/>
          <a:ln/>
        </p:spPr>
        <p:txBody>
          <a:bodyPr wrap="square" lIns="0" tIns="0" rIns="0" bIns="0" rtlCol="0" anchor="t"/>
          <a:lstStyle/>
          <a:p>
            <a:pPr rtl="1" algn="r" indent="0" marL="0">
              <a:buNone/>
            </a:pPr>
            <a:r>
              <a:rPr lang="fa-IR" altLang="en-US" sz="1350" dirty="0">
                <a:solidFill>
                  <a:srgbClr val="1F2A1F"/>
                </a:solidFill>
                <a:latin typeface="Vazirmatn Nobar" pitchFamily="34" charset="0"/>
                <a:ea typeface="Vazirmatn Nobar" pitchFamily="34" charset="-122"/>
                <a:cs typeface="Vazirmatn Nobar" pitchFamily="34" charset="-120"/>
              </a:rPr>
              <a:t>۰٫۱٪ از SAM؛ ≈ ۲۴۰ میلیارد تومان فروش با فرض ۸۰ هزار تومان برای هر کیلو</a:t>
            </a:r>
            <a:endParaRPr lang="fa-IR" sz="1350" dirty="0"/>
          </a:p>
        </p:txBody>
      </p:sp>
      <p:sp>
        <p:nvSpPr>
          <p:cNvPr id="24" name="Shape 21"/>
          <p:cNvSpPr/>
          <p:nvPr/>
        </p:nvSpPr>
        <p:spPr>
          <a:xfrm>
            <a:off x="8907628" y="4828032"/>
            <a:ext cx="2735428" cy="1069848"/>
          </a:xfrm>
          <a:prstGeom prst="roundRect">
            <a:avLst>
              <a:gd name="adj" fmla="val 11966"/>
            </a:avLst>
          </a:prstGeom>
          <a:solidFill>
            <a:srgbClr val="14532D"/>
          </a:solidFill>
          <a:ln/>
          <a:effectLst>
            <a:outerShdw sx="100000" sy="100000" kx="0" ky="0" algn="bl" rotWithShape="0" blurRad="127000" dist="38100" dir="5400000">
              <a:srgbClr val="14532D">
                <a:alpha val="12000"/>
              </a:srgbClr>
            </a:outerShdw>
          </a:effectLst>
        </p:spPr>
      </p:sp>
      <p:sp>
        <p:nvSpPr>
          <p:cNvPr id="25" name="Text 22"/>
          <p:cNvSpPr txBox="1"/>
          <p:nvPr/>
        </p:nvSpPr>
        <p:spPr>
          <a:xfrm>
            <a:off x="10618927" y="4828032"/>
            <a:ext cx="914400" cy="1069848"/>
          </a:xfrm>
          <a:prstGeom prst="rect">
            <a:avLst/>
          </a:prstGeom>
          <a:noFill/>
          <a:ln/>
        </p:spPr>
        <p:txBody>
          <a:bodyPr wrap="square" lIns="0" tIns="0" rIns="0" bIns="0" rtlCol="0" anchor="ctr"/>
          <a:lstStyle/>
          <a:p>
            <a:pPr rtl="1" algn="ctr" indent="0" marL="0">
              <a:buNone/>
            </a:pPr>
            <a:r>
              <a:rPr lang="fa-IR" altLang="en-US" sz="2400" dirty="0">
                <a:solidFill>
                  <a:srgbClr val="FFFFFF"/>
                </a:solidFill>
                <a:latin typeface="Vazirmatn Nobar Black" pitchFamily="34" charset="0"/>
                <a:ea typeface="Vazirmatn Nobar Black" pitchFamily="34" charset="-122"/>
                <a:cs typeface="Vazirmatn Nobar Black" pitchFamily="34" charset="-120"/>
              </a:rPr>
              <a:t>۳۰٪</a:t>
            </a:r>
            <a:endParaRPr lang="fa-IR" sz="2400" dirty="0"/>
          </a:p>
        </p:txBody>
      </p:sp>
      <p:sp>
        <p:nvSpPr>
          <p:cNvPr id="26" name="Text 23"/>
          <p:cNvSpPr txBox="1"/>
          <p:nvPr/>
        </p:nvSpPr>
        <p:spPr>
          <a:xfrm>
            <a:off x="9072220" y="4919472"/>
            <a:ext cx="1500988" cy="886968"/>
          </a:xfrm>
          <a:prstGeom prst="rect">
            <a:avLst/>
          </a:prstGeom>
          <a:noFill/>
          <a:ln/>
        </p:spPr>
        <p:txBody>
          <a:bodyPr wrap="square" lIns="0" tIns="0" rIns="0" bIns="0" rtlCol="0" anchor="ctr"/>
          <a:lstStyle/>
          <a:p>
            <a:pPr rtl="1" algn="r" indent="0" marL="0">
              <a:buNone/>
            </a:pPr>
            <a:r>
              <a:rPr lang="fa-IR" altLang="en-US" sz="1300" dirty="0">
                <a:solidFill>
                  <a:srgbClr val="FFFFFF"/>
                </a:solidFill>
                <a:latin typeface="Vazirmatn Nobar Medium" pitchFamily="34" charset="0"/>
                <a:ea typeface="Vazirmatn Nobar Medium" pitchFamily="34" charset="-122"/>
                <a:cs typeface="Vazirmatn Nobar Medium" pitchFamily="34" charset="-120"/>
              </a:rPr>
              <a:t>سیب کشور در آذربایجان غربی؛ استان پایلوت</a:t>
            </a:r>
            <a:endParaRPr lang="fa-IR" sz="1300" dirty="0"/>
          </a:p>
        </p:txBody>
      </p:sp>
      <p:sp>
        <p:nvSpPr>
          <p:cNvPr id="27" name="Shape 24"/>
          <p:cNvSpPr/>
          <p:nvPr/>
        </p:nvSpPr>
        <p:spPr>
          <a:xfrm>
            <a:off x="5989320" y="4828032"/>
            <a:ext cx="2735428" cy="1069848"/>
          </a:xfrm>
          <a:prstGeom prst="roundRect">
            <a:avLst>
              <a:gd name="adj" fmla="val 11966"/>
            </a:avLst>
          </a:prstGeom>
          <a:solidFill>
            <a:srgbClr val="FFFFFF"/>
          </a:solidFill>
          <a:ln/>
          <a:effectLst>
            <a:outerShdw sx="100000" sy="100000" kx="0" ky="0" algn="bl" rotWithShape="0" blurRad="127000" dist="38100" dir="5400000">
              <a:srgbClr val="14532D">
                <a:alpha val="12000"/>
              </a:srgbClr>
            </a:outerShdw>
          </a:effectLst>
        </p:spPr>
      </p:sp>
      <p:sp>
        <p:nvSpPr>
          <p:cNvPr id="28" name="Text 25"/>
          <p:cNvSpPr txBox="1"/>
          <p:nvPr/>
        </p:nvSpPr>
        <p:spPr>
          <a:xfrm>
            <a:off x="7700620" y="4828032"/>
            <a:ext cx="914400" cy="1069848"/>
          </a:xfrm>
          <a:prstGeom prst="rect">
            <a:avLst/>
          </a:prstGeom>
          <a:noFill/>
          <a:ln/>
        </p:spPr>
        <p:txBody>
          <a:bodyPr wrap="square" lIns="0" tIns="0" rIns="0" bIns="0" rtlCol="0" anchor="ctr"/>
          <a:lstStyle/>
          <a:p>
            <a:pPr rtl="1" algn="ctr" indent="0" marL="0">
              <a:buNone/>
            </a:pPr>
            <a:r>
              <a:rPr lang="fa-IR" altLang="en-US" sz="2400" dirty="0">
                <a:solidFill>
                  <a:srgbClr val="2E7D32"/>
                </a:solidFill>
                <a:latin typeface="Vazirmatn Nobar Black" pitchFamily="34" charset="0"/>
                <a:ea typeface="Vazirmatn Nobar Black" pitchFamily="34" charset="-122"/>
                <a:cs typeface="Vazirmatn Nobar Black" pitchFamily="34" charset="-120"/>
              </a:rPr>
              <a:t>۱٫۵٪</a:t>
            </a:r>
            <a:endParaRPr lang="fa-IR" sz="2400" dirty="0"/>
          </a:p>
        </p:txBody>
      </p:sp>
      <p:sp>
        <p:nvSpPr>
          <p:cNvPr id="29" name="Text 26"/>
          <p:cNvSpPr txBox="1"/>
          <p:nvPr/>
        </p:nvSpPr>
        <p:spPr>
          <a:xfrm>
            <a:off x="6153912" y="4919472"/>
            <a:ext cx="1500988" cy="886968"/>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Medium" pitchFamily="34" charset="0"/>
                <a:ea typeface="Vazirmatn Nobar Medium" pitchFamily="34" charset="-122"/>
                <a:cs typeface="Vazirmatn Nobar Medium" pitchFamily="34" charset="-120"/>
              </a:rPr>
              <a:t>سهم اسنپ‌مارکت از بازار مواد غذایی؛ فضای رشد آنلاین</a:t>
            </a:r>
            <a:endParaRPr lang="fa-IR" sz="1300" dirty="0"/>
          </a:p>
        </p:txBody>
      </p:sp>
      <p:sp>
        <p:nvSpPr>
          <p:cNvPr id="30" name="Text 27"/>
          <p:cNvSpPr txBox="1"/>
          <p:nvPr/>
        </p:nvSpPr>
        <p:spPr>
          <a:xfrm>
            <a:off x="548640" y="6016752"/>
            <a:ext cx="5120640" cy="274320"/>
          </a:xfrm>
          <a:prstGeom prst="rect">
            <a:avLst/>
          </a:prstGeom>
          <a:noFill/>
          <a:ln/>
        </p:spPr>
        <p:txBody>
          <a:bodyPr wrap="square" lIns="0" tIns="0" rIns="0" bIns="0" rtlCol="0" anchor="t"/>
          <a:lstStyle/>
          <a:p>
            <a:pPr rtl="1" algn="ctr" indent="0" marL="0">
              <a:buNone/>
            </a:pPr>
            <a:r>
              <a:rPr lang="fa-IR" altLang="en-US" sz="1000" dirty="0">
                <a:solidFill>
                  <a:srgbClr val="5F6B5F"/>
                </a:solidFill>
                <a:latin typeface="Vazirmatn Nobar" pitchFamily="34" charset="0"/>
                <a:ea typeface="Vazirmatn Nobar" pitchFamily="34" charset="-122"/>
                <a:cs typeface="Vazirmatn Nobar" pitchFamily="34" charset="-120"/>
              </a:rPr>
              <a:t>TAM از آمار رسمی (سال‌های متفاوت)؛ SAM و SOM برآورد تیم نوبر است.</a:t>
            </a:r>
            <a:endParaRPr lang="fa-IR"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۱۰</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مقایسه با رقبا</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رقبا در سرعت تحویل درون‌شهری قوی‌اند؛ نوبر روی مبدأ، تازگی و قیمت منصفانه تمرکز دارد</a:t>
            </a:r>
            <a:endParaRPr lang="fa-IR"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517904"/>
          <a:ext cx="11094415" cy="914400"/>
        </p:xfrm>
        <a:graphic>
          <a:graphicData uri="http://schemas.openxmlformats.org/drawingml/2006/table">
            <a:tbl>
              <a:tblPr/>
              <a:tblGrid>
                <a:gridCol w="1417320"/>
                <a:gridCol w="1417320"/>
                <a:gridCol w="1417320"/>
                <a:gridCol w="1417320"/>
                <a:gridCol w="1417320"/>
                <a:gridCol w="1463040"/>
                <a:gridCol w="2542032"/>
              </a:tblGrid>
              <a:tr h="457200">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میادین تره‌بار</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اکالا</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دیجی‌کالا</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اسنپ‌مارکت</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باسلام</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نوبر</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43A047"/>
                    </a:solidFill>
                  </a:tcPr>
                </a:tc>
                <a:tc>
                  <a:txBody>
                    <a:bodyPr/>
                    <a:lstStyle/>
                    <a:p>
                      <a:pPr rtl="1" algn="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ویژگی</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r>
              <a:tr h="621792">
                <a:tc>
                  <a:txBody>
                    <a:bodyPr/>
                    <a:lstStyle/>
                    <a:p>
                      <a:pPr rtl="1" algn="ctr" indent="0" marL="0">
                        <a:buNone/>
                      </a:pPr>
                      <a:r>
                        <a:rPr lang="en-US" sz="1200" dirty="0">
                          <a:solidFill>
                            <a:srgbClr val="1F2A1F"/>
                          </a:solidFill>
                          <a:latin typeface="Vazirmatn Nobar Medium" pitchFamily="34" charset="0"/>
                          <a:ea typeface="Vazirmatn Nobar Medium" pitchFamily="34" charset="-122"/>
                          <a:cs typeface="Vazirmatn Nobar Medium" pitchFamily="34" charset="-120"/>
                        </a:rPr>
                        <a:t>فروش آنلاین میادین شهرداری</a:t>
                      </a:r>
                      <a:endParaRPr lang="en-US" sz="12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200" dirty="0">
                          <a:solidFill>
                            <a:srgbClr val="1F2A1F"/>
                          </a:solidFill>
                          <a:latin typeface="Vazirmatn Nobar Medium" pitchFamily="34" charset="0"/>
                          <a:ea typeface="Vazirmatn Nobar Medium" pitchFamily="34" charset="-122"/>
                          <a:cs typeface="Vazirmatn Nobar Medium" pitchFamily="34" charset="-120"/>
                        </a:rPr>
                        <a:t>سفارش از سوپرمارکت محله</a:t>
                      </a:r>
                      <a:endParaRPr lang="en-US" sz="12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200" dirty="0">
                          <a:solidFill>
                            <a:srgbClr val="1F2A1F"/>
                          </a:solidFill>
                          <a:latin typeface="Vazirmatn Nobar Medium" pitchFamily="34" charset="0"/>
                          <a:ea typeface="Vazirmatn Nobar Medium" pitchFamily="34" charset="-122"/>
                          <a:cs typeface="Vazirmatn Nobar Medium" pitchFamily="34" charset="-120"/>
                        </a:rPr>
                        <a:t>سوپرمارکت آنلاین و فوری</a:t>
                      </a:r>
                      <a:endParaRPr lang="en-US" sz="12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200" dirty="0">
                          <a:solidFill>
                            <a:srgbClr val="1F2A1F"/>
                          </a:solidFill>
                          <a:latin typeface="Vazirmatn Nobar Medium" pitchFamily="34" charset="0"/>
                          <a:ea typeface="Vazirmatn Nobar Medium" pitchFamily="34" charset="-122"/>
                          <a:cs typeface="Vazirmatn Nobar Medium" pitchFamily="34" charset="-120"/>
                        </a:rPr>
                        <a:t>سوپرمارکت آنلاین فوری</a:t>
                      </a:r>
                      <a:endParaRPr lang="en-US" sz="12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200" dirty="0">
                          <a:solidFill>
                            <a:srgbClr val="1F2A1F"/>
                          </a:solidFill>
                          <a:latin typeface="Vazirmatn Nobar Medium" pitchFamily="34" charset="0"/>
                          <a:ea typeface="Vazirmatn Nobar Medium" pitchFamily="34" charset="-122"/>
                          <a:cs typeface="Vazirmatn Nobar Medium" pitchFamily="34" charset="-120"/>
                        </a:rPr>
                        <a:t>بازار عمومی محصولات محلی</a:t>
                      </a:r>
                      <a:endParaRPr lang="en-US" sz="12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200" dirty="0">
                          <a:solidFill>
                            <a:srgbClr val="14532D"/>
                          </a:solidFill>
                          <a:latin typeface="Vazirmatn Nobar Medium" pitchFamily="34" charset="0"/>
                          <a:ea typeface="Vazirmatn Nobar Medium" pitchFamily="34" charset="-122"/>
                          <a:cs typeface="Vazirmatn Nobar Medium" pitchFamily="34" charset="-120"/>
                        </a:rPr>
                        <a:t>بازار تخصصی تازه‌کالا</a:t>
                      </a:r>
                      <a:endParaRPr lang="en-US" sz="12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مدل کسب‌وکار</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r>
              <a:tr h="457200">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خرید مستقیم از باغدار</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r>
              <a:tr h="457200">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خرید تازه‌کالا از شهرهای دیگر</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r>
              <a:tr h="457200">
                <a:tc>
                  <a:txBody>
                    <a:bodyPr/>
                    <a:lstStyle/>
                    <a:p>
                      <a:pPr rtl="1" algn="ctr" indent="0" marL="0">
                        <a:buNone/>
                      </a:pPr>
                      <a:r>
                        <a:rPr lang="en-US" sz="1800" dirty="0">
                          <a:solidFill>
                            <a:srgbClr val="D49A00"/>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D49A00"/>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تحویل فوری درون‌شهری</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r>
              <a:tr h="457200">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تاریخ برداشت و تازه‌سنج</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r>
              <a:tr h="457200">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کنترل ارسال بر اساس ماندگاری</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r>
              <a:tr h="457200">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800" dirty="0">
                          <a:solidFill>
                            <a:srgbClr val="2E7D32"/>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مقایسه‌ی قیمت تمام‌شده</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r>
              <a:tr h="457200">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800" dirty="0">
                          <a:solidFill>
                            <a:srgbClr val="A8B3A5"/>
                          </a:solidFill>
                          <a:latin typeface="Vazirmatn Nobar" pitchFamily="34" charset="0"/>
                          <a:ea typeface="Vazirmatn Nobar" pitchFamily="34" charset="-122"/>
                          <a:cs typeface="Vazirmatn Nobar" pitchFamily="34" charset="-120"/>
                        </a:rPr>
                        <a:t>○</a:t>
                      </a:r>
                      <a:endParaRPr lang="en-US" sz="18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2E7D32"/>
                          </a:solidFill>
                          <a:latin typeface="Vazirmatn Nobar" pitchFamily="34" charset="0"/>
                          <a:ea typeface="Vazirmatn Nobar" pitchFamily="34" charset="-122"/>
                          <a:cs typeface="Vazirmatn Nobar" pitchFamily="34" charset="-120"/>
                        </a:rPr>
                        <a:t>● «دیا»</a:t>
                      </a:r>
                      <a:endParaRPr lang="en-US" sz="12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D49A00"/>
                          </a:solidFill>
                          <a:latin typeface="Vazirmatn Nobar" pitchFamily="34" charset="0"/>
                          <a:ea typeface="Vazirmatn Nobar" pitchFamily="34" charset="-122"/>
                          <a:cs typeface="Vazirmatn Nobar" pitchFamily="34" charset="-120"/>
                        </a:rPr>
                        <a:t>◐ در گروه اسنپ</a:t>
                      </a:r>
                      <a:endParaRPr lang="en-US" sz="12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D49A00"/>
                          </a:solidFill>
                          <a:latin typeface="Vazirmatn Nobar" pitchFamily="34" charset="0"/>
                          <a:ea typeface="Vazirmatn Nobar" pitchFamily="34" charset="-122"/>
                          <a:cs typeface="Vazirmatn Nobar" pitchFamily="34" charset="-120"/>
                        </a:rPr>
                        <a:t>◐ جستجوی تصویری</a:t>
                      </a:r>
                      <a:endParaRPr lang="en-US" sz="12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200" dirty="0">
                          <a:solidFill>
                            <a:srgbClr val="2E7D32"/>
                          </a:solidFill>
                          <a:latin typeface="Vazirmatn Nobar" pitchFamily="34" charset="0"/>
                          <a:ea typeface="Vazirmatn Nobar" pitchFamily="34" charset="-122"/>
                          <a:cs typeface="Vazirmatn Nobar" pitchFamily="34" charset="-120"/>
                        </a:rPr>
                        <a:t>● تخصصی</a:t>
                      </a:r>
                      <a:endParaRPr lang="en-US" sz="1200" dirty="0">
                        <a:latin typeface="Vazirmatn Nobar" charset="0"/>
                        <a:ea typeface="Vazirmatn Nobar" charset="0"/>
                        <a:cs typeface="Vazirmatn Nobar"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E3F4DA"/>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دستیار هوش مصنوعی خرید</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897880"/>
            <a:ext cx="11094415" cy="292608"/>
          </a:xfrm>
          <a:prstGeom prst="rect">
            <a:avLst/>
          </a:prstGeom>
          <a:noFill/>
          <a:ln/>
        </p:spPr>
        <p:txBody>
          <a:bodyPr wrap="square" lIns="0" tIns="0" rIns="0" bIns="0" rtlCol="0" anchor="t"/>
          <a:lstStyle/>
          <a:p>
            <a:pPr rtl="1" algn="r" indent="0" marL="0">
              <a:buNone/>
            </a:pPr>
            <a:r>
              <a:rPr lang="fa-IR" altLang="en-US" sz="1100" dirty="0">
                <a:solidFill>
                  <a:srgbClr val="2E7D32"/>
                </a:solidFill>
                <a:latin typeface="Vazirmatn Nobar" pitchFamily="34" charset="0"/>
                <a:ea typeface="Vazirmatn Nobar" pitchFamily="34" charset="-122"/>
                <a:cs typeface="Vazirmatn Nobar" pitchFamily="34" charset="-120"/>
              </a:rPr>
              <a:t>●</a:t>
            </a:r>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 دارد     </a:t>
            </a:r>
            <a:pPr rtl="1" algn="r" indent="0" marL="0">
              <a:buNone/>
            </a:pPr>
            <a:r>
              <a:rPr lang="fa-IR" altLang="en-US" sz="1100" dirty="0">
                <a:solidFill>
                  <a:srgbClr val="D49A00"/>
                </a:solidFill>
                <a:latin typeface="Vazirmatn Nobar" pitchFamily="34" charset="0"/>
                <a:ea typeface="Vazirmatn Nobar" pitchFamily="34" charset="-122"/>
                <a:cs typeface="Vazirmatn Nobar" pitchFamily="34" charset="-120"/>
              </a:rPr>
              <a:t>◐</a:t>
            </a:r>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 تا حدی     </a:t>
            </a:r>
            <a:pPr rtl="1" algn="r" indent="0" marL="0">
              <a:buNone/>
            </a:pPr>
            <a:r>
              <a:rPr lang="fa-IR" altLang="en-US" sz="1100" dirty="0">
                <a:solidFill>
                  <a:srgbClr val="A8B3A5"/>
                </a:solidFill>
                <a:latin typeface="Vazirmatn Nobar" pitchFamily="34" charset="0"/>
                <a:ea typeface="Vazirmatn Nobar" pitchFamily="34" charset="-122"/>
                <a:cs typeface="Vazirmatn Nobar" pitchFamily="34" charset="-120"/>
              </a:rPr>
              <a:t>○</a:t>
            </a:r>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 ندارد یا مشاهده نشد  —  بر اساس بررسی خدمات عمومی هر سرویس تا آبان ۱۴۰۵</a:t>
            </a:r>
            <a:endParaRPr lang="fa-IR"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۱۱</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جایگاه رقابتی و مزیت پایدار</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نوبر تنها بازیگرِ هم «مستقیم از مبدأ» و هم «تخصصی تازه‌کالا» است</a:t>
            </a:r>
            <a:endParaRPr lang="fa-IR" sz="1600" dirty="0"/>
          </a:p>
        </p:txBody>
      </p:sp>
      <p:sp>
        <p:nvSpPr>
          <p:cNvPr id="6" name="Shape 3"/>
          <p:cNvSpPr/>
          <p:nvPr/>
        </p:nvSpPr>
        <p:spPr>
          <a:xfrm>
            <a:off x="548640" y="1572768"/>
            <a:ext cx="5486400" cy="4526280"/>
          </a:xfrm>
          <a:prstGeom prst="roundRect">
            <a:avLst>
              <a:gd name="adj" fmla="val 3232"/>
            </a:avLst>
          </a:prstGeom>
          <a:solidFill>
            <a:srgbClr val="FFFFFF"/>
          </a:solidFill>
          <a:ln/>
          <a:effectLst>
            <a:outerShdw sx="100000" sy="100000" kx="0" ky="0" algn="bl" rotWithShape="0" blurRad="127000" dist="38100" dir="5400000">
              <a:srgbClr val="14532D">
                <a:alpha val="12000"/>
              </a:srgbClr>
            </a:outerShdw>
          </a:effectLst>
        </p:spPr>
      </p:sp>
      <p:sp>
        <p:nvSpPr>
          <p:cNvPr id="7" name="Shape 4"/>
          <p:cNvSpPr/>
          <p:nvPr/>
        </p:nvSpPr>
        <p:spPr>
          <a:xfrm>
            <a:off x="868680" y="3835908"/>
            <a:ext cx="4846320" cy="0"/>
          </a:xfrm>
          <a:prstGeom prst="line">
            <a:avLst/>
          </a:prstGeom>
          <a:noFill/>
          <a:ln w="15875">
            <a:solidFill>
              <a:srgbClr val="A8B3A5"/>
            </a:solidFill>
            <a:prstDash val="solid"/>
            <a:headEnd type="triangle"/>
            <a:tailEnd type="triangle"/>
          </a:ln>
        </p:spPr>
      </p:sp>
      <p:sp>
        <p:nvSpPr>
          <p:cNvPr id="8" name="Shape 5"/>
          <p:cNvSpPr/>
          <p:nvPr/>
        </p:nvSpPr>
        <p:spPr>
          <a:xfrm>
            <a:off x="3291840" y="2075688"/>
            <a:ext cx="0" cy="3520440"/>
          </a:xfrm>
          <a:prstGeom prst="line">
            <a:avLst/>
          </a:prstGeom>
          <a:noFill/>
          <a:ln w="15875">
            <a:solidFill>
              <a:srgbClr val="A8B3A5"/>
            </a:solidFill>
            <a:prstDash val="solid"/>
            <a:headEnd type="triangle"/>
            <a:tailEnd type="triangle"/>
          </a:ln>
        </p:spPr>
      </p:sp>
      <p:sp>
        <p:nvSpPr>
          <p:cNvPr id="9" name="Text 6"/>
          <p:cNvSpPr txBox="1"/>
          <p:nvPr/>
        </p:nvSpPr>
        <p:spPr>
          <a:xfrm>
            <a:off x="2103120" y="1682496"/>
            <a:ext cx="2377440" cy="329184"/>
          </a:xfrm>
          <a:prstGeom prst="rect">
            <a:avLst/>
          </a:prstGeom>
          <a:noFill/>
          <a:ln/>
        </p:spPr>
        <p:txBody>
          <a:bodyPr wrap="square" lIns="0" tIns="0" rIns="0" bIns="0" rtlCol="0" anchor="t"/>
          <a:lstStyle/>
          <a:p>
            <a:pPr rtl="1" algn="ctr" indent="0" marL="0">
              <a:buNone/>
            </a:pPr>
            <a:r>
              <a:rPr lang="fa-IR" altLang="en-US" sz="1300" dirty="0">
                <a:solidFill>
                  <a:srgbClr val="5F6B5F"/>
                </a:solidFill>
                <a:latin typeface="Vazirmatn Nobar SemiBold" pitchFamily="34" charset="0"/>
                <a:ea typeface="Vazirmatn Nobar SemiBold" pitchFamily="34" charset="-122"/>
                <a:cs typeface="Vazirmatn Nobar SemiBold" pitchFamily="34" charset="-120"/>
              </a:rPr>
              <a:t>تخصصی تازه‌کالا</a:t>
            </a:r>
            <a:endParaRPr lang="fa-IR" sz="1300" dirty="0"/>
          </a:p>
        </p:txBody>
      </p:sp>
      <p:sp>
        <p:nvSpPr>
          <p:cNvPr id="10" name="Text 7"/>
          <p:cNvSpPr txBox="1"/>
          <p:nvPr/>
        </p:nvSpPr>
        <p:spPr>
          <a:xfrm>
            <a:off x="2103120" y="5660136"/>
            <a:ext cx="2377440" cy="329184"/>
          </a:xfrm>
          <a:prstGeom prst="rect">
            <a:avLst/>
          </a:prstGeom>
          <a:noFill/>
          <a:ln/>
        </p:spPr>
        <p:txBody>
          <a:bodyPr wrap="square" lIns="0" tIns="0" rIns="0" bIns="0" rtlCol="0" anchor="t"/>
          <a:lstStyle/>
          <a:p>
            <a:pPr rtl="1" algn="ctr" indent="0" marL="0">
              <a:buNone/>
            </a:pPr>
            <a:r>
              <a:rPr lang="fa-IR" altLang="en-US" sz="1300" dirty="0">
                <a:solidFill>
                  <a:srgbClr val="5F6B5F"/>
                </a:solidFill>
                <a:latin typeface="Vazirmatn Nobar SemiBold" pitchFamily="34" charset="0"/>
                <a:ea typeface="Vazirmatn Nobar SemiBold" pitchFamily="34" charset="-122"/>
                <a:cs typeface="Vazirmatn Nobar SemiBold" pitchFamily="34" charset="-120"/>
              </a:rPr>
              <a:t>عمومی (همه‌ی کالاها)</a:t>
            </a:r>
            <a:endParaRPr lang="fa-IR" sz="1300" dirty="0"/>
          </a:p>
        </p:txBody>
      </p:sp>
      <p:sp>
        <p:nvSpPr>
          <p:cNvPr id="11" name="Text 8"/>
          <p:cNvSpPr txBox="1"/>
          <p:nvPr/>
        </p:nvSpPr>
        <p:spPr>
          <a:xfrm>
            <a:off x="4206240" y="3927348"/>
            <a:ext cx="1645920" cy="310896"/>
          </a:xfrm>
          <a:prstGeom prst="rect">
            <a:avLst/>
          </a:prstGeom>
          <a:noFill/>
          <a:ln/>
        </p:spPr>
        <p:txBody>
          <a:bodyPr wrap="square" lIns="0" tIns="0" rIns="0" bIns="0" rtlCol="0" anchor="t"/>
          <a:lstStyle/>
          <a:p>
            <a:pPr rtl="1" algn="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مستقیم از تولیدکننده</a:t>
            </a:r>
            <a:endParaRPr lang="fa-IR" sz="1200" dirty="0"/>
          </a:p>
        </p:txBody>
      </p:sp>
      <p:sp>
        <p:nvSpPr>
          <p:cNvPr id="12" name="Text 9"/>
          <p:cNvSpPr txBox="1"/>
          <p:nvPr/>
        </p:nvSpPr>
        <p:spPr>
          <a:xfrm>
            <a:off x="731520" y="3927348"/>
            <a:ext cx="1645920" cy="310896"/>
          </a:xfrm>
          <a:prstGeom prst="rect">
            <a:avLst/>
          </a:prstGeom>
          <a:noFill/>
          <a:ln/>
        </p:spPr>
        <p:txBody>
          <a:bodyPr wrap="square" lIns="0" tIns="0" rIns="0" bIns="0" rtlCol="0" anchor="t"/>
          <a:lstStyle/>
          <a:p>
            <a:pPr rtl="1" algn="l"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از عمده‌فروش و انبار</a:t>
            </a:r>
            <a:endParaRPr lang="fa-IR" sz="1200" dirty="0"/>
          </a:p>
        </p:txBody>
      </p:sp>
      <p:sp>
        <p:nvSpPr>
          <p:cNvPr id="13" name="Shape 10"/>
          <p:cNvSpPr/>
          <p:nvPr/>
        </p:nvSpPr>
        <p:spPr>
          <a:xfrm>
            <a:off x="3429000" y="2075688"/>
            <a:ext cx="2286000" cy="1577340"/>
          </a:xfrm>
          <a:prstGeom prst="roundRect">
            <a:avLst>
              <a:gd name="adj" fmla="val 8116"/>
            </a:avLst>
          </a:prstGeom>
          <a:solidFill>
            <a:srgbClr val="EAF5E6"/>
          </a:solidFill>
          <a:ln/>
        </p:spPr>
      </p:sp>
      <p:sp>
        <p:nvSpPr>
          <p:cNvPr id="14" name="Shape 11"/>
          <p:cNvSpPr/>
          <p:nvPr/>
        </p:nvSpPr>
        <p:spPr>
          <a:xfrm>
            <a:off x="4663440" y="2670048"/>
            <a:ext cx="457200" cy="457200"/>
          </a:xfrm>
          <a:prstGeom prst="ellipse">
            <a:avLst/>
          </a:prstGeom>
          <a:solidFill>
            <a:srgbClr val="14532D"/>
          </a:solidFill>
          <a:ln w="25400">
            <a:solidFill>
              <a:srgbClr val="FFFFFF"/>
            </a:solidFill>
            <a:prstDash val="solid"/>
          </a:ln>
          <a:effectLst>
            <a:outerShdw sx="100000" sy="100000" kx="0" ky="0" algn="bl" rotWithShape="0" blurRad="127000" dist="38100" dir="5400000">
              <a:srgbClr val="14532D">
                <a:alpha val="20000"/>
              </a:srgbClr>
            </a:outerShdw>
          </a:effectLst>
        </p:spPr>
      </p:sp>
      <p:sp>
        <p:nvSpPr>
          <p:cNvPr id="15" name="Text 12"/>
          <p:cNvSpPr txBox="1"/>
          <p:nvPr/>
        </p:nvSpPr>
        <p:spPr>
          <a:xfrm>
            <a:off x="2834640" y="2715768"/>
            <a:ext cx="1737360" cy="365760"/>
          </a:xfrm>
          <a:prstGeom prst="rect">
            <a:avLst/>
          </a:prstGeom>
          <a:noFill/>
          <a:ln/>
        </p:spPr>
        <p:txBody>
          <a:bodyPr wrap="square" lIns="0" tIns="0" rIns="0" bIns="0" rtlCol="0" anchor="ctr"/>
          <a:lstStyle/>
          <a:p>
            <a:pPr rtl="1" algn="r" indent="0" marL="0">
              <a:buNone/>
            </a:pPr>
            <a:r>
              <a:rPr lang="fa-IR" altLang="en-US" sz="1800" dirty="0">
                <a:solidFill>
                  <a:srgbClr val="14532D"/>
                </a:solidFill>
                <a:latin typeface="Vazirmatn Nobar Black" pitchFamily="34" charset="0"/>
                <a:ea typeface="Vazirmatn Nobar Black" pitchFamily="34" charset="-122"/>
                <a:cs typeface="Vazirmatn Nobar Black" pitchFamily="34" charset="-120"/>
              </a:rPr>
              <a:t>نوبر</a:t>
            </a:r>
            <a:endParaRPr lang="fa-IR" sz="1800" dirty="0"/>
          </a:p>
        </p:txBody>
      </p:sp>
      <p:sp>
        <p:nvSpPr>
          <p:cNvPr id="16" name="Shape 13"/>
          <p:cNvSpPr/>
          <p:nvPr/>
        </p:nvSpPr>
        <p:spPr>
          <a:xfrm>
            <a:off x="1709928" y="2871216"/>
            <a:ext cx="237744" cy="237744"/>
          </a:xfrm>
          <a:prstGeom prst="ellipse">
            <a:avLst/>
          </a:prstGeom>
          <a:solidFill>
            <a:srgbClr val="A8B3A5"/>
          </a:solidFill>
          <a:ln w="25400">
            <a:solidFill>
              <a:srgbClr val="FFFFFF"/>
            </a:solidFill>
            <a:prstDash val="solid"/>
          </a:ln>
          <a:effectLst>
            <a:outerShdw sx="100000" sy="100000" kx="0" ky="0" algn="bl" rotWithShape="0" blurRad="127000" dist="38100" dir="5400000">
              <a:srgbClr val="14532D">
                <a:alpha val="20000"/>
              </a:srgbClr>
            </a:outerShdw>
          </a:effectLst>
        </p:spPr>
      </p:sp>
      <p:sp>
        <p:nvSpPr>
          <p:cNvPr id="17" name="Text 14"/>
          <p:cNvSpPr txBox="1"/>
          <p:nvPr/>
        </p:nvSpPr>
        <p:spPr>
          <a:xfrm>
            <a:off x="-118872" y="2807208"/>
            <a:ext cx="1737360" cy="365760"/>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SemiBold" pitchFamily="34" charset="0"/>
                <a:ea typeface="Vazirmatn Nobar SemiBold" pitchFamily="34" charset="-122"/>
                <a:cs typeface="Vazirmatn Nobar SemiBold" pitchFamily="34" charset="-120"/>
              </a:rPr>
              <a:t>میادین تره‌بار</a:t>
            </a:r>
            <a:endParaRPr lang="fa-IR" sz="1300" dirty="0"/>
          </a:p>
        </p:txBody>
      </p:sp>
      <p:sp>
        <p:nvSpPr>
          <p:cNvPr id="18" name="Shape 15"/>
          <p:cNvSpPr/>
          <p:nvPr/>
        </p:nvSpPr>
        <p:spPr>
          <a:xfrm>
            <a:off x="4617720" y="4750308"/>
            <a:ext cx="274320" cy="274320"/>
          </a:xfrm>
          <a:prstGeom prst="ellipse">
            <a:avLst/>
          </a:prstGeom>
          <a:solidFill>
            <a:srgbClr val="7CB342"/>
          </a:solidFill>
          <a:ln w="25400">
            <a:solidFill>
              <a:srgbClr val="FFFFFF"/>
            </a:solidFill>
            <a:prstDash val="solid"/>
          </a:ln>
          <a:effectLst>
            <a:outerShdw sx="100000" sy="100000" kx="0" ky="0" algn="bl" rotWithShape="0" blurRad="127000" dist="38100" dir="5400000">
              <a:srgbClr val="14532D">
                <a:alpha val="20000"/>
              </a:srgbClr>
            </a:outerShdw>
          </a:effectLst>
        </p:spPr>
      </p:sp>
      <p:sp>
        <p:nvSpPr>
          <p:cNvPr id="19" name="Text 16"/>
          <p:cNvSpPr txBox="1"/>
          <p:nvPr/>
        </p:nvSpPr>
        <p:spPr>
          <a:xfrm>
            <a:off x="2788920" y="4704588"/>
            <a:ext cx="1737360" cy="365760"/>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SemiBold" pitchFamily="34" charset="0"/>
                <a:ea typeface="Vazirmatn Nobar SemiBold" pitchFamily="34" charset="-122"/>
                <a:cs typeface="Vazirmatn Nobar SemiBold" pitchFamily="34" charset="-120"/>
              </a:rPr>
              <a:t>باسلام</a:t>
            </a:r>
            <a:endParaRPr lang="fa-IR" sz="1300" dirty="0"/>
          </a:p>
        </p:txBody>
      </p:sp>
      <p:sp>
        <p:nvSpPr>
          <p:cNvPr id="20" name="Shape 17"/>
          <p:cNvSpPr/>
          <p:nvPr/>
        </p:nvSpPr>
        <p:spPr>
          <a:xfrm>
            <a:off x="1188720" y="5116068"/>
            <a:ext cx="274320" cy="274320"/>
          </a:xfrm>
          <a:prstGeom prst="ellipse">
            <a:avLst/>
          </a:prstGeom>
          <a:solidFill>
            <a:srgbClr val="F2A900"/>
          </a:solidFill>
          <a:ln w="25400">
            <a:solidFill>
              <a:srgbClr val="FFFFFF"/>
            </a:solidFill>
            <a:prstDash val="solid"/>
          </a:ln>
          <a:effectLst>
            <a:outerShdw sx="100000" sy="100000" kx="0" ky="0" algn="bl" rotWithShape="0" blurRad="127000" dist="38100" dir="5400000">
              <a:srgbClr val="14532D">
                <a:alpha val="20000"/>
              </a:srgbClr>
            </a:outerShdw>
          </a:effectLst>
        </p:spPr>
      </p:sp>
      <p:sp>
        <p:nvSpPr>
          <p:cNvPr id="21" name="Text 18"/>
          <p:cNvSpPr txBox="1"/>
          <p:nvPr/>
        </p:nvSpPr>
        <p:spPr>
          <a:xfrm>
            <a:off x="1554480" y="5070348"/>
            <a:ext cx="1463040" cy="365760"/>
          </a:xfrm>
          <a:prstGeom prst="rect">
            <a:avLst/>
          </a:prstGeom>
          <a:noFill/>
          <a:ln/>
        </p:spPr>
        <p:txBody>
          <a:bodyPr wrap="square" lIns="0" tIns="0" rIns="0" bIns="0" rtlCol="0" anchor="ctr"/>
          <a:lstStyle/>
          <a:p>
            <a:pPr rtl="1" algn="l" indent="0" marL="0">
              <a:buNone/>
            </a:pPr>
            <a:r>
              <a:rPr lang="fa-IR" altLang="en-US" sz="1300" dirty="0">
                <a:solidFill>
                  <a:srgbClr val="1F2A1F"/>
                </a:solidFill>
                <a:latin typeface="Vazirmatn Nobar SemiBold" pitchFamily="34" charset="0"/>
                <a:ea typeface="Vazirmatn Nobar SemiBold" pitchFamily="34" charset="-122"/>
                <a:cs typeface="Vazirmatn Nobar SemiBold" pitchFamily="34" charset="-120"/>
              </a:rPr>
              <a:t>اسنپ‌مارکت</a:t>
            </a:r>
            <a:endParaRPr lang="fa-IR" sz="1300" dirty="0"/>
          </a:p>
        </p:txBody>
      </p:sp>
      <p:sp>
        <p:nvSpPr>
          <p:cNvPr id="22" name="Shape 19"/>
          <p:cNvSpPr/>
          <p:nvPr/>
        </p:nvSpPr>
        <p:spPr>
          <a:xfrm>
            <a:off x="2194560" y="4658868"/>
            <a:ext cx="274320" cy="274320"/>
          </a:xfrm>
          <a:prstGeom prst="ellipse">
            <a:avLst/>
          </a:prstGeom>
          <a:solidFill>
            <a:srgbClr val="F2A900"/>
          </a:solidFill>
          <a:ln w="25400">
            <a:solidFill>
              <a:srgbClr val="FFFFFF"/>
            </a:solidFill>
            <a:prstDash val="solid"/>
          </a:ln>
          <a:effectLst>
            <a:outerShdw sx="100000" sy="100000" kx="0" ky="0" algn="bl" rotWithShape="0" blurRad="127000" dist="38100" dir="5400000">
              <a:srgbClr val="14532D">
                <a:alpha val="20000"/>
              </a:srgbClr>
            </a:outerShdw>
          </a:effectLst>
        </p:spPr>
      </p:sp>
      <p:sp>
        <p:nvSpPr>
          <p:cNvPr id="23" name="Text 20"/>
          <p:cNvSpPr txBox="1"/>
          <p:nvPr/>
        </p:nvSpPr>
        <p:spPr>
          <a:xfrm>
            <a:off x="2560320" y="4613148"/>
            <a:ext cx="1463040" cy="365760"/>
          </a:xfrm>
          <a:prstGeom prst="rect">
            <a:avLst/>
          </a:prstGeom>
          <a:noFill/>
          <a:ln/>
        </p:spPr>
        <p:txBody>
          <a:bodyPr wrap="square" lIns="0" tIns="0" rIns="0" bIns="0" rtlCol="0" anchor="ctr"/>
          <a:lstStyle/>
          <a:p>
            <a:pPr rtl="1" algn="l" indent="0" marL="0">
              <a:buNone/>
            </a:pPr>
            <a:r>
              <a:rPr lang="fa-IR" altLang="en-US" sz="1300" dirty="0">
                <a:solidFill>
                  <a:srgbClr val="1F2A1F"/>
                </a:solidFill>
                <a:latin typeface="Vazirmatn Nobar SemiBold" pitchFamily="34" charset="0"/>
                <a:ea typeface="Vazirmatn Nobar SemiBold" pitchFamily="34" charset="-122"/>
                <a:cs typeface="Vazirmatn Nobar SemiBold" pitchFamily="34" charset="-120"/>
              </a:rPr>
              <a:t>دیجی‌کالا</a:t>
            </a:r>
            <a:endParaRPr lang="fa-IR" sz="1300" dirty="0"/>
          </a:p>
        </p:txBody>
      </p:sp>
      <p:sp>
        <p:nvSpPr>
          <p:cNvPr id="24" name="Shape 21"/>
          <p:cNvSpPr/>
          <p:nvPr/>
        </p:nvSpPr>
        <p:spPr>
          <a:xfrm>
            <a:off x="1161288" y="4402836"/>
            <a:ext cx="237744" cy="237744"/>
          </a:xfrm>
          <a:prstGeom prst="ellipse">
            <a:avLst/>
          </a:prstGeom>
          <a:solidFill>
            <a:srgbClr val="F2A900"/>
          </a:solidFill>
          <a:ln w="25400">
            <a:solidFill>
              <a:srgbClr val="FFFFFF"/>
            </a:solidFill>
            <a:prstDash val="solid"/>
          </a:ln>
          <a:effectLst>
            <a:outerShdw sx="100000" sy="100000" kx="0" ky="0" algn="bl" rotWithShape="0" blurRad="127000" dist="38100" dir="5400000">
              <a:srgbClr val="14532D">
                <a:alpha val="20000"/>
              </a:srgbClr>
            </a:outerShdw>
          </a:effectLst>
        </p:spPr>
      </p:sp>
      <p:sp>
        <p:nvSpPr>
          <p:cNvPr id="25" name="Text 22"/>
          <p:cNvSpPr txBox="1"/>
          <p:nvPr/>
        </p:nvSpPr>
        <p:spPr>
          <a:xfrm>
            <a:off x="1490472" y="4338828"/>
            <a:ext cx="1463040" cy="365760"/>
          </a:xfrm>
          <a:prstGeom prst="rect">
            <a:avLst/>
          </a:prstGeom>
          <a:noFill/>
          <a:ln/>
        </p:spPr>
        <p:txBody>
          <a:bodyPr wrap="square" lIns="0" tIns="0" rIns="0" bIns="0" rtlCol="0" anchor="ctr"/>
          <a:lstStyle/>
          <a:p>
            <a:pPr rtl="1" algn="l" indent="0" marL="0">
              <a:buNone/>
            </a:pPr>
            <a:r>
              <a:rPr lang="fa-IR" altLang="en-US" sz="1300" dirty="0">
                <a:solidFill>
                  <a:srgbClr val="1F2A1F"/>
                </a:solidFill>
                <a:latin typeface="Vazirmatn Nobar SemiBold" pitchFamily="34" charset="0"/>
                <a:ea typeface="Vazirmatn Nobar SemiBold" pitchFamily="34" charset="-122"/>
                <a:cs typeface="Vazirmatn Nobar SemiBold" pitchFamily="34" charset="-120"/>
              </a:rPr>
              <a:t>اکالا</a:t>
            </a:r>
            <a:endParaRPr lang="fa-IR" sz="1300" dirty="0"/>
          </a:p>
        </p:txBody>
      </p:sp>
      <p:sp>
        <p:nvSpPr>
          <p:cNvPr id="26" name="Text 23"/>
          <p:cNvSpPr txBox="1"/>
          <p:nvPr/>
        </p:nvSpPr>
        <p:spPr>
          <a:xfrm>
            <a:off x="6355080" y="1572768"/>
            <a:ext cx="5287975" cy="411480"/>
          </a:xfrm>
          <a:prstGeom prst="rect">
            <a:avLst/>
          </a:prstGeom>
          <a:noFill/>
          <a:ln/>
        </p:spPr>
        <p:txBody>
          <a:bodyPr wrap="square" lIns="0" tIns="0" rIns="0" bIns="0" rtlCol="0" anchor="t"/>
          <a:lstStyle/>
          <a:p>
            <a:pPr rtl="1" algn="r" indent="0" marL="0">
              <a:buNone/>
            </a:pPr>
            <a:r>
              <a:rPr lang="fa-IR" altLang="en-US" sz="1900" dirty="0">
                <a:solidFill>
                  <a:srgbClr val="14532D"/>
                </a:solidFill>
                <a:latin typeface="Vazirmatn Nobar ExtraBold" pitchFamily="34" charset="0"/>
                <a:ea typeface="Vazirmatn Nobar ExtraBold" pitchFamily="34" charset="-122"/>
                <a:cs typeface="Vazirmatn Nobar ExtraBold" pitchFamily="34" charset="-120"/>
              </a:rPr>
              <a:t>مزیت‌های پایدار نوبر</a:t>
            </a:r>
            <a:endParaRPr lang="fa-IR" sz="1900" dirty="0"/>
          </a:p>
        </p:txBody>
      </p:sp>
      <p:sp>
        <p:nvSpPr>
          <p:cNvPr id="27" name="Shape 24"/>
          <p:cNvSpPr/>
          <p:nvPr/>
        </p:nvSpPr>
        <p:spPr>
          <a:xfrm>
            <a:off x="6355080" y="2103120"/>
            <a:ext cx="5287975" cy="877824"/>
          </a:xfrm>
          <a:prstGeom prst="roundRect">
            <a:avLst>
              <a:gd name="adj" fmla="val 14583"/>
            </a:avLst>
          </a:prstGeom>
          <a:solidFill>
            <a:srgbClr val="FFFFFF"/>
          </a:solidFill>
          <a:ln/>
          <a:effectLst>
            <a:outerShdw sx="100000" sy="100000" kx="0" ky="0" algn="bl" rotWithShape="0" blurRad="127000" dist="38100" dir="5400000">
              <a:srgbClr val="14532D">
                <a:alpha val="12000"/>
              </a:srgbClr>
            </a:outerShdw>
          </a:effectLst>
        </p:spPr>
      </p:sp>
      <p:sp>
        <p:nvSpPr>
          <p:cNvPr id="28" name="Shape 25"/>
          <p:cNvSpPr/>
          <p:nvPr/>
        </p:nvSpPr>
        <p:spPr>
          <a:xfrm>
            <a:off x="10774375" y="2212848"/>
            <a:ext cx="658368" cy="658368"/>
          </a:xfrm>
          <a:prstGeom prst="ellipse">
            <a:avLst/>
          </a:prstGeom>
          <a:solidFill>
            <a:srgbClr val="EAF5E6"/>
          </a:solidFill>
          <a:ln/>
        </p:spPr>
      </p:sp>
      <p:pic>
        <p:nvPicPr>
          <p:cNvPr id="29" name="icon thermometer" descr="/tmp/claude-0/-home-claude/e50823c0-d46f-5818-8f05-9d714cd67f5c/scratchpad/assets/icons/thermometer.png">    </p:cNvPr>
          <p:cNvPicPr>
            <a:picLocks noChangeAspect="1"/>
          </p:cNvPicPr>
          <p:nvPr/>
        </p:nvPicPr>
        <p:blipFill>
          <a:blip r:embed="rId1"/>
          <a:stretch>
            <a:fillRect/>
          </a:stretch>
        </p:blipFill>
        <p:spPr>
          <a:xfrm>
            <a:off x="10879714" y="2318187"/>
            <a:ext cx="447690" cy="447690"/>
          </a:xfrm>
          <a:prstGeom prst="rect">
            <a:avLst/>
          </a:prstGeom>
        </p:spPr>
      </p:pic>
      <p:sp>
        <p:nvSpPr>
          <p:cNvPr id="30" name="Text 26"/>
          <p:cNvSpPr txBox="1"/>
          <p:nvPr/>
        </p:nvSpPr>
        <p:spPr>
          <a:xfrm>
            <a:off x="6556248" y="2176272"/>
            <a:ext cx="4099255" cy="365760"/>
          </a:xfrm>
          <a:prstGeom prst="rect">
            <a:avLst/>
          </a:prstGeom>
          <a:noFill/>
          <a:ln/>
        </p:spPr>
        <p:txBody>
          <a:bodyPr wrap="square" lIns="0" tIns="0" rIns="0" bIns="0" rtlCol="0" anchor="ctr"/>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داده و قوانین تازگی</a:t>
            </a:r>
            <a:endParaRPr lang="fa-IR" sz="1500" dirty="0"/>
          </a:p>
        </p:txBody>
      </p:sp>
      <p:sp>
        <p:nvSpPr>
          <p:cNvPr id="31" name="Text 27"/>
          <p:cNvSpPr txBox="1"/>
          <p:nvPr/>
        </p:nvSpPr>
        <p:spPr>
          <a:xfrm>
            <a:off x="6556248" y="2542032"/>
            <a:ext cx="4099255" cy="384048"/>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pitchFamily="34" charset="0"/>
                <a:ea typeface="Vazirmatn Nobar" pitchFamily="34" charset="-122"/>
                <a:cs typeface="Vazirmatn Nobar" pitchFamily="34" charset="-120"/>
              </a:rPr>
              <a:t>موتور ماندگاری و زمان حمل که با هر سفارش دقیق‌تر می‌شود</a:t>
            </a:r>
            <a:endParaRPr lang="fa-IR" sz="1300" dirty="0"/>
          </a:p>
        </p:txBody>
      </p:sp>
      <p:sp>
        <p:nvSpPr>
          <p:cNvPr id="32" name="Shape 28"/>
          <p:cNvSpPr/>
          <p:nvPr/>
        </p:nvSpPr>
        <p:spPr>
          <a:xfrm>
            <a:off x="6355080" y="3090672"/>
            <a:ext cx="5287975" cy="877824"/>
          </a:xfrm>
          <a:prstGeom prst="roundRect">
            <a:avLst>
              <a:gd name="adj" fmla="val 14583"/>
            </a:avLst>
          </a:prstGeom>
          <a:solidFill>
            <a:srgbClr val="FFFFFF"/>
          </a:solidFill>
          <a:ln/>
          <a:effectLst>
            <a:outerShdw sx="100000" sy="100000" kx="0" ky="0" algn="bl" rotWithShape="0" blurRad="127000" dist="38100" dir="5400000">
              <a:srgbClr val="14532D">
                <a:alpha val="12000"/>
              </a:srgbClr>
            </a:outerShdw>
          </a:effectLst>
        </p:spPr>
      </p:sp>
      <p:sp>
        <p:nvSpPr>
          <p:cNvPr id="33" name="Shape 29"/>
          <p:cNvSpPr/>
          <p:nvPr/>
        </p:nvSpPr>
        <p:spPr>
          <a:xfrm>
            <a:off x="10774375" y="3200400"/>
            <a:ext cx="658368" cy="658368"/>
          </a:xfrm>
          <a:prstGeom prst="ellipse">
            <a:avLst/>
          </a:prstGeom>
          <a:solidFill>
            <a:srgbClr val="EAF5E6"/>
          </a:solidFill>
          <a:ln/>
        </p:spPr>
      </p:sp>
      <p:pic>
        <p:nvPicPr>
          <p:cNvPr id="34" name="icon man_farmer" descr="/tmp/claude-0/-home-claude/e50823c0-d46f-5818-8f05-9d714cd67f5c/scratchpad/assets/icons/man_farmer.png">    </p:cNvPr>
          <p:cNvPicPr>
            <a:picLocks noChangeAspect="1"/>
          </p:cNvPicPr>
          <p:nvPr/>
        </p:nvPicPr>
        <p:blipFill>
          <a:blip r:embed="rId2"/>
          <a:stretch>
            <a:fillRect/>
          </a:stretch>
        </p:blipFill>
        <p:spPr>
          <a:xfrm>
            <a:off x="10879714" y="3305739"/>
            <a:ext cx="447690" cy="447690"/>
          </a:xfrm>
          <a:prstGeom prst="rect">
            <a:avLst/>
          </a:prstGeom>
        </p:spPr>
      </p:pic>
      <p:sp>
        <p:nvSpPr>
          <p:cNvPr id="35" name="Text 30"/>
          <p:cNvSpPr txBox="1"/>
          <p:nvPr/>
        </p:nvSpPr>
        <p:spPr>
          <a:xfrm>
            <a:off x="6556248" y="3163824"/>
            <a:ext cx="4099255" cy="365760"/>
          </a:xfrm>
          <a:prstGeom prst="rect">
            <a:avLst/>
          </a:prstGeom>
          <a:noFill/>
          <a:ln/>
        </p:spPr>
        <p:txBody>
          <a:bodyPr wrap="square" lIns="0" tIns="0" rIns="0" bIns="0" rtlCol="0" anchor="ctr"/>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شبکه‌ی باغداران از مبدأ</a:t>
            </a:r>
            <a:endParaRPr lang="fa-IR" sz="1500" dirty="0"/>
          </a:p>
        </p:txBody>
      </p:sp>
      <p:sp>
        <p:nvSpPr>
          <p:cNvPr id="36" name="Text 31"/>
          <p:cNvSpPr txBox="1"/>
          <p:nvPr/>
        </p:nvSpPr>
        <p:spPr>
          <a:xfrm>
            <a:off x="6556248" y="3529584"/>
            <a:ext cx="4099255" cy="384048"/>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pitchFamily="34" charset="0"/>
                <a:ea typeface="Vazirmatn Nobar" pitchFamily="34" charset="-122"/>
                <a:cs typeface="Vazirmatn Nobar" pitchFamily="34" charset="-120"/>
              </a:rPr>
              <a:t>اثر شبکه‌ای دوطرفه؛ هر باغدار تازه، خریدار بیشتری می‌آورد</a:t>
            </a:r>
            <a:endParaRPr lang="fa-IR" sz="1300" dirty="0"/>
          </a:p>
        </p:txBody>
      </p:sp>
      <p:sp>
        <p:nvSpPr>
          <p:cNvPr id="37" name="Shape 32"/>
          <p:cNvSpPr/>
          <p:nvPr/>
        </p:nvSpPr>
        <p:spPr>
          <a:xfrm>
            <a:off x="6355080" y="4078224"/>
            <a:ext cx="5287975" cy="877824"/>
          </a:xfrm>
          <a:prstGeom prst="roundRect">
            <a:avLst>
              <a:gd name="adj" fmla="val 14583"/>
            </a:avLst>
          </a:prstGeom>
          <a:solidFill>
            <a:srgbClr val="FFFFFF"/>
          </a:solidFill>
          <a:ln/>
          <a:effectLst>
            <a:outerShdw sx="100000" sy="100000" kx="0" ky="0" algn="bl" rotWithShape="0" blurRad="127000" dist="38100" dir="5400000">
              <a:srgbClr val="14532D">
                <a:alpha val="12000"/>
              </a:srgbClr>
            </a:outerShdw>
          </a:effectLst>
        </p:spPr>
      </p:sp>
      <p:sp>
        <p:nvSpPr>
          <p:cNvPr id="38" name="Shape 33"/>
          <p:cNvSpPr/>
          <p:nvPr/>
        </p:nvSpPr>
        <p:spPr>
          <a:xfrm>
            <a:off x="10774375" y="4187952"/>
            <a:ext cx="658368" cy="658368"/>
          </a:xfrm>
          <a:prstGeom prst="ellipse">
            <a:avLst/>
          </a:prstGeom>
          <a:solidFill>
            <a:srgbClr val="EAF5E6"/>
          </a:solidFill>
          <a:ln/>
        </p:spPr>
      </p:sp>
      <p:pic>
        <p:nvPicPr>
          <p:cNvPr id="39" name="icon robot" descr="/tmp/claude-0/-home-claude/e50823c0-d46f-5818-8f05-9d714cd67f5c/scratchpad/assets/icons/robot.png">    </p:cNvPr>
          <p:cNvPicPr>
            <a:picLocks noChangeAspect="1"/>
          </p:cNvPicPr>
          <p:nvPr/>
        </p:nvPicPr>
        <p:blipFill>
          <a:blip r:embed="rId3"/>
          <a:stretch>
            <a:fillRect/>
          </a:stretch>
        </p:blipFill>
        <p:spPr>
          <a:xfrm>
            <a:off x="10879714" y="4293291"/>
            <a:ext cx="447690" cy="447690"/>
          </a:xfrm>
          <a:prstGeom prst="rect">
            <a:avLst/>
          </a:prstGeom>
        </p:spPr>
      </p:pic>
      <p:sp>
        <p:nvSpPr>
          <p:cNvPr id="40" name="Text 34"/>
          <p:cNvSpPr txBox="1"/>
          <p:nvPr/>
        </p:nvSpPr>
        <p:spPr>
          <a:xfrm>
            <a:off x="6556248" y="4151376"/>
            <a:ext cx="4099255" cy="365760"/>
          </a:xfrm>
          <a:prstGeom prst="rect">
            <a:avLst/>
          </a:prstGeom>
          <a:noFill/>
          <a:ln/>
        </p:spPr>
        <p:txBody>
          <a:bodyPr wrap="square" lIns="0" tIns="0" rIns="0" bIns="0" rtlCol="0" anchor="ctr"/>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هوش مصنوعی تخصصی</a:t>
            </a:r>
            <a:endParaRPr lang="fa-IR" sz="1500" dirty="0"/>
          </a:p>
        </p:txBody>
      </p:sp>
      <p:sp>
        <p:nvSpPr>
          <p:cNvPr id="41" name="Text 35"/>
          <p:cNvSpPr txBox="1"/>
          <p:nvPr/>
        </p:nvSpPr>
        <p:spPr>
          <a:xfrm>
            <a:off x="6556248" y="4517136"/>
            <a:ext cx="4099255" cy="384048"/>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pitchFamily="34" charset="0"/>
                <a:ea typeface="Vazirmatn Nobar" pitchFamily="34" charset="-122"/>
                <a:cs typeface="Vazirmatn Nobar" pitchFamily="34" charset="-120"/>
              </a:rPr>
              <a:t>جستجوی صوتی و ثبت محصول با عکس، مناسب باغداران</a:t>
            </a:r>
            <a:endParaRPr lang="fa-IR" sz="1300" dirty="0"/>
          </a:p>
        </p:txBody>
      </p:sp>
      <p:sp>
        <p:nvSpPr>
          <p:cNvPr id="42" name="Shape 36"/>
          <p:cNvSpPr/>
          <p:nvPr/>
        </p:nvSpPr>
        <p:spPr>
          <a:xfrm>
            <a:off x="6355080" y="5138928"/>
            <a:ext cx="5287975" cy="960120"/>
          </a:xfrm>
          <a:prstGeom prst="roundRect">
            <a:avLst>
              <a:gd name="adj" fmla="val 13333"/>
            </a:avLst>
          </a:prstGeom>
          <a:solidFill>
            <a:srgbClr val="FFF2CC"/>
          </a:solidFill>
          <a:ln/>
        </p:spPr>
      </p:sp>
      <p:pic>
        <p:nvPicPr>
          <p:cNvPr id="43" name="icon light_bulb" descr="/tmp/claude-0/-home-claude/e50823c0-d46f-5818-8f05-9d714cd67f5c/scratchpad/assets/icons/light_bulb.png">    </p:cNvPr>
          <p:cNvPicPr>
            <a:picLocks noChangeAspect="1"/>
          </p:cNvPicPr>
          <p:nvPr/>
        </p:nvPicPr>
        <p:blipFill>
          <a:blip r:embed="rId4"/>
          <a:stretch>
            <a:fillRect/>
          </a:stretch>
        </p:blipFill>
        <p:spPr>
          <a:xfrm>
            <a:off x="10984687" y="5303520"/>
            <a:ext cx="502920" cy="502920"/>
          </a:xfrm>
          <a:prstGeom prst="rect">
            <a:avLst/>
          </a:prstGeom>
        </p:spPr>
      </p:pic>
      <p:sp>
        <p:nvSpPr>
          <p:cNvPr id="44" name="Text 37"/>
          <p:cNvSpPr txBox="1"/>
          <p:nvPr/>
        </p:nvSpPr>
        <p:spPr>
          <a:xfrm>
            <a:off x="6556248" y="5138928"/>
            <a:ext cx="4282135" cy="960120"/>
          </a:xfrm>
          <a:prstGeom prst="rect">
            <a:avLst/>
          </a:prstGeom>
          <a:noFill/>
          <a:ln/>
        </p:spPr>
        <p:txBody>
          <a:bodyPr wrap="square" lIns="0" tIns="0" rIns="0" bIns="0" rtlCol="0" anchor="ctr"/>
          <a:lstStyle/>
          <a:p>
            <a:pPr rtl="1" algn="r" indent="0" marL="0">
              <a:buNone/>
            </a:pPr>
            <a:r>
              <a:rPr lang="fa-IR" altLang="en-US" sz="1350" dirty="0">
                <a:solidFill>
                  <a:srgbClr val="8A5A00"/>
                </a:solidFill>
                <a:latin typeface="Vazirmatn Nobar ExtraBold" pitchFamily="34" charset="0"/>
                <a:ea typeface="Vazirmatn Nobar ExtraBold" pitchFamily="34" charset="-122"/>
                <a:cs typeface="Vazirmatn Nobar ExtraBold" pitchFamily="34" charset="-120"/>
              </a:rPr>
              <a:t>واقع‌بینی: </a:t>
            </a:r>
            <a:pPr rtl="1" algn="r" indent="0" marL="0">
              <a:buNone/>
            </a:pPr>
            <a:r>
              <a:rPr lang="fa-IR" altLang="en-US" sz="1350" dirty="0">
                <a:solidFill>
                  <a:srgbClr val="8A5A00"/>
                </a:solidFill>
                <a:latin typeface="Vazirmatn Nobar" pitchFamily="34" charset="0"/>
                <a:ea typeface="Vazirmatn Nobar" pitchFamily="34" charset="-122"/>
                <a:cs typeface="Vazirmatn Nobar" pitchFamily="34" charset="-120"/>
              </a:rPr>
              <a:t>بازیگران بزرگ در برند و سرعت تحویل درون‌شهری قوی‌ترند؛ نوبر وارد رقابت سرعت نمی‌شود و روی مبدأ و تازگی می‌ماند.</a:t>
            </a:r>
            <a:endParaRPr lang="fa-IR"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۱۲</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مدل درآمدی</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درآمد اصلی از کمیسیون فروش؛ جریان‌های مکمل از سال دوم</a:t>
            </a:r>
            <a:endParaRPr lang="fa-IR" sz="1600" dirty="0"/>
          </a:p>
        </p:txBody>
      </p:sp>
      <p:sp>
        <p:nvSpPr>
          <p:cNvPr id="6" name="Shape 3"/>
          <p:cNvSpPr/>
          <p:nvPr/>
        </p:nvSpPr>
        <p:spPr>
          <a:xfrm>
            <a:off x="6355080" y="1572768"/>
            <a:ext cx="5287975" cy="804672"/>
          </a:xfrm>
          <a:prstGeom prst="roundRect">
            <a:avLst>
              <a:gd name="adj" fmla="val 15909"/>
            </a:avLst>
          </a:prstGeom>
          <a:solidFill>
            <a:srgbClr val="14532D"/>
          </a:solidFill>
          <a:ln/>
          <a:effectLst>
            <a:outerShdw sx="100000" sy="100000" kx="0" ky="0" algn="bl" rotWithShape="0" blurRad="127000" dist="38100" dir="5400000">
              <a:srgbClr val="14532D">
                <a:alpha val="12000"/>
              </a:srgbClr>
            </a:outerShdw>
          </a:effectLst>
        </p:spPr>
      </p:sp>
      <p:sp>
        <p:nvSpPr>
          <p:cNvPr id="7" name="Shape 4"/>
          <p:cNvSpPr/>
          <p:nvPr/>
        </p:nvSpPr>
        <p:spPr>
          <a:xfrm>
            <a:off x="10820095" y="1664208"/>
            <a:ext cx="621792" cy="621792"/>
          </a:xfrm>
          <a:prstGeom prst="ellipse">
            <a:avLst/>
          </a:prstGeom>
          <a:solidFill>
            <a:srgbClr val="2E7D32"/>
          </a:solidFill>
          <a:ln/>
        </p:spPr>
      </p:sp>
      <p:pic>
        <p:nvPicPr>
          <p:cNvPr id="8" name="icon money_bag" descr="/tmp/claude-0/-home-claude/e50823c0-d46f-5818-8f05-9d714cd67f5c/scratchpad/assets/icons/money_bag.png">    </p:cNvPr>
          <p:cNvPicPr>
            <a:picLocks noChangeAspect="1"/>
          </p:cNvPicPr>
          <p:nvPr/>
        </p:nvPicPr>
        <p:blipFill>
          <a:blip r:embed="rId1"/>
          <a:stretch>
            <a:fillRect/>
          </a:stretch>
        </p:blipFill>
        <p:spPr>
          <a:xfrm>
            <a:off x="10919582" y="1763695"/>
            <a:ext cx="422819" cy="422819"/>
          </a:xfrm>
          <a:prstGeom prst="rect">
            <a:avLst/>
          </a:prstGeom>
        </p:spPr>
      </p:pic>
      <p:sp>
        <p:nvSpPr>
          <p:cNvPr id="9" name="Text 5"/>
          <p:cNvSpPr txBox="1"/>
          <p:nvPr/>
        </p:nvSpPr>
        <p:spPr>
          <a:xfrm>
            <a:off x="6556248" y="1636776"/>
            <a:ext cx="4190695" cy="347472"/>
          </a:xfrm>
          <a:prstGeom prst="rect">
            <a:avLst/>
          </a:prstGeom>
          <a:noFill/>
          <a:ln/>
        </p:spPr>
        <p:txBody>
          <a:bodyPr wrap="square" lIns="0" tIns="0" rIns="0" bIns="0" rtlCol="0" anchor="ctr"/>
          <a:lstStyle/>
          <a:p>
            <a:pPr rtl="1" algn="r" indent="0" marL="0">
              <a:buNone/>
            </a:pPr>
            <a:r>
              <a:rPr lang="fa-IR" altLang="en-US" sz="1550" dirty="0">
                <a:solidFill>
                  <a:srgbClr val="FFFFFF"/>
                </a:solidFill>
                <a:latin typeface="Vazirmatn Nobar ExtraBold" pitchFamily="34" charset="0"/>
                <a:ea typeface="Vazirmatn Nobar ExtraBold" pitchFamily="34" charset="-122"/>
                <a:cs typeface="Vazirmatn Nobar ExtraBold" pitchFamily="34" charset="-120"/>
              </a:rPr>
              <a:t>کمیسیون فروش</a:t>
            </a:r>
            <a:endParaRPr lang="fa-IR" sz="1550" dirty="0"/>
          </a:p>
        </p:txBody>
      </p:sp>
      <p:sp>
        <p:nvSpPr>
          <p:cNvPr id="10" name="Text 6"/>
          <p:cNvSpPr txBox="1"/>
          <p:nvPr/>
        </p:nvSpPr>
        <p:spPr>
          <a:xfrm>
            <a:off x="6556248" y="1984248"/>
            <a:ext cx="4190695" cy="329184"/>
          </a:xfrm>
          <a:prstGeom prst="rect">
            <a:avLst/>
          </a:prstGeom>
          <a:noFill/>
          <a:ln/>
        </p:spPr>
        <p:txBody>
          <a:bodyPr wrap="square" lIns="0" tIns="0" rIns="0" bIns="0" rtlCol="0" anchor="ctr"/>
          <a:lstStyle/>
          <a:p>
            <a:pPr rtl="1" algn="r" indent="0" marL="0">
              <a:buNone/>
            </a:pPr>
            <a:r>
              <a:rPr lang="fa-IR" altLang="en-US" sz="1300" dirty="0">
                <a:solidFill>
                  <a:srgbClr val="E8F5E9"/>
                </a:solidFill>
                <a:latin typeface="Vazirmatn Nobar" pitchFamily="34" charset="0"/>
                <a:ea typeface="Vazirmatn Nobar" pitchFamily="34" charset="-122"/>
                <a:cs typeface="Vazirmatn Nobar" pitchFamily="34" charset="-120"/>
              </a:rPr>
              <a:t>۸ تا ۱۲٪ بسته به دسته‌ی محصول؛ درآمد اصلی</a:t>
            </a:r>
            <a:endParaRPr lang="fa-IR" sz="1300" dirty="0"/>
          </a:p>
        </p:txBody>
      </p:sp>
      <p:sp>
        <p:nvSpPr>
          <p:cNvPr id="11" name="Shape 7"/>
          <p:cNvSpPr/>
          <p:nvPr/>
        </p:nvSpPr>
        <p:spPr>
          <a:xfrm>
            <a:off x="6355080" y="2468880"/>
            <a:ext cx="528797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12" name="Shape 8"/>
          <p:cNvSpPr/>
          <p:nvPr/>
        </p:nvSpPr>
        <p:spPr>
          <a:xfrm>
            <a:off x="10820095" y="2560320"/>
            <a:ext cx="621792" cy="621792"/>
          </a:xfrm>
          <a:prstGeom prst="ellipse">
            <a:avLst/>
          </a:prstGeom>
          <a:solidFill>
            <a:srgbClr val="EAF5E6"/>
          </a:solidFill>
          <a:ln/>
        </p:spPr>
      </p:sp>
      <p:pic>
        <p:nvPicPr>
          <p:cNvPr id="13" name="icon motor_scooter" descr="/tmp/claude-0/-home-claude/e50823c0-d46f-5818-8f05-9d714cd67f5c/scratchpad/assets/icons/motor_scooter.png">    </p:cNvPr>
          <p:cNvPicPr>
            <a:picLocks noChangeAspect="1"/>
          </p:cNvPicPr>
          <p:nvPr/>
        </p:nvPicPr>
        <p:blipFill>
          <a:blip r:embed="rId2"/>
          <a:stretch>
            <a:fillRect/>
          </a:stretch>
        </p:blipFill>
        <p:spPr>
          <a:xfrm>
            <a:off x="10919582" y="2659807"/>
            <a:ext cx="422819" cy="422819"/>
          </a:xfrm>
          <a:prstGeom prst="rect">
            <a:avLst/>
          </a:prstGeom>
        </p:spPr>
      </p:pic>
      <p:sp>
        <p:nvSpPr>
          <p:cNvPr id="14" name="Text 9"/>
          <p:cNvSpPr txBox="1"/>
          <p:nvPr/>
        </p:nvSpPr>
        <p:spPr>
          <a:xfrm>
            <a:off x="6556248" y="2532888"/>
            <a:ext cx="4190695" cy="347472"/>
          </a:xfrm>
          <a:prstGeom prst="rect">
            <a:avLst/>
          </a:prstGeom>
          <a:noFill/>
          <a:ln/>
        </p:spPr>
        <p:txBody>
          <a:bodyPr wrap="square" lIns="0" tIns="0" rIns="0" bIns="0" rtlCol="0" anchor="ctr"/>
          <a:lstStyle/>
          <a:p>
            <a:pPr rtl="1" algn="r" indent="0" marL="0">
              <a:buNone/>
            </a:pPr>
            <a:r>
              <a:rPr lang="fa-IR" altLang="en-US" sz="1550" dirty="0">
                <a:solidFill>
                  <a:srgbClr val="14532D"/>
                </a:solidFill>
                <a:latin typeface="Vazirmatn Nobar ExtraBold" pitchFamily="34" charset="0"/>
                <a:ea typeface="Vazirmatn Nobar ExtraBold" pitchFamily="34" charset="-122"/>
                <a:cs typeface="Vazirmatn Nobar ExtraBold" pitchFamily="34" charset="-120"/>
              </a:rPr>
              <a:t>خدمات ارسال محلی</a:t>
            </a:r>
            <a:endParaRPr lang="fa-IR" sz="1550" dirty="0"/>
          </a:p>
        </p:txBody>
      </p:sp>
      <p:sp>
        <p:nvSpPr>
          <p:cNvPr id="15" name="Text 10"/>
          <p:cNvSpPr txBox="1"/>
          <p:nvPr/>
        </p:nvSpPr>
        <p:spPr>
          <a:xfrm>
            <a:off x="6556248" y="2880360"/>
            <a:ext cx="4190695" cy="329184"/>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pitchFamily="34" charset="0"/>
                <a:ea typeface="Vazirmatn Nobar" pitchFamily="34" charset="-122"/>
                <a:cs typeface="Vazirmatn Nobar" pitchFamily="34" charset="-120"/>
              </a:rPr>
              <a:t>حاشیه‌ی سود پیک درون‌شهری در شهرهای فعال</a:t>
            </a:r>
            <a:endParaRPr lang="fa-IR" sz="1300" dirty="0"/>
          </a:p>
        </p:txBody>
      </p:sp>
      <p:sp>
        <p:nvSpPr>
          <p:cNvPr id="16" name="Shape 11"/>
          <p:cNvSpPr/>
          <p:nvPr/>
        </p:nvSpPr>
        <p:spPr>
          <a:xfrm>
            <a:off x="6355080" y="3364992"/>
            <a:ext cx="528797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17" name="Shape 12"/>
          <p:cNvSpPr/>
          <p:nvPr/>
        </p:nvSpPr>
        <p:spPr>
          <a:xfrm>
            <a:off x="10820095" y="3456432"/>
            <a:ext cx="621792" cy="621792"/>
          </a:xfrm>
          <a:prstGeom prst="ellipse">
            <a:avLst/>
          </a:prstGeom>
          <a:solidFill>
            <a:srgbClr val="EAF5E6"/>
          </a:solidFill>
          <a:ln/>
        </p:spPr>
      </p:sp>
      <p:pic>
        <p:nvPicPr>
          <p:cNvPr id="18" name="icon gem_stone" descr="/tmp/claude-0/-home-claude/e50823c0-d46f-5818-8f05-9d714cd67f5c/scratchpad/assets/icons/gem_stone.png">    </p:cNvPr>
          <p:cNvPicPr>
            <a:picLocks noChangeAspect="1"/>
          </p:cNvPicPr>
          <p:nvPr/>
        </p:nvPicPr>
        <p:blipFill>
          <a:blip r:embed="rId3"/>
          <a:stretch>
            <a:fillRect/>
          </a:stretch>
        </p:blipFill>
        <p:spPr>
          <a:xfrm>
            <a:off x="10919582" y="3555919"/>
            <a:ext cx="422819" cy="422819"/>
          </a:xfrm>
          <a:prstGeom prst="rect">
            <a:avLst/>
          </a:prstGeom>
        </p:spPr>
      </p:pic>
      <p:sp>
        <p:nvSpPr>
          <p:cNvPr id="19" name="Text 13"/>
          <p:cNvSpPr txBox="1"/>
          <p:nvPr/>
        </p:nvSpPr>
        <p:spPr>
          <a:xfrm>
            <a:off x="6556248" y="3429000"/>
            <a:ext cx="4190695" cy="347472"/>
          </a:xfrm>
          <a:prstGeom prst="rect">
            <a:avLst/>
          </a:prstGeom>
          <a:noFill/>
          <a:ln/>
        </p:spPr>
        <p:txBody>
          <a:bodyPr wrap="square" lIns="0" tIns="0" rIns="0" bIns="0" rtlCol="0" anchor="ctr"/>
          <a:lstStyle/>
          <a:p>
            <a:pPr rtl="1" algn="r" indent="0" marL="0">
              <a:buNone/>
            </a:pPr>
            <a:r>
              <a:rPr lang="fa-IR" altLang="en-US" sz="1550" dirty="0">
                <a:solidFill>
                  <a:srgbClr val="14532D"/>
                </a:solidFill>
                <a:latin typeface="Vazirmatn Nobar ExtraBold" pitchFamily="34" charset="0"/>
                <a:ea typeface="Vazirmatn Nobar ExtraBold" pitchFamily="34" charset="-122"/>
                <a:cs typeface="Vazirmatn Nobar ExtraBold" pitchFamily="34" charset="-120"/>
              </a:rPr>
              <a:t>اشتراک ویژه‌ی غرفه‌دار</a:t>
            </a:r>
            <a:endParaRPr lang="fa-IR" sz="1550" dirty="0"/>
          </a:p>
        </p:txBody>
      </p:sp>
      <p:sp>
        <p:nvSpPr>
          <p:cNvPr id="20" name="Text 14"/>
          <p:cNvSpPr txBox="1"/>
          <p:nvPr/>
        </p:nvSpPr>
        <p:spPr>
          <a:xfrm>
            <a:off x="6556248" y="3776472"/>
            <a:ext cx="4190695" cy="329184"/>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pitchFamily="34" charset="0"/>
                <a:ea typeface="Vazirmatn Nobar" pitchFamily="34" charset="-122"/>
                <a:cs typeface="Vazirmatn Nobar" pitchFamily="34" charset="-120"/>
              </a:rPr>
              <a:t>ابزار تحلیل قیمت بازار و نمایش بیشتر</a:t>
            </a:r>
            <a:endParaRPr lang="fa-IR" sz="1300" dirty="0"/>
          </a:p>
        </p:txBody>
      </p:sp>
      <p:sp>
        <p:nvSpPr>
          <p:cNvPr id="21" name="Shape 15"/>
          <p:cNvSpPr/>
          <p:nvPr/>
        </p:nvSpPr>
        <p:spPr>
          <a:xfrm>
            <a:off x="6355080" y="4261104"/>
            <a:ext cx="528797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22" name="Shape 16"/>
          <p:cNvSpPr/>
          <p:nvPr/>
        </p:nvSpPr>
        <p:spPr>
          <a:xfrm>
            <a:off x="10820095" y="4352544"/>
            <a:ext cx="621792" cy="621792"/>
          </a:xfrm>
          <a:prstGeom prst="ellipse">
            <a:avLst/>
          </a:prstGeom>
          <a:solidFill>
            <a:srgbClr val="EAF5E6"/>
          </a:solidFill>
          <a:ln/>
        </p:spPr>
      </p:sp>
      <p:pic>
        <p:nvPicPr>
          <p:cNvPr id="23" name="icon bullseye" descr="/tmp/claude-0/-home-claude/e50823c0-d46f-5818-8f05-9d714cd67f5c/scratchpad/assets/icons/bullseye.png">    </p:cNvPr>
          <p:cNvPicPr>
            <a:picLocks noChangeAspect="1"/>
          </p:cNvPicPr>
          <p:nvPr/>
        </p:nvPicPr>
        <p:blipFill>
          <a:blip r:embed="rId4"/>
          <a:stretch>
            <a:fillRect/>
          </a:stretch>
        </p:blipFill>
        <p:spPr>
          <a:xfrm>
            <a:off x="10919582" y="4452031"/>
            <a:ext cx="422819" cy="422819"/>
          </a:xfrm>
          <a:prstGeom prst="rect">
            <a:avLst/>
          </a:prstGeom>
        </p:spPr>
      </p:pic>
      <p:sp>
        <p:nvSpPr>
          <p:cNvPr id="24" name="Text 17"/>
          <p:cNvSpPr txBox="1"/>
          <p:nvPr/>
        </p:nvSpPr>
        <p:spPr>
          <a:xfrm>
            <a:off x="6556248" y="4325112"/>
            <a:ext cx="4190695" cy="347472"/>
          </a:xfrm>
          <a:prstGeom prst="rect">
            <a:avLst/>
          </a:prstGeom>
          <a:noFill/>
          <a:ln/>
        </p:spPr>
        <p:txBody>
          <a:bodyPr wrap="square" lIns="0" tIns="0" rIns="0" bIns="0" rtlCol="0" anchor="ctr"/>
          <a:lstStyle/>
          <a:p>
            <a:pPr rtl="1" algn="r" indent="0" marL="0">
              <a:buNone/>
            </a:pPr>
            <a:r>
              <a:rPr lang="fa-IR" altLang="en-US" sz="1550" dirty="0">
                <a:solidFill>
                  <a:srgbClr val="14532D"/>
                </a:solidFill>
                <a:latin typeface="Vazirmatn Nobar ExtraBold" pitchFamily="34" charset="0"/>
                <a:ea typeface="Vazirmatn Nobar ExtraBold" pitchFamily="34" charset="-122"/>
                <a:cs typeface="Vazirmatn Nobar ExtraBold" pitchFamily="34" charset="-120"/>
              </a:rPr>
              <a:t>تبلیغات شفاف</a:t>
            </a:r>
            <a:endParaRPr lang="fa-IR" sz="1550" dirty="0"/>
          </a:p>
        </p:txBody>
      </p:sp>
      <p:sp>
        <p:nvSpPr>
          <p:cNvPr id="25" name="Text 18"/>
          <p:cNvSpPr txBox="1"/>
          <p:nvPr/>
        </p:nvSpPr>
        <p:spPr>
          <a:xfrm>
            <a:off x="6556248" y="4672584"/>
            <a:ext cx="4190695" cy="329184"/>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pitchFamily="34" charset="0"/>
                <a:ea typeface="Vazirmatn Nobar" pitchFamily="34" charset="-122"/>
                <a:cs typeface="Vazirmatn Nobar" pitchFamily="34" charset="-120"/>
              </a:rPr>
              <a:t>جایگاه ویژه با برچسب «تبلیغ»؛ بدون دخالت در مقایسه‌گر</a:t>
            </a:r>
            <a:endParaRPr lang="fa-IR" sz="1300" dirty="0"/>
          </a:p>
        </p:txBody>
      </p:sp>
      <p:sp>
        <p:nvSpPr>
          <p:cNvPr id="26" name="Shape 19"/>
          <p:cNvSpPr/>
          <p:nvPr/>
        </p:nvSpPr>
        <p:spPr>
          <a:xfrm>
            <a:off x="6355080" y="5157216"/>
            <a:ext cx="528797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27" name="Shape 20"/>
          <p:cNvSpPr/>
          <p:nvPr/>
        </p:nvSpPr>
        <p:spPr>
          <a:xfrm>
            <a:off x="10820095" y="5248656"/>
            <a:ext cx="621792" cy="621792"/>
          </a:xfrm>
          <a:prstGeom prst="ellipse">
            <a:avLst/>
          </a:prstGeom>
          <a:solidFill>
            <a:srgbClr val="EAF5E6"/>
          </a:solidFill>
          <a:ln/>
        </p:spPr>
      </p:sp>
      <p:pic>
        <p:nvPicPr>
          <p:cNvPr id="28" name="icon office_building" descr="/tmp/claude-0/-home-claude/e50823c0-d46f-5818-8f05-9d714cd67f5c/scratchpad/assets/icons/office_building.png">    </p:cNvPr>
          <p:cNvPicPr>
            <a:picLocks noChangeAspect="1"/>
          </p:cNvPicPr>
          <p:nvPr/>
        </p:nvPicPr>
        <p:blipFill>
          <a:blip r:embed="rId5"/>
          <a:stretch>
            <a:fillRect/>
          </a:stretch>
        </p:blipFill>
        <p:spPr>
          <a:xfrm>
            <a:off x="10919582" y="5348143"/>
            <a:ext cx="422819" cy="422819"/>
          </a:xfrm>
          <a:prstGeom prst="rect">
            <a:avLst/>
          </a:prstGeom>
        </p:spPr>
      </p:pic>
      <p:sp>
        <p:nvSpPr>
          <p:cNvPr id="29" name="Text 21"/>
          <p:cNvSpPr txBox="1"/>
          <p:nvPr/>
        </p:nvSpPr>
        <p:spPr>
          <a:xfrm>
            <a:off x="6556248" y="5221224"/>
            <a:ext cx="4190695" cy="347472"/>
          </a:xfrm>
          <a:prstGeom prst="rect">
            <a:avLst/>
          </a:prstGeom>
          <a:noFill/>
          <a:ln/>
        </p:spPr>
        <p:txBody>
          <a:bodyPr wrap="square" lIns="0" tIns="0" rIns="0" bIns="0" rtlCol="0" anchor="ctr"/>
          <a:lstStyle/>
          <a:p>
            <a:pPr rtl="1" algn="r" indent="0" marL="0">
              <a:buNone/>
            </a:pPr>
            <a:r>
              <a:rPr lang="fa-IR" altLang="en-US" sz="1550" dirty="0">
                <a:solidFill>
                  <a:srgbClr val="14532D"/>
                </a:solidFill>
                <a:latin typeface="Vazirmatn Nobar ExtraBold" pitchFamily="34" charset="0"/>
                <a:ea typeface="Vazirmatn Nobar ExtraBold" pitchFamily="34" charset="-122"/>
                <a:cs typeface="Vazirmatn Nobar ExtraBold" pitchFamily="34" charset="-120"/>
              </a:rPr>
              <a:t>فروش عمده</a:t>
            </a:r>
            <a:endParaRPr lang="fa-IR" sz="1550" dirty="0"/>
          </a:p>
        </p:txBody>
      </p:sp>
      <p:sp>
        <p:nvSpPr>
          <p:cNvPr id="30" name="Text 22"/>
          <p:cNvSpPr txBox="1"/>
          <p:nvPr/>
        </p:nvSpPr>
        <p:spPr>
          <a:xfrm>
            <a:off x="6556248" y="5568696"/>
            <a:ext cx="4190695" cy="329184"/>
          </a:xfrm>
          <a:prstGeom prst="rect">
            <a:avLst/>
          </a:prstGeom>
          <a:noFill/>
          <a:ln/>
        </p:spPr>
        <p:txBody>
          <a:bodyPr wrap="square" lIns="0" tIns="0" rIns="0" bIns="0" rtlCol="0" anchor="ctr"/>
          <a:lstStyle/>
          <a:p>
            <a:pPr rtl="1" algn="r" indent="0" marL="0">
              <a:buNone/>
            </a:pPr>
            <a:r>
              <a:rPr lang="fa-IR" altLang="en-US" sz="1300" dirty="0">
                <a:solidFill>
                  <a:srgbClr val="1F2A1F"/>
                </a:solidFill>
                <a:latin typeface="Vazirmatn Nobar" pitchFamily="34" charset="0"/>
                <a:ea typeface="Vazirmatn Nobar" pitchFamily="34" charset="-122"/>
                <a:cs typeface="Vazirmatn Nobar" pitchFamily="34" charset="-120"/>
              </a:rPr>
              <a:t>رستوران‌ها و کافه‌ها؛ از سال دوم</a:t>
            </a:r>
            <a:endParaRPr lang="fa-IR" sz="1300" dirty="0"/>
          </a:p>
        </p:txBody>
      </p:sp>
      <p:sp>
        <p:nvSpPr>
          <p:cNvPr id="31" name="Shape 23"/>
          <p:cNvSpPr/>
          <p:nvPr/>
        </p:nvSpPr>
        <p:spPr>
          <a:xfrm>
            <a:off x="548640" y="1572768"/>
            <a:ext cx="5532120" cy="4389120"/>
          </a:xfrm>
          <a:prstGeom prst="roundRect">
            <a:avLst>
              <a:gd name="adj" fmla="val 3333"/>
            </a:avLst>
          </a:prstGeom>
          <a:solidFill>
            <a:srgbClr val="FFFFFF"/>
          </a:solidFill>
          <a:ln/>
          <a:effectLst>
            <a:outerShdw sx="100000" sy="100000" kx="0" ky="0" algn="bl" rotWithShape="0" blurRad="127000" dist="38100" dir="5400000">
              <a:srgbClr val="14532D">
                <a:alpha val="12000"/>
              </a:srgbClr>
            </a:outerShdw>
          </a:effectLst>
        </p:spPr>
      </p:sp>
      <p:sp>
        <p:nvSpPr>
          <p:cNvPr id="32" name="Text 24"/>
          <p:cNvSpPr txBox="1"/>
          <p:nvPr/>
        </p:nvSpPr>
        <p:spPr>
          <a:xfrm>
            <a:off x="777240" y="1700784"/>
            <a:ext cx="5074920" cy="365760"/>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اقتصاد واحد: تقسیم ۱۰ تومان کمیسیون از هر ۱۰۰ تومان فروش</a:t>
            </a:r>
            <a:endParaRPr lang="fa-IR" sz="1500" dirty="0"/>
          </a:p>
        </p:txBody>
      </p:sp>
      <p:sp>
        <p:nvSpPr>
          <p:cNvPr id="33" name="Text 25"/>
          <p:cNvSpPr txBox="1"/>
          <p:nvPr/>
        </p:nvSpPr>
        <p:spPr>
          <a:xfrm>
            <a:off x="777240" y="2048256"/>
            <a:ext cx="5074920" cy="274320"/>
          </a:xfrm>
          <a:prstGeom prst="rect">
            <a:avLst/>
          </a:prstGeom>
          <a:noFill/>
          <a:ln/>
        </p:spPr>
        <p:txBody>
          <a:bodyPr wrap="square" lIns="0" tIns="0" rIns="0" bIns="0" rtlCol="0" anchor="t"/>
          <a:lstStyle/>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برآورد تیم نوبر؛ واحد: تومان</a:t>
            </a:r>
            <a:endParaRPr lang="fa-IR" sz="1100" dirty="0"/>
          </a:p>
        </p:txBody>
      </p:sp>
      <p:sp>
        <p:nvSpPr>
          <p:cNvPr id="34" name="Text 26"/>
          <p:cNvSpPr txBox="1"/>
          <p:nvPr/>
        </p:nvSpPr>
        <p:spPr>
          <a:xfrm>
            <a:off x="4114800" y="2450592"/>
            <a:ext cx="1737360" cy="475488"/>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SemiBold" pitchFamily="34" charset="0"/>
                <a:ea typeface="Vazirmatn Nobar SemiBold" pitchFamily="34" charset="-122"/>
                <a:cs typeface="Vazirmatn Nobar SemiBold" pitchFamily="34" charset="-120"/>
              </a:rPr>
              <a:t>درگاه پرداخت</a:t>
            </a:r>
            <a:endParaRPr lang="fa-IR" sz="1250" dirty="0"/>
          </a:p>
        </p:txBody>
      </p:sp>
      <p:sp>
        <p:nvSpPr>
          <p:cNvPr id="35" name="Shape 27"/>
          <p:cNvSpPr/>
          <p:nvPr/>
        </p:nvSpPr>
        <p:spPr>
          <a:xfrm>
            <a:off x="3502152" y="2487168"/>
            <a:ext cx="502920" cy="182880"/>
          </a:xfrm>
          <a:prstGeom prst="rect">
            <a:avLst/>
          </a:prstGeom>
          <a:solidFill>
            <a:srgbClr val="A5D6A7"/>
          </a:solidFill>
          <a:ln/>
        </p:spPr>
      </p:sp>
      <p:sp>
        <p:nvSpPr>
          <p:cNvPr id="36" name="Text 28"/>
          <p:cNvSpPr txBox="1"/>
          <p:nvPr/>
        </p:nvSpPr>
        <p:spPr>
          <a:xfrm>
            <a:off x="2999232" y="2459736"/>
            <a:ext cx="438912" cy="237744"/>
          </a:xfrm>
          <a:prstGeom prst="rect">
            <a:avLst/>
          </a:prstGeom>
          <a:noFill/>
          <a:ln/>
        </p:spPr>
        <p:txBody>
          <a:bodyPr wrap="square" lIns="0" tIns="0" rIns="0" bIns="0" rtlCol="0" anchor="ctr"/>
          <a:lstStyle/>
          <a:p>
            <a:pPr rtl="1" algn="r" indent="0" marL="0">
              <a:buNone/>
            </a:pPr>
            <a:r>
              <a:rPr lang="fa-IR" altLang="en-US" sz="1150" dirty="0">
                <a:solidFill>
                  <a:srgbClr val="5F6B5F"/>
                </a:solidFill>
                <a:latin typeface="Vazirmatn Nobar Medium" pitchFamily="34" charset="0"/>
                <a:ea typeface="Vazirmatn Nobar Medium" pitchFamily="34" charset="-122"/>
                <a:cs typeface="Vazirmatn Nobar Medium" pitchFamily="34" charset="-120"/>
              </a:rPr>
              <a:t>۱</a:t>
            </a:r>
            <a:endParaRPr lang="fa-IR" sz="1150" dirty="0"/>
          </a:p>
        </p:txBody>
      </p:sp>
      <p:sp>
        <p:nvSpPr>
          <p:cNvPr id="37" name="Shape 29"/>
          <p:cNvSpPr/>
          <p:nvPr/>
        </p:nvSpPr>
        <p:spPr>
          <a:xfrm>
            <a:off x="3502152" y="2706624"/>
            <a:ext cx="502920" cy="182880"/>
          </a:xfrm>
          <a:prstGeom prst="rect">
            <a:avLst/>
          </a:prstGeom>
          <a:solidFill>
            <a:srgbClr val="2E7D32"/>
          </a:solidFill>
          <a:ln/>
        </p:spPr>
      </p:sp>
      <p:sp>
        <p:nvSpPr>
          <p:cNvPr id="38" name="Text 30"/>
          <p:cNvSpPr txBox="1"/>
          <p:nvPr/>
        </p:nvSpPr>
        <p:spPr>
          <a:xfrm>
            <a:off x="2999232" y="2679192"/>
            <a:ext cx="438912" cy="237744"/>
          </a:xfrm>
          <a:prstGeom prst="rect">
            <a:avLst/>
          </a:prstGeom>
          <a:noFill/>
          <a:ln/>
        </p:spPr>
        <p:txBody>
          <a:bodyPr wrap="square" lIns="0" tIns="0" rIns="0" bIns="0" rtlCol="0" anchor="ctr"/>
          <a:lstStyle/>
          <a:p>
            <a:pPr rtl="1" algn="r" indent="0" marL="0">
              <a:buNone/>
            </a:pPr>
            <a:r>
              <a:rPr lang="fa-IR" altLang="en-US" sz="1150" dirty="0">
                <a:solidFill>
                  <a:srgbClr val="14532D"/>
                </a:solidFill>
                <a:latin typeface="Vazirmatn Nobar ExtraBold" pitchFamily="34" charset="0"/>
                <a:ea typeface="Vazirmatn Nobar ExtraBold" pitchFamily="34" charset="-122"/>
                <a:cs typeface="Vazirmatn Nobar ExtraBold" pitchFamily="34" charset="-120"/>
              </a:rPr>
              <a:t>۱</a:t>
            </a:r>
            <a:endParaRPr lang="fa-IR" sz="1150" dirty="0"/>
          </a:p>
        </p:txBody>
      </p:sp>
      <p:sp>
        <p:nvSpPr>
          <p:cNvPr id="39" name="Text 31"/>
          <p:cNvSpPr txBox="1"/>
          <p:nvPr/>
        </p:nvSpPr>
        <p:spPr>
          <a:xfrm>
            <a:off x="4114800" y="3035808"/>
            <a:ext cx="1737360" cy="475488"/>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SemiBold" pitchFamily="34" charset="0"/>
                <a:ea typeface="Vazirmatn Nobar SemiBold" pitchFamily="34" charset="-122"/>
                <a:cs typeface="Vazirmatn Nobar SemiBold" pitchFamily="34" charset="-120"/>
              </a:rPr>
              <a:t>پشتیبانی و ضمانت تازگی</a:t>
            </a:r>
            <a:endParaRPr lang="fa-IR" sz="1250" dirty="0"/>
          </a:p>
        </p:txBody>
      </p:sp>
      <p:sp>
        <p:nvSpPr>
          <p:cNvPr id="40" name="Shape 32"/>
          <p:cNvSpPr/>
          <p:nvPr/>
        </p:nvSpPr>
        <p:spPr>
          <a:xfrm>
            <a:off x="2999232" y="3072384"/>
            <a:ext cx="1005840" cy="182880"/>
          </a:xfrm>
          <a:prstGeom prst="rect">
            <a:avLst/>
          </a:prstGeom>
          <a:solidFill>
            <a:srgbClr val="A5D6A7"/>
          </a:solidFill>
          <a:ln/>
        </p:spPr>
      </p:sp>
      <p:sp>
        <p:nvSpPr>
          <p:cNvPr id="41" name="Text 33"/>
          <p:cNvSpPr txBox="1"/>
          <p:nvPr/>
        </p:nvSpPr>
        <p:spPr>
          <a:xfrm>
            <a:off x="2496312" y="3044952"/>
            <a:ext cx="438912" cy="237744"/>
          </a:xfrm>
          <a:prstGeom prst="rect">
            <a:avLst/>
          </a:prstGeom>
          <a:noFill/>
          <a:ln/>
        </p:spPr>
        <p:txBody>
          <a:bodyPr wrap="square" lIns="0" tIns="0" rIns="0" bIns="0" rtlCol="0" anchor="ctr"/>
          <a:lstStyle/>
          <a:p>
            <a:pPr rtl="1" algn="r" indent="0" marL="0">
              <a:buNone/>
            </a:pPr>
            <a:r>
              <a:rPr lang="fa-IR" altLang="en-US" sz="1150" dirty="0">
                <a:solidFill>
                  <a:srgbClr val="5F6B5F"/>
                </a:solidFill>
                <a:latin typeface="Vazirmatn Nobar Medium" pitchFamily="34" charset="0"/>
                <a:ea typeface="Vazirmatn Nobar Medium" pitchFamily="34" charset="-122"/>
                <a:cs typeface="Vazirmatn Nobar Medium" pitchFamily="34" charset="-120"/>
              </a:rPr>
              <a:t>۲</a:t>
            </a:r>
            <a:endParaRPr lang="fa-IR" sz="1150" dirty="0"/>
          </a:p>
        </p:txBody>
      </p:sp>
      <p:sp>
        <p:nvSpPr>
          <p:cNvPr id="42" name="Shape 34"/>
          <p:cNvSpPr/>
          <p:nvPr/>
        </p:nvSpPr>
        <p:spPr>
          <a:xfrm>
            <a:off x="3250692" y="3291840"/>
            <a:ext cx="754380" cy="182880"/>
          </a:xfrm>
          <a:prstGeom prst="rect">
            <a:avLst/>
          </a:prstGeom>
          <a:solidFill>
            <a:srgbClr val="2E7D32"/>
          </a:solidFill>
          <a:ln/>
        </p:spPr>
      </p:sp>
      <p:sp>
        <p:nvSpPr>
          <p:cNvPr id="43" name="Text 35"/>
          <p:cNvSpPr txBox="1"/>
          <p:nvPr/>
        </p:nvSpPr>
        <p:spPr>
          <a:xfrm>
            <a:off x="2747772" y="3264408"/>
            <a:ext cx="438912" cy="237744"/>
          </a:xfrm>
          <a:prstGeom prst="rect">
            <a:avLst/>
          </a:prstGeom>
          <a:noFill/>
          <a:ln/>
        </p:spPr>
        <p:txBody>
          <a:bodyPr wrap="square" lIns="0" tIns="0" rIns="0" bIns="0" rtlCol="0" anchor="ctr"/>
          <a:lstStyle/>
          <a:p>
            <a:pPr rtl="1" algn="r" indent="0" marL="0">
              <a:buNone/>
            </a:pPr>
            <a:r>
              <a:rPr lang="fa-IR" altLang="en-US" sz="1150" dirty="0">
                <a:solidFill>
                  <a:srgbClr val="14532D"/>
                </a:solidFill>
                <a:latin typeface="Vazirmatn Nobar ExtraBold" pitchFamily="34" charset="0"/>
                <a:ea typeface="Vazirmatn Nobar ExtraBold" pitchFamily="34" charset="-122"/>
                <a:cs typeface="Vazirmatn Nobar ExtraBold" pitchFamily="34" charset="-120"/>
              </a:rPr>
              <a:t>۱٫۵</a:t>
            </a:r>
            <a:endParaRPr lang="fa-IR" sz="1150" dirty="0"/>
          </a:p>
        </p:txBody>
      </p:sp>
      <p:sp>
        <p:nvSpPr>
          <p:cNvPr id="44" name="Text 36"/>
          <p:cNvSpPr txBox="1"/>
          <p:nvPr/>
        </p:nvSpPr>
        <p:spPr>
          <a:xfrm>
            <a:off x="4114800" y="3621024"/>
            <a:ext cx="1737360" cy="475488"/>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SemiBold" pitchFamily="34" charset="0"/>
                <a:ea typeface="Vazirmatn Nobar SemiBold" pitchFamily="34" charset="-122"/>
                <a:cs typeface="Vazirmatn Nobar SemiBold" pitchFamily="34" charset="-120"/>
              </a:rPr>
              <a:t>زیرساخت و هوش مصنوعی</a:t>
            </a:r>
            <a:endParaRPr lang="fa-IR" sz="1250" dirty="0"/>
          </a:p>
        </p:txBody>
      </p:sp>
      <p:sp>
        <p:nvSpPr>
          <p:cNvPr id="45" name="Shape 37"/>
          <p:cNvSpPr/>
          <p:nvPr/>
        </p:nvSpPr>
        <p:spPr>
          <a:xfrm>
            <a:off x="3502152" y="3657600"/>
            <a:ext cx="502920" cy="182880"/>
          </a:xfrm>
          <a:prstGeom prst="rect">
            <a:avLst/>
          </a:prstGeom>
          <a:solidFill>
            <a:srgbClr val="A5D6A7"/>
          </a:solidFill>
          <a:ln/>
        </p:spPr>
      </p:sp>
      <p:sp>
        <p:nvSpPr>
          <p:cNvPr id="46" name="Text 38"/>
          <p:cNvSpPr txBox="1"/>
          <p:nvPr/>
        </p:nvSpPr>
        <p:spPr>
          <a:xfrm>
            <a:off x="2999232" y="3630168"/>
            <a:ext cx="438912" cy="237744"/>
          </a:xfrm>
          <a:prstGeom prst="rect">
            <a:avLst/>
          </a:prstGeom>
          <a:noFill/>
          <a:ln/>
        </p:spPr>
        <p:txBody>
          <a:bodyPr wrap="square" lIns="0" tIns="0" rIns="0" bIns="0" rtlCol="0" anchor="ctr"/>
          <a:lstStyle/>
          <a:p>
            <a:pPr rtl="1" algn="r" indent="0" marL="0">
              <a:buNone/>
            </a:pPr>
            <a:r>
              <a:rPr lang="fa-IR" altLang="en-US" sz="1150" dirty="0">
                <a:solidFill>
                  <a:srgbClr val="5F6B5F"/>
                </a:solidFill>
                <a:latin typeface="Vazirmatn Nobar Medium" pitchFamily="34" charset="0"/>
                <a:ea typeface="Vazirmatn Nobar Medium" pitchFamily="34" charset="-122"/>
                <a:cs typeface="Vazirmatn Nobar Medium" pitchFamily="34" charset="-120"/>
              </a:rPr>
              <a:t>۱</a:t>
            </a:r>
            <a:endParaRPr lang="fa-IR" sz="1150" dirty="0"/>
          </a:p>
        </p:txBody>
      </p:sp>
      <p:sp>
        <p:nvSpPr>
          <p:cNvPr id="47" name="Shape 39"/>
          <p:cNvSpPr/>
          <p:nvPr/>
        </p:nvSpPr>
        <p:spPr>
          <a:xfrm>
            <a:off x="3602736" y="3877056"/>
            <a:ext cx="402336" cy="182880"/>
          </a:xfrm>
          <a:prstGeom prst="rect">
            <a:avLst/>
          </a:prstGeom>
          <a:solidFill>
            <a:srgbClr val="2E7D32"/>
          </a:solidFill>
          <a:ln/>
        </p:spPr>
      </p:sp>
      <p:sp>
        <p:nvSpPr>
          <p:cNvPr id="48" name="Text 40"/>
          <p:cNvSpPr txBox="1"/>
          <p:nvPr/>
        </p:nvSpPr>
        <p:spPr>
          <a:xfrm>
            <a:off x="3099816" y="3849624"/>
            <a:ext cx="438912" cy="237744"/>
          </a:xfrm>
          <a:prstGeom prst="rect">
            <a:avLst/>
          </a:prstGeom>
          <a:noFill/>
          <a:ln/>
        </p:spPr>
        <p:txBody>
          <a:bodyPr wrap="square" lIns="0" tIns="0" rIns="0" bIns="0" rtlCol="0" anchor="ctr"/>
          <a:lstStyle/>
          <a:p>
            <a:pPr rtl="1" algn="r" indent="0" marL="0">
              <a:buNone/>
            </a:pPr>
            <a:r>
              <a:rPr lang="fa-IR" altLang="en-US" sz="1150" dirty="0">
                <a:solidFill>
                  <a:srgbClr val="14532D"/>
                </a:solidFill>
                <a:latin typeface="Vazirmatn Nobar ExtraBold" pitchFamily="34" charset="0"/>
                <a:ea typeface="Vazirmatn Nobar ExtraBold" pitchFamily="34" charset="-122"/>
                <a:cs typeface="Vazirmatn Nobar ExtraBold" pitchFamily="34" charset="-120"/>
              </a:rPr>
              <a:t>۰٫۸</a:t>
            </a:r>
            <a:endParaRPr lang="fa-IR" sz="1150" dirty="0"/>
          </a:p>
        </p:txBody>
      </p:sp>
      <p:sp>
        <p:nvSpPr>
          <p:cNvPr id="49" name="Text 41"/>
          <p:cNvSpPr txBox="1"/>
          <p:nvPr/>
        </p:nvSpPr>
        <p:spPr>
          <a:xfrm>
            <a:off x="4114800" y="4206240"/>
            <a:ext cx="1737360" cy="475488"/>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SemiBold" pitchFamily="34" charset="0"/>
                <a:ea typeface="Vazirmatn Nobar SemiBold" pitchFamily="34" charset="-122"/>
                <a:cs typeface="Vazirmatn Nobar SemiBold" pitchFamily="34" charset="-120"/>
              </a:rPr>
              <a:t>بازاریابی و جذب</a:t>
            </a:r>
            <a:endParaRPr lang="fa-IR" sz="1250" dirty="0"/>
          </a:p>
        </p:txBody>
      </p:sp>
      <p:sp>
        <p:nvSpPr>
          <p:cNvPr id="50" name="Shape 42"/>
          <p:cNvSpPr/>
          <p:nvPr/>
        </p:nvSpPr>
        <p:spPr>
          <a:xfrm>
            <a:off x="2496312" y="4242816"/>
            <a:ext cx="1508760" cy="182880"/>
          </a:xfrm>
          <a:prstGeom prst="rect">
            <a:avLst/>
          </a:prstGeom>
          <a:solidFill>
            <a:srgbClr val="A5D6A7"/>
          </a:solidFill>
          <a:ln/>
        </p:spPr>
      </p:sp>
      <p:sp>
        <p:nvSpPr>
          <p:cNvPr id="51" name="Text 43"/>
          <p:cNvSpPr txBox="1"/>
          <p:nvPr/>
        </p:nvSpPr>
        <p:spPr>
          <a:xfrm>
            <a:off x="1993392" y="4215384"/>
            <a:ext cx="438912" cy="237744"/>
          </a:xfrm>
          <a:prstGeom prst="rect">
            <a:avLst/>
          </a:prstGeom>
          <a:noFill/>
          <a:ln/>
        </p:spPr>
        <p:txBody>
          <a:bodyPr wrap="square" lIns="0" tIns="0" rIns="0" bIns="0" rtlCol="0" anchor="ctr"/>
          <a:lstStyle/>
          <a:p>
            <a:pPr rtl="1" algn="r" indent="0" marL="0">
              <a:buNone/>
            </a:pPr>
            <a:r>
              <a:rPr lang="fa-IR" altLang="en-US" sz="1150" dirty="0">
                <a:solidFill>
                  <a:srgbClr val="5F6B5F"/>
                </a:solidFill>
                <a:latin typeface="Vazirmatn Nobar Medium" pitchFamily="34" charset="0"/>
                <a:ea typeface="Vazirmatn Nobar Medium" pitchFamily="34" charset="-122"/>
                <a:cs typeface="Vazirmatn Nobar Medium" pitchFamily="34" charset="-120"/>
              </a:rPr>
              <a:t>۳</a:t>
            </a:r>
            <a:endParaRPr lang="fa-IR" sz="1150" dirty="0"/>
          </a:p>
        </p:txBody>
      </p:sp>
      <p:sp>
        <p:nvSpPr>
          <p:cNvPr id="52" name="Shape 44"/>
          <p:cNvSpPr/>
          <p:nvPr/>
        </p:nvSpPr>
        <p:spPr>
          <a:xfrm>
            <a:off x="3250692" y="4462272"/>
            <a:ext cx="754380" cy="182880"/>
          </a:xfrm>
          <a:prstGeom prst="rect">
            <a:avLst/>
          </a:prstGeom>
          <a:solidFill>
            <a:srgbClr val="2E7D32"/>
          </a:solidFill>
          <a:ln/>
        </p:spPr>
      </p:sp>
      <p:sp>
        <p:nvSpPr>
          <p:cNvPr id="53" name="Text 45"/>
          <p:cNvSpPr txBox="1"/>
          <p:nvPr/>
        </p:nvSpPr>
        <p:spPr>
          <a:xfrm>
            <a:off x="2747772" y="4434840"/>
            <a:ext cx="438912" cy="237744"/>
          </a:xfrm>
          <a:prstGeom prst="rect">
            <a:avLst/>
          </a:prstGeom>
          <a:noFill/>
          <a:ln/>
        </p:spPr>
        <p:txBody>
          <a:bodyPr wrap="square" lIns="0" tIns="0" rIns="0" bIns="0" rtlCol="0" anchor="ctr"/>
          <a:lstStyle/>
          <a:p>
            <a:pPr rtl="1" algn="r" indent="0" marL="0">
              <a:buNone/>
            </a:pPr>
            <a:r>
              <a:rPr lang="fa-IR" altLang="en-US" sz="1150" dirty="0">
                <a:solidFill>
                  <a:srgbClr val="14532D"/>
                </a:solidFill>
                <a:latin typeface="Vazirmatn Nobar ExtraBold" pitchFamily="34" charset="0"/>
                <a:ea typeface="Vazirmatn Nobar ExtraBold" pitchFamily="34" charset="-122"/>
                <a:cs typeface="Vazirmatn Nobar ExtraBold" pitchFamily="34" charset="-120"/>
              </a:rPr>
              <a:t>۱٫۵</a:t>
            </a:r>
            <a:endParaRPr lang="fa-IR" sz="1150" dirty="0"/>
          </a:p>
        </p:txBody>
      </p:sp>
      <p:sp>
        <p:nvSpPr>
          <p:cNvPr id="54" name="Text 46"/>
          <p:cNvSpPr txBox="1"/>
          <p:nvPr/>
        </p:nvSpPr>
        <p:spPr>
          <a:xfrm>
            <a:off x="4114800" y="4791456"/>
            <a:ext cx="1737360" cy="475488"/>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SemiBold" pitchFamily="34" charset="0"/>
                <a:ea typeface="Vazirmatn Nobar SemiBold" pitchFamily="34" charset="-122"/>
                <a:cs typeface="Vazirmatn Nobar SemiBold" pitchFamily="34" charset="-120"/>
              </a:rPr>
              <a:t>حاشیه‌ی مشارکت</a:t>
            </a:r>
            <a:endParaRPr lang="fa-IR" sz="1250" dirty="0"/>
          </a:p>
        </p:txBody>
      </p:sp>
      <p:sp>
        <p:nvSpPr>
          <p:cNvPr id="55" name="Shape 47"/>
          <p:cNvSpPr/>
          <p:nvPr/>
        </p:nvSpPr>
        <p:spPr>
          <a:xfrm>
            <a:off x="2496312" y="4828032"/>
            <a:ext cx="1508760" cy="182880"/>
          </a:xfrm>
          <a:prstGeom prst="rect">
            <a:avLst/>
          </a:prstGeom>
          <a:solidFill>
            <a:srgbClr val="A5D6A7"/>
          </a:solidFill>
          <a:ln/>
        </p:spPr>
      </p:sp>
      <p:sp>
        <p:nvSpPr>
          <p:cNvPr id="56" name="Text 48"/>
          <p:cNvSpPr txBox="1"/>
          <p:nvPr/>
        </p:nvSpPr>
        <p:spPr>
          <a:xfrm>
            <a:off x="1993392" y="4800600"/>
            <a:ext cx="438912" cy="237744"/>
          </a:xfrm>
          <a:prstGeom prst="rect">
            <a:avLst/>
          </a:prstGeom>
          <a:noFill/>
          <a:ln/>
        </p:spPr>
        <p:txBody>
          <a:bodyPr wrap="square" lIns="0" tIns="0" rIns="0" bIns="0" rtlCol="0" anchor="ctr"/>
          <a:lstStyle/>
          <a:p>
            <a:pPr rtl="1" algn="r" indent="0" marL="0">
              <a:buNone/>
            </a:pPr>
            <a:r>
              <a:rPr lang="fa-IR" altLang="en-US" sz="1150" dirty="0">
                <a:solidFill>
                  <a:srgbClr val="5F6B5F"/>
                </a:solidFill>
                <a:latin typeface="Vazirmatn Nobar Medium" pitchFamily="34" charset="0"/>
                <a:ea typeface="Vazirmatn Nobar Medium" pitchFamily="34" charset="-122"/>
                <a:cs typeface="Vazirmatn Nobar Medium" pitchFamily="34" charset="-120"/>
              </a:rPr>
              <a:t>۳</a:t>
            </a:r>
            <a:endParaRPr lang="fa-IR" sz="1150" dirty="0"/>
          </a:p>
        </p:txBody>
      </p:sp>
      <p:sp>
        <p:nvSpPr>
          <p:cNvPr id="57" name="Shape 49"/>
          <p:cNvSpPr/>
          <p:nvPr/>
        </p:nvSpPr>
        <p:spPr>
          <a:xfrm>
            <a:off x="1389888" y="5047488"/>
            <a:ext cx="2615184" cy="182880"/>
          </a:xfrm>
          <a:prstGeom prst="rect">
            <a:avLst/>
          </a:prstGeom>
          <a:solidFill>
            <a:srgbClr val="2E7D32"/>
          </a:solidFill>
          <a:ln/>
        </p:spPr>
      </p:sp>
      <p:sp>
        <p:nvSpPr>
          <p:cNvPr id="58" name="Text 50"/>
          <p:cNvSpPr txBox="1"/>
          <p:nvPr/>
        </p:nvSpPr>
        <p:spPr>
          <a:xfrm>
            <a:off x="886968" y="5020056"/>
            <a:ext cx="438912" cy="237744"/>
          </a:xfrm>
          <a:prstGeom prst="rect">
            <a:avLst/>
          </a:prstGeom>
          <a:noFill/>
          <a:ln/>
        </p:spPr>
        <p:txBody>
          <a:bodyPr wrap="square" lIns="0" tIns="0" rIns="0" bIns="0" rtlCol="0" anchor="ctr"/>
          <a:lstStyle/>
          <a:p>
            <a:pPr rtl="1" algn="r" indent="0" marL="0">
              <a:buNone/>
            </a:pPr>
            <a:r>
              <a:rPr lang="fa-IR" altLang="en-US" sz="1150" dirty="0">
                <a:solidFill>
                  <a:srgbClr val="14532D"/>
                </a:solidFill>
                <a:latin typeface="Vazirmatn Nobar ExtraBold" pitchFamily="34" charset="0"/>
                <a:ea typeface="Vazirmatn Nobar ExtraBold" pitchFamily="34" charset="-122"/>
                <a:cs typeface="Vazirmatn Nobar ExtraBold" pitchFamily="34" charset="-120"/>
              </a:rPr>
              <a:t>۵٫۲</a:t>
            </a:r>
            <a:endParaRPr lang="fa-IR" sz="1150" dirty="0"/>
          </a:p>
        </p:txBody>
      </p:sp>
      <p:sp>
        <p:nvSpPr>
          <p:cNvPr id="59" name="Shape 51"/>
          <p:cNvSpPr/>
          <p:nvPr/>
        </p:nvSpPr>
        <p:spPr>
          <a:xfrm>
            <a:off x="4005072" y="2404872"/>
            <a:ext cx="0" cy="2926080"/>
          </a:xfrm>
          <a:prstGeom prst="line">
            <a:avLst/>
          </a:prstGeom>
          <a:noFill/>
          <a:ln w="12700">
            <a:solidFill>
              <a:srgbClr val="DCE8D7"/>
            </a:solidFill>
            <a:prstDash val="solid"/>
          </a:ln>
        </p:spPr>
      </p:sp>
      <p:sp>
        <p:nvSpPr>
          <p:cNvPr id="60" name="Shape 52"/>
          <p:cNvSpPr/>
          <p:nvPr/>
        </p:nvSpPr>
        <p:spPr>
          <a:xfrm>
            <a:off x="5623560" y="5532120"/>
            <a:ext cx="201168" cy="201168"/>
          </a:xfrm>
          <a:prstGeom prst="roundRect">
            <a:avLst>
              <a:gd name="adj" fmla="val 22727"/>
            </a:avLst>
          </a:prstGeom>
          <a:solidFill>
            <a:srgbClr val="A5D6A7"/>
          </a:solidFill>
          <a:ln/>
        </p:spPr>
      </p:sp>
      <p:sp>
        <p:nvSpPr>
          <p:cNvPr id="61" name="Text 53"/>
          <p:cNvSpPr txBox="1"/>
          <p:nvPr/>
        </p:nvSpPr>
        <p:spPr>
          <a:xfrm>
            <a:off x="4663440" y="5477256"/>
            <a:ext cx="914400" cy="310896"/>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SemiBold" pitchFamily="34" charset="0"/>
                <a:ea typeface="Vazirmatn Nobar SemiBold" pitchFamily="34" charset="-122"/>
                <a:cs typeface="Vazirmatn Nobar SemiBold" pitchFamily="34" charset="-120"/>
              </a:rPr>
              <a:t>سال اول</a:t>
            </a:r>
            <a:endParaRPr lang="fa-IR" sz="1250" dirty="0"/>
          </a:p>
        </p:txBody>
      </p:sp>
      <p:sp>
        <p:nvSpPr>
          <p:cNvPr id="62" name="Shape 54"/>
          <p:cNvSpPr/>
          <p:nvPr/>
        </p:nvSpPr>
        <p:spPr>
          <a:xfrm>
            <a:off x="4343400" y="5532120"/>
            <a:ext cx="201168" cy="201168"/>
          </a:xfrm>
          <a:prstGeom prst="roundRect">
            <a:avLst>
              <a:gd name="adj" fmla="val 22727"/>
            </a:avLst>
          </a:prstGeom>
          <a:solidFill>
            <a:srgbClr val="2E7D32"/>
          </a:solidFill>
          <a:ln/>
        </p:spPr>
      </p:sp>
      <p:sp>
        <p:nvSpPr>
          <p:cNvPr id="63" name="Text 55"/>
          <p:cNvSpPr txBox="1"/>
          <p:nvPr/>
        </p:nvSpPr>
        <p:spPr>
          <a:xfrm>
            <a:off x="3383280" y="5477256"/>
            <a:ext cx="914400" cy="310896"/>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SemiBold" pitchFamily="34" charset="0"/>
                <a:ea typeface="Vazirmatn Nobar SemiBold" pitchFamily="34" charset="-122"/>
                <a:cs typeface="Vazirmatn Nobar SemiBold" pitchFamily="34" charset="-120"/>
              </a:rPr>
              <a:t>سال سوم</a:t>
            </a:r>
            <a:endParaRPr lang="fa-IR"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۱۳</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اهداف سه‌ساله</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رشد مرحله‌ای از یک استان به سراسر کشور، بر پایه‌ی فرض‌های شفاف</a:t>
            </a:r>
            <a:endParaRPr lang="fa-IR" sz="1600" dirty="0"/>
          </a:p>
        </p:txBody>
      </p:sp>
      <p:sp>
        <p:nvSpPr>
          <p:cNvPr id="6" name="Shape 3"/>
          <p:cNvSpPr/>
          <p:nvPr/>
        </p:nvSpPr>
        <p:spPr>
          <a:xfrm>
            <a:off x="548640" y="1572768"/>
            <a:ext cx="5669280" cy="4434840"/>
          </a:xfrm>
          <a:prstGeom prst="roundRect">
            <a:avLst>
              <a:gd name="adj" fmla="val 3299"/>
            </a:avLst>
          </a:prstGeom>
          <a:solidFill>
            <a:srgbClr val="FFFFFF"/>
          </a:solidFill>
          <a:ln/>
          <a:effectLst>
            <a:outerShdw sx="100000" sy="100000" kx="0" ky="0" algn="bl" rotWithShape="0" blurRad="127000" dist="38100" dir="5400000">
              <a:srgbClr val="14532D">
                <a:alpha val="12000"/>
              </a:srgbClr>
            </a:outerShdw>
          </a:effectLst>
        </p:spPr>
      </p:sp>
      <p:sp>
        <p:nvSpPr>
          <p:cNvPr id="7" name="Text 4"/>
          <p:cNvSpPr txBox="1"/>
          <p:nvPr/>
        </p:nvSpPr>
        <p:spPr>
          <a:xfrm>
            <a:off x="777240" y="1700784"/>
            <a:ext cx="5212080" cy="365760"/>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حجم فروش (GMV) — میلیارد تومان</a:t>
            </a:r>
            <a:endParaRPr lang="fa-IR" sz="1500" dirty="0"/>
          </a:p>
        </p:txBody>
      </p:sp>
      <p:sp>
        <p:nvSpPr>
          <p:cNvPr id="8" name="Shape 5"/>
          <p:cNvSpPr/>
          <p:nvPr/>
        </p:nvSpPr>
        <p:spPr>
          <a:xfrm>
            <a:off x="868680" y="4526280"/>
            <a:ext cx="5029200" cy="0"/>
          </a:xfrm>
          <a:prstGeom prst="line">
            <a:avLst/>
          </a:prstGeom>
          <a:noFill/>
          <a:ln w="9525">
            <a:solidFill>
              <a:srgbClr val="E6EEE3"/>
            </a:solidFill>
            <a:prstDash val="solid"/>
          </a:ln>
        </p:spPr>
      </p:sp>
      <p:sp>
        <p:nvSpPr>
          <p:cNvPr id="9" name="Shape 6"/>
          <p:cNvSpPr/>
          <p:nvPr/>
        </p:nvSpPr>
        <p:spPr>
          <a:xfrm>
            <a:off x="868680" y="3611880"/>
            <a:ext cx="5029200" cy="0"/>
          </a:xfrm>
          <a:prstGeom prst="line">
            <a:avLst/>
          </a:prstGeom>
          <a:noFill/>
          <a:ln w="9525">
            <a:solidFill>
              <a:srgbClr val="E6EEE3"/>
            </a:solidFill>
            <a:prstDash val="solid"/>
          </a:ln>
        </p:spPr>
      </p:sp>
      <p:sp>
        <p:nvSpPr>
          <p:cNvPr id="10" name="Shape 7"/>
          <p:cNvSpPr/>
          <p:nvPr/>
        </p:nvSpPr>
        <p:spPr>
          <a:xfrm>
            <a:off x="868680" y="2697480"/>
            <a:ext cx="5029200" cy="0"/>
          </a:xfrm>
          <a:prstGeom prst="line">
            <a:avLst/>
          </a:prstGeom>
          <a:noFill/>
          <a:ln w="9525">
            <a:solidFill>
              <a:srgbClr val="E6EEE3"/>
            </a:solidFill>
            <a:prstDash val="solid"/>
          </a:ln>
        </p:spPr>
      </p:sp>
      <p:sp>
        <p:nvSpPr>
          <p:cNvPr id="11" name="Shape 8"/>
          <p:cNvSpPr/>
          <p:nvPr/>
        </p:nvSpPr>
        <p:spPr>
          <a:xfrm>
            <a:off x="868680" y="5440680"/>
            <a:ext cx="5029200" cy="0"/>
          </a:xfrm>
          <a:prstGeom prst="line">
            <a:avLst/>
          </a:prstGeom>
          <a:noFill/>
          <a:ln w="12700">
            <a:solidFill>
              <a:srgbClr val="A8B3A5"/>
            </a:solidFill>
            <a:prstDash val="solid"/>
          </a:ln>
        </p:spPr>
      </p:sp>
      <p:sp>
        <p:nvSpPr>
          <p:cNvPr id="12" name="Shape 9"/>
          <p:cNvSpPr/>
          <p:nvPr/>
        </p:nvSpPr>
        <p:spPr>
          <a:xfrm>
            <a:off x="4686300" y="5166360"/>
            <a:ext cx="1051560" cy="274320"/>
          </a:xfrm>
          <a:prstGeom prst="rect">
            <a:avLst/>
          </a:prstGeom>
          <a:solidFill>
            <a:srgbClr val="2E7D32"/>
          </a:solidFill>
          <a:ln/>
        </p:spPr>
      </p:sp>
      <p:sp>
        <p:nvSpPr>
          <p:cNvPr id="13" name="Text 10"/>
          <p:cNvSpPr txBox="1"/>
          <p:nvPr/>
        </p:nvSpPr>
        <p:spPr>
          <a:xfrm>
            <a:off x="4480560" y="4727448"/>
            <a:ext cx="1463040" cy="384048"/>
          </a:xfrm>
          <a:prstGeom prst="rect">
            <a:avLst/>
          </a:prstGeom>
          <a:noFill/>
          <a:ln/>
        </p:spPr>
        <p:txBody>
          <a:bodyPr wrap="square" lIns="0" tIns="0" rIns="0" bIns="0" rtlCol="0" anchor="ctr"/>
          <a:lstStyle/>
          <a:p>
            <a:pPr rtl="1" algn="ctr" indent="0" marL="0">
              <a:buNone/>
            </a:pPr>
            <a:r>
              <a:rPr lang="fa-IR" altLang="en-US" sz="1800" dirty="0">
                <a:solidFill>
                  <a:srgbClr val="14532D"/>
                </a:solidFill>
                <a:latin typeface="Vazirmatn Nobar Black" pitchFamily="34" charset="0"/>
                <a:ea typeface="Vazirmatn Nobar Black" pitchFamily="34" charset="-122"/>
                <a:cs typeface="Vazirmatn Nobar Black" pitchFamily="34" charset="-120"/>
              </a:rPr>
              <a:t>۲۴</a:t>
            </a:r>
            <a:endParaRPr lang="fa-IR" sz="1800" dirty="0"/>
          </a:p>
        </p:txBody>
      </p:sp>
      <p:sp>
        <p:nvSpPr>
          <p:cNvPr id="14" name="Text 11"/>
          <p:cNvSpPr txBox="1"/>
          <p:nvPr/>
        </p:nvSpPr>
        <p:spPr>
          <a:xfrm>
            <a:off x="4480560" y="5513832"/>
            <a:ext cx="1463040" cy="329184"/>
          </a:xfrm>
          <a:prstGeom prst="rect">
            <a:avLst/>
          </a:prstGeom>
          <a:noFill/>
          <a:ln/>
        </p:spPr>
        <p:txBody>
          <a:bodyPr wrap="square" lIns="0" tIns="0" rIns="0" bIns="0" rtlCol="0" anchor="t"/>
          <a:lstStyle/>
          <a:p>
            <a:pPr rtl="1" algn="ct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سال اول</a:t>
            </a:r>
            <a:endParaRPr lang="fa-IR" sz="1350" dirty="0"/>
          </a:p>
        </p:txBody>
      </p:sp>
      <p:sp>
        <p:nvSpPr>
          <p:cNvPr id="15" name="Shape 12"/>
          <p:cNvSpPr/>
          <p:nvPr/>
        </p:nvSpPr>
        <p:spPr>
          <a:xfrm>
            <a:off x="2903220" y="4343400"/>
            <a:ext cx="1051560" cy="1097280"/>
          </a:xfrm>
          <a:prstGeom prst="rect">
            <a:avLst/>
          </a:prstGeom>
          <a:solidFill>
            <a:srgbClr val="2E7D32"/>
          </a:solidFill>
          <a:ln/>
        </p:spPr>
      </p:sp>
      <p:sp>
        <p:nvSpPr>
          <p:cNvPr id="16" name="Text 13"/>
          <p:cNvSpPr txBox="1"/>
          <p:nvPr/>
        </p:nvSpPr>
        <p:spPr>
          <a:xfrm>
            <a:off x="2697480" y="3904488"/>
            <a:ext cx="1463040" cy="384048"/>
          </a:xfrm>
          <a:prstGeom prst="rect">
            <a:avLst/>
          </a:prstGeom>
          <a:noFill/>
          <a:ln/>
        </p:spPr>
        <p:txBody>
          <a:bodyPr wrap="square" lIns="0" tIns="0" rIns="0" bIns="0" rtlCol="0" anchor="ctr"/>
          <a:lstStyle/>
          <a:p>
            <a:pPr rtl="1" algn="ctr" indent="0" marL="0">
              <a:buNone/>
            </a:pPr>
            <a:r>
              <a:rPr lang="fa-IR" altLang="en-US" sz="1800" dirty="0">
                <a:solidFill>
                  <a:srgbClr val="14532D"/>
                </a:solidFill>
                <a:latin typeface="Vazirmatn Nobar Black" pitchFamily="34" charset="0"/>
                <a:ea typeface="Vazirmatn Nobar Black" pitchFamily="34" charset="-122"/>
                <a:cs typeface="Vazirmatn Nobar Black" pitchFamily="34" charset="-120"/>
              </a:rPr>
              <a:t>۹۶</a:t>
            </a:r>
            <a:endParaRPr lang="fa-IR" sz="1800" dirty="0"/>
          </a:p>
        </p:txBody>
      </p:sp>
      <p:sp>
        <p:nvSpPr>
          <p:cNvPr id="17" name="Text 14"/>
          <p:cNvSpPr txBox="1"/>
          <p:nvPr/>
        </p:nvSpPr>
        <p:spPr>
          <a:xfrm>
            <a:off x="2697480" y="5513832"/>
            <a:ext cx="1463040" cy="329184"/>
          </a:xfrm>
          <a:prstGeom prst="rect">
            <a:avLst/>
          </a:prstGeom>
          <a:noFill/>
          <a:ln/>
        </p:spPr>
        <p:txBody>
          <a:bodyPr wrap="square" lIns="0" tIns="0" rIns="0" bIns="0" rtlCol="0" anchor="t"/>
          <a:lstStyle/>
          <a:p>
            <a:pPr rtl="1" algn="ct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سال دوم</a:t>
            </a:r>
            <a:endParaRPr lang="fa-IR" sz="1350" dirty="0"/>
          </a:p>
        </p:txBody>
      </p:sp>
      <p:sp>
        <p:nvSpPr>
          <p:cNvPr id="18" name="Shape 15"/>
          <p:cNvSpPr/>
          <p:nvPr/>
        </p:nvSpPr>
        <p:spPr>
          <a:xfrm>
            <a:off x="1120140" y="2697480"/>
            <a:ext cx="1051560" cy="2743200"/>
          </a:xfrm>
          <a:prstGeom prst="rect">
            <a:avLst/>
          </a:prstGeom>
          <a:solidFill>
            <a:srgbClr val="14532D"/>
          </a:solidFill>
          <a:ln/>
        </p:spPr>
      </p:sp>
      <p:sp>
        <p:nvSpPr>
          <p:cNvPr id="19" name="Text 16"/>
          <p:cNvSpPr txBox="1"/>
          <p:nvPr/>
        </p:nvSpPr>
        <p:spPr>
          <a:xfrm>
            <a:off x="914400" y="2258568"/>
            <a:ext cx="1463040" cy="384048"/>
          </a:xfrm>
          <a:prstGeom prst="rect">
            <a:avLst/>
          </a:prstGeom>
          <a:noFill/>
          <a:ln/>
        </p:spPr>
        <p:txBody>
          <a:bodyPr wrap="square" lIns="0" tIns="0" rIns="0" bIns="0" rtlCol="0" anchor="ctr"/>
          <a:lstStyle/>
          <a:p>
            <a:pPr rtl="1" algn="ctr" indent="0" marL="0">
              <a:buNone/>
            </a:pPr>
            <a:r>
              <a:rPr lang="fa-IR" altLang="en-US" sz="1800" dirty="0">
                <a:solidFill>
                  <a:srgbClr val="14532D"/>
                </a:solidFill>
                <a:latin typeface="Vazirmatn Nobar Black" pitchFamily="34" charset="0"/>
                <a:ea typeface="Vazirmatn Nobar Black" pitchFamily="34" charset="-122"/>
                <a:cs typeface="Vazirmatn Nobar Black" pitchFamily="34" charset="-120"/>
              </a:rPr>
              <a:t>۲۴۰</a:t>
            </a:r>
            <a:endParaRPr lang="fa-IR" sz="1800" dirty="0"/>
          </a:p>
        </p:txBody>
      </p:sp>
      <p:sp>
        <p:nvSpPr>
          <p:cNvPr id="20" name="Text 17"/>
          <p:cNvSpPr txBox="1"/>
          <p:nvPr/>
        </p:nvSpPr>
        <p:spPr>
          <a:xfrm>
            <a:off x="914400" y="5513832"/>
            <a:ext cx="1463040" cy="329184"/>
          </a:xfrm>
          <a:prstGeom prst="rect">
            <a:avLst/>
          </a:prstGeom>
          <a:noFill/>
          <a:ln/>
        </p:spPr>
        <p:txBody>
          <a:bodyPr wrap="square" lIns="0" tIns="0" rIns="0" bIns="0" rtlCol="0" anchor="t"/>
          <a:lstStyle/>
          <a:p>
            <a:pPr rtl="1" algn="ct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سال سوم</a:t>
            </a:r>
            <a:endParaRPr lang="fa-IR"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46520" y="1572768"/>
          <a:ext cx="5196535" cy="914400"/>
        </p:xfrm>
        <a:graphic>
          <a:graphicData uri="http://schemas.openxmlformats.org/drawingml/2006/table">
            <a:tbl>
              <a:tblPr/>
              <a:tblGrid>
                <a:gridCol w="1097280"/>
                <a:gridCol w="1097280"/>
                <a:gridCol w="1097280"/>
                <a:gridCol w="1904695"/>
              </a:tblGrid>
              <a:tr h="512064">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سال سوم</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سال دوم</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ct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سال اول</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c>
                  <a:txBody>
                    <a:bodyPr/>
                    <a:lstStyle/>
                    <a:p>
                      <a:pPr rtl="1" algn="r" indent="0" marL="0">
                        <a:buNone/>
                      </a:pPr>
                      <a:r>
                        <a:rPr lang="en-US" sz="1400" dirty="0">
                          <a:solidFill>
                            <a:srgbClr val="FFFFFF"/>
                          </a:solidFill>
                          <a:latin typeface="Vazirmatn Nobar ExtraBold" pitchFamily="34" charset="0"/>
                          <a:ea typeface="Vazirmatn Nobar ExtraBold" pitchFamily="34" charset="-122"/>
                          <a:cs typeface="Vazirmatn Nobar ExtraBold" pitchFamily="34" charset="-120"/>
                        </a:rPr>
                        <a:t>شاخص</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14532D"/>
                    </a:solidFill>
                  </a:tcPr>
                </a:tc>
              </a:tr>
              <a:tr h="512064">
                <a:tc>
                  <a:txBody>
                    <a:bodyPr/>
                    <a:lstStyle/>
                    <a:p>
                      <a:pPr rtl="1" algn="ctr" indent="0" marL="0">
                        <a:buNone/>
                      </a:pPr>
                      <a:r>
                        <a:rPr lang="en-US" sz="1400" dirty="0">
                          <a:solidFill>
                            <a:srgbClr val="14532D"/>
                          </a:solidFill>
                          <a:latin typeface="Vazirmatn Nobar ExtraBold" pitchFamily="34" charset="0"/>
                          <a:ea typeface="Vazirmatn Nobar ExtraBold" pitchFamily="34" charset="-122"/>
                          <a:cs typeface="Vazirmatn Nobar ExtraBold" pitchFamily="34" charset="-120"/>
                        </a:rPr>
                        <a:t>۸۰۰</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۳۵۰</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۱۰۰</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غرفه‌ی فعال</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r>
              <a:tr h="512064">
                <a:tc>
                  <a:txBody>
                    <a:bodyPr/>
                    <a:lstStyle/>
                    <a:p>
                      <a:pPr rtl="1" algn="ctr" indent="0" marL="0">
                        <a:buNone/>
                      </a:pPr>
                      <a:r>
                        <a:rPr lang="en-US" sz="1400" dirty="0">
                          <a:solidFill>
                            <a:srgbClr val="14532D"/>
                          </a:solidFill>
                          <a:latin typeface="Vazirmatn Nobar ExtraBold" pitchFamily="34" charset="0"/>
                          <a:ea typeface="Vazirmatn Nobar ExtraBold" pitchFamily="34" charset="-122"/>
                          <a:cs typeface="Vazirmatn Nobar ExtraBold" pitchFamily="34" charset="-120"/>
                        </a:rPr>
                        <a:t>۳٬۰۰۰</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۱٬۲۰۰</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۳۰۰</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فروش (تن)</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r>
              <a:tr h="512064">
                <a:tc>
                  <a:txBody>
                    <a:bodyPr/>
                    <a:lstStyle/>
                    <a:p>
                      <a:pPr rtl="1" algn="ctr" indent="0" marL="0">
                        <a:buNone/>
                      </a:pPr>
                      <a:r>
                        <a:rPr lang="en-US" sz="1400" dirty="0">
                          <a:solidFill>
                            <a:srgbClr val="14532D"/>
                          </a:solidFill>
                          <a:latin typeface="Vazirmatn Nobar ExtraBold" pitchFamily="34" charset="0"/>
                          <a:ea typeface="Vazirmatn Nobar ExtraBold" pitchFamily="34" charset="-122"/>
                          <a:cs typeface="Vazirmatn Nobar ExtraBold" pitchFamily="34" charset="-120"/>
                        </a:rPr>
                        <a:t>۳۷۵٬۰۰۰</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۱۵۰٬۰۰۰</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۳۷٬۵۰۰</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تعداد سفارش</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r>
              <a:tr h="512064">
                <a:tc>
                  <a:txBody>
                    <a:bodyPr/>
                    <a:lstStyle/>
                    <a:p>
                      <a:pPr rtl="1" algn="ctr" indent="0" marL="0">
                        <a:buNone/>
                      </a:pPr>
                      <a:r>
                        <a:rPr lang="en-US" sz="1400" dirty="0">
                          <a:solidFill>
                            <a:srgbClr val="14532D"/>
                          </a:solidFill>
                          <a:latin typeface="Vazirmatn Nobar ExtraBold" pitchFamily="34" charset="0"/>
                          <a:ea typeface="Vazirmatn Nobar ExtraBold" pitchFamily="34" charset="-122"/>
                          <a:cs typeface="Vazirmatn Nobar ExtraBold" pitchFamily="34" charset="-120"/>
                        </a:rPr>
                        <a:t>۲۴</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۹٫۶</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۲٫۴</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درآمد (میلیارد تومان)</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FFFFF"/>
                    </a:solidFill>
                  </a:tcPr>
                </a:tc>
              </a:tr>
              <a:tr h="512064">
                <a:tc>
                  <a:txBody>
                    <a:bodyPr/>
                    <a:lstStyle/>
                    <a:p>
                      <a:pPr rtl="1" algn="ctr" indent="0" marL="0">
                        <a:buNone/>
                      </a:pPr>
                      <a:r>
                        <a:rPr lang="en-US" sz="1400" dirty="0">
                          <a:solidFill>
                            <a:srgbClr val="14532D"/>
                          </a:solidFill>
                          <a:latin typeface="Vazirmatn Nobar ExtraBold" pitchFamily="34" charset="0"/>
                          <a:ea typeface="Vazirmatn Nobar ExtraBold" pitchFamily="34" charset="-122"/>
                          <a:cs typeface="Vazirmatn Nobar ExtraBold" pitchFamily="34" charset="-120"/>
                        </a:rPr>
                        <a:t>سراسری</a:t>
                      </a:r>
                      <a:endParaRPr lang="en-US" sz="1400" dirty="0">
                        <a:latin typeface="Vazirmatn Nobar ExtraBold" charset="0"/>
                        <a:ea typeface="Vazirmatn Nobar ExtraBold" charset="0"/>
                        <a:cs typeface="Vazirmatn Nobar Extra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۴ استان</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ctr" indent="0" marL="0">
                        <a:buNone/>
                      </a:pPr>
                      <a:r>
                        <a:rPr lang="en-US" sz="1400" dirty="0">
                          <a:solidFill>
                            <a:srgbClr val="1F2A1F"/>
                          </a:solidFill>
                          <a:latin typeface="Vazirmatn Nobar Medium" pitchFamily="34" charset="0"/>
                          <a:ea typeface="Vazirmatn Nobar Medium" pitchFamily="34" charset="-122"/>
                          <a:cs typeface="Vazirmatn Nobar Medium" pitchFamily="34" charset="-120"/>
                        </a:rPr>
                        <a:t>۱ استان</a:t>
                      </a:r>
                      <a:endParaRPr lang="en-US" sz="1400" dirty="0">
                        <a:latin typeface="Vazirmatn Nobar Medium" charset="0"/>
                        <a:ea typeface="Vazirmatn Nobar Medium" charset="0"/>
                        <a:cs typeface="Vazirmatn Nobar Medium"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c>
                  <a:txBody>
                    <a:bodyPr/>
                    <a:lstStyle/>
                    <a:p>
                      <a:pPr rtl="1" algn="r" indent="0" marL="0">
                        <a:buNone/>
                      </a:pPr>
                      <a:r>
                        <a:rPr lang="en-US" sz="1400" dirty="0">
                          <a:solidFill>
                            <a:srgbClr val="1F2A1F"/>
                          </a:solidFill>
                          <a:latin typeface="Vazirmatn Nobar SemiBold" pitchFamily="34" charset="0"/>
                          <a:ea typeface="Vazirmatn Nobar SemiBold" pitchFamily="34" charset="-122"/>
                          <a:cs typeface="Vazirmatn Nobar SemiBold" pitchFamily="34" charset="-120"/>
                        </a:rPr>
                        <a:t>پوشش</a:t>
                      </a:r>
                      <a:endParaRPr lang="en-US" sz="1400" dirty="0">
                        <a:latin typeface="Vazirmatn Nobar SemiBold" charset="0"/>
                        <a:ea typeface="Vazirmatn Nobar SemiBold" charset="0"/>
                        <a:cs typeface="Vazirmatn Nobar SemiBold" charset="0"/>
                      </a:endParaRPr>
                    </a:p>
                  </a:txBody>
                  <a:tcPr marL="73152" marR="73152" marT="27432" marB="27432" anchor="ctr">
                    <a:lnL w="9525" cap="flat" cmpd="sng" algn="ctr">
                      <a:solidFill>
                        <a:srgbClr val="DCE8D7"/>
                      </a:solidFill>
                      <a:prstDash val="solid"/>
                      <a:round/>
                      <a:headEnd type="none" w="med" len="med"/>
                      <a:tailEnd type="none" w="med" len="med"/>
                    </a:lnL>
                    <a:lnR w="9525" cap="flat" cmpd="sng" algn="ctr">
                      <a:solidFill>
                        <a:srgbClr val="DCE8D7"/>
                      </a:solidFill>
                      <a:prstDash val="solid"/>
                      <a:round/>
                      <a:headEnd type="none" w="med" len="med"/>
                      <a:tailEnd type="none" w="med" len="med"/>
                    </a:lnR>
                    <a:lnT w="9525" cap="flat" cmpd="sng" algn="ctr">
                      <a:solidFill>
                        <a:srgbClr val="DCE8D7"/>
                      </a:solidFill>
                      <a:prstDash val="solid"/>
                      <a:round/>
                      <a:headEnd type="none" w="med" len="med"/>
                      <a:tailEnd type="none" w="med" len="med"/>
                    </a:lnT>
                    <a:lnB w="9525" cap="flat" cmpd="sng" algn="ctr">
                      <a:solidFill>
                        <a:srgbClr val="DCE8D7"/>
                      </a:solidFill>
                      <a:prstDash val="solid"/>
                      <a:round/>
                      <a:headEnd type="none" w="med" len="med"/>
                      <a:tailEnd type="none" w="med" len="med"/>
                    </a:lnB>
                    <a:solidFill>
                      <a:srgbClr val="F7FBF5"/>
                    </a:solidFill>
                  </a:tcPr>
                </a:tc>
              </a:tr>
            </a:tbl>
          </a:graphicData>
        </a:graphic>
      </p:graphicFrame>
      <p:sp>
        <p:nvSpPr>
          <p:cNvPr id="22" name="Shape 18"/>
          <p:cNvSpPr/>
          <p:nvPr/>
        </p:nvSpPr>
        <p:spPr>
          <a:xfrm>
            <a:off x="6446520" y="4846320"/>
            <a:ext cx="5196535" cy="1161288"/>
          </a:xfrm>
          <a:prstGeom prst="roundRect">
            <a:avLst>
              <a:gd name="adj" fmla="val 11024"/>
            </a:avLst>
          </a:prstGeom>
          <a:solidFill>
            <a:srgbClr val="DDEFD6"/>
          </a:solidFill>
          <a:ln/>
        </p:spPr>
      </p:sp>
      <p:sp>
        <p:nvSpPr>
          <p:cNvPr id="23" name="Text 19"/>
          <p:cNvSpPr txBox="1"/>
          <p:nvPr/>
        </p:nvSpPr>
        <p:spPr>
          <a:xfrm>
            <a:off x="6647688" y="4846320"/>
            <a:ext cx="4794199" cy="1161288"/>
          </a:xfrm>
          <a:prstGeom prst="rect">
            <a:avLst/>
          </a:prstGeom>
          <a:noFill/>
          <a:ln/>
        </p:spPr>
        <p:txBody>
          <a:bodyPr wrap="square" lIns="0" tIns="0" rIns="0" bIns="0" rtlCol="0" anchor="ctr"/>
          <a:lstStyle/>
          <a:p>
            <a:pPr rtl="1" algn="r" indent="0" marL="0">
              <a:lnSpc>
                <a:spcPct val="112000"/>
              </a:lnSpc>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فرض‌ها: </a:t>
            </a:r>
            <a:pPr rtl="1" algn="r" indent="0" marL="0">
              <a:lnSpc>
                <a:spcPct val="112000"/>
              </a:lnSpc>
              <a:buNone/>
            </a:pPr>
            <a:r>
              <a:rPr lang="fa-IR" altLang="en-US" sz="1350" dirty="0">
                <a:solidFill>
                  <a:srgbClr val="1F2A1F"/>
                </a:solidFill>
                <a:latin typeface="Vazirmatn Nobar" pitchFamily="34" charset="0"/>
                <a:ea typeface="Vazirmatn Nobar" pitchFamily="34" charset="-122"/>
                <a:cs typeface="Vazirmatn Nobar" pitchFamily="34" charset="-120"/>
              </a:rPr>
              <a:t>میانگین قیمت هر کیلو ۸۰ هزار تومان، میانگین سفارش ۸ کیلو و کمیسیون مؤثر ۱۰ درصد. این ارقام برای برنامه‌ریزی است، نه پیش‌بینی قطعی.</a:t>
            </a:r>
            <a:endParaRPr lang="fa-IR"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۱۴</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معماری فنی</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مونولیت ماژولار آماده‌ی تفکیک به سرویس، با سرویس مستقل هوش مصنوعی</a:t>
            </a:r>
            <a:endParaRPr lang="fa-IR" sz="1600" dirty="0"/>
          </a:p>
        </p:txBody>
      </p:sp>
      <p:sp>
        <p:nvSpPr>
          <p:cNvPr id="6" name="Shape 3"/>
          <p:cNvSpPr/>
          <p:nvPr/>
        </p:nvSpPr>
        <p:spPr>
          <a:xfrm>
            <a:off x="3703320" y="1536192"/>
            <a:ext cx="7939735" cy="960120"/>
          </a:xfrm>
          <a:prstGeom prst="roundRect">
            <a:avLst>
              <a:gd name="adj" fmla="val 13333"/>
            </a:avLst>
          </a:prstGeom>
          <a:solidFill>
            <a:srgbClr val="F4FAF2"/>
          </a:solidFill>
          <a:ln w="12700">
            <a:solidFill>
              <a:srgbClr val="DCE8D7"/>
            </a:solidFill>
            <a:prstDash val="solid"/>
          </a:ln>
        </p:spPr>
      </p:sp>
      <p:sp>
        <p:nvSpPr>
          <p:cNvPr id="7" name="Text 4"/>
          <p:cNvSpPr txBox="1"/>
          <p:nvPr/>
        </p:nvSpPr>
        <p:spPr>
          <a:xfrm>
            <a:off x="10545775" y="1536192"/>
            <a:ext cx="960120" cy="960120"/>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کاربران</a:t>
            </a:r>
            <a:endParaRPr lang="fa-IR" sz="1600" dirty="0"/>
          </a:p>
        </p:txBody>
      </p:sp>
      <p:sp>
        <p:nvSpPr>
          <p:cNvPr id="8" name="Shape 5"/>
          <p:cNvSpPr/>
          <p:nvPr/>
        </p:nvSpPr>
        <p:spPr>
          <a:xfrm>
            <a:off x="8371637" y="1655064"/>
            <a:ext cx="2128418" cy="722376"/>
          </a:xfrm>
          <a:prstGeom prst="roundRect">
            <a:avLst>
              <a:gd name="adj" fmla="val 15190"/>
            </a:avLst>
          </a:prstGeom>
          <a:solidFill>
            <a:srgbClr val="FFFFFF"/>
          </a:solidFill>
          <a:ln/>
          <a:effectLst>
            <a:outerShdw sx="100000" sy="100000" kx="0" ky="0" algn="bl" rotWithShape="0" blurRad="76200" dist="25400" dir="5400000">
              <a:srgbClr val="14532D">
                <a:alpha val="8000"/>
              </a:srgbClr>
            </a:outerShdw>
          </a:effectLst>
        </p:spPr>
      </p:sp>
      <p:pic>
        <p:nvPicPr>
          <p:cNvPr id="9" name="icon mobile_phone" descr="/tmp/claude-0/-home-claude/e50823c0-d46f-5818-8f05-9d714cd67f5c/scratchpad/assets/icons/mobile_phone.png">    </p:cNvPr>
          <p:cNvPicPr>
            <a:picLocks noChangeAspect="1"/>
          </p:cNvPicPr>
          <p:nvPr/>
        </p:nvPicPr>
        <p:blipFill>
          <a:blip r:embed="rId1"/>
          <a:stretch>
            <a:fillRect/>
          </a:stretch>
        </p:blipFill>
        <p:spPr>
          <a:xfrm>
            <a:off x="9951415" y="1787652"/>
            <a:ext cx="457200" cy="457200"/>
          </a:xfrm>
          <a:prstGeom prst="rect">
            <a:avLst/>
          </a:prstGeom>
        </p:spPr>
      </p:pic>
      <p:sp>
        <p:nvSpPr>
          <p:cNvPr id="10" name="Text 6"/>
          <p:cNvSpPr txBox="1"/>
          <p:nvPr/>
        </p:nvSpPr>
        <p:spPr>
          <a:xfrm>
            <a:off x="8444789" y="1655064"/>
            <a:ext cx="1433474" cy="722376"/>
          </a:xfrm>
          <a:prstGeom prst="rect">
            <a:avLst/>
          </a:prstGeom>
          <a:noFill/>
          <a:ln/>
        </p:spPr>
        <p:txBody>
          <a:bodyPr wrap="square" lIns="0" tIns="0" rIns="0" bIns="0" rtlCol="0" anchor="ctr"/>
          <a:lstStyle/>
          <a:p>
            <a:pPr rtl="1" algn="r" indent="0" marL="0">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اپ خریدار</a:t>
            </a:r>
            <a:endParaRPr lang="fa-IR" sz="13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PWA، موبایل و وب</a:t>
            </a:r>
            <a:endParaRPr lang="fa-IR" sz="1350" dirty="0"/>
          </a:p>
        </p:txBody>
      </p:sp>
      <p:sp>
        <p:nvSpPr>
          <p:cNvPr id="11" name="Shape 7"/>
          <p:cNvSpPr/>
          <p:nvPr/>
        </p:nvSpPr>
        <p:spPr>
          <a:xfrm>
            <a:off x="6106058" y="1655064"/>
            <a:ext cx="2128418" cy="722376"/>
          </a:xfrm>
          <a:prstGeom prst="roundRect">
            <a:avLst>
              <a:gd name="adj" fmla="val 15190"/>
            </a:avLst>
          </a:prstGeom>
          <a:solidFill>
            <a:srgbClr val="FFFFFF"/>
          </a:solidFill>
          <a:ln/>
          <a:effectLst>
            <a:outerShdw sx="100000" sy="100000" kx="0" ky="0" algn="bl" rotWithShape="0" blurRad="76200" dist="25400" dir="5400000">
              <a:srgbClr val="14532D">
                <a:alpha val="8000"/>
              </a:srgbClr>
            </a:outerShdw>
          </a:effectLst>
        </p:spPr>
      </p:sp>
      <p:pic>
        <p:nvPicPr>
          <p:cNvPr id="12" name="icon man_farmer" descr="/tmp/claude-0/-home-claude/e50823c0-d46f-5818-8f05-9d714cd67f5c/scratchpad/assets/icons/man_farmer.png">    </p:cNvPr>
          <p:cNvPicPr>
            <a:picLocks noChangeAspect="1"/>
          </p:cNvPicPr>
          <p:nvPr/>
        </p:nvPicPr>
        <p:blipFill>
          <a:blip r:embed="rId2"/>
          <a:stretch>
            <a:fillRect/>
          </a:stretch>
        </p:blipFill>
        <p:spPr>
          <a:xfrm>
            <a:off x="7685837" y="1787652"/>
            <a:ext cx="457200" cy="457200"/>
          </a:xfrm>
          <a:prstGeom prst="rect">
            <a:avLst/>
          </a:prstGeom>
        </p:spPr>
      </p:pic>
      <p:sp>
        <p:nvSpPr>
          <p:cNvPr id="13" name="Text 8"/>
          <p:cNvSpPr txBox="1"/>
          <p:nvPr/>
        </p:nvSpPr>
        <p:spPr>
          <a:xfrm>
            <a:off x="6179210" y="1655064"/>
            <a:ext cx="1433474" cy="722376"/>
          </a:xfrm>
          <a:prstGeom prst="rect">
            <a:avLst/>
          </a:prstGeom>
          <a:noFill/>
          <a:ln/>
        </p:spPr>
        <p:txBody>
          <a:bodyPr wrap="square" lIns="0" tIns="0" rIns="0" bIns="0" rtlCol="0" anchor="ctr"/>
          <a:lstStyle/>
          <a:p>
            <a:pPr rtl="1" algn="r" indent="0" marL="0">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پنل غرفه‌دار</a:t>
            </a:r>
            <a:endParaRPr lang="fa-IR" sz="13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مناسب کار با گوشی</a:t>
            </a:r>
            <a:endParaRPr lang="fa-IR" sz="1350" dirty="0"/>
          </a:p>
        </p:txBody>
      </p:sp>
      <p:sp>
        <p:nvSpPr>
          <p:cNvPr id="14" name="Shape 9"/>
          <p:cNvSpPr/>
          <p:nvPr/>
        </p:nvSpPr>
        <p:spPr>
          <a:xfrm>
            <a:off x="3840480" y="1655064"/>
            <a:ext cx="2128418" cy="722376"/>
          </a:xfrm>
          <a:prstGeom prst="roundRect">
            <a:avLst>
              <a:gd name="adj" fmla="val 15190"/>
            </a:avLst>
          </a:prstGeom>
          <a:solidFill>
            <a:srgbClr val="FFFFFF"/>
          </a:solidFill>
          <a:ln/>
          <a:effectLst>
            <a:outerShdw sx="100000" sy="100000" kx="0" ky="0" algn="bl" rotWithShape="0" blurRad="76200" dist="25400" dir="5400000">
              <a:srgbClr val="14532D">
                <a:alpha val="8000"/>
              </a:srgbClr>
            </a:outerShdw>
          </a:effectLst>
        </p:spPr>
      </p:sp>
      <p:pic>
        <p:nvPicPr>
          <p:cNvPr id="15" name="icon desktop_computer" descr="/tmp/claude-0/-home-claude/e50823c0-d46f-5818-8f05-9d714cd67f5c/scratchpad/assets/icons/desktop_computer.png">    </p:cNvPr>
          <p:cNvPicPr>
            <a:picLocks noChangeAspect="1"/>
          </p:cNvPicPr>
          <p:nvPr/>
        </p:nvPicPr>
        <p:blipFill>
          <a:blip r:embed="rId3"/>
          <a:stretch>
            <a:fillRect/>
          </a:stretch>
        </p:blipFill>
        <p:spPr>
          <a:xfrm>
            <a:off x="5420258" y="1787652"/>
            <a:ext cx="457200" cy="457200"/>
          </a:xfrm>
          <a:prstGeom prst="rect">
            <a:avLst/>
          </a:prstGeom>
        </p:spPr>
      </p:pic>
      <p:sp>
        <p:nvSpPr>
          <p:cNvPr id="16" name="Text 10"/>
          <p:cNvSpPr txBox="1"/>
          <p:nvPr/>
        </p:nvSpPr>
        <p:spPr>
          <a:xfrm>
            <a:off x="3913632" y="1655064"/>
            <a:ext cx="1433474" cy="722376"/>
          </a:xfrm>
          <a:prstGeom prst="rect">
            <a:avLst/>
          </a:prstGeom>
          <a:noFill/>
          <a:ln/>
        </p:spPr>
        <p:txBody>
          <a:bodyPr wrap="square" lIns="0" tIns="0" rIns="0" bIns="0" rtlCol="0" anchor="ctr"/>
          <a:lstStyle/>
          <a:p>
            <a:pPr rtl="1" algn="r" indent="0" marL="0">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پنل مدیریت</a:t>
            </a:r>
            <a:endParaRPr lang="fa-IR" sz="13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ورود دومرحله‌ای</a:t>
            </a:r>
            <a:endParaRPr lang="fa-IR" sz="1350" dirty="0"/>
          </a:p>
        </p:txBody>
      </p:sp>
      <p:sp>
        <p:nvSpPr>
          <p:cNvPr id="17" name="Shape 11"/>
          <p:cNvSpPr/>
          <p:nvPr/>
        </p:nvSpPr>
        <p:spPr>
          <a:xfrm>
            <a:off x="6941668" y="2514600"/>
            <a:ext cx="0" cy="192024"/>
          </a:xfrm>
          <a:prstGeom prst="line">
            <a:avLst/>
          </a:prstGeom>
          <a:noFill/>
          <a:ln w="25400">
            <a:solidFill>
              <a:srgbClr val="2E7D32"/>
            </a:solidFill>
            <a:prstDash val="solid"/>
            <a:tailEnd type="triangle"/>
          </a:ln>
        </p:spPr>
      </p:sp>
      <p:sp>
        <p:nvSpPr>
          <p:cNvPr id="18" name="Shape 12"/>
          <p:cNvSpPr/>
          <p:nvPr/>
        </p:nvSpPr>
        <p:spPr>
          <a:xfrm>
            <a:off x="3703320" y="2724912"/>
            <a:ext cx="7939735" cy="658368"/>
          </a:xfrm>
          <a:prstGeom prst="roundRect">
            <a:avLst>
              <a:gd name="adj" fmla="val 19444"/>
            </a:avLst>
          </a:prstGeom>
          <a:solidFill>
            <a:srgbClr val="F4FAF2"/>
          </a:solidFill>
          <a:ln w="12700">
            <a:solidFill>
              <a:srgbClr val="DCE8D7"/>
            </a:solidFill>
            <a:prstDash val="solid"/>
          </a:ln>
        </p:spPr>
      </p:sp>
      <p:sp>
        <p:nvSpPr>
          <p:cNvPr id="19" name="Text 13"/>
          <p:cNvSpPr txBox="1"/>
          <p:nvPr/>
        </p:nvSpPr>
        <p:spPr>
          <a:xfrm>
            <a:off x="10545775" y="2724912"/>
            <a:ext cx="960120" cy="658368"/>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دروازه</a:t>
            </a:r>
            <a:endParaRPr lang="fa-IR" sz="1600" dirty="0"/>
          </a:p>
        </p:txBody>
      </p:sp>
      <p:sp>
        <p:nvSpPr>
          <p:cNvPr id="20" name="Shape 14"/>
          <p:cNvSpPr/>
          <p:nvPr/>
        </p:nvSpPr>
        <p:spPr>
          <a:xfrm>
            <a:off x="3840480" y="2843784"/>
            <a:ext cx="6659575" cy="420624"/>
          </a:xfrm>
          <a:prstGeom prst="roundRect">
            <a:avLst>
              <a:gd name="adj" fmla="val 26087"/>
            </a:avLst>
          </a:prstGeom>
          <a:solidFill>
            <a:srgbClr val="FFFFFF"/>
          </a:solidFill>
          <a:ln/>
          <a:effectLst>
            <a:outerShdw sx="100000" sy="100000" kx="0" ky="0" algn="bl" rotWithShape="0" blurRad="76200" dist="25400" dir="5400000">
              <a:srgbClr val="14532D">
                <a:alpha val="8000"/>
              </a:srgbClr>
            </a:outerShdw>
          </a:effectLst>
        </p:spPr>
      </p:sp>
      <p:pic>
        <p:nvPicPr>
          <p:cNvPr id="21" name="icon shield" descr="/tmp/claude-0/-home-claude/e50823c0-d46f-5818-8f05-9d714cd67f5c/scratchpad/assets/icons/shield.png">    </p:cNvPr>
          <p:cNvPicPr>
            <a:picLocks noChangeAspect="1"/>
          </p:cNvPicPr>
          <p:nvPr/>
        </p:nvPicPr>
        <p:blipFill>
          <a:blip r:embed="rId4"/>
          <a:stretch>
            <a:fillRect/>
          </a:stretch>
        </p:blipFill>
        <p:spPr>
          <a:xfrm>
            <a:off x="10134295" y="2916936"/>
            <a:ext cx="274320" cy="274320"/>
          </a:xfrm>
          <a:prstGeom prst="rect">
            <a:avLst/>
          </a:prstGeom>
        </p:spPr>
      </p:pic>
      <p:sp>
        <p:nvSpPr>
          <p:cNvPr id="22" name="Text 15"/>
          <p:cNvSpPr txBox="1"/>
          <p:nvPr/>
        </p:nvSpPr>
        <p:spPr>
          <a:xfrm>
            <a:off x="3913632" y="2843784"/>
            <a:ext cx="6147511" cy="420624"/>
          </a:xfrm>
          <a:prstGeom prst="rect">
            <a:avLst/>
          </a:prstGeom>
          <a:noFill/>
          <a:ln/>
        </p:spPr>
        <p:txBody>
          <a:bodyPr wrap="square" lIns="0" tIns="0" rIns="0" bIns="0" rtlCol="0" anchor="ctr"/>
          <a:lstStyle/>
          <a:p>
            <a:pPr rtl="1" algn="r" indent="0" marL="0">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Edge / CDN  </a:t>
            </a:r>
            <a:pPr rtl="1" algn="r" indent="0" marL="0">
              <a:buNone/>
            </a:pPr>
            <a:r>
              <a:rPr lang="fa-IR" altLang="en-US" sz="1350" dirty="0">
                <a:solidFill>
                  <a:srgbClr val="5F6B5F"/>
                </a:solidFill>
                <a:latin typeface="Vazirmatn Nobar" pitchFamily="34" charset="0"/>
                <a:ea typeface="Vazirmatn Nobar" pitchFamily="34" charset="-122"/>
                <a:cs typeface="Vazirmatn Nobar" pitchFamily="34" charset="-120"/>
              </a:rPr>
              <a:t>رمزنگاری، مسیریابی و کش تصاویر</a:t>
            </a:r>
            <a:endParaRPr lang="fa-IR" sz="1350" dirty="0"/>
          </a:p>
        </p:txBody>
      </p:sp>
      <p:sp>
        <p:nvSpPr>
          <p:cNvPr id="23" name="Shape 16"/>
          <p:cNvSpPr/>
          <p:nvPr/>
        </p:nvSpPr>
        <p:spPr>
          <a:xfrm>
            <a:off x="6941668" y="3401568"/>
            <a:ext cx="0" cy="192024"/>
          </a:xfrm>
          <a:prstGeom prst="line">
            <a:avLst/>
          </a:prstGeom>
          <a:noFill/>
          <a:ln w="25400">
            <a:solidFill>
              <a:srgbClr val="2E7D32"/>
            </a:solidFill>
            <a:prstDash val="solid"/>
            <a:tailEnd type="triangle"/>
          </a:ln>
        </p:spPr>
      </p:sp>
      <p:sp>
        <p:nvSpPr>
          <p:cNvPr id="24" name="Shape 17"/>
          <p:cNvSpPr/>
          <p:nvPr/>
        </p:nvSpPr>
        <p:spPr>
          <a:xfrm>
            <a:off x="3703320" y="3611880"/>
            <a:ext cx="7939735" cy="1051560"/>
          </a:xfrm>
          <a:prstGeom prst="roundRect">
            <a:avLst>
              <a:gd name="adj" fmla="val 12174"/>
            </a:avLst>
          </a:prstGeom>
          <a:solidFill>
            <a:srgbClr val="EAF5E6"/>
          </a:solidFill>
          <a:ln w="12700">
            <a:solidFill>
              <a:srgbClr val="A5D6A7"/>
            </a:solidFill>
            <a:prstDash val="solid"/>
          </a:ln>
        </p:spPr>
      </p:sp>
      <p:sp>
        <p:nvSpPr>
          <p:cNvPr id="25" name="Text 18"/>
          <p:cNvSpPr txBox="1"/>
          <p:nvPr/>
        </p:nvSpPr>
        <p:spPr>
          <a:xfrm>
            <a:off x="10545775" y="3611880"/>
            <a:ext cx="960120" cy="1051560"/>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هسته</a:t>
            </a:r>
            <a:endParaRPr lang="fa-IR" sz="1600" dirty="0"/>
          </a:p>
        </p:txBody>
      </p:sp>
      <p:sp>
        <p:nvSpPr>
          <p:cNvPr id="26" name="Shape 19"/>
          <p:cNvSpPr/>
          <p:nvPr/>
        </p:nvSpPr>
        <p:spPr>
          <a:xfrm>
            <a:off x="8371637" y="3730752"/>
            <a:ext cx="2128418" cy="813816"/>
          </a:xfrm>
          <a:prstGeom prst="roundRect">
            <a:avLst>
              <a:gd name="adj" fmla="val 13483"/>
            </a:avLst>
          </a:prstGeom>
          <a:solidFill>
            <a:srgbClr val="FFFFFF"/>
          </a:solidFill>
          <a:ln/>
          <a:effectLst>
            <a:outerShdw sx="100000" sy="100000" kx="0" ky="0" algn="bl" rotWithShape="0" blurRad="76200" dist="25400" dir="5400000">
              <a:srgbClr val="14532D">
                <a:alpha val="8000"/>
              </a:srgbClr>
            </a:outerShdw>
          </a:effectLst>
        </p:spPr>
      </p:sp>
      <p:pic>
        <p:nvPicPr>
          <p:cNvPr id="27" name="icon gear" descr="/tmp/claude-0/-home-claude/e50823c0-d46f-5818-8f05-9d714cd67f5c/scratchpad/assets/icons/gear.png">    </p:cNvPr>
          <p:cNvPicPr>
            <a:picLocks noChangeAspect="1"/>
          </p:cNvPicPr>
          <p:nvPr/>
        </p:nvPicPr>
        <p:blipFill>
          <a:blip r:embed="rId5"/>
          <a:stretch>
            <a:fillRect/>
          </a:stretch>
        </p:blipFill>
        <p:spPr>
          <a:xfrm>
            <a:off x="9951415" y="3909060"/>
            <a:ext cx="457200" cy="457200"/>
          </a:xfrm>
          <a:prstGeom prst="rect">
            <a:avLst/>
          </a:prstGeom>
        </p:spPr>
      </p:pic>
      <p:sp>
        <p:nvSpPr>
          <p:cNvPr id="28" name="Text 20"/>
          <p:cNvSpPr txBox="1"/>
          <p:nvPr/>
        </p:nvSpPr>
        <p:spPr>
          <a:xfrm>
            <a:off x="8444789" y="3730752"/>
            <a:ext cx="1433474" cy="813816"/>
          </a:xfrm>
          <a:prstGeom prst="rect">
            <a:avLst/>
          </a:prstGeom>
          <a:noFill/>
          <a:ln/>
        </p:spPr>
        <p:txBody>
          <a:bodyPr wrap="square" lIns="0" tIns="0" rIns="0" bIns="0" rtlCol="0" anchor="ctr"/>
          <a:lstStyle/>
          <a:p>
            <a:pPr rtl="1" algn="r" indent="0" marL="0">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API</a:t>
            </a:r>
            <a:endParaRPr lang="fa-IR" sz="13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۲۱ ماژول مستقل</a:t>
            </a:r>
            <a:endParaRPr lang="fa-IR" sz="1350" dirty="0"/>
          </a:p>
        </p:txBody>
      </p:sp>
      <p:sp>
        <p:nvSpPr>
          <p:cNvPr id="29" name="Shape 21"/>
          <p:cNvSpPr/>
          <p:nvPr/>
        </p:nvSpPr>
        <p:spPr>
          <a:xfrm>
            <a:off x="6106058" y="3730752"/>
            <a:ext cx="2128418" cy="813816"/>
          </a:xfrm>
          <a:prstGeom prst="roundRect">
            <a:avLst>
              <a:gd name="adj" fmla="val 13483"/>
            </a:avLst>
          </a:prstGeom>
          <a:solidFill>
            <a:srgbClr val="FFFFFF"/>
          </a:solidFill>
          <a:ln/>
          <a:effectLst>
            <a:outerShdw sx="100000" sy="100000" kx="0" ky="0" algn="bl" rotWithShape="0" blurRad="76200" dist="25400" dir="5400000">
              <a:srgbClr val="14532D">
                <a:alpha val="8000"/>
              </a:srgbClr>
            </a:outerShdw>
          </a:effectLst>
        </p:spPr>
      </p:sp>
      <p:pic>
        <p:nvPicPr>
          <p:cNvPr id="30" name="icon stopwatch" descr="/tmp/claude-0/-home-claude/e50823c0-d46f-5818-8f05-9d714cd67f5c/scratchpad/assets/icons/stopwatch.png">    </p:cNvPr>
          <p:cNvPicPr>
            <a:picLocks noChangeAspect="1"/>
          </p:cNvPicPr>
          <p:nvPr/>
        </p:nvPicPr>
        <p:blipFill>
          <a:blip r:embed="rId6"/>
          <a:stretch>
            <a:fillRect/>
          </a:stretch>
        </p:blipFill>
        <p:spPr>
          <a:xfrm>
            <a:off x="7685837" y="3909060"/>
            <a:ext cx="457200" cy="457200"/>
          </a:xfrm>
          <a:prstGeom prst="rect">
            <a:avLst/>
          </a:prstGeom>
        </p:spPr>
      </p:pic>
      <p:sp>
        <p:nvSpPr>
          <p:cNvPr id="31" name="Text 22"/>
          <p:cNvSpPr txBox="1"/>
          <p:nvPr/>
        </p:nvSpPr>
        <p:spPr>
          <a:xfrm>
            <a:off x="6179210" y="3730752"/>
            <a:ext cx="1433474" cy="813816"/>
          </a:xfrm>
          <a:prstGeom prst="rect">
            <a:avLst/>
          </a:prstGeom>
          <a:noFill/>
          <a:ln/>
        </p:spPr>
        <p:txBody>
          <a:bodyPr wrap="square" lIns="0" tIns="0" rIns="0" bIns="0" rtlCol="0" anchor="ctr"/>
          <a:lstStyle/>
          <a:p>
            <a:pPr rtl="1" algn="r" indent="0" marL="0">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Worker</a:t>
            </a:r>
            <a:endParaRPr lang="fa-IR" sz="13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رویدادها و زمان‌بندی</a:t>
            </a:r>
            <a:endParaRPr lang="fa-IR" sz="1350" dirty="0"/>
          </a:p>
        </p:txBody>
      </p:sp>
      <p:sp>
        <p:nvSpPr>
          <p:cNvPr id="32" name="Shape 23"/>
          <p:cNvSpPr/>
          <p:nvPr/>
        </p:nvSpPr>
        <p:spPr>
          <a:xfrm>
            <a:off x="3840480" y="3730752"/>
            <a:ext cx="2128418" cy="813816"/>
          </a:xfrm>
          <a:prstGeom prst="roundRect">
            <a:avLst>
              <a:gd name="adj" fmla="val 13483"/>
            </a:avLst>
          </a:prstGeom>
          <a:solidFill>
            <a:srgbClr val="FFFFFF"/>
          </a:solidFill>
          <a:ln/>
          <a:effectLst>
            <a:outerShdw sx="100000" sy="100000" kx="0" ky="0" algn="bl" rotWithShape="0" blurRad="76200" dist="25400" dir="5400000">
              <a:srgbClr val="14532D">
                <a:alpha val="8000"/>
              </a:srgbClr>
            </a:outerShdw>
          </a:effectLst>
        </p:spPr>
      </p:sp>
      <p:pic>
        <p:nvPicPr>
          <p:cNvPr id="33" name="icon robot" descr="/tmp/claude-0/-home-claude/e50823c0-d46f-5818-8f05-9d714cd67f5c/scratchpad/assets/icons/robot.png">    </p:cNvPr>
          <p:cNvPicPr>
            <a:picLocks noChangeAspect="1"/>
          </p:cNvPicPr>
          <p:nvPr/>
        </p:nvPicPr>
        <p:blipFill>
          <a:blip r:embed="rId7"/>
          <a:stretch>
            <a:fillRect/>
          </a:stretch>
        </p:blipFill>
        <p:spPr>
          <a:xfrm>
            <a:off x="5420258" y="3909060"/>
            <a:ext cx="457200" cy="457200"/>
          </a:xfrm>
          <a:prstGeom prst="rect">
            <a:avLst/>
          </a:prstGeom>
        </p:spPr>
      </p:pic>
      <p:sp>
        <p:nvSpPr>
          <p:cNvPr id="34" name="Text 24"/>
          <p:cNvSpPr txBox="1"/>
          <p:nvPr/>
        </p:nvSpPr>
        <p:spPr>
          <a:xfrm>
            <a:off x="3913632" y="3730752"/>
            <a:ext cx="1433474" cy="813816"/>
          </a:xfrm>
          <a:prstGeom prst="rect">
            <a:avLst/>
          </a:prstGeom>
          <a:noFill/>
          <a:ln/>
        </p:spPr>
        <p:txBody>
          <a:bodyPr wrap="square" lIns="0" tIns="0" rIns="0" bIns="0" rtlCol="0" anchor="ctr"/>
          <a:lstStyle/>
          <a:p>
            <a:pPr rtl="1" algn="r" indent="0" marL="0">
              <a:buNone/>
            </a:pPr>
            <a:r>
              <a:rPr lang="fa-IR" altLang="en-US" sz="1350" dirty="0">
                <a:solidFill>
                  <a:srgbClr val="14532D"/>
                </a:solidFill>
                <a:latin typeface="Vazirmatn Nobar ExtraBold" pitchFamily="34" charset="0"/>
                <a:ea typeface="Vazirmatn Nobar ExtraBold" pitchFamily="34" charset="-122"/>
                <a:cs typeface="Vazirmatn Nobar ExtraBold" pitchFamily="34" charset="-120"/>
              </a:rPr>
              <a:t>سرویس باغبون</a:t>
            </a:r>
            <a:endParaRPr lang="fa-IR" sz="13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هوش مصنوعی مستقل</a:t>
            </a:r>
            <a:endParaRPr lang="fa-IR" sz="1350" dirty="0"/>
          </a:p>
        </p:txBody>
      </p:sp>
      <p:sp>
        <p:nvSpPr>
          <p:cNvPr id="35" name="Shape 25"/>
          <p:cNvSpPr/>
          <p:nvPr/>
        </p:nvSpPr>
        <p:spPr>
          <a:xfrm>
            <a:off x="6941668" y="4681728"/>
            <a:ext cx="0" cy="192024"/>
          </a:xfrm>
          <a:prstGeom prst="line">
            <a:avLst/>
          </a:prstGeom>
          <a:noFill/>
          <a:ln w="25400">
            <a:solidFill>
              <a:srgbClr val="2E7D32"/>
            </a:solidFill>
            <a:prstDash val="solid"/>
            <a:tailEnd type="triangle"/>
          </a:ln>
        </p:spPr>
      </p:sp>
      <p:sp>
        <p:nvSpPr>
          <p:cNvPr id="36" name="Shape 26"/>
          <p:cNvSpPr/>
          <p:nvPr/>
        </p:nvSpPr>
        <p:spPr>
          <a:xfrm>
            <a:off x="3703320" y="4892040"/>
            <a:ext cx="7939735" cy="1051560"/>
          </a:xfrm>
          <a:prstGeom prst="roundRect">
            <a:avLst>
              <a:gd name="adj" fmla="val 12174"/>
            </a:avLst>
          </a:prstGeom>
          <a:solidFill>
            <a:srgbClr val="F4FAF2"/>
          </a:solidFill>
          <a:ln w="12700">
            <a:solidFill>
              <a:srgbClr val="DCE8D7"/>
            </a:solidFill>
            <a:prstDash val="solid"/>
          </a:ln>
        </p:spPr>
      </p:sp>
      <p:sp>
        <p:nvSpPr>
          <p:cNvPr id="37" name="Text 27"/>
          <p:cNvSpPr txBox="1"/>
          <p:nvPr/>
        </p:nvSpPr>
        <p:spPr>
          <a:xfrm>
            <a:off x="10545775" y="4892040"/>
            <a:ext cx="960120" cy="1051560"/>
          </a:xfrm>
          <a:prstGeom prst="rect">
            <a:avLst/>
          </a:prstGeom>
          <a:noFill/>
          <a:ln/>
        </p:spPr>
        <p:txBody>
          <a:bodyPr wrap="square" lIns="0" tIns="0" rIns="0" bIns="0" rtlCol="0" anchor="ctr"/>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داده</a:t>
            </a:r>
            <a:endParaRPr lang="fa-IR" sz="1600" dirty="0"/>
          </a:p>
        </p:txBody>
      </p:sp>
      <p:sp>
        <p:nvSpPr>
          <p:cNvPr id="38" name="Shape 28"/>
          <p:cNvSpPr/>
          <p:nvPr/>
        </p:nvSpPr>
        <p:spPr>
          <a:xfrm>
            <a:off x="8938031" y="5010912"/>
            <a:ext cx="1562024" cy="813816"/>
          </a:xfrm>
          <a:prstGeom prst="roundRect">
            <a:avLst>
              <a:gd name="adj" fmla="val 13483"/>
            </a:avLst>
          </a:prstGeom>
          <a:solidFill>
            <a:srgbClr val="FFFFFF"/>
          </a:solidFill>
          <a:ln/>
          <a:effectLst>
            <a:outerShdw sx="100000" sy="100000" kx="0" ky="0" algn="bl" rotWithShape="0" blurRad="76200" dist="25400" dir="5400000">
              <a:srgbClr val="14532D">
                <a:alpha val="8000"/>
              </a:srgbClr>
            </a:outerShdw>
          </a:effectLst>
        </p:spPr>
      </p:sp>
      <p:pic>
        <p:nvPicPr>
          <p:cNvPr id="39" name="icon card_index_dividers" descr="/tmp/claude-0/-home-claude/e50823c0-d46f-5818-8f05-9d714cd67f5c/scratchpad/assets/icons/card_index_dividers.png">    </p:cNvPr>
          <p:cNvPicPr>
            <a:picLocks noChangeAspect="1"/>
          </p:cNvPicPr>
          <p:nvPr/>
        </p:nvPicPr>
        <p:blipFill>
          <a:blip r:embed="rId8"/>
          <a:stretch>
            <a:fillRect/>
          </a:stretch>
        </p:blipFill>
        <p:spPr>
          <a:xfrm>
            <a:off x="10042855" y="5234940"/>
            <a:ext cx="365760" cy="365760"/>
          </a:xfrm>
          <a:prstGeom prst="rect">
            <a:avLst/>
          </a:prstGeom>
        </p:spPr>
      </p:pic>
      <p:sp>
        <p:nvSpPr>
          <p:cNvPr id="40" name="Text 29"/>
          <p:cNvSpPr txBox="1"/>
          <p:nvPr/>
        </p:nvSpPr>
        <p:spPr>
          <a:xfrm>
            <a:off x="9011183" y="5010912"/>
            <a:ext cx="958520" cy="813816"/>
          </a:xfrm>
          <a:prstGeom prst="rect">
            <a:avLst/>
          </a:prstGeom>
          <a:noFill/>
          <a:ln/>
        </p:spPr>
        <p:txBody>
          <a:bodyPr wrap="square" lIns="0" tIns="0" rIns="0" bIns="0" rtlCol="0" anchor="ctr"/>
          <a:lstStyle/>
          <a:p>
            <a:pPr rtl="1" algn="r" indent="0" marL="0">
              <a:buNone/>
            </a:pPr>
            <a:r>
              <a:rPr lang="fa-IR" altLang="en-US" sz="1250" dirty="0">
                <a:solidFill>
                  <a:srgbClr val="14532D"/>
                </a:solidFill>
                <a:latin typeface="Vazirmatn Nobar ExtraBold" pitchFamily="34" charset="0"/>
                <a:ea typeface="Vazirmatn Nobar ExtraBold" pitchFamily="34" charset="-122"/>
                <a:cs typeface="Vazirmatn Nobar ExtraBold" pitchFamily="34" charset="-120"/>
              </a:rPr>
              <a:t>PostgreSQL</a:t>
            </a:r>
            <a:endParaRPr lang="fa-IR" sz="12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داده‌ی اصلی</a:t>
            </a:r>
            <a:endParaRPr lang="fa-IR" sz="1250" dirty="0"/>
          </a:p>
        </p:txBody>
      </p:sp>
      <p:sp>
        <p:nvSpPr>
          <p:cNvPr id="41" name="Shape 30"/>
          <p:cNvSpPr/>
          <p:nvPr/>
        </p:nvSpPr>
        <p:spPr>
          <a:xfrm>
            <a:off x="7238848" y="5010912"/>
            <a:ext cx="1562024" cy="813816"/>
          </a:xfrm>
          <a:prstGeom prst="roundRect">
            <a:avLst>
              <a:gd name="adj" fmla="val 13483"/>
            </a:avLst>
          </a:prstGeom>
          <a:solidFill>
            <a:srgbClr val="FFFFFF"/>
          </a:solidFill>
          <a:ln/>
          <a:effectLst>
            <a:outerShdw sx="100000" sy="100000" kx="0" ky="0" algn="bl" rotWithShape="0" blurRad="76200" dist="25400" dir="5400000">
              <a:srgbClr val="14532D">
                <a:alpha val="8000"/>
              </a:srgbClr>
            </a:outerShdw>
          </a:effectLst>
        </p:spPr>
      </p:sp>
      <p:pic>
        <p:nvPicPr>
          <p:cNvPr id="42" name="icon link" descr="/tmp/claude-0/-home-claude/e50823c0-d46f-5818-8f05-9d714cd67f5c/scratchpad/assets/icons/link.png">    </p:cNvPr>
          <p:cNvPicPr>
            <a:picLocks noChangeAspect="1"/>
          </p:cNvPicPr>
          <p:nvPr/>
        </p:nvPicPr>
        <p:blipFill>
          <a:blip r:embed="rId9"/>
          <a:stretch>
            <a:fillRect/>
          </a:stretch>
        </p:blipFill>
        <p:spPr>
          <a:xfrm>
            <a:off x="8343671" y="5234940"/>
            <a:ext cx="365760" cy="365760"/>
          </a:xfrm>
          <a:prstGeom prst="rect">
            <a:avLst/>
          </a:prstGeom>
        </p:spPr>
      </p:pic>
      <p:sp>
        <p:nvSpPr>
          <p:cNvPr id="43" name="Text 31"/>
          <p:cNvSpPr txBox="1"/>
          <p:nvPr/>
        </p:nvSpPr>
        <p:spPr>
          <a:xfrm>
            <a:off x="7312000" y="5010912"/>
            <a:ext cx="958520" cy="813816"/>
          </a:xfrm>
          <a:prstGeom prst="rect">
            <a:avLst/>
          </a:prstGeom>
          <a:noFill/>
          <a:ln/>
        </p:spPr>
        <p:txBody>
          <a:bodyPr wrap="square" lIns="0" tIns="0" rIns="0" bIns="0" rtlCol="0" anchor="ctr"/>
          <a:lstStyle/>
          <a:p>
            <a:pPr rtl="1" algn="r" indent="0" marL="0">
              <a:buNone/>
            </a:pPr>
            <a:r>
              <a:rPr lang="fa-IR" altLang="en-US" sz="1250" dirty="0">
                <a:solidFill>
                  <a:srgbClr val="14532D"/>
                </a:solidFill>
                <a:latin typeface="Vazirmatn Nobar ExtraBold" pitchFamily="34" charset="0"/>
                <a:ea typeface="Vazirmatn Nobar ExtraBold" pitchFamily="34" charset="-122"/>
                <a:cs typeface="Vazirmatn Nobar ExtraBold" pitchFamily="34" charset="-120"/>
              </a:rPr>
              <a:t>Redis</a:t>
            </a:r>
            <a:endParaRPr lang="fa-IR" sz="12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کش و صف</a:t>
            </a:r>
            <a:endParaRPr lang="fa-IR" sz="1250" dirty="0"/>
          </a:p>
        </p:txBody>
      </p:sp>
      <p:sp>
        <p:nvSpPr>
          <p:cNvPr id="44" name="Shape 32"/>
          <p:cNvSpPr/>
          <p:nvPr/>
        </p:nvSpPr>
        <p:spPr>
          <a:xfrm>
            <a:off x="5539664" y="5010912"/>
            <a:ext cx="1562024" cy="813816"/>
          </a:xfrm>
          <a:prstGeom prst="roundRect">
            <a:avLst>
              <a:gd name="adj" fmla="val 13483"/>
            </a:avLst>
          </a:prstGeom>
          <a:solidFill>
            <a:srgbClr val="FFFFFF"/>
          </a:solidFill>
          <a:ln/>
          <a:effectLst>
            <a:outerShdw sx="100000" sy="100000" kx="0" ky="0" algn="bl" rotWithShape="0" blurRad="76200" dist="25400" dir="5400000">
              <a:srgbClr val="14532D">
                <a:alpha val="8000"/>
              </a:srgbClr>
            </a:outerShdw>
          </a:effectLst>
        </p:spPr>
      </p:sp>
      <p:pic>
        <p:nvPicPr>
          <p:cNvPr id="45" name="icon magnifying_glass_tilted_left" descr="/tmp/claude-0/-home-claude/e50823c0-d46f-5818-8f05-9d714cd67f5c/scratchpad/assets/icons/magnifying_glass_tilted_left.png">    </p:cNvPr>
          <p:cNvPicPr>
            <a:picLocks noChangeAspect="1"/>
          </p:cNvPicPr>
          <p:nvPr/>
        </p:nvPicPr>
        <p:blipFill>
          <a:blip r:embed="rId10"/>
          <a:stretch>
            <a:fillRect/>
          </a:stretch>
        </p:blipFill>
        <p:spPr>
          <a:xfrm>
            <a:off x="6644488" y="5234940"/>
            <a:ext cx="365760" cy="365760"/>
          </a:xfrm>
          <a:prstGeom prst="rect">
            <a:avLst/>
          </a:prstGeom>
        </p:spPr>
      </p:pic>
      <p:sp>
        <p:nvSpPr>
          <p:cNvPr id="46" name="Text 33"/>
          <p:cNvSpPr txBox="1"/>
          <p:nvPr/>
        </p:nvSpPr>
        <p:spPr>
          <a:xfrm>
            <a:off x="5612816" y="5010912"/>
            <a:ext cx="958520" cy="813816"/>
          </a:xfrm>
          <a:prstGeom prst="rect">
            <a:avLst/>
          </a:prstGeom>
          <a:noFill/>
          <a:ln/>
        </p:spPr>
        <p:txBody>
          <a:bodyPr wrap="square" lIns="0" tIns="0" rIns="0" bIns="0" rtlCol="0" anchor="ctr"/>
          <a:lstStyle/>
          <a:p>
            <a:pPr rtl="1" algn="r" indent="0" marL="0">
              <a:buNone/>
            </a:pPr>
            <a:r>
              <a:rPr lang="fa-IR" altLang="en-US" sz="1250" dirty="0">
                <a:solidFill>
                  <a:srgbClr val="14532D"/>
                </a:solidFill>
                <a:latin typeface="Vazirmatn Nobar ExtraBold" pitchFamily="34" charset="0"/>
                <a:ea typeface="Vazirmatn Nobar ExtraBold" pitchFamily="34" charset="-122"/>
                <a:cs typeface="Vazirmatn Nobar ExtraBold" pitchFamily="34" charset="-120"/>
              </a:rPr>
              <a:t>OpenSearch</a:t>
            </a:r>
            <a:endParaRPr lang="fa-IR" sz="12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جستجوی فارسی</a:t>
            </a:r>
            <a:endParaRPr lang="fa-IR" sz="1250" dirty="0"/>
          </a:p>
        </p:txBody>
      </p:sp>
      <p:sp>
        <p:nvSpPr>
          <p:cNvPr id="47" name="Shape 34"/>
          <p:cNvSpPr/>
          <p:nvPr/>
        </p:nvSpPr>
        <p:spPr>
          <a:xfrm>
            <a:off x="3840480" y="5010912"/>
            <a:ext cx="1562024" cy="813816"/>
          </a:xfrm>
          <a:prstGeom prst="roundRect">
            <a:avLst>
              <a:gd name="adj" fmla="val 13483"/>
            </a:avLst>
          </a:prstGeom>
          <a:solidFill>
            <a:srgbClr val="FFFFFF"/>
          </a:solidFill>
          <a:ln/>
          <a:effectLst>
            <a:outerShdw sx="100000" sy="100000" kx="0" ky="0" algn="bl" rotWithShape="0" blurRad="76200" dist="25400" dir="5400000">
              <a:srgbClr val="14532D">
                <a:alpha val="8000"/>
              </a:srgbClr>
            </a:outerShdw>
          </a:effectLst>
        </p:spPr>
      </p:sp>
      <p:pic>
        <p:nvPicPr>
          <p:cNvPr id="48" name="icon camera_with_flash" descr="/tmp/claude-0/-home-claude/e50823c0-d46f-5818-8f05-9d714cd67f5c/scratchpad/assets/icons/camera_with_flash.png">    </p:cNvPr>
          <p:cNvPicPr>
            <a:picLocks noChangeAspect="1"/>
          </p:cNvPicPr>
          <p:nvPr/>
        </p:nvPicPr>
        <p:blipFill>
          <a:blip r:embed="rId11"/>
          <a:stretch>
            <a:fillRect/>
          </a:stretch>
        </p:blipFill>
        <p:spPr>
          <a:xfrm>
            <a:off x="4945304" y="5234940"/>
            <a:ext cx="365760" cy="365760"/>
          </a:xfrm>
          <a:prstGeom prst="rect">
            <a:avLst/>
          </a:prstGeom>
        </p:spPr>
      </p:pic>
      <p:sp>
        <p:nvSpPr>
          <p:cNvPr id="49" name="Text 35"/>
          <p:cNvSpPr txBox="1"/>
          <p:nvPr/>
        </p:nvSpPr>
        <p:spPr>
          <a:xfrm>
            <a:off x="3913632" y="5010912"/>
            <a:ext cx="958520" cy="813816"/>
          </a:xfrm>
          <a:prstGeom prst="rect">
            <a:avLst/>
          </a:prstGeom>
          <a:noFill/>
          <a:ln/>
        </p:spPr>
        <p:txBody>
          <a:bodyPr wrap="square" lIns="0" tIns="0" rIns="0" bIns="0" rtlCol="0" anchor="ctr"/>
          <a:lstStyle/>
          <a:p>
            <a:pPr rtl="1" algn="r" indent="0" marL="0">
              <a:buNone/>
            </a:pPr>
            <a:r>
              <a:rPr lang="fa-IR" altLang="en-US" sz="1250" dirty="0">
                <a:solidFill>
                  <a:srgbClr val="14532D"/>
                </a:solidFill>
                <a:latin typeface="Vazirmatn Nobar ExtraBold" pitchFamily="34" charset="0"/>
                <a:ea typeface="Vazirmatn Nobar ExtraBold" pitchFamily="34" charset="-122"/>
                <a:cs typeface="Vazirmatn Nobar ExtraBold" pitchFamily="34" charset="-120"/>
              </a:rPr>
              <a:t>ذخیره‌ساز</a:t>
            </a:r>
            <a:endParaRPr lang="fa-IR" sz="1250" dirty="0"/>
          </a:p>
          <a:p>
            <a:pPr rtl="1" algn="r" indent="0" marL="0">
              <a:buNone/>
            </a:pPr>
            <a:r>
              <a:rPr lang="fa-IR" altLang="en-US" sz="1100" dirty="0">
                <a:solidFill>
                  <a:srgbClr val="5F6B5F"/>
                </a:solidFill>
                <a:latin typeface="Vazirmatn Nobar" pitchFamily="34" charset="0"/>
                <a:ea typeface="Vazirmatn Nobar" pitchFamily="34" charset="-122"/>
                <a:cs typeface="Vazirmatn Nobar" pitchFamily="34" charset="-120"/>
              </a:rPr>
              <a:t>تصاویر و فایل‌ها</a:t>
            </a:r>
            <a:endParaRPr lang="fa-IR" sz="1250" dirty="0"/>
          </a:p>
        </p:txBody>
      </p:sp>
      <p:sp>
        <p:nvSpPr>
          <p:cNvPr id="50" name="Shape 36"/>
          <p:cNvSpPr/>
          <p:nvPr/>
        </p:nvSpPr>
        <p:spPr>
          <a:xfrm>
            <a:off x="548640" y="1536192"/>
            <a:ext cx="2880360" cy="3127248"/>
          </a:xfrm>
          <a:prstGeom prst="roundRect">
            <a:avLst>
              <a:gd name="adj" fmla="val 5079"/>
            </a:avLst>
          </a:prstGeom>
          <a:solidFill>
            <a:srgbClr val="FFFFFF"/>
          </a:solidFill>
          <a:ln/>
          <a:effectLst>
            <a:outerShdw sx="100000" sy="100000" kx="0" ky="0" algn="bl" rotWithShape="0" blurRad="127000" dist="38100" dir="5400000">
              <a:srgbClr val="14532D">
                <a:alpha val="12000"/>
              </a:srgbClr>
            </a:outerShdw>
          </a:effectLst>
        </p:spPr>
      </p:sp>
      <p:sp>
        <p:nvSpPr>
          <p:cNvPr id="51" name="Text 37"/>
          <p:cNvSpPr txBox="1"/>
          <p:nvPr/>
        </p:nvSpPr>
        <p:spPr>
          <a:xfrm>
            <a:off x="731520" y="1645920"/>
            <a:ext cx="2514600" cy="347472"/>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سرویس‌های بیرونی</a:t>
            </a:r>
            <a:endParaRPr lang="fa-IR" sz="1500" dirty="0"/>
          </a:p>
        </p:txBody>
      </p:sp>
      <p:sp>
        <p:nvSpPr>
          <p:cNvPr id="52" name="Text 38"/>
          <p:cNvSpPr txBox="1"/>
          <p:nvPr/>
        </p:nvSpPr>
        <p:spPr>
          <a:xfrm>
            <a:off x="731520" y="1975104"/>
            <a:ext cx="2514600" cy="274320"/>
          </a:xfrm>
          <a:prstGeom prst="rect">
            <a:avLst/>
          </a:prstGeom>
          <a:noFill/>
          <a:ln/>
        </p:spPr>
        <p:txBody>
          <a:bodyPr wrap="square" lIns="0" tIns="0" rIns="0" bIns="0" rtlCol="0" anchor="t"/>
          <a:lstStyle/>
          <a:p>
            <a:pPr rtl="1" algn="r" indent="0" marL="0">
              <a:buNone/>
            </a:pPr>
            <a:r>
              <a:rPr lang="fa-IR" altLang="en-US" sz="1200" dirty="0">
                <a:solidFill>
                  <a:srgbClr val="5F6B5F"/>
                </a:solidFill>
                <a:latin typeface="Vazirmatn Nobar" pitchFamily="34" charset="0"/>
                <a:ea typeface="Vazirmatn Nobar" pitchFamily="34" charset="-122"/>
                <a:cs typeface="Vazirmatn Nobar" pitchFamily="34" charset="-120"/>
              </a:rPr>
              <a:t>پشت درگاه‌های قابل‌تعویض</a:t>
            </a:r>
            <a:endParaRPr lang="fa-IR" sz="1200" dirty="0"/>
          </a:p>
        </p:txBody>
      </p:sp>
      <p:pic>
        <p:nvPicPr>
          <p:cNvPr id="53" name="icon credit_card" descr="/tmp/claude-0/-home-claude/e50823c0-d46f-5818-8f05-9d714cd67f5c/scratchpad/assets/icons/credit_card.png">    </p:cNvPr>
          <p:cNvPicPr>
            <a:picLocks noChangeAspect="1"/>
          </p:cNvPicPr>
          <p:nvPr/>
        </p:nvPicPr>
        <p:blipFill>
          <a:blip r:embed="rId12"/>
          <a:stretch>
            <a:fillRect/>
          </a:stretch>
        </p:blipFill>
        <p:spPr>
          <a:xfrm>
            <a:off x="2880360" y="2377440"/>
            <a:ext cx="402336" cy="402336"/>
          </a:xfrm>
          <a:prstGeom prst="rect">
            <a:avLst/>
          </a:prstGeom>
        </p:spPr>
      </p:pic>
      <p:sp>
        <p:nvSpPr>
          <p:cNvPr id="54" name="Text 39"/>
          <p:cNvSpPr txBox="1"/>
          <p:nvPr/>
        </p:nvSpPr>
        <p:spPr>
          <a:xfrm>
            <a:off x="731520" y="2377440"/>
            <a:ext cx="2057400" cy="402336"/>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درگاه پرداخت</a:t>
            </a:r>
            <a:endParaRPr lang="fa-IR" sz="1350" dirty="0"/>
          </a:p>
        </p:txBody>
      </p:sp>
      <p:pic>
        <p:nvPicPr>
          <p:cNvPr id="55" name="icon speech_balloon" descr="/tmp/claude-0/-home-claude/e50823c0-d46f-5818-8f05-9d714cd67f5c/scratchpad/assets/icons/speech_balloon.png">    </p:cNvPr>
          <p:cNvPicPr>
            <a:picLocks noChangeAspect="1"/>
          </p:cNvPicPr>
          <p:nvPr/>
        </p:nvPicPr>
        <p:blipFill>
          <a:blip r:embed="rId13"/>
          <a:stretch>
            <a:fillRect/>
          </a:stretch>
        </p:blipFill>
        <p:spPr>
          <a:xfrm>
            <a:off x="2880360" y="2926080"/>
            <a:ext cx="402336" cy="402336"/>
          </a:xfrm>
          <a:prstGeom prst="rect">
            <a:avLst/>
          </a:prstGeom>
        </p:spPr>
      </p:pic>
      <p:sp>
        <p:nvSpPr>
          <p:cNvPr id="56" name="Text 40"/>
          <p:cNvSpPr txBox="1"/>
          <p:nvPr/>
        </p:nvSpPr>
        <p:spPr>
          <a:xfrm>
            <a:off x="731520" y="2926080"/>
            <a:ext cx="2057400" cy="402336"/>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پیامک</a:t>
            </a:r>
            <a:endParaRPr lang="fa-IR" sz="1350" dirty="0"/>
          </a:p>
        </p:txBody>
      </p:sp>
      <p:pic>
        <p:nvPicPr>
          <p:cNvPr id="57" name="icon round_pushpin" descr="/tmp/claude-0/-home-claude/e50823c0-d46f-5818-8f05-9d714cd67f5c/scratchpad/assets/icons/round_pushpin.png">    </p:cNvPr>
          <p:cNvPicPr>
            <a:picLocks noChangeAspect="1"/>
          </p:cNvPicPr>
          <p:nvPr/>
        </p:nvPicPr>
        <p:blipFill>
          <a:blip r:embed="rId14"/>
          <a:stretch>
            <a:fillRect/>
          </a:stretch>
        </p:blipFill>
        <p:spPr>
          <a:xfrm>
            <a:off x="2880360" y="3474720"/>
            <a:ext cx="402336" cy="402336"/>
          </a:xfrm>
          <a:prstGeom prst="rect">
            <a:avLst/>
          </a:prstGeom>
        </p:spPr>
      </p:pic>
      <p:sp>
        <p:nvSpPr>
          <p:cNvPr id="58" name="Text 41"/>
          <p:cNvSpPr txBox="1"/>
          <p:nvPr/>
        </p:nvSpPr>
        <p:spPr>
          <a:xfrm>
            <a:off x="731520" y="3474720"/>
            <a:ext cx="2057400" cy="402336"/>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نقشه و مکان</a:t>
            </a:r>
            <a:endParaRPr lang="fa-IR" sz="1350" dirty="0"/>
          </a:p>
        </p:txBody>
      </p:sp>
      <p:pic>
        <p:nvPicPr>
          <p:cNvPr id="59" name="icon brain" descr="/tmp/claude-0/-home-claude/e50823c0-d46f-5818-8f05-9d714cd67f5c/scratchpad/assets/icons/brain.png">    </p:cNvPr>
          <p:cNvPicPr>
            <a:picLocks noChangeAspect="1"/>
          </p:cNvPicPr>
          <p:nvPr/>
        </p:nvPicPr>
        <p:blipFill>
          <a:blip r:embed="rId15"/>
          <a:stretch>
            <a:fillRect/>
          </a:stretch>
        </p:blipFill>
        <p:spPr>
          <a:xfrm>
            <a:off x="2880360" y="4023360"/>
            <a:ext cx="402336" cy="402336"/>
          </a:xfrm>
          <a:prstGeom prst="rect">
            <a:avLst/>
          </a:prstGeom>
        </p:spPr>
      </p:pic>
      <p:sp>
        <p:nvSpPr>
          <p:cNvPr id="60" name="Text 42"/>
          <p:cNvSpPr txBox="1"/>
          <p:nvPr/>
        </p:nvSpPr>
        <p:spPr>
          <a:xfrm>
            <a:off x="731520" y="4023360"/>
            <a:ext cx="2057400" cy="402336"/>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مدل زبانی و گفتار</a:t>
            </a:r>
            <a:endParaRPr lang="fa-IR" sz="1350" dirty="0"/>
          </a:p>
        </p:txBody>
      </p:sp>
      <p:sp>
        <p:nvSpPr>
          <p:cNvPr id="61" name="Shape 43"/>
          <p:cNvSpPr/>
          <p:nvPr/>
        </p:nvSpPr>
        <p:spPr>
          <a:xfrm>
            <a:off x="3429000" y="4160520"/>
            <a:ext cx="256032" cy="0"/>
          </a:xfrm>
          <a:prstGeom prst="line">
            <a:avLst/>
          </a:prstGeom>
          <a:noFill/>
          <a:ln w="19050">
            <a:solidFill>
              <a:srgbClr val="A8B3A5"/>
            </a:solidFill>
            <a:prstDash val="dash"/>
            <a:tailEnd type="triangle"/>
          </a:ln>
        </p:spPr>
      </p:sp>
      <p:sp>
        <p:nvSpPr>
          <p:cNvPr id="62" name="Shape 44"/>
          <p:cNvSpPr/>
          <p:nvPr/>
        </p:nvSpPr>
        <p:spPr>
          <a:xfrm>
            <a:off x="548640" y="4892040"/>
            <a:ext cx="2880360" cy="1051560"/>
          </a:xfrm>
          <a:prstGeom prst="roundRect">
            <a:avLst>
              <a:gd name="adj" fmla="val 12174"/>
            </a:avLst>
          </a:prstGeom>
          <a:solidFill>
            <a:srgbClr val="14532D"/>
          </a:solidFill>
          <a:ln/>
          <a:effectLst>
            <a:outerShdw sx="100000" sy="100000" kx="0" ky="0" algn="bl" rotWithShape="0" blurRad="127000" dist="38100" dir="5400000">
              <a:srgbClr val="14532D">
                <a:alpha val="12000"/>
              </a:srgbClr>
            </a:outerShdw>
          </a:effectLst>
        </p:spPr>
      </p:sp>
      <p:sp>
        <p:nvSpPr>
          <p:cNvPr id="63" name="Text 45"/>
          <p:cNvSpPr txBox="1"/>
          <p:nvPr/>
        </p:nvSpPr>
        <p:spPr>
          <a:xfrm>
            <a:off x="731520" y="4892040"/>
            <a:ext cx="2514600" cy="1051560"/>
          </a:xfrm>
          <a:prstGeom prst="rect">
            <a:avLst/>
          </a:prstGeom>
          <a:noFill/>
          <a:ln/>
        </p:spPr>
        <p:txBody>
          <a:bodyPr wrap="square" lIns="0" tIns="0" rIns="0" bIns="0" rtlCol="0" anchor="ctr"/>
          <a:lstStyle/>
          <a:p>
            <a:pPr algn="ctr" indent="0" marL="0">
              <a:lnSpc>
                <a:spcPct val="120000"/>
              </a:lnSpc>
              <a:buNone/>
            </a:pPr>
            <a:r>
              <a:rPr lang="en-US" altLang="en-US" sz="1250" dirty="0">
                <a:solidFill>
                  <a:srgbClr val="FFFFFF"/>
                </a:solidFill>
                <a:latin typeface="Vazirmatn Nobar SemiBold" pitchFamily="34" charset="0"/>
                <a:ea typeface="Vazirmatn Nobar SemiBold" pitchFamily="34" charset="-122"/>
                <a:cs typeface="Vazirmatn Nobar SemiBold" pitchFamily="34" charset="-120"/>
              </a:rPr>
              <a:t>TypeScript · NestJS · Next.js · PostgreSQL · OpenSearch · Redis · Docker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۱۵</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ماژول‌ها و اصول مهندسی</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۲۱ ماژول با مرزهای مشخص؛ کیفیتی که از روز اول قابل‌اندازه‌گیری است</a:t>
            </a:r>
            <a:endParaRPr lang="fa-IR" sz="1600" dirty="0"/>
          </a:p>
        </p:txBody>
      </p:sp>
      <p:sp>
        <p:nvSpPr>
          <p:cNvPr id="6" name="Shape 3"/>
          <p:cNvSpPr/>
          <p:nvPr/>
        </p:nvSpPr>
        <p:spPr>
          <a:xfrm>
            <a:off x="4800600" y="1572768"/>
            <a:ext cx="684245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7" name="Text 4"/>
          <p:cNvSpPr txBox="1"/>
          <p:nvPr/>
        </p:nvSpPr>
        <p:spPr>
          <a:xfrm>
            <a:off x="9859975" y="1572768"/>
            <a:ext cx="1645920" cy="804672"/>
          </a:xfrm>
          <a:prstGeom prst="rect">
            <a:avLst/>
          </a:prstGeom>
          <a:noFill/>
          <a:ln/>
        </p:spPr>
        <p:txBody>
          <a:bodyPr wrap="square" lIns="0" tIns="0" rIns="0" bIns="0" rtlCol="0" anchor="ctr"/>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هویت و غرفه</a:t>
            </a:r>
            <a:endParaRPr lang="fa-IR" sz="1450" dirty="0"/>
          </a:p>
        </p:txBody>
      </p:sp>
      <p:sp>
        <p:nvSpPr>
          <p:cNvPr id="8" name="Shape 5"/>
          <p:cNvSpPr/>
          <p:nvPr/>
        </p:nvSpPr>
        <p:spPr>
          <a:xfrm>
            <a:off x="9190634" y="1792224"/>
            <a:ext cx="577901" cy="365760"/>
          </a:xfrm>
          <a:prstGeom prst="roundRect">
            <a:avLst>
              <a:gd name="adj" fmla="val 50000"/>
            </a:avLst>
          </a:prstGeom>
          <a:solidFill>
            <a:srgbClr val="EAF5E6"/>
          </a:solidFill>
          <a:ln/>
        </p:spPr>
      </p:sp>
      <p:sp>
        <p:nvSpPr>
          <p:cNvPr id="9" name="Text 6"/>
          <p:cNvSpPr txBox="1"/>
          <p:nvPr/>
        </p:nvSpPr>
        <p:spPr>
          <a:xfrm>
            <a:off x="9190634" y="1792224"/>
            <a:ext cx="577901"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هویت</a:t>
            </a:r>
            <a:endParaRPr lang="fa-IR" sz="1200" dirty="0"/>
          </a:p>
        </p:txBody>
      </p:sp>
      <p:sp>
        <p:nvSpPr>
          <p:cNvPr id="10" name="Shape 7"/>
          <p:cNvSpPr/>
          <p:nvPr/>
        </p:nvSpPr>
        <p:spPr>
          <a:xfrm>
            <a:off x="8325612" y="1792224"/>
            <a:ext cx="791870" cy="365760"/>
          </a:xfrm>
          <a:prstGeom prst="roundRect">
            <a:avLst>
              <a:gd name="adj" fmla="val 50000"/>
            </a:avLst>
          </a:prstGeom>
          <a:solidFill>
            <a:srgbClr val="EAF5E6"/>
          </a:solidFill>
          <a:ln/>
        </p:spPr>
      </p:sp>
      <p:sp>
        <p:nvSpPr>
          <p:cNvPr id="11" name="Text 8"/>
          <p:cNvSpPr txBox="1"/>
          <p:nvPr/>
        </p:nvSpPr>
        <p:spPr>
          <a:xfrm>
            <a:off x="8325612" y="1792224"/>
            <a:ext cx="79187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پروفایل</a:t>
            </a:r>
            <a:endParaRPr lang="fa-IR" sz="1200" dirty="0"/>
          </a:p>
        </p:txBody>
      </p:sp>
      <p:sp>
        <p:nvSpPr>
          <p:cNvPr id="12" name="Shape 9"/>
          <p:cNvSpPr/>
          <p:nvPr/>
        </p:nvSpPr>
        <p:spPr>
          <a:xfrm>
            <a:off x="7460590" y="1792224"/>
            <a:ext cx="791870" cy="365760"/>
          </a:xfrm>
          <a:prstGeom prst="roundRect">
            <a:avLst>
              <a:gd name="adj" fmla="val 50000"/>
            </a:avLst>
          </a:prstGeom>
          <a:solidFill>
            <a:srgbClr val="EAF5E6"/>
          </a:solidFill>
          <a:ln/>
        </p:spPr>
      </p:sp>
      <p:sp>
        <p:nvSpPr>
          <p:cNvPr id="13" name="Text 10"/>
          <p:cNvSpPr txBox="1"/>
          <p:nvPr/>
        </p:nvSpPr>
        <p:spPr>
          <a:xfrm>
            <a:off x="7460590" y="1792224"/>
            <a:ext cx="79187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جغرافیا</a:t>
            </a:r>
            <a:endParaRPr lang="fa-IR" sz="1200" dirty="0"/>
          </a:p>
        </p:txBody>
      </p:sp>
      <p:sp>
        <p:nvSpPr>
          <p:cNvPr id="14" name="Shape 11"/>
          <p:cNvSpPr/>
          <p:nvPr/>
        </p:nvSpPr>
        <p:spPr>
          <a:xfrm>
            <a:off x="6595567" y="1792224"/>
            <a:ext cx="791870" cy="365760"/>
          </a:xfrm>
          <a:prstGeom prst="roundRect">
            <a:avLst>
              <a:gd name="adj" fmla="val 50000"/>
            </a:avLst>
          </a:prstGeom>
          <a:solidFill>
            <a:srgbClr val="EAF5E6"/>
          </a:solidFill>
          <a:ln/>
        </p:spPr>
      </p:sp>
      <p:sp>
        <p:nvSpPr>
          <p:cNvPr id="15" name="Text 12"/>
          <p:cNvSpPr txBox="1"/>
          <p:nvPr/>
        </p:nvSpPr>
        <p:spPr>
          <a:xfrm>
            <a:off x="6595567" y="1792224"/>
            <a:ext cx="79187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غرفه‌ها</a:t>
            </a:r>
            <a:endParaRPr lang="fa-IR" sz="1200" dirty="0"/>
          </a:p>
        </p:txBody>
      </p:sp>
      <p:sp>
        <p:nvSpPr>
          <p:cNvPr id="16" name="Shape 13"/>
          <p:cNvSpPr/>
          <p:nvPr/>
        </p:nvSpPr>
        <p:spPr>
          <a:xfrm>
            <a:off x="4800600" y="2468880"/>
            <a:ext cx="684245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17" name="Text 14"/>
          <p:cNvSpPr txBox="1"/>
          <p:nvPr/>
        </p:nvSpPr>
        <p:spPr>
          <a:xfrm>
            <a:off x="9859975" y="2468880"/>
            <a:ext cx="1645920" cy="804672"/>
          </a:xfrm>
          <a:prstGeom prst="rect">
            <a:avLst/>
          </a:prstGeom>
          <a:noFill/>
          <a:ln/>
        </p:spPr>
        <p:txBody>
          <a:bodyPr wrap="square" lIns="0" tIns="0" rIns="0" bIns="0" rtlCol="0" anchor="ctr"/>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کاتالوگ و عرضه</a:t>
            </a:r>
            <a:endParaRPr lang="fa-IR" sz="1450" dirty="0"/>
          </a:p>
        </p:txBody>
      </p:sp>
      <p:sp>
        <p:nvSpPr>
          <p:cNvPr id="18" name="Shape 15"/>
          <p:cNvSpPr/>
          <p:nvPr/>
        </p:nvSpPr>
        <p:spPr>
          <a:xfrm>
            <a:off x="8976665" y="2688336"/>
            <a:ext cx="791870" cy="365760"/>
          </a:xfrm>
          <a:prstGeom prst="roundRect">
            <a:avLst>
              <a:gd name="adj" fmla="val 50000"/>
            </a:avLst>
          </a:prstGeom>
          <a:solidFill>
            <a:srgbClr val="EAF5E6"/>
          </a:solidFill>
          <a:ln/>
        </p:spPr>
      </p:sp>
      <p:sp>
        <p:nvSpPr>
          <p:cNvPr id="19" name="Text 16"/>
          <p:cNvSpPr txBox="1"/>
          <p:nvPr/>
        </p:nvSpPr>
        <p:spPr>
          <a:xfrm>
            <a:off x="8976665" y="2688336"/>
            <a:ext cx="79187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کاتالوگ</a:t>
            </a:r>
            <a:endParaRPr lang="fa-IR" sz="1200" dirty="0"/>
          </a:p>
        </p:txBody>
      </p:sp>
      <p:sp>
        <p:nvSpPr>
          <p:cNvPr id="20" name="Shape 17"/>
          <p:cNvSpPr/>
          <p:nvPr/>
        </p:nvSpPr>
        <p:spPr>
          <a:xfrm>
            <a:off x="8182966" y="2688336"/>
            <a:ext cx="720547" cy="365760"/>
          </a:xfrm>
          <a:prstGeom prst="roundRect">
            <a:avLst>
              <a:gd name="adj" fmla="val 50000"/>
            </a:avLst>
          </a:prstGeom>
          <a:solidFill>
            <a:srgbClr val="EAF5E6"/>
          </a:solidFill>
          <a:ln/>
        </p:spPr>
      </p:sp>
      <p:sp>
        <p:nvSpPr>
          <p:cNvPr id="21" name="Text 18"/>
          <p:cNvSpPr txBox="1"/>
          <p:nvPr/>
        </p:nvSpPr>
        <p:spPr>
          <a:xfrm>
            <a:off x="8182966" y="2688336"/>
            <a:ext cx="720547"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موجودی</a:t>
            </a:r>
            <a:endParaRPr lang="fa-IR" sz="1200" dirty="0"/>
          </a:p>
        </p:txBody>
      </p:sp>
      <p:sp>
        <p:nvSpPr>
          <p:cNvPr id="22" name="Shape 19"/>
          <p:cNvSpPr/>
          <p:nvPr/>
        </p:nvSpPr>
        <p:spPr>
          <a:xfrm>
            <a:off x="7460590" y="2688336"/>
            <a:ext cx="649224" cy="365760"/>
          </a:xfrm>
          <a:prstGeom prst="roundRect">
            <a:avLst>
              <a:gd name="adj" fmla="val 50000"/>
            </a:avLst>
          </a:prstGeom>
          <a:solidFill>
            <a:srgbClr val="EAF5E6"/>
          </a:solidFill>
          <a:ln/>
        </p:spPr>
      </p:sp>
      <p:sp>
        <p:nvSpPr>
          <p:cNvPr id="23" name="Text 20"/>
          <p:cNvSpPr txBox="1"/>
          <p:nvPr/>
        </p:nvSpPr>
        <p:spPr>
          <a:xfrm>
            <a:off x="7460590" y="2688336"/>
            <a:ext cx="64922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رسانه</a:t>
            </a:r>
            <a:endParaRPr lang="fa-IR" sz="1200" dirty="0"/>
          </a:p>
        </p:txBody>
      </p:sp>
      <p:sp>
        <p:nvSpPr>
          <p:cNvPr id="24" name="Shape 21"/>
          <p:cNvSpPr/>
          <p:nvPr/>
        </p:nvSpPr>
        <p:spPr>
          <a:xfrm>
            <a:off x="6666890" y="2688336"/>
            <a:ext cx="720547" cy="365760"/>
          </a:xfrm>
          <a:prstGeom prst="roundRect">
            <a:avLst>
              <a:gd name="adj" fmla="val 50000"/>
            </a:avLst>
          </a:prstGeom>
          <a:solidFill>
            <a:srgbClr val="EAF5E6"/>
          </a:solidFill>
          <a:ln/>
        </p:spPr>
      </p:sp>
      <p:sp>
        <p:nvSpPr>
          <p:cNvPr id="25" name="Text 22"/>
          <p:cNvSpPr txBox="1"/>
          <p:nvPr/>
        </p:nvSpPr>
        <p:spPr>
          <a:xfrm>
            <a:off x="6666890" y="2688336"/>
            <a:ext cx="720547"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فصل‌ها</a:t>
            </a:r>
            <a:endParaRPr lang="fa-IR" sz="1200" dirty="0"/>
          </a:p>
        </p:txBody>
      </p:sp>
      <p:sp>
        <p:nvSpPr>
          <p:cNvPr id="26" name="Shape 23"/>
          <p:cNvSpPr/>
          <p:nvPr/>
        </p:nvSpPr>
        <p:spPr>
          <a:xfrm>
            <a:off x="4800600" y="3364992"/>
            <a:ext cx="684245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27" name="Text 24"/>
          <p:cNvSpPr txBox="1"/>
          <p:nvPr/>
        </p:nvSpPr>
        <p:spPr>
          <a:xfrm>
            <a:off x="9859975" y="3364992"/>
            <a:ext cx="1645920" cy="804672"/>
          </a:xfrm>
          <a:prstGeom prst="rect">
            <a:avLst/>
          </a:prstGeom>
          <a:noFill/>
          <a:ln/>
        </p:spPr>
        <p:txBody>
          <a:bodyPr wrap="square" lIns="0" tIns="0" rIns="0" bIns="0" rtlCol="0" anchor="ctr"/>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کشف و ارسال</a:t>
            </a:r>
            <a:endParaRPr lang="fa-IR" sz="1450" dirty="0"/>
          </a:p>
        </p:txBody>
      </p:sp>
      <p:sp>
        <p:nvSpPr>
          <p:cNvPr id="28" name="Shape 25"/>
          <p:cNvSpPr/>
          <p:nvPr/>
        </p:nvSpPr>
        <p:spPr>
          <a:xfrm>
            <a:off x="8691372" y="3584448"/>
            <a:ext cx="1077163" cy="365760"/>
          </a:xfrm>
          <a:prstGeom prst="roundRect">
            <a:avLst>
              <a:gd name="adj" fmla="val 50000"/>
            </a:avLst>
          </a:prstGeom>
          <a:solidFill>
            <a:srgbClr val="EAF5E6"/>
          </a:solidFill>
          <a:ln/>
        </p:spPr>
      </p:sp>
      <p:sp>
        <p:nvSpPr>
          <p:cNvPr id="29" name="Text 26"/>
          <p:cNvSpPr txBox="1"/>
          <p:nvPr/>
        </p:nvSpPr>
        <p:spPr>
          <a:xfrm>
            <a:off x="8691372" y="3584448"/>
            <a:ext cx="1077163"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جستجو و کشف</a:t>
            </a:r>
            <a:endParaRPr lang="fa-IR" sz="1200" dirty="0"/>
          </a:p>
        </p:txBody>
      </p:sp>
      <p:sp>
        <p:nvSpPr>
          <p:cNvPr id="30" name="Shape 27"/>
          <p:cNvSpPr/>
          <p:nvPr/>
        </p:nvSpPr>
        <p:spPr>
          <a:xfrm>
            <a:off x="7612380" y="3584448"/>
            <a:ext cx="1005840" cy="365760"/>
          </a:xfrm>
          <a:prstGeom prst="roundRect">
            <a:avLst>
              <a:gd name="adj" fmla="val 50000"/>
            </a:avLst>
          </a:prstGeom>
          <a:solidFill>
            <a:srgbClr val="EAF5E6"/>
          </a:solidFill>
          <a:ln/>
        </p:spPr>
      </p:sp>
      <p:sp>
        <p:nvSpPr>
          <p:cNvPr id="31" name="Text 28"/>
          <p:cNvSpPr txBox="1"/>
          <p:nvPr/>
        </p:nvSpPr>
        <p:spPr>
          <a:xfrm>
            <a:off x="7612380" y="3584448"/>
            <a:ext cx="100584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قیمت‌گذاری</a:t>
            </a:r>
            <a:endParaRPr lang="fa-IR" sz="1200" dirty="0"/>
          </a:p>
        </p:txBody>
      </p:sp>
      <p:sp>
        <p:nvSpPr>
          <p:cNvPr id="32" name="Shape 29"/>
          <p:cNvSpPr/>
          <p:nvPr/>
        </p:nvSpPr>
        <p:spPr>
          <a:xfrm>
            <a:off x="6890004" y="3584448"/>
            <a:ext cx="649224" cy="365760"/>
          </a:xfrm>
          <a:prstGeom prst="roundRect">
            <a:avLst>
              <a:gd name="adj" fmla="val 50000"/>
            </a:avLst>
          </a:prstGeom>
          <a:solidFill>
            <a:srgbClr val="EAF5E6"/>
          </a:solidFill>
          <a:ln/>
        </p:spPr>
      </p:sp>
      <p:sp>
        <p:nvSpPr>
          <p:cNvPr id="33" name="Text 30"/>
          <p:cNvSpPr txBox="1"/>
          <p:nvPr/>
        </p:nvSpPr>
        <p:spPr>
          <a:xfrm>
            <a:off x="6890004" y="3584448"/>
            <a:ext cx="64922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ارسال</a:t>
            </a:r>
            <a:endParaRPr lang="fa-IR" sz="1200" dirty="0"/>
          </a:p>
        </p:txBody>
      </p:sp>
      <p:sp>
        <p:nvSpPr>
          <p:cNvPr id="34" name="Shape 31"/>
          <p:cNvSpPr/>
          <p:nvPr/>
        </p:nvSpPr>
        <p:spPr>
          <a:xfrm>
            <a:off x="5739689" y="3584448"/>
            <a:ext cx="1077163" cy="365760"/>
          </a:xfrm>
          <a:prstGeom prst="roundRect">
            <a:avLst>
              <a:gd name="adj" fmla="val 50000"/>
            </a:avLst>
          </a:prstGeom>
          <a:solidFill>
            <a:srgbClr val="EAF5E6"/>
          </a:solidFill>
          <a:ln/>
        </p:spPr>
      </p:sp>
      <p:sp>
        <p:nvSpPr>
          <p:cNvPr id="35" name="Text 32"/>
          <p:cNvSpPr txBox="1"/>
          <p:nvPr/>
        </p:nvSpPr>
        <p:spPr>
          <a:xfrm>
            <a:off x="5739689" y="3584448"/>
            <a:ext cx="1077163"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بررسی محتوا</a:t>
            </a:r>
            <a:endParaRPr lang="fa-IR" sz="1200" dirty="0"/>
          </a:p>
        </p:txBody>
      </p:sp>
      <p:sp>
        <p:nvSpPr>
          <p:cNvPr id="36" name="Shape 33"/>
          <p:cNvSpPr/>
          <p:nvPr/>
        </p:nvSpPr>
        <p:spPr>
          <a:xfrm>
            <a:off x="4800600" y="4261104"/>
            <a:ext cx="6842455" cy="804672"/>
          </a:xfrm>
          <a:prstGeom prst="roundRect">
            <a:avLst>
              <a:gd name="adj" fmla="val 15909"/>
            </a:avLst>
          </a:prstGeom>
          <a:solidFill>
            <a:srgbClr val="EAF5E6"/>
          </a:solidFill>
          <a:ln w="12700">
            <a:solidFill>
              <a:srgbClr val="A5D6A7"/>
            </a:solidFill>
            <a:prstDash val="solid"/>
          </a:ln>
          <a:effectLst>
            <a:outerShdw sx="100000" sy="100000" kx="0" ky="0" algn="bl" rotWithShape="0" blurRad="127000" dist="38100" dir="5400000">
              <a:srgbClr val="14532D">
                <a:alpha val="12000"/>
              </a:srgbClr>
            </a:outerShdw>
          </a:effectLst>
        </p:spPr>
      </p:sp>
      <p:sp>
        <p:nvSpPr>
          <p:cNvPr id="37" name="Text 34"/>
          <p:cNvSpPr txBox="1"/>
          <p:nvPr/>
        </p:nvSpPr>
        <p:spPr>
          <a:xfrm>
            <a:off x="9859975" y="4261104"/>
            <a:ext cx="1645920" cy="804672"/>
          </a:xfrm>
          <a:prstGeom prst="rect">
            <a:avLst/>
          </a:prstGeom>
          <a:noFill/>
          <a:ln/>
        </p:spPr>
        <p:txBody>
          <a:bodyPr wrap="square" lIns="0" tIns="0" rIns="0" bIns="0" rtlCol="0" anchor="ctr"/>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سفارش و پول</a:t>
            </a:r>
            <a:endParaRPr lang="fa-IR" sz="1450" dirty="0"/>
          </a:p>
        </p:txBody>
      </p:sp>
      <p:sp>
        <p:nvSpPr>
          <p:cNvPr id="38" name="Shape 35"/>
          <p:cNvSpPr/>
          <p:nvPr/>
        </p:nvSpPr>
        <p:spPr>
          <a:xfrm>
            <a:off x="8905342" y="4480560"/>
            <a:ext cx="863194" cy="365760"/>
          </a:xfrm>
          <a:prstGeom prst="roundRect">
            <a:avLst>
              <a:gd name="adj" fmla="val 50000"/>
            </a:avLst>
          </a:prstGeom>
          <a:solidFill>
            <a:srgbClr val="FFFFFF"/>
          </a:solidFill>
          <a:ln/>
        </p:spPr>
      </p:sp>
      <p:sp>
        <p:nvSpPr>
          <p:cNvPr id="39" name="Text 36"/>
          <p:cNvSpPr txBox="1"/>
          <p:nvPr/>
        </p:nvSpPr>
        <p:spPr>
          <a:xfrm>
            <a:off x="8905342" y="4480560"/>
            <a:ext cx="86319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سبد خرید</a:t>
            </a:r>
            <a:endParaRPr lang="fa-IR" sz="1200" dirty="0"/>
          </a:p>
        </p:txBody>
      </p:sp>
      <p:sp>
        <p:nvSpPr>
          <p:cNvPr id="40" name="Shape 37"/>
          <p:cNvSpPr/>
          <p:nvPr/>
        </p:nvSpPr>
        <p:spPr>
          <a:xfrm>
            <a:off x="8182966" y="4480560"/>
            <a:ext cx="649224" cy="365760"/>
          </a:xfrm>
          <a:prstGeom prst="roundRect">
            <a:avLst>
              <a:gd name="adj" fmla="val 50000"/>
            </a:avLst>
          </a:prstGeom>
          <a:solidFill>
            <a:srgbClr val="FFFFFF"/>
          </a:solidFill>
          <a:ln/>
        </p:spPr>
      </p:sp>
      <p:sp>
        <p:nvSpPr>
          <p:cNvPr id="41" name="Text 38"/>
          <p:cNvSpPr txBox="1"/>
          <p:nvPr/>
        </p:nvSpPr>
        <p:spPr>
          <a:xfrm>
            <a:off x="8182966" y="4480560"/>
            <a:ext cx="64922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سفارش</a:t>
            </a:r>
            <a:endParaRPr lang="fa-IR" sz="1200" dirty="0"/>
          </a:p>
        </p:txBody>
      </p:sp>
      <p:sp>
        <p:nvSpPr>
          <p:cNvPr id="42" name="Shape 39"/>
          <p:cNvSpPr/>
          <p:nvPr/>
        </p:nvSpPr>
        <p:spPr>
          <a:xfrm>
            <a:off x="7389266" y="4480560"/>
            <a:ext cx="720547" cy="365760"/>
          </a:xfrm>
          <a:prstGeom prst="roundRect">
            <a:avLst>
              <a:gd name="adj" fmla="val 50000"/>
            </a:avLst>
          </a:prstGeom>
          <a:solidFill>
            <a:srgbClr val="FFFFFF"/>
          </a:solidFill>
          <a:ln/>
        </p:spPr>
      </p:sp>
      <p:sp>
        <p:nvSpPr>
          <p:cNvPr id="43" name="Text 40"/>
          <p:cNvSpPr txBox="1"/>
          <p:nvPr/>
        </p:nvSpPr>
        <p:spPr>
          <a:xfrm>
            <a:off x="7389266" y="4480560"/>
            <a:ext cx="720547"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پرداخت</a:t>
            </a:r>
            <a:endParaRPr lang="fa-IR" sz="1200" dirty="0"/>
          </a:p>
        </p:txBody>
      </p:sp>
      <p:sp>
        <p:nvSpPr>
          <p:cNvPr id="44" name="Shape 41"/>
          <p:cNvSpPr/>
          <p:nvPr/>
        </p:nvSpPr>
        <p:spPr>
          <a:xfrm>
            <a:off x="6524244" y="4480560"/>
            <a:ext cx="791870" cy="365760"/>
          </a:xfrm>
          <a:prstGeom prst="roundRect">
            <a:avLst>
              <a:gd name="adj" fmla="val 50000"/>
            </a:avLst>
          </a:prstGeom>
          <a:solidFill>
            <a:srgbClr val="FFFFFF"/>
          </a:solidFill>
          <a:ln/>
        </p:spPr>
      </p:sp>
      <p:sp>
        <p:nvSpPr>
          <p:cNvPr id="45" name="Text 42"/>
          <p:cNvSpPr txBox="1"/>
          <p:nvPr/>
        </p:nvSpPr>
        <p:spPr>
          <a:xfrm>
            <a:off x="6524244" y="4480560"/>
            <a:ext cx="79187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دفتر کل</a:t>
            </a:r>
            <a:endParaRPr lang="fa-IR" sz="1200" dirty="0"/>
          </a:p>
        </p:txBody>
      </p:sp>
      <p:sp>
        <p:nvSpPr>
          <p:cNvPr id="46" name="Shape 43"/>
          <p:cNvSpPr/>
          <p:nvPr/>
        </p:nvSpPr>
        <p:spPr>
          <a:xfrm>
            <a:off x="4800600" y="5157216"/>
            <a:ext cx="6842455" cy="804672"/>
          </a:xfrm>
          <a:prstGeom prst="roundRect">
            <a:avLst>
              <a:gd name="adj" fmla="val 15909"/>
            </a:avLst>
          </a:prstGeom>
          <a:solidFill>
            <a:srgbClr val="FFFFFF"/>
          </a:solidFill>
          <a:ln/>
          <a:effectLst>
            <a:outerShdw sx="100000" sy="100000" kx="0" ky="0" algn="bl" rotWithShape="0" blurRad="127000" dist="38100" dir="5400000">
              <a:srgbClr val="14532D">
                <a:alpha val="12000"/>
              </a:srgbClr>
            </a:outerShdw>
          </a:effectLst>
        </p:spPr>
      </p:sp>
      <p:sp>
        <p:nvSpPr>
          <p:cNvPr id="47" name="Text 44"/>
          <p:cNvSpPr txBox="1"/>
          <p:nvPr/>
        </p:nvSpPr>
        <p:spPr>
          <a:xfrm>
            <a:off x="9859975" y="5157216"/>
            <a:ext cx="1645920" cy="804672"/>
          </a:xfrm>
          <a:prstGeom prst="rect">
            <a:avLst/>
          </a:prstGeom>
          <a:noFill/>
          <a:ln/>
        </p:spPr>
        <p:txBody>
          <a:bodyPr wrap="square" lIns="0" tIns="0" rIns="0" bIns="0" rtlCol="0" anchor="ctr"/>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اعتماد و عملیات</a:t>
            </a:r>
            <a:endParaRPr lang="fa-IR" sz="1450" dirty="0"/>
          </a:p>
        </p:txBody>
      </p:sp>
      <p:sp>
        <p:nvSpPr>
          <p:cNvPr id="48" name="Shape 45"/>
          <p:cNvSpPr/>
          <p:nvPr/>
        </p:nvSpPr>
        <p:spPr>
          <a:xfrm>
            <a:off x="9119311" y="5376672"/>
            <a:ext cx="649224" cy="365760"/>
          </a:xfrm>
          <a:prstGeom prst="roundRect">
            <a:avLst>
              <a:gd name="adj" fmla="val 50000"/>
            </a:avLst>
          </a:prstGeom>
          <a:solidFill>
            <a:srgbClr val="EAF5E6"/>
          </a:solidFill>
          <a:ln/>
        </p:spPr>
      </p:sp>
      <p:sp>
        <p:nvSpPr>
          <p:cNvPr id="49" name="Text 46"/>
          <p:cNvSpPr txBox="1"/>
          <p:nvPr/>
        </p:nvSpPr>
        <p:spPr>
          <a:xfrm>
            <a:off x="9119311" y="5376672"/>
            <a:ext cx="64922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نظرها</a:t>
            </a:r>
            <a:endParaRPr lang="fa-IR" sz="1200" dirty="0"/>
          </a:p>
        </p:txBody>
      </p:sp>
      <p:sp>
        <p:nvSpPr>
          <p:cNvPr id="50" name="Shape 47"/>
          <p:cNvSpPr/>
          <p:nvPr/>
        </p:nvSpPr>
        <p:spPr>
          <a:xfrm>
            <a:off x="8182966" y="5376672"/>
            <a:ext cx="863194" cy="365760"/>
          </a:xfrm>
          <a:prstGeom prst="roundRect">
            <a:avLst>
              <a:gd name="adj" fmla="val 50000"/>
            </a:avLst>
          </a:prstGeom>
          <a:solidFill>
            <a:srgbClr val="EAF5E6"/>
          </a:solidFill>
          <a:ln/>
        </p:spPr>
      </p:sp>
      <p:sp>
        <p:nvSpPr>
          <p:cNvPr id="51" name="Text 48"/>
          <p:cNvSpPr txBox="1"/>
          <p:nvPr/>
        </p:nvSpPr>
        <p:spPr>
          <a:xfrm>
            <a:off x="8182966" y="5376672"/>
            <a:ext cx="86319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شکایت‌ها</a:t>
            </a:r>
            <a:endParaRPr lang="fa-IR" sz="1200" dirty="0"/>
          </a:p>
        </p:txBody>
      </p:sp>
      <p:sp>
        <p:nvSpPr>
          <p:cNvPr id="52" name="Shape 49"/>
          <p:cNvSpPr/>
          <p:nvPr/>
        </p:nvSpPr>
        <p:spPr>
          <a:xfrm>
            <a:off x="7246620" y="5376672"/>
            <a:ext cx="863194" cy="365760"/>
          </a:xfrm>
          <a:prstGeom prst="roundRect">
            <a:avLst>
              <a:gd name="adj" fmla="val 50000"/>
            </a:avLst>
          </a:prstGeom>
          <a:solidFill>
            <a:srgbClr val="EAF5E6"/>
          </a:solidFill>
          <a:ln/>
        </p:spPr>
      </p:sp>
      <p:sp>
        <p:nvSpPr>
          <p:cNvPr id="53" name="Text 50"/>
          <p:cNvSpPr txBox="1"/>
          <p:nvPr/>
        </p:nvSpPr>
        <p:spPr>
          <a:xfrm>
            <a:off x="7246620" y="5376672"/>
            <a:ext cx="86319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اعلان‌ها</a:t>
            </a:r>
            <a:endParaRPr lang="fa-IR" sz="1200" dirty="0"/>
          </a:p>
        </p:txBody>
      </p:sp>
      <p:sp>
        <p:nvSpPr>
          <p:cNvPr id="54" name="Shape 51"/>
          <p:cNvSpPr/>
          <p:nvPr/>
        </p:nvSpPr>
        <p:spPr>
          <a:xfrm>
            <a:off x="6167628" y="5376672"/>
            <a:ext cx="1005840" cy="365760"/>
          </a:xfrm>
          <a:prstGeom prst="roundRect">
            <a:avLst>
              <a:gd name="adj" fmla="val 50000"/>
            </a:avLst>
          </a:prstGeom>
          <a:solidFill>
            <a:srgbClr val="EAF5E6"/>
          </a:solidFill>
          <a:ln/>
        </p:spPr>
      </p:sp>
      <p:sp>
        <p:nvSpPr>
          <p:cNvPr id="55" name="Text 52"/>
          <p:cNvSpPr txBox="1"/>
          <p:nvPr/>
        </p:nvSpPr>
        <p:spPr>
          <a:xfrm>
            <a:off x="6167628" y="5376672"/>
            <a:ext cx="100584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پنل مدیریت</a:t>
            </a:r>
            <a:endParaRPr lang="fa-IR" sz="1200" dirty="0"/>
          </a:p>
        </p:txBody>
      </p:sp>
      <p:sp>
        <p:nvSpPr>
          <p:cNvPr id="56" name="Shape 53"/>
          <p:cNvSpPr/>
          <p:nvPr/>
        </p:nvSpPr>
        <p:spPr>
          <a:xfrm>
            <a:off x="4945990" y="5376672"/>
            <a:ext cx="1148486" cy="365760"/>
          </a:xfrm>
          <a:prstGeom prst="roundRect">
            <a:avLst>
              <a:gd name="adj" fmla="val 50000"/>
            </a:avLst>
          </a:prstGeom>
          <a:solidFill>
            <a:srgbClr val="EAF5E6"/>
          </a:solidFill>
          <a:ln/>
        </p:spPr>
      </p:sp>
      <p:sp>
        <p:nvSpPr>
          <p:cNvPr id="57" name="Text 54"/>
          <p:cNvSpPr txBox="1"/>
          <p:nvPr/>
        </p:nvSpPr>
        <p:spPr>
          <a:xfrm>
            <a:off x="4945990" y="5376672"/>
            <a:ext cx="1148486"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ابزار باغبون</a:t>
            </a:r>
            <a:endParaRPr lang="fa-IR" sz="1200" dirty="0"/>
          </a:p>
        </p:txBody>
      </p:sp>
      <p:sp>
        <p:nvSpPr>
          <p:cNvPr id="58" name="Shape 55"/>
          <p:cNvSpPr/>
          <p:nvPr/>
        </p:nvSpPr>
        <p:spPr>
          <a:xfrm>
            <a:off x="548640" y="1572768"/>
            <a:ext cx="3977640" cy="667512"/>
          </a:xfrm>
          <a:prstGeom prst="roundRect">
            <a:avLst>
              <a:gd name="adj" fmla="val 19178"/>
            </a:avLst>
          </a:prstGeom>
          <a:solidFill>
            <a:srgbClr val="FFFFFF"/>
          </a:solidFill>
          <a:ln/>
          <a:effectLst>
            <a:outerShdw sx="100000" sy="100000" kx="0" ky="0" algn="bl" rotWithShape="0" blurRad="127000" dist="38100" dir="5400000">
              <a:srgbClr val="14532D">
                <a:alpha val="12000"/>
              </a:srgbClr>
            </a:outerShdw>
          </a:effectLst>
        </p:spPr>
      </p:sp>
      <p:pic>
        <p:nvPicPr>
          <p:cNvPr id="59" name="icon link" descr="/tmp/claude-0/-home-claude/e50823c0-d46f-5818-8f05-9d714cd67f5c/scratchpad/assets/icons/link.png">    </p:cNvPr>
          <p:cNvPicPr>
            <a:picLocks noChangeAspect="1"/>
          </p:cNvPicPr>
          <p:nvPr/>
        </p:nvPicPr>
        <p:blipFill>
          <a:blip r:embed="rId1"/>
          <a:stretch>
            <a:fillRect/>
          </a:stretch>
        </p:blipFill>
        <p:spPr>
          <a:xfrm>
            <a:off x="3931920" y="1682496"/>
            <a:ext cx="448056" cy="448056"/>
          </a:xfrm>
          <a:prstGeom prst="rect">
            <a:avLst/>
          </a:prstGeom>
        </p:spPr>
      </p:pic>
      <p:sp>
        <p:nvSpPr>
          <p:cNvPr id="60" name="Text 56"/>
          <p:cNvSpPr txBox="1"/>
          <p:nvPr/>
        </p:nvSpPr>
        <p:spPr>
          <a:xfrm>
            <a:off x="731520" y="1572768"/>
            <a:ext cx="3108960" cy="667512"/>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مرز ماژول‌ها با ابزار خودکار کنترل می‌شود</a:t>
            </a:r>
            <a:endParaRPr lang="fa-IR" sz="1400" dirty="0"/>
          </a:p>
        </p:txBody>
      </p:sp>
      <p:sp>
        <p:nvSpPr>
          <p:cNvPr id="61" name="Shape 57"/>
          <p:cNvSpPr/>
          <p:nvPr/>
        </p:nvSpPr>
        <p:spPr>
          <a:xfrm>
            <a:off x="548640" y="2313432"/>
            <a:ext cx="3977640" cy="667512"/>
          </a:xfrm>
          <a:prstGeom prst="roundRect">
            <a:avLst>
              <a:gd name="adj" fmla="val 19178"/>
            </a:avLst>
          </a:prstGeom>
          <a:solidFill>
            <a:srgbClr val="FFFFFF"/>
          </a:solidFill>
          <a:ln/>
          <a:effectLst>
            <a:outerShdw sx="100000" sy="100000" kx="0" ky="0" algn="bl" rotWithShape="0" blurRad="127000" dist="38100" dir="5400000">
              <a:srgbClr val="14532D">
                <a:alpha val="12000"/>
              </a:srgbClr>
            </a:outerShdw>
          </a:effectLst>
        </p:spPr>
      </p:sp>
      <p:pic>
        <p:nvPicPr>
          <p:cNvPr id="62" name="icon balance_scale" descr="/tmp/claude-0/-home-claude/e50823c0-d46f-5818-8f05-9d714cd67f5c/scratchpad/assets/icons/balance_scale.png">    </p:cNvPr>
          <p:cNvPicPr>
            <a:picLocks noChangeAspect="1"/>
          </p:cNvPicPr>
          <p:nvPr/>
        </p:nvPicPr>
        <p:blipFill>
          <a:blip r:embed="rId2"/>
          <a:stretch>
            <a:fillRect/>
          </a:stretch>
        </p:blipFill>
        <p:spPr>
          <a:xfrm>
            <a:off x="3931920" y="2423160"/>
            <a:ext cx="448056" cy="448056"/>
          </a:xfrm>
          <a:prstGeom prst="rect">
            <a:avLst/>
          </a:prstGeom>
        </p:spPr>
      </p:pic>
      <p:sp>
        <p:nvSpPr>
          <p:cNvPr id="63" name="Text 58"/>
          <p:cNvSpPr txBox="1"/>
          <p:nvPr/>
        </p:nvSpPr>
        <p:spPr>
          <a:xfrm>
            <a:off x="731520" y="2313432"/>
            <a:ext cx="3108960" cy="667512"/>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دفتر کل دوطرفه برای همه‌ی گردش‌های پول</a:t>
            </a:r>
            <a:endParaRPr lang="fa-IR" sz="1400" dirty="0"/>
          </a:p>
        </p:txBody>
      </p:sp>
      <p:sp>
        <p:nvSpPr>
          <p:cNvPr id="64" name="Shape 59"/>
          <p:cNvSpPr/>
          <p:nvPr/>
        </p:nvSpPr>
        <p:spPr>
          <a:xfrm>
            <a:off x="548640" y="3054096"/>
            <a:ext cx="3977640" cy="667512"/>
          </a:xfrm>
          <a:prstGeom prst="roundRect">
            <a:avLst>
              <a:gd name="adj" fmla="val 19178"/>
            </a:avLst>
          </a:prstGeom>
          <a:solidFill>
            <a:srgbClr val="FFFFFF"/>
          </a:solidFill>
          <a:ln/>
          <a:effectLst>
            <a:outerShdw sx="100000" sy="100000" kx="0" ky="0" algn="bl" rotWithShape="0" blurRad="127000" dist="38100" dir="5400000">
              <a:srgbClr val="14532D">
                <a:alpha val="12000"/>
              </a:srgbClr>
            </a:outerShdw>
          </a:effectLst>
        </p:spPr>
      </p:sp>
      <p:pic>
        <p:nvPicPr>
          <p:cNvPr id="65" name="icon package" descr="/tmp/claude-0/-home-claude/e50823c0-d46f-5818-8f05-9d714cd67f5c/scratchpad/assets/icons/package.png">    </p:cNvPr>
          <p:cNvPicPr>
            <a:picLocks noChangeAspect="1"/>
          </p:cNvPicPr>
          <p:nvPr/>
        </p:nvPicPr>
        <p:blipFill>
          <a:blip r:embed="rId3"/>
          <a:stretch>
            <a:fillRect/>
          </a:stretch>
        </p:blipFill>
        <p:spPr>
          <a:xfrm>
            <a:off x="3931920" y="3163824"/>
            <a:ext cx="448056" cy="448056"/>
          </a:xfrm>
          <a:prstGeom prst="rect">
            <a:avLst/>
          </a:prstGeom>
        </p:spPr>
      </p:pic>
      <p:sp>
        <p:nvSpPr>
          <p:cNvPr id="66" name="Text 60"/>
          <p:cNvSpPr txBox="1"/>
          <p:nvPr/>
        </p:nvSpPr>
        <p:spPr>
          <a:xfrm>
            <a:off x="731520" y="3054096"/>
            <a:ext cx="3108960" cy="667512"/>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رویدادهای مطمئن با الگوی Outbox</a:t>
            </a:r>
            <a:endParaRPr lang="fa-IR" sz="1400" dirty="0"/>
          </a:p>
        </p:txBody>
      </p:sp>
      <p:sp>
        <p:nvSpPr>
          <p:cNvPr id="67" name="Shape 61"/>
          <p:cNvSpPr/>
          <p:nvPr/>
        </p:nvSpPr>
        <p:spPr>
          <a:xfrm>
            <a:off x="548640" y="3794760"/>
            <a:ext cx="3977640" cy="667512"/>
          </a:xfrm>
          <a:prstGeom prst="roundRect">
            <a:avLst>
              <a:gd name="adj" fmla="val 19178"/>
            </a:avLst>
          </a:prstGeom>
          <a:solidFill>
            <a:srgbClr val="FFFFFF"/>
          </a:solidFill>
          <a:ln/>
          <a:effectLst>
            <a:outerShdw sx="100000" sy="100000" kx="0" ky="0" algn="bl" rotWithShape="0" blurRad="127000" dist="38100" dir="5400000">
              <a:srgbClr val="14532D">
                <a:alpha val="12000"/>
              </a:srgbClr>
            </a:outerShdw>
          </a:effectLst>
        </p:spPr>
      </p:sp>
      <p:pic>
        <p:nvPicPr>
          <p:cNvPr id="68" name="icon satellite_antenna" descr="/tmp/claude-0/-home-claude/e50823c0-d46f-5818-8f05-9d714cd67f5c/scratchpad/assets/icons/satellite_antenna.png">    </p:cNvPr>
          <p:cNvPicPr>
            <a:picLocks noChangeAspect="1"/>
          </p:cNvPicPr>
          <p:nvPr/>
        </p:nvPicPr>
        <p:blipFill>
          <a:blip r:embed="rId4"/>
          <a:stretch>
            <a:fillRect/>
          </a:stretch>
        </p:blipFill>
        <p:spPr>
          <a:xfrm>
            <a:off x="3931920" y="3904488"/>
            <a:ext cx="448056" cy="448056"/>
          </a:xfrm>
          <a:prstGeom prst="rect">
            <a:avLst/>
          </a:prstGeom>
        </p:spPr>
      </p:pic>
      <p:sp>
        <p:nvSpPr>
          <p:cNvPr id="69" name="Text 62"/>
          <p:cNvSpPr txBox="1"/>
          <p:nvPr/>
        </p:nvSpPr>
        <p:spPr>
          <a:xfrm>
            <a:off x="731520" y="3794760"/>
            <a:ext cx="3108960" cy="667512"/>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هر سرویس بیرونی پشت درگاه قابل‌تعویض</a:t>
            </a:r>
            <a:endParaRPr lang="fa-IR" sz="1400" dirty="0"/>
          </a:p>
        </p:txBody>
      </p:sp>
      <p:sp>
        <p:nvSpPr>
          <p:cNvPr id="70" name="Shape 63"/>
          <p:cNvSpPr/>
          <p:nvPr/>
        </p:nvSpPr>
        <p:spPr>
          <a:xfrm>
            <a:off x="548640" y="4535424"/>
            <a:ext cx="3977640" cy="667512"/>
          </a:xfrm>
          <a:prstGeom prst="roundRect">
            <a:avLst>
              <a:gd name="adj" fmla="val 19178"/>
            </a:avLst>
          </a:prstGeom>
          <a:solidFill>
            <a:srgbClr val="FFFFFF"/>
          </a:solidFill>
          <a:ln/>
          <a:effectLst>
            <a:outerShdw sx="100000" sy="100000" kx="0" ky="0" algn="bl" rotWithShape="0" blurRad="127000" dist="38100" dir="5400000">
              <a:srgbClr val="14532D">
                <a:alpha val="12000"/>
              </a:srgbClr>
            </a:outerShdw>
          </a:effectLst>
        </p:spPr>
      </p:sp>
      <p:pic>
        <p:nvPicPr>
          <p:cNvPr id="71" name="icon memo" descr="/tmp/claude-0/-home-claude/e50823c0-d46f-5818-8f05-9d714cd67f5c/scratchpad/assets/icons/memo.png">    </p:cNvPr>
          <p:cNvPicPr>
            <a:picLocks noChangeAspect="1"/>
          </p:cNvPicPr>
          <p:nvPr/>
        </p:nvPicPr>
        <p:blipFill>
          <a:blip r:embed="rId5"/>
          <a:stretch>
            <a:fillRect/>
          </a:stretch>
        </p:blipFill>
        <p:spPr>
          <a:xfrm>
            <a:off x="3931920" y="4645152"/>
            <a:ext cx="448056" cy="448056"/>
          </a:xfrm>
          <a:prstGeom prst="rect">
            <a:avLst/>
          </a:prstGeom>
        </p:spPr>
      </p:pic>
      <p:sp>
        <p:nvSpPr>
          <p:cNvPr id="72" name="Text 64"/>
          <p:cNvSpPr txBox="1"/>
          <p:nvPr/>
        </p:nvSpPr>
        <p:spPr>
          <a:xfrm>
            <a:off x="731520" y="4535424"/>
            <a:ext cx="3108960" cy="667512"/>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۱۳ تصمیم معماری مستند و ۱۷ فاز ساخت</a:t>
            </a:r>
            <a:endParaRPr lang="fa-IR" sz="1400" dirty="0"/>
          </a:p>
        </p:txBody>
      </p:sp>
      <p:sp>
        <p:nvSpPr>
          <p:cNvPr id="73" name="Shape 65"/>
          <p:cNvSpPr/>
          <p:nvPr/>
        </p:nvSpPr>
        <p:spPr>
          <a:xfrm>
            <a:off x="548640" y="5276088"/>
            <a:ext cx="3977640" cy="667512"/>
          </a:xfrm>
          <a:prstGeom prst="roundRect">
            <a:avLst>
              <a:gd name="adj" fmla="val 19178"/>
            </a:avLst>
          </a:prstGeom>
          <a:solidFill>
            <a:srgbClr val="FFFFFF"/>
          </a:solidFill>
          <a:ln/>
          <a:effectLst>
            <a:outerShdw sx="100000" sy="100000" kx="0" ky="0" algn="bl" rotWithShape="0" blurRad="127000" dist="38100" dir="5400000">
              <a:srgbClr val="14532D">
                <a:alpha val="12000"/>
              </a:srgbClr>
            </a:outerShdw>
          </a:effectLst>
        </p:spPr>
      </p:sp>
      <p:pic>
        <p:nvPicPr>
          <p:cNvPr id="74" name="icon check_mark_button" descr="/tmp/claude-0/-home-claude/e50823c0-d46f-5818-8f05-9d714cd67f5c/scratchpad/assets/icons/check_mark_button.png">    </p:cNvPr>
          <p:cNvPicPr>
            <a:picLocks noChangeAspect="1"/>
          </p:cNvPicPr>
          <p:nvPr/>
        </p:nvPicPr>
        <p:blipFill>
          <a:blip r:embed="rId6"/>
          <a:stretch>
            <a:fillRect/>
          </a:stretch>
        </p:blipFill>
        <p:spPr>
          <a:xfrm>
            <a:off x="3931920" y="5385816"/>
            <a:ext cx="448056" cy="448056"/>
          </a:xfrm>
          <a:prstGeom prst="rect">
            <a:avLst/>
          </a:prstGeom>
        </p:spPr>
      </p:pic>
      <p:sp>
        <p:nvSpPr>
          <p:cNvPr id="75" name="Text 66"/>
          <p:cNvSpPr txBox="1"/>
          <p:nvPr/>
        </p:nvSpPr>
        <p:spPr>
          <a:xfrm>
            <a:off x="731520" y="5276088"/>
            <a:ext cx="3108960" cy="667512"/>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تست خودکار و ارزیابی هوش مصنوعی</a:t>
            </a:r>
            <a:endParaRPr lang="fa-IR"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۱۶</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اعتماد و جریان پول</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پول خریدار تا پایان مهلت شکایت نزد نوبر امانت می‌ماند</a:t>
            </a:r>
            <a:endParaRPr lang="fa-IR" sz="1600" dirty="0"/>
          </a:p>
        </p:txBody>
      </p:sp>
      <p:sp>
        <p:nvSpPr>
          <p:cNvPr id="6" name="Shape 3"/>
          <p:cNvSpPr/>
          <p:nvPr/>
        </p:nvSpPr>
        <p:spPr>
          <a:xfrm>
            <a:off x="10271455" y="1627632"/>
            <a:ext cx="1097280" cy="1097280"/>
          </a:xfrm>
          <a:prstGeom prst="ellipse">
            <a:avLst/>
          </a:prstGeom>
          <a:solidFill>
            <a:srgbClr val="FFFFFF"/>
          </a:solidFill>
          <a:ln w="12700">
            <a:solidFill>
              <a:srgbClr val="A5D6A7"/>
            </a:solidFill>
            <a:prstDash val="solid"/>
          </a:ln>
          <a:effectLst>
            <a:outerShdw sx="100000" sy="100000" kx="0" ky="0" algn="bl" rotWithShape="0" blurRad="127000" dist="38100" dir="5400000">
              <a:srgbClr val="14532D">
                <a:alpha val="12000"/>
              </a:srgbClr>
            </a:outerShdw>
          </a:effectLst>
        </p:spPr>
      </p:sp>
      <p:pic>
        <p:nvPicPr>
          <p:cNvPr id="7" name="icon credit_card" descr="/tmp/claude-0/-home-claude/e50823c0-d46f-5818-8f05-9d714cd67f5c/scratchpad/assets/icons/credit_card.png">    </p:cNvPr>
          <p:cNvPicPr>
            <a:picLocks noChangeAspect="1"/>
          </p:cNvPicPr>
          <p:nvPr/>
        </p:nvPicPr>
        <p:blipFill>
          <a:blip r:embed="rId1"/>
          <a:stretch>
            <a:fillRect/>
          </a:stretch>
        </p:blipFill>
        <p:spPr>
          <a:xfrm>
            <a:off x="10472623" y="1828800"/>
            <a:ext cx="694944" cy="694944"/>
          </a:xfrm>
          <a:prstGeom prst="rect">
            <a:avLst/>
          </a:prstGeom>
        </p:spPr>
      </p:pic>
      <p:sp>
        <p:nvSpPr>
          <p:cNvPr id="8" name="Text 4"/>
          <p:cNvSpPr txBox="1"/>
          <p:nvPr/>
        </p:nvSpPr>
        <p:spPr>
          <a:xfrm>
            <a:off x="9951415" y="2816352"/>
            <a:ext cx="1737360" cy="566928"/>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پرداخت خریدار</a:t>
            </a:r>
            <a:endParaRPr lang="fa-IR" sz="1400" dirty="0"/>
          </a:p>
        </p:txBody>
      </p:sp>
      <p:sp>
        <p:nvSpPr>
          <p:cNvPr id="9" name="Shape 5"/>
          <p:cNvSpPr/>
          <p:nvPr/>
        </p:nvSpPr>
        <p:spPr>
          <a:xfrm>
            <a:off x="9512503" y="2176272"/>
            <a:ext cx="649224" cy="0"/>
          </a:xfrm>
          <a:prstGeom prst="line">
            <a:avLst/>
          </a:prstGeom>
          <a:noFill/>
          <a:ln w="28575">
            <a:solidFill>
              <a:srgbClr val="2E7D32"/>
            </a:solidFill>
            <a:prstDash val="solid"/>
            <a:headEnd type="triangle"/>
          </a:ln>
        </p:spPr>
      </p:sp>
      <p:sp>
        <p:nvSpPr>
          <p:cNvPr id="10" name="Shape 6"/>
          <p:cNvSpPr/>
          <p:nvPr/>
        </p:nvSpPr>
        <p:spPr>
          <a:xfrm>
            <a:off x="8305495" y="1627632"/>
            <a:ext cx="1097280" cy="1097280"/>
          </a:xfrm>
          <a:prstGeom prst="ellipse">
            <a:avLst/>
          </a:prstGeom>
          <a:solidFill>
            <a:srgbClr val="14532D"/>
          </a:solidFill>
          <a:ln w="12700">
            <a:solidFill>
              <a:srgbClr val="A5D6A7"/>
            </a:solidFill>
            <a:prstDash val="solid"/>
          </a:ln>
          <a:effectLst>
            <a:outerShdw sx="100000" sy="100000" kx="0" ky="0" algn="bl" rotWithShape="0" blurRad="127000" dist="38100" dir="5400000">
              <a:srgbClr val="14532D">
                <a:alpha val="12000"/>
              </a:srgbClr>
            </a:outerShdw>
          </a:effectLst>
        </p:spPr>
      </p:sp>
      <p:pic>
        <p:nvPicPr>
          <p:cNvPr id="11" name="icon locked" descr="/tmp/claude-0/-home-claude/e50823c0-d46f-5818-8f05-9d714cd67f5c/scratchpad/assets/icons/locked.png">    </p:cNvPr>
          <p:cNvPicPr>
            <a:picLocks noChangeAspect="1"/>
          </p:cNvPicPr>
          <p:nvPr/>
        </p:nvPicPr>
        <p:blipFill>
          <a:blip r:embed="rId2"/>
          <a:stretch>
            <a:fillRect/>
          </a:stretch>
        </p:blipFill>
        <p:spPr>
          <a:xfrm>
            <a:off x="8506663" y="1828800"/>
            <a:ext cx="694944" cy="694944"/>
          </a:xfrm>
          <a:prstGeom prst="rect">
            <a:avLst/>
          </a:prstGeom>
        </p:spPr>
      </p:pic>
      <p:sp>
        <p:nvSpPr>
          <p:cNvPr id="12" name="Text 7"/>
          <p:cNvSpPr txBox="1"/>
          <p:nvPr/>
        </p:nvSpPr>
        <p:spPr>
          <a:xfrm>
            <a:off x="7985455" y="2816352"/>
            <a:ext cx="1737360" cy="566928"/>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حساب امانی نوبر</a:t>
            </a:r>
            <a:endParaRPr lang="fa-IR" sz="1400" dirty="0"/>
          </a:p>
        </p:txBody>
      </p:sp>
      <p:sp>
        <p:nvSpPr>
          <p:cNvPr id="13" name="Shape 8"/>
          <p:cNvSpPr/>
          <p:nvPr/>
        </p:nvSpPr>
        <p:spPr>
          <a:xfrm>
            <a:off x="7546543" y="2176272"/>
            <a:ext cx="649224" cy="0"/>
          </a:xfrm>
          <a:prstGeom prst="line">
            <a:avLst/>
          </a:prstGeom>
          <a:noFill/>
          <a:ln w="28575">
            <a:solidFill>
              <a:srgbClr val="2E7D32"/>
            </a:solidFill>
            <a:prstDash val="solid"/>
            <a:headEnd type="triangle"/>
          </a:ln>
        </p:spPr>
      </p:sp>
      <p:sp>
        <p:nvSpPr>
          <p:cNvPr id="14" name="Shape 9"/>
          <p:cNvSpPr/>
          <p:nvPr/>
        </p:nvSpPr>
        <p:spPr>
          <a:xfrm>
            <a:off x="6339535" y="1627632"/>
            <a:ext cx="1097280" cy="1097280"/>
          </a:xfrm>
          <a:prstGeom prst="ellipse">
            <a:avLst/>
          </a:prstGeom>
          <a:solidFill>
            <a:srgbClr val="FFFFFF"/>
          </a:solidFill>
          <a:ln w="12700">
            <a:solidFill>
              <a:srgbClr val="A5D6A7"/>
            </a:solidFill>
            <a:prstDash val="solid"/>
          </a:ln>
          <a:effectLst>
            <a:outerShdw sx="100000" sy="100000" kx="0" ky="0" algn="bl" rotWithShape="0" blurRad="127000" dist="38100" dir="5400000">
              <a:srgbClr val="14532D">
                <a:alpha val="12000"/>
              </a:srgbClr>
            </a:outerShdw>
          </a:effectLst>
        </p:spPr>
      </p:sp>
      <p:pic>
        <p:nvPicPr>
          <p:cNvPr id="15" name="icon delivery_truck" descr="/tmp/claude-0/-home-claude/e50823c0-d46f-5818-8f05-9d714cd67f5c/scratchpad/assets/icons/delivery_truck.png">    </p:cNvPr>
          <p:cNvPicPr>
            <a:picLocks noChangeAspect="1"/>
          </p:cNvPicPr>
          <p:nvPr/>
        </p:nvPicPr>
        <p:blipFill>
          <a:blip r:embed="rId3"/>
          <a:stretch>
            <a:fillRect/>
          </a:stretch>
        </p:blipFill>
        <p:spPr>
          <a:xfrm>
            <a:off x="6540703" y="1828800"/>
            <a:ext cx="694944" cy="694944"/>
          </a:xfrm>
          <a:prstGeom prst="rect">
            <a:avLst/>
          </a:prstGeom>
        </p:spPr>
      </p:pic>
      <p:sp>
        <p:nvSpPr>
          <p:cNvPr id="16" name="Text 10"/>
          <p:cNvSpPr txBox="1"/>
          <p:nvPr/>
        </p:nvSpPr>
        <p:spPr>
          <a:xfrm>
            <a:off x="6019495" y="2816352"/>
            <a:ext cx="1737360" cy="566928"/>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ارسال و تحویل</a:t>
            </a:r>
            <a:endParaRPr lang="fa-IR" sz="1400" dirty="0"/>
          </a:p>
        </p:txBody>
      </p:sp>
      <p:sp>
        <p:nvSpPr>
          <p:cNvPr id="17" name="Shape 11"/>
          <p:cNvSpPr/>
          <p:nvPr/>
        </p:nvSpPr>
        <p:spPr>
          <a:xfrm>
            <a:off x="5580583" y="2176272"/>
            <a:ext cx="649224" cy="0"/>
          </a:xfrm>
          <a:prstGeom prst="line">
            <a:avLst/>
          </a:prstGeom>
          <a:noFill/>
          <a:ln w="28575">
            <a:solidFill>
              <a:srgbClr val="2E7D32"/>
            </a:solidFill>
            <a:prstDash val="solid"/>
            <a:headEnd type="triangle"/>
          </a:ln>
        </p:spPr>
      </p:sp>
      <p:sp>
        <p:nvSpPr>
          <p:cNvPr id="18" name="Shape 12"/>
          <p:cNvSpPr/>
          <p:nvPr/>
        </p:nvSpPr>
        <p:spPr>
          <a:xfrm>
            <a:off x="4373575" y="1627632"/>
            <a:ext cx="1097280" cy="1097280"/>
          </a:xfrm>
          <a:prstGeom prst="ellipse">
            <a:avLst/>
          </a:prstGeom>
          <a:solidFill>
            <a:srgbClr val="FFFFFF"/>
          </a:solidFill>
          <a:ln w="12700">
            <a:solidFill>
              <a:srgbClr val="A5D6A7"/>
            </a:solidFill>
            <a:prstDash val="solid"/>
          </a:ln>
          <a:effectLst>
            <a:outerShdw sx="100000" sy="100000" kx="0" ky="0" algn="bl" rotWithShape="0" blurRad="127000" dist="38100" dir="5400000">
              <a:srgbClr val="14532D">
                <a:alpha val="12000"/>
              </a:srgbClr>
            </a:outerShdw>
          </a:effectLst>
        </p:spPr>
      </p:sp>
      <p:pic>
        <p:nvPicPr>
          <p:cNvPr id="19" name="icon stopwatch" descr="/tmp/claude-0/-home-claude/e50823c0-d46f-5818-8f05-9d714cd67f5c/scratchpad/assets/icons/stopwatch.png">    </p:cNvPr>
          <p:cNvPicPr>
            <a:picLocks noChangeAspect="1"/>
          </p:cNvPicPr>
          <p:nvPr/>
        </p:nvPicPr>
        <p:blipFill>
          <a:blip r:embed="rId4"/>
          <a:stretch>
            <a:fillRect/>
          </a:stretch>
        </p:blipFill>
        <p:spPr>
          <a:xfrm>
            <a:off x="4574743" y="1828800"/>
            <a:ext cx="694944" cy="694944"/>
          </a:xfrm>
          <a:prstGeom prst="rect">
            <a:avLst/>
          </a:prstGeom>
        </p:spPr>
      </p:pic>
      <p:sp>
        <p:nvSpPr>
          <p:cNvPr id="20" name="Text 13"/>
          <p:cNvSpPr txBox="1"/>
          <p:nvPr/>
        </p:nvSpPr>
        <p:spPr>
          <a:xfrm>
            <a:off x="4053535" y="2816352"/>
            <a:ext cx="1737360" cy="566928"/>
          </a:xfrm>
          <a:prstGeom prst="rect">
            <a:avLst/>
          </a:prstGeom>
          <a:noFill/>
          <a:ln/>
        </p:spPr>
        <p:txBody>
          <a:bodyPr wrap="square" lIns="0" tIns="0" rIns="0" bIns="0" rtlCol="0" anchor="t"/>
          <a:lstStyle/>
          <a:p>
            <a:pPr rtl="1" algn="ct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مهلت شکایت</a:t>
            </a:r>
            <a:endParaRPr lang="fa-IR" sz="1400" dirty="0"/>
          </a:p>
          <a:p>
            <a:pPr rtl="1" algn="ct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۲۴ تا ۴۸ ساعت</a:t>
            </a:r>
            <a:endParaRPr lang="fa-IR" sz="1400" dirty="0"/>
          </a:p>
        </p:txBody>
      </p:sp>
      <p:sp>
        <p:nvSpPr>
          <p:cNvPr id="21" name="Shape 14"/>
          <p:cNvSpPr/>
          <p:nvPr/>
        </p:nvSpPr>
        <p:spPr>
          <a:xfrm>
            <a:off x="548640" y="1554480"/>
            <a:ext cx="3383280" cy="868680"/>
          </a:xfrm>
          <a:prstGeom prst="roundRect">
            <a:avLst>
              <a:gd name="adj" fmla="val 14737"/>
            </a:avLst>
          </a:prstGeom>
          <a:solidFill>
            <a:srgbClr val="FFFFFF"/>
          </a:solidFill>
          <a:ln/>
          <a:effectLst>
            <a:outerShdw sx="100000" sy="100000" kx="0" ky="0" algn="bl" rotWithShape="0" blurRad="127000" dist="38100" dir="5400000">
              <a:srgbClr val="14532D">
                <a:alpha val="12000"/>
              </a:srgbClr>
            </a:outerShdw>
          </a:effectLst>
        </p:spPr>
      </p:sp>
      <p:pic>
        <p:nvPicPr>
          <p:cNvPr id="22" name="icon money_bag" descr="/tmp/claude-0/-home-claude/e50823c0-d46f-5818-8f05-9d714cd67f5c/scratchpad/assets/icons/money_bag.png">    </p:cNvPr>
          <p:cNvPicPr>
            <a:picLocks noChangeAspect="1"/>
          </p:cNvPicPr>
          <p:nvPr/>
        </p:nvPicPr>
        <p:blipFill>
          <a:blip r:embed="rId5"/>
          <a:stretch>
            <a:fillRect/>
          </a:stretch>
        </p:blipFill>
        <p:spPr>
          <a:xfrm>
            <a:off x="3273552" y="1709928"/>
            <a:ext cx="548640" cy="548640"/>
          </a:xfrm>
          <a:prstGeom prst="rect">
            <a:avLst/>
          </a:prstGeom>
        </p:spPr>
      </p:pic>
      <p:sp>
        <p:nvSpPr>
          <p:cNvPr id="23" name="Text 15"/>
          <p:cNvSpPr txBox="1"/>
          <p:nvPr/>
        </p:nvSpPr>
        <p:spPr>
          <a:xfrm>
            <a:off x="685800" y="1627632"/>
            <a:ext cx="2514600" cy="365760"/>
          </a:xfrm>
          <a:prstGeom prst="rect">
            <a:avLst/>
          </a:prstGeom>
          <a:noFill/>
          <a:ln/>
        </p:spPr>
        <p:txBody>
          <a:bodyPr wrap="square" lIns="0" tIns="0" rIns="0" bIns="0" rtlCol="0" anchor="ctr"/>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تسویه با غرفه‌دار</a:t>
            </a:r>
            <a:endParaRPr lang="fa-IR" sz="1450" dirty="0"/>
          </a:p>
        </p:txBody>
      </p:sp>
      <p:sp>
        <p:nvSpPr>
          <p:cNvPr id="24" name="Text 16"/>
          <p:cNvSpPr txBox="1"/>
          <p:nvPr/>
        </p:nvSpPr>
        <p:spPr>
          <a:xfrm>
            <a:off x="685800" y="1993392"/>
            <a:ext cx="2514600" cy="347472"/>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pitchFamily="34" charset="0"/>
                <a:ea typeface="Vazirmatn Nobar" pitchFamily="34" charset="-122"/>
                <a:cs typeface="Vazirmatn Nobar" pitchFamily="34" charset="-120"/>
              </a:rPr>
              <a:t>منهای کمیسیون، پس از مهلت شکایت</a:t>
            </a:r>
            <a:endParaRPr lang="fa-IR" sz="1250" dirty="0"/>
          </a:p>
        </p:txBody>
      </p:sp>
      <p:sp>
        <p:nvSpPr>
          <p:cNvPr id="25" name="Shape 17"/>
          <p:cNvSpPr/>
          <p:nvPr/>
        </p:nvSpPr>
        <p:spPr>
          <a:xfrm>
            <a:off x="3959352" y="1984248"/>
            <a:ext cx="359359" cy="192024"/>
          </a:xfrm>
          <a:prstGeom prst="line">
            <a:avLst/>
          </a:prstGeom>
          <a:noFill/>
          <a:ln w="22225">
            <a:solidFill>
              <a:srgbClr val="2E7D32"/>
            </a:solidFill>
            <a:prstDash val="solid"/>
            <a:headEnd type="triangle"/>
          </a:ln>
        </p:spPr>
      </p:sp>
      <p:sp>
        <p:nvSpPr>
          <p:cNvPr id="26" name="Shape 18"/>
          <p:cNvSpPr/>
          <p:nvPr/>
        </p:nvSpPr>
        <p:spPr>
          <a:xfrm>
            <a:off x="548640" y="2542032"/>
            <a:ext cx="3383280" cy="868680"/>
          </a:xfrm>
          <a:prstGeom prst="roundRect">
            <a:avLst>
              <a:gd name="adj" fmla="val 14737"/>
            </a:avLst>
          </a:prstGeom>
          <a:solidFill>
            <a:srgbClr val="FDE3E1"/>
          </a:solidFill>
          <a:ln/>
          <a:effectLst>
            <a:outerShdw sx="100000" sy="100000" kx="0" ky="0" algn="bl" rotWithShape="0" blurRad="127000" dist="38100" dir="5400000">
              <a:srgbClr val="14532D">
                <a:alpha val="12000"/>
              </a:srgbClr>
            </a:outerShdw>
          </a:effectLst>
        </p:spPr>
      </p:sp>
      <p:pic>
        <p:nvPicPr>
          <p:cNvPr id="27" name="icon receipt" descr="/tmp/claude-0/-home-claude/e50823c0-d46f-5818-8f05-9d714cd67f5c/scratchpad/assets/icons/receipt.png">    </p:cNvPr>
          <p:cNvPicPr>
            <a:picLocks noChangeAspect="1"/>
          </p:cNvPicPr>
          <p:nvPr/>
        </p:nvPicPr>
        <p:blipFill>
          <a:blip r:embed="rId6"/>
          <a:stretch>
            <a:fillRect/>
          </a:stretch>
        </p:blipFill>
        <p:spPr>
          <a:xfrm>
            <a:off x="3273552" y="2697480"/>
            <a:ext cx="548640" cy="548640"/>
          </a:xfrm>
          <a:prstGeom prst="rect">
            <a:avLst/>
          </a:prstGeom>
        </p:spPr>
      </p:pic>
      <p:sp>
        <p:nvSpPr>
          <p:cNvPr id="28" name="Text 19"/>
          <p:cNvSpPr txBox="1"/>
          <p:nvPr/>
        </p:nvSpPr>
        <p:spPr>
          <a:xfrm>
            <a:off x="685800" y="2615184"/>
            <a:ext cx="2514600" cy="365760"/>
          </a:xfrm>
          <a:prstGeom prst="rect">
            <a:avLst/>
          </a:prstGeom>
          <a:noFill/>
          <a:ln/>
        </p:spPr>
        <p:txBody>
          <a:bodyPr wrap="square" lIns="0" tIns="0" rIns="0" bIns="0" rtlCol="0" anchor="ctr"/>
          <a:lstStyle/>
          <a:p>
            <a:pPr rtl="1" algn="r" indent="0" marL="0">
              <a:buNone/>
            </a:pPr>
            <a:r>
              <a:rPr lang="fa-IR" altLang="en-US" sz="1450" dirty="0">
                <a:solidFill>
                  <a:srgbClr val="C62828"/>
                </a:solidFill>
                <a:latin typeface="Vazirmatn Nobar ExtraBold" pitchFamily="34" charset="0"/>
                <a:ea typeface="Vazirmatn Nobar ExtraBold" pitchFamily="34" charset="-122"/>
                <a:cs typeface="Vazirmatn Nobar ExtraBold" pitchFamily="34" charset="-120"/>
              </a:rPr>
              <a:t>بازگشت وجه به خریدار</a:t>
            </a:r>
            <a:endParaRPr lang="fa-IR" sz="1450" dirty="0"/>
          </a:p>
        </p:txBody>
      </p:sp>
      <p:sp>
        <p:nvSpPr>
          <p:cNvPr id="29" name="Text 20"/>
          <p:cNvSpPr txBox="1"/>
          <p:nvPr/>
        </p:nvSpPr>
        <p:spPr>
          <a:xfrm>
            <a:off x="685800" y="2980944"/>
            <a:ext cx="2514600" cy="347472"/>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pitchFamily="34" charset="0"/>
                <a:ea typeface="Vazirmatn Nobar" pitchFamily="34" charset="-122"/>
                <a:cs typeface="Vazirmatn Nobar" pitchFamily="34" charset="-120"/>
              </a:rPr>
              <a:t>به کیف پول، اگر شکایت پذیرفته شود</a:t>
            </a:r>
            <a:endParaRPr lang="fa-IR" sz="1250" dirty="0"/>
          </a:p>
        </p:txBody>
      </p:sp>
      <p:sp>
        <p:nvSpPr>
          <p:cNvPr id="30" name="Shape 21"/>
          <p:cNvSpPr/>
          <p:nvPr/>
        </p:nvSpPr>
        <p:spPr>
          <a:xfrm flipV="1">
            <a:off x="3959352" y="2176272"/>
            <a:ext cx="359359" cy="795528"/>
          </a:xfrm>
          <a:prstGeom prst="line">
            <a:avLst/>
          </a:prstGeom>
          <a:noFill/>
          <a:ln w="22225">
            <a:solidFill>
              <a:srgbClr val="C62828"/>
            </a:solidFill>
            <a:prstDash val="solid"/>
            <a:headEnd type="triangle"/>
          </a:ln>
        </p:spPr>
      </p:sp>
      <p:sp>
        <p:nvSpPr>
          <p:cNvPr id="31" name="Text 22"/>
          <p:cNvSpPr txBox="1"/>
          <p:nvPr/>
        </p:nvSpPr>
        <p:spPr>
          <a:xfrm>
            <a:off x="9265615" y="3657600"/>
            <a:ext cx="2377440" cy="384048"/>
          </a:xfrm>
          <a:prstGeom prst="rect">
            <a:avLst/>
          </a:prstGeom>
          <a:noFill/>
          <a:ln/>
        </p:spPr>
        <p:txBody>
          <a:bodyPr wrap="square" lIns="0" tIns="0" rIns="0" bIns="0" rtlCol="0" anchor="ctr"/>
          <a:lstStyle/>
          <a:p>
            <a:pPr rtl="1" algn="r" indent="0" marL="0">
              <a:buNone/>
            </a:pPr>
            <a:r>
              <a:rPr lang="fa-IR" altLang="en-US" sz="1400" dirty="0">
                <a:solidFill>
                  <a:srgbClr val="14532D"/>
                </a:solidFill>
                <a:latin typeface="Vazirmatn Nobar ExtraBold" pitchFamily="34" charset="0"/>
                <a:ea typeface="Vazirmatn Nobar ExtraBold" pitchFamily="34" charset="-122"/>
                <a:cs typeface="Vazirmatn Nobar ExtraBold" pitchFamily="34" charset="-120"/>
              </a:rPr>
              <a:t>چرخه‌ی سفارش هر غرفه</a:t>
            </a:r>
            <a:endParaRPr lang="fa-IR" sz="1400" dirty="0"/>
          </a:p>
        </p:txBody>
      </p:sp>
      <p:sp>
        <p:nvSpPr>
          <p:cNvPr id="32" name="Shape 23"/>
          <p:cNvSpPr/>
          <p:nvPr/>
        </p:nvSpPr>
        <p:spPr>
          <a:xfrm>
            <a:off x="7413955" y="3675888"/>
            <a:ext cx="1714500" cy="365760"/>
          </a:xfrm>
          <a:prstGeom prst="roundRect">
            <a:avLst>
              <a:gd name="adj" fmla="val 50000"/>
            </a:avLst>
          </a:prstGeom>
          <a:solidFill>
            <a:srgbClr val="FFFFFF"/>
          </a:solidFill>
          <a:ln w="12700">
            <a:solidFill>
              <a:srgbClr val="A5D6A7"/>
            </a:solidFill>
            <a:prstDash val="solid"/>
          </a:ln>
        </p:spPr>
      </p:sp>
      <p:sp>
        <p:nvSpPr>
          <p:cNvPr id="33" name="Text 24"/>
          <p:cNvSpPr txBox="1"/>
          <p:nvPr/>
        </p:nvSpPr>
        <p:spPr>
          <a:xfrm>
            <a:off x="7413955" y="3675888"/>
            <a:ext cx="1714500"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در انتظار تأیید</a:t>
            </a:r>
            <a:endParaRPr lang="fa-IR" sz="1200" dirty="0"/>
          </a:p>
        </p:txBody>
      </p:sp>
      <p:sp>
        <p:nvSpPr>
          <p:cNvPr id="34" name="Text 25"/>
          <p:cNvSpPr txBox="1"/>
          <p:nvPr/>
        </p:nvSpPr>
        <p:spPr>
          <a:xfrm>
            <a:off x="7103059" y="3675888"/>
            <a:ext cx="274320" cy="365760"/>
          </a:xfrm>
          <a:prstGeom prst="rect">
            <a:avLst/>
          </a:prstGeom>
          <a:noFill/>
          <a:ln/>
        </p:spPr>
        <p:txBody>
          <a:bodyPr wrap="square" lIns="0" tIns="0" rIns="0" bIns="0" rtlCol="0" anchor="ctr"/>
          <a:lstStyle/>
          <a:p>
            <a:pPr algn="ctr" indent="0" marL="0">
              <a:buNone/>
            </a:pPr>
            <a:r>
              <a:rPr lang="fa-IR" altLang="en-US" sz="1400" dirty="0">
                <a:solidFill>
                  <a:srgbClr val="2E7D32"/>
                </a:solidFill>
                <a:latin typeface="Vazirmatn Nobar" pitchFamily="34" charset="0"/>
                <a:ea typeface="Vazirmatn Nobar" pitchFamily="34" charset="-122"/>
                <a:cs typeface="Vazirmatn Nobar" pitchFamily="34" charset="-120"/>
              </a:rPr>
              <a:t>←</a:t>
            </a:r>
            <a:endParaRPr lang="fa-IR" sz="1400" dirty="0"/>
          </a:p>
        </p:txBody>
      </p:sp>
      <p:sp>
        <p:nvSpPr>
          <p:cNvPr id="35" name="Shape 26"/>
          <p:cNvSpPr/>
          <p:nvPr/>
        </p:nvSpPr>
        <p:spPr>
          <a:xfrm>
            <a:off x="5978347" y="3675888"/>
            <a:ext cx="1106424" cy="365760"/>
          </a:xfrm>
          <a:prstGeom prst="roundRect">
            <a:avLst>
              <a:gd name="adj" fmla="val 50000"/>
            </a:avLst>
          </a:prstGeom>
          <a:solidFill>
            <a:srgbClr val="FFFFFF"/>
          </a:solidFill>
          <a:ln w="12700">
            <a:solidFill>
              <a:srgbClr val="A5D6A7"/>
            </a:solidFill>
            <a:prstDash val="solid"/>
          </a:ln>
        </p:spPr>
      </p:sp>
      <p:sp>
        <p:nvSpPr>
          <p:cNvPr id="36" name="Text 27"/>
          <p:cNvSpPr txBox="1"/>
          <p:nvPr/>
        </p:nvSpPr>
        <p:spPr>
          <a:xfrm>
            <a:off x="5978347" y="3675888"/>
            <a:ext cx="1106424"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تأییدشده</a:t>
            </a:r>
            <a:endParaRPr lang="fa-IR" sz="1200" dirty="0"/>
          </a:p>
        </p:txBody>
      </p:sp>
      <p:sp>
        <p:nvSpPr>
          <p:cNvPr id="37" name="Text 28"/>
          <p:cNvSpPr txBox="1"/>
          <p:nvPr/>
        </p:nvSpPr>
        <p:spPr>
          <a:xfrm>
            <a:off x="5667451" y="3675888"/>
            <a:ext cx="274320" cy="365760"/>
          </a:xfrm>
          <a:prstGeom prst="rect">
            <a:avLst/>
          </a:prstGeom>
          <a:noFill/>
          <a:ln/>
        </p:spPr>
        <p:txBody>
          <a:bodyPr wrap="square" lIns="0" tIns="0" rIns="0" bIns="0" rtlCol="0" anchor="ctr"/>
          <a:lstStyle/>
          <a:p>
            <a:pPr algn="ctr" indent="0" marL="0">
              <a:buNone/>
            </a:pPr>
            <a:r>
              <a:rPr lang="fa-IR" altLang="en-US" sz="1400" dirty="0">
                <a:solidFill>
                  <a:srgbClr val="2E7D32"/>
                </a:solidFill>
                <a:latin typeface="Vazirmatn Nobar" pitchFamily="34" charset="0"/>
                <a:ea typeface="Vazirmatn Nobar" pitchFamily="34" charset="-122"/>
                <a:cs typeface="Vazirmatn Nobar" pitchFamily="34" charset="-120"/>
              </a:rPr>
              <a:t>←</a:t>
            </a:r>
            <a:endParaRPr lang="fa-IR" sz="1400" dirty="0"/>
          </a:p>
        </p:txBody>
      </p:sp>
      <p:sp>
        <p:nvSpPr>
          <p:cNvPr id="38" name="Shape 29"/>
          <p:cNvSpPr/>
          <p:nvPr/>
        </p:nvSpPr>
        <p:spPr>
          <a:xfrm>
            <a:off x="4455871" y="3675888"/>
            <a:ext cx="1193292" cy="365760"/>
          </a:xfrm>
          <a:prstGeom prst="roundRect">
            <a:avLst>
              <a:gd name="adj" fmla="val 50000"/>
            </a:avLst>
          </a:prstGeom>
          <a:solidFill>
            <a:srgbClr val="FFFFFF"/>
          </a:solidFill>
          <a:ln w="12700">
            <a:solidFill>
              <a:srgbClr val="A5D6A7"/>
            </a:solidFill>
            <a:prstDash val="solid"/>
          </a:ln>
        </p:spPr>
      </p:sp>
      <p:sp>
        <p:nvSpPr>
          <p:cNvPr id="39" name="Text 30"/>
          <p:cNvSpPr txBox="1"/>
          <p:nvPr/>
        </p:nvSpPr>
        <p:spPr>
          <a:xfrm>
            <a:off x="4455871" y="3675888"/>
            <a:ext cx="1193292"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ارسال‌شده</a:t>
            </a:r>
            <a:endParaRPr lang="fa-IR" sz="1200" dirty="0"/>
          </a:p>
        </p:txBody>
      </p:sp>
      <p:sp>
        <p:nvSpPr>
          <p:cNvPr id="40" name="Text 31"/>
          <p:cNvSpPr txBox="1"/>
          <p:nvPr/>
        </p:nvSpPr>
        <p:spPr>
          <a:xfrm>
            <a:off x="4144975" y="3675888"/>
            <a:ext cx="274320" cy="365760"/>
          </a:xfrm>
          <a:prstGeom prst="rect">
            <a:avLst/>
          </a:prstGeom>
          <a:noFill/>
          <a:ln/>
        </p:spPr>
        <p:txBody>
          <a:bodyPr wrap="square" lIns="0" tIns="0" rIns="0" bIns="0" rtlCol="0" anchor="ctr"/>
          <a:lstStyle/>
          <a:p>
            <a:pPr algn="ctr" indent="0" marL="0">
              <a:buNone/>
            </a:pPr>
            <a:r>
              <a:rPr lang="fa-IR" altLang="en-US" sz="1400" dirty="0">
                <a:solidFill>
                  <a:srgbClr val="2E7D32"/>
                </a:solidFill>
                <a:latin typeface="Vazirmatn Nobar" pitchFamily="34" charset="0"/>
                <a:ea typeface="Vazirmatn Nobar" pitchFamily="34" charset="-122"/>
                <a:cs typeface="Vazirmatn Nobar" pitchFamily="34" charset="-120"/>
              </a:rPr>
              <a:t>←</a:t>
            </a:r>
            <a:endParaRPr lang="fa-IR" sz="1400" dirty="0"/>
          </a:p>
        </p:txBody>
      </p:sp>
      <p:sp>
        <p:nvSpPr>
          <p:cNvPr id="41" name="Shape 32"/>
          <p:cNvSpPr/>
          <p:nvPr/>
        </p:nvSpPr>
        <p:spPr>
          <a:xfrm>
            <a:off x="2933395" y="3675888"/>
            <a:ext cx="1193292" cy="365760"/>
          </a:xfrm>
          <a:prstGeom prst="roundRect">
            <a:avLst>
              <a:gd name="adj" fmla="val 50000"/>
            </a:avLst>
          </a:prstGeom>
          <a:solidFill>
            <a:srgbClr val="FFFFFF"/>
          </a:solidFill>
          <a:ln w="12700">
            <a:solidFill>
              <a:srgbClr val="A5D6A7"/>
            </a:solidFill>
            <a:prstDash val="solid"/>
          </a:ln>
        </p:spPr>
      </p:sp>
      <p:sp>
        <p:nvSpPr>
          <p:cNvPr id="42" name="Text 33"/>
          <p:cNvSpPr txBox="1"/>
          <p:nvPr/>
        </p:nvSpPr>
        <p:spPr>
          <a:xfrm>
            <a:off x="2933395" y="3675888"/>
            <a:ext cx="1193292" cy="365760"/>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تحویل‌شده</a:t>
            </a:r>
            <a:endParaRPr lang="fa-IR" sz="1200" dirty="0"/>
          </a:p>
        </p:txBody>
      </p:sp>
      <p:sp>
        <p:nvSpPr>
          <p:cNvPr id="43" name="Text 34"/>
          <p:cNvSpPr txBox="1"/>
          <p:nvPr/>
        </p:nvSpPr>
        <p:spPr>
          <a:xfrm>
            <a:off x="2622499" y="3675888"/>
            <a:ext cx="274320" cy="365760"/>
          </a:xfrm>
          <a:prstGeom prst="rect">
            <a:avLst/>
          </a:prstGeom>
          <a:noFill/>
          <a:ln/>
        </p:spPr>
        <p:txBody>
          <a:bodyPr wrap="square" lIns="0" tIns="0" rIns="0" bIns="0" rtlCol="0" anchor="ctr"/>
          <a:lstStyle/>
          <a:p>
            <a:pPr algn="ctr" indent="0" marL="0">
              <a:buNone/>
            </a:pPr>
            <a:r>
              <a:rPr lang="fa-IR" altLang="en-US" sz="1400" dirty="0">
                <a:solidFill>
                  <a:srgbClr val="2E7D32"/>
                </a:solidFill>
                <a:latin typeface="Vazirmatn Nobar" pitchFamily="34" charset="0"/>
                <a:ea typeface="Vazirmatn Nobar" pitchFamily="34" charset="-122"/>
                <a:cs typeface="Vazirmatn Nobar" pitchFamily="34" charset="-120"/>
              </a:rPr>
              <a:t>←</a:t>
            </a:r>
            <a:endParaRPr lang="fa-IR" sz="1400" dirty="0"/>
          </a:p>
        </p:txBody>
      </p:sp>
      <p:sp>
        <p:nvSpPr>
          <p:cNvPr id="44" name="Shape 35"/>
          <p:cNvSpPr/>
          <p:nvPr/>
        </p:nvSpPr>
        <p:spPr>
          <a:xfrm>
            <a:off x="1410919" y="3675888"/>
            <a:ext cx="1193292" cy="365760"/>
          </a:xfrm>
          <a:prstGeom prst="roundRect">
            <a:avLst>
              <a:gd name="adj" fmla="val 50000"/>
            </a:avLst>
          </a:prstGeom>
          <a:solidFill>
            <a:srgbClr val="2E7D32"/>
          </a:solidFill>
          <a:ln w="12700">
            <a:solidFill>
              <a:srgbClr val="A5D6A7"/>
            </a:solidFill>
            <a:prstDash val="solid"/>
          </a:ln>
        </p:spPr>
      </p:sp>
      <p:sp>
        <p:nvSpPr>
          <p:cNvPr id="45" name="Text 36"/>
          <p:cNvSpPr txBox="1"/>
          <p:nvPr/>
        </p:nvSpPr>
        <p:spPr>
          <a:xfrm>
            <a:off x="1410919" y="3675888"/>
            <a:ext cx="1193292" cy="365760"/>
          </a:xfrm>
          <a:prstGeom prst="rect">
            <a:avLst/>
          </a:prstGeom>
          <a:noFill/>
          <a:ln/>
        </p:spPr>
        <p:txBody>
          <a:bodyPr wrap="square" lIns="0" tIns="0" rIns="0" bIns="0" rtlCol="0" anchor="ctr"/>
          <a:lstStyle/>
          <a:p>
            <a:pPr rtl="1" algn="ctr" indent="0" marL="0">
              <a:buNone/>
            </a:pPr>
            <a:r>
              <a:rPr lang="fa-IR" altLang="en-US" sz="1200" dirty="0">
                <a:solidFill>
                  <a:srgbClr val="FFFFFF"/>
                </a:solidFill>
                <a:latin typeface="Vazirmatn Nobar SemiBold" pitchFamily="34" charset="0"/>
                <a:ea typeface="Vazirmatn Nobar SemiBold" pitchFamily="34" charset="-122"/>
                <a:cs typeface="Vazirmatn Nobar SemiBold" pitchFamily="34" charset="-120"/>
              </a:rPr>
              <a:t>تکمیل‌شده</a:t>
            </a:r>
            <a:endParaRPr lang="fa-IR" sz="1200" dirty="0"/>
          </a:p>
        </p:txBody>
      </p:sp>
      <p:sp>
        <p:nvSpPr>
          <p:cNvPr id="46" name="Shape 37"/>
          <p:cNvSpPr/>
          <p:nvPr/>
        </p:nvSpPr>
        <p:spPr>
          <a:xfrm>
            <a:off x="9027185" y="4434840"/>
            <a:ext cx="2615870" cy="1600200"/>
          </a:xfrm>
          <a:prstGeom prst="roundRect">
            <a:avLst>
              <a:gd name="adj" fmla="val 9143"/>
            </a:avLst>
          </a:prstGeom>
          <a:solidFill>
            <a:srgbClr val="FFFFFF"/>
          </a:solidFill>
          <a:ln/>
          <a:effectLst>
            <a:outerShdw sx="100000" sy="100000" kx="0" ky="0" algn="bl" rotWithShape="0" blurRad="127000" dist="38100" dir="5400000">
              <a:srgbClr val="14532D">
                <a:alpha val="12000"/>
              </a:srgbClr>
            </a:outerShdw>
          </a:effectLst>
        </p:spPr>
      </p:sp>
      <p:sp>
        <p:nvSpPr>
          <p:cNvPr id="47" name="Shape 38"/>
          <p:cNvSpPr/>
          <p:nvPr/>
        </p:nvSpPr>
        <p:spPr>
          <a:xfrm>
            <a:off x="10746943" y="4617720"/>
            <a:ext cx="685800" cy="685800"/>
          </a:xfrm>
          <a:prstGeom prst="ellipse">
            <a:avLst/>
          </a:prstGeom>
          <a:solidFill>
            <a:srgbClr val="EAF5E6"/>
          </a:solidFill>
          <a:ln/>
        </p:spPr>
      </p:sp>
      <p:pic>
        <p:nvPicPr>
          <p:cNvPr id="48" name="icon identification_card" descr="/tmp/claude-0/-home-claude/e50823c0-d46f-5818-8f05-9d714cd67f5c/scratchpad/assets/icons/identification_card.png">    </p:cNvPr>
          <p:cNvPicPr>
            <a:picLocks noChangeAspect="1"/>
          </p:cNvPicPr>
          <p:nvPr/>
        </p:nvPicPr>
        <p:blipFill>
          <a:blip r:embed="rId7"/>
          <a:stretch>
            <a:fillRect/>
          </a:stretch>
        </p:blipFill>
        <p:spPr>
          <a:xfrm>
            <a:off x="10856671" y="4727448"/>
            <a:ext cx="466344" cy="466344"/>
          </a:xfrm>
          <a:prstGeom prst="rect">
            <a:avLst/>
          </a:prstGeom>
        </p:spPr>
      </p:pic>
      <p:sp>
        <p:nvSpPr>
          <p:cNvPr id="49" name="Text 39"/>
          <p:cNvSpPr txBox="1"/>
          <p:nvPr/>
        </p:nvSpPr>
        <p:spPr>
          <a:xfrm>
            <a:off x="9210065" y="5349240"/>
            <a:ext cx="2250110" cy="347472"/>
          </a:xfrm>
          <a:prstGeom prst="rect">
            <a:avLst/>
          </a:prstGeom>
          <a:noFill/>
          <a:ln/>
        </p:spPr>
        <p:txBody>
          <a:bodyPr wrap="square" lIns="0" tIns="0" rIns="0" bIns="0" rtlCol="0" anchor="t"/>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احراز هویت غرفه‌دار</a:t>
            </a:r>
            <a:endParaRPr lang="fa-IR" sz="1450" dirty="0"/>
          </a:p>
        </p:txBody>
      </p:sp>
      <p:sp>
        <p:nvSpPr>
          <p:cNvPr id="50" name="Text 40"/>
          <p:cNvSpPr txBox="1"/>
          <p:nvPr/>
        </p:nvSpPr>
        <p:spPr>
          <a:xfrm>
            <a:off x="9210065" y="5678424"/>
            <a:ext cx="2250110" cy="292608"/>
          </a:xfrm>
          <a:prstGeom prst="rect">
            <a:avLst/>
          </a:prstGeom>
          <a:noFill/>
          <a:ln/>
        </p:spPr>
        <p:txBody>
          <a:bodyPr wrap="square" lIns="0" tIns="0" rIns="0" bIns="0" rtlCol="0" anchor="t"/>
          <a:lstStyle/>
          <a:p>
            <a:pPr rtl="1" algn="r" indent="0" marL="0">
              <a:buNone/>
            </a:pPr>
            <a:r>
              <a:rPr lang="fa-IR" altLang="en-US" sz="1250" dirty="0">
                <a:solidFill>
                  <a:srgbClr val="1F2A1F"/>
                </a:solidFill>
                <a:latin typeface="Vazirmatn Nobar" pitchFamily="34" charset="0"/>
                <a:ea typeface="Vazirmatn Nobar" pitchFamily="34" charset="-122"/>
                <a:cs typeface="Vazirmatn Nobar" pitchFamily="34" charset="-120"/>
              </a:rPr>
              <a:t>کد ملی و شبا، تأیید کارشناس</a:t>
            </a:r>
            <a:endParaRPr lang="fa-IR" sz="1250" dirty="0"/>
          </a:p>
        </p:txBody>
      </p:sp>
      <p:sp>
        <p:nvSpPr>
          <p:cNvPr id="51" name="Shape 41"/>
          <p:cNvSpPr/>
          <p:nvPr/>
        </p:nvSpPr>
        <p:spPr>
          <a:xfrm>
            <a:off x="6201004" y="4434840"/>
            <a:ext cx="2615870" cy="1600200"/>
          </a:xfrm>
          <a:prstGeom prst="roundRect">
            <a:avLst>
              <a:gd name="adj" fmla="val 9143"/>
            </a:avLst>
          </a:prstGeom>
          <a:solidFill>
            <a:srgbClr val="FFFFFF"/>
          </a:solidFill>
          <a:ln/>
          <a:effectLst>
            <a:outerShdw sx="100000" sy="100000" kx="0" ky="0" algn="bl" rotWithShape="0" blurRad="127000" dist="38100" dir="5400000">
              <a:srgbClr val="14532D">
                <a:alpha val="12000"/>
              </a:srgbClr>
            </a:outerShdw>
          </a:effectLst>
        </p:spPr>
      </p:sp>
      <p:sp>
        <p:nvSpPr>
          <p:cNvPr id="52" name="Shape 42"/>
          <p:cNvSpPr/>
          <p:nvPr/>
        </p:nvSpPr>
        <p:spPr>
          <a:xfrm>
            <a:off x="7920761" y="4617720"/>
            <a:ext cx="685800" cy="685800"/>
          </a:xfrm>
          <a:prstGeom prst="ellipse">
            <a:avLst/>
          </a:prstGeom>
          <a:solidFill>
            <a:srgbClr val="EAF5E6"/>
          </a:solidFill>
          <a:ln/>
        </p:spPr>
      </p:sp>
      <p:pic>
        <p:nvPicPr>
          <p:cNvPr id="53" name="icon star" descr="/tmp/claude-0/-home-claude/e50823c0-d46f-5818-8f05-9d714cd67f5c/scratchpad/assets/icons/star.png">    </p:cNvPr>
          <p:cNvPicPr>
            <a:picLocks noChangeAspect="1"/>
          </p:cNvPicPr>
          <p:nvPr/>
        </p:nvPicPr>
        <p:blipFill>
          <a:blip r:embed="rId8"/>
          <a:stretch>
            <a:fillRect/>
          </a:stretch>
        </p:blipFill>
        <p:spPr>
          <a:xfrm>
            <a:off x="8030489" y="4727448"/>
            <a:ext cx="466344" cy="466344"/>
          </a:xfrm>
          <a:prstGeom prst="rect">
            <a:avLst/>
          </a:prstGeom>
        </p:spPr>
      </p:pic>
      <p:sp>
        <p:nvSpPr>
          <p:cNvPr id="54" name="Text 43"/>
          <p:cNvSpPr txBox="1"/>
          <p:nvPr/>
        </p:nvSpPr>
        <p:spPr>
          <a:xfrm>
            <a:off x="6383884" y="5349240"/>
            <a:ext cx="2250110" cy="347472"/>
          </a:xfrm>
          <a:prstGeom prst="rect">
            <a:avLst/>
          </a:prstGeom>
          <a:noFill/>
          <a:ln/>
        </p:spPr>
        <p:txBody>
          <a:bodyPr wrap="square" lIns="0" tIns="0" rIns="0" bIns="0" rtlCol="0" anchor="t"/>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نظر فقط از خریدار واقعی</a:t>
            </a:r>
            <a:endParaRPr lang="fa-IR" sz="1450" dirty="0"/>
          </a:p>
        </p:txBody>
      </p:sp>
      <p:sp>
        <p:nvSpPr>
          <p:cNvPr id="55" name="Text 44"/>
          <p:cNvSpPr txBox="1"/>
          <p:nvPr/>
        </p:nvSpPr>
        <p:spPr>
          <a:xfrm>
            <a:off x="6383884" y="5678424"/>
            <a:ext cx="2250110" cy="292608"/>
          </a:xfrm>
          <a:prstGeom prst="rect">
            <a:avLst/>
          </a:prstGeom>
          <a:noFill/>
          <a:ln/>
        </p:spPr>
        <p:txBody>
          <a:bodyPr wrap="square" lIns="0" tIns="0" rIns="0" bIns="0" rtlCol="0" anchor="t"/>
          <a:lstStyle/>
          <a:p>
            <a:pPr rtl="1" algn="r" indent="0" marL="0">
              <a:buNone/>
            </a:pPr>
            <a:r>
              <a:rPr lang="fa-IR" altLang="en-US" sz="1250" dirty="0">
                <a:solidFill>
                  <a:srgbClr val="1F2A1F"/>
                </a:solidFill>
                <a:latin typeface="Vazirmatn Nobar" pitchFamily="34" charset="0"/>
                <a:ea typeface="Vazirmatn Nobar" pitchFamily="34" charset="-122"/>
                <a:cs typeface="Vazirmatn Nobar" pitchFamily="34" charset="-120"/>
              </a:rPr>
              <a:t>با امتیاز جداگانه‌ی تازگی</a:t>
            </a:r>
            <a:endParaRPr lang="fa-IR" sz="1250" dirty="0"/>
          </a:p>
        </p:txBody>
      </p:sp>
      <p:sp>
        <p:nvSpPr>
          <p:cNvPr id="56" name="Shape 45"/>
          <p:cNvSpPr/>
          <p:nvPr/>
        </p:nvSpPr>
        <p:spPr>
          <a:xfrm>
            <a:off x="3374822" y="4434840"/>
            <a:ext cx="2615870" cy="1600200"/>
          </a:xfrm>
          <a:prstGeom prst="roundRect">
            <a:avLst>
              <a:gd name="adj" fmla="val 9143"/>
            </a:avLst>
          </a:prstGeom>
          <a:solidFill>
            <a:srgbClr val="FFFFFF"/>
          </a:solidFill>
          <a:ln/>
          <a:effectLst>
            <a:outerShdw sx="100000" sy="100000" kx="0" ky="0" algn="bl" rotWithShape="0" blurRad="127000" dist="38100" dir="5400000">
              <a:srgbClr val="14532D">
                <a:alpha val="12000"/>
              </a:srgbClr>
            </a:outerShdw>
          </a:effectLst>
        </p:spPr>
      </p:sp>
      <p:sp>
        <p:nvSpPr>
          <p:cNvPr id="57" name="Shape 46"/>
          <p:cNvSpPr/>
          <p:nvPr/>
        </p:nvSpPr>
        <p:spPr>
          <a:xfrm>
            <a:off x="5094580" y="4617720"/>
            <a:ext cx="685800" cy="685800"/>
          </a:xfrm>
          <a:prstGeom prst="ellipse">
            <a:avLst/>
          </a:prstGeom>
          <a:solidFill>
            <a:srgbClr val="EAF5E6"/>
          </a:solidFill>
          <a:ln/>
        </p:spPr>
      </p:sp>
      <p:pic>
        <p:nvPicPr>
          <p:cNvPr id="58" name="icon camera_with_flash" descr="/tmp/claude-0/-home-claude/e50823c0-d46f-5818-8f05-9d714cd67f5c/scratchpad/assets/icons/camera_with_flash.png">    </p:cNvPr>
          <p:cNvPicPr>
            <a:picLocks noChangeAspect="1"/>
          </p:cNvPicPr>
          <p:nvPr/>
        </p:nvPicPr>
        <p:blipFill>
          <a:blip r:embed="rId9"/>
          <a:stretch>
            <a:fillRect/>
          </a:stretch>
        </p:blipFill>
        <p:spPr>
          <a:xfrm>
            <a:off x="5204308" y="4727448"/>
            <a:ext cx="466344" cy="466344"/>
          </a:xfrm>
          <a:prstGeom prst="rect">
            <a:avLst/>
          </a:prstGeom>
        </p:spPr>
      </p:pic>
      <p:sp>
        <p:nvSpPr>
          <p:cNvPr id="59" name="Text 47"/>
          <p:cNvSpPr txBox="1"/>
          <p:nvPr/>
        </p:nvSpPr>
        <p:spPr>
          <a:xfrm>
            <a:off x="3557702" y="5349240"/>
            <a:ext cx="2250110" cy="347472"/>
          </a:xfrm>
          <a:prstGeom prst="rect">
            <a:avLst/>
          </a:prstGeom>
          <a:noFill/>
          <a:ln/>
        </p:spPr>
        <p:txBody>
          <a:bodyPr wrap="square" lIns="0" tIns="0" rIns="0" bIns="0" rtlCol="0" anchor="t"/>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شکایت با عکس</a:t>
            </a:r>
            <a:endParaRPr lang="fa-IR" sz="1450" dirty="0"/>
          </a:p>
        </p:txBody>
      </p:sp>
      <p:sp>
        <p:nvSpPr>
          <p:cNvPr id="60" name="Text 48"/>
          <p:cNvSpPr txBox="1"/>
          <p:nvPr/>
        </p:nvSpPr>
        <p:spPr>
          <a:xfrm>
            <a:off x="3557702" y="5678424"/>
            <a:ext cx="2250110" cy="292608"/>
          </a:xfrm>
          <a:prstGeom prst="rect">
            <a:avLst/>
          </a:prstGeom>
          <a:noFill/>
          <a:ln/>
        </p:spPr>
        <p:txBody>
          <a:bodyPr wrap="square" lIns="0" tIns="0" rIns="0" bIns="0" rtlCol="0" anchor="t"/>
          <a:lstStyle/>
          <a:p>
            <a:pPr rtl="1" algn="r" indent="0" marL="0">
              <a:buNone/>
            </a:pPr>
            <a:r>
              <a:rPr lang="fa-IR" altLang="en-US" sz="1250" dirty="0">
                <a:solidFill>
                  <a:srgbClr val="1F2A1F"/>
                </a:solidFill>
                <a:latin typeface="Vazirmatn Nobar" pitchFamily="34" charset="0"/>
                <a:ea typeface="Vazirmatn Nobar" pitchFamily="34" charset="-122"/>
                <a:cs typeface="Vazirmatn Nobar" pitchFamily="34" charset="-120"/>
              </a:rPr>
              <a:t>پاسخ غرفه‌دار در ۱۲ ساعت و داوری</a:t>
            </a:r>
            <a:endParaRPr lang="fa-IR" sz="1250" dirty="0"/>
          </a:p>
        </p:txBody>
      </p:sp>
      <p:sp>
        <p:nvSpPr>
          <p:cNvPr id="61" name="Shape 49"/>
          <p:cNvSpPr/>
          <p:nvPr/>
        </p:nvSpPr>
        <p:spPr>
          <a:xfrm>
            <a:off x="548640" y="4434840"/>
            <a:ext cx="2615870" cy="1600200"/>
          </a:xfrm>
          <a:prstGeom prst="roundRect">
            <a:avLst>
              <a:gd name="adj" fmla="val 9143"/>
            </a:avLst>
          </a:prstGeom>
          <a:solidFill>
            <a:srgbClr val="FFFFFF"/>
          </a:solidFill>
          <a:ln/>
          <a:effectLst>
            <a:outerShdw sx="100000" sy="100000" kx="0" ky="0" algn="bl" rotWithShape="0" blurRad="127000" dist="38100" dir="5400000">
              <a:srgbClr val="14532D">
                <a:alpha val="12000"/>
              </a:srgbClr>
            </a:outerShdw>
          </a:effectLst>
        </p:spPr>
      </p:sp>
      <p:sp>
        <p:nvSpPr>
          <p:cNvPr id="62" name="Shape 50"/>
          <p:cNvSpPr/>
          <p:nvPr/>
        </p:nvSpPr>
        <p:spPr>
          <a:xfrm>
            <a:off x="2268398" y="4617720"/>
            <a:ext cx="685800" cy="685800"/>
          </a:xfrm>
          <a:prstGeom prst="ellipse">
            <a:avLst/>
          </a:prstGeom>
          <a:solidFill>
            <a:srgbClr val="EAF5E6"/>
          </a:solidFill>
          <a:ln/>
        </p:spPr>
      </p:sp>
      <p:pic>
        <p:nvPicPr>
          <p:cNvPr id="63" name="icon balance_scale" descr="/tmp/claude-0/-home-claude/e50823c0-d46f-5818-8f05-9d714cd67f5c/scratchpad/assets/icons/balance_scale.png">    </p:cNvPr>
          <p:cNvPicPr>
            <a:picLocks noChangeAspect="1"/>
          </p:cNvPicPr>
          <p:nvPr/>
        </p:nvPicPr>
        <p:blipFill>
          <a:blip r:embed="rId10"/>
          <a:stretch>
            <a:fillRect/>
          </a:stretch>
        </p:blipFill>
        <p:spPr>
          <a:xfrm>
            <a:off x="2378126" y="4727448"/>
            <a:ext cx="466344" cy="466344"/>
          </a:xfrm>
          <a:prstGeom prst="rect">
            <a:avLst/>
          </a:prstGeom>
        </p:spPr>
      </p:pic>
      <p:sp>
        <p:nvSpPr>
          <p:cNvPr id="64" name="Text 51"/>
          <p:cNvSpPr txBox="1"/>
          <p:nvPr/>
        </p:nvSpPr>
        <p:spPr>
          <a:xfrm>
            <a:off x="731520" y="5349240"/>
            <a:ext cx="2250110" cy="347472"/>
          </a:xfrm>
          <a:prstGeom prst="rect">
            <a:avLst/>
          </a:prstGeom>
          <a:noFill/>
          <a:ln/>
        </p:spPr>
        <p:txBody>
          <a:bodyPr wrap="square" lIns="0" tIns="0" rIns="0" bIns="0" rtlCol="0" anchor="t"/>
          <a:lstStyle/>
          <a:p>
            <a:pPr rtl="1" algn="r" indent="0" marL="0">
              <a:buNone/>
            </a:pPr>
            <a:r>
              <a:rPr lang="fa-IR" altLang="en-US" sz="1450" dirty="0">
                <a:solidFill>
                  <a:srgbClr val="14532D"/>
                </a:solidFill>
                <a:latin typeface="Vazirmatn Nobar ExtraBold" pitchFamily="34" charset="0"/>
                <a:ea typeface="Vazirmatn Nobar ExtraBold" pitchFamily="34" charset="-122"/>
                <a:cs typeface="Vazirmatn Nobar ExtraBold" pitchFamily="34" charset="-120"/>
              </a:rPr>
              <a:t>دفتر کل دوطرفه</a:t>
            </a:r>
            <a:endParaRPr lang="fa-IR" sz="1450" dirty="0"/>
          </a:p>
        </p:txBody>
      </p:sp>
      <p:sp>
        <p:nvSpPr>
          <p:cNvPr id="65" name="Text 52"/>
          <p:cNvSpPr txBox="1"/>
          <p:nvPr/>
        </p:nvSpPr>
        <p:spPr>
          <a:xfrm>
            <a:off x="731520" y="5678424"/>
            <a:ext cx="2250110" cy="292608"/>
          </a:xfrm>
          <a:prstGeom prst="rect">
            <a:avLst/>
          </a:prstGeom>
          <a:noFill/>
          <a:ln/>
        </p:spPr>
        <p:txBody>
          <a:bodyPr wrap="square" lIns="0" tIns="0" rIns="0" bIns="0" rtlCol="0" anchor="t"/>
          <a:lstStyle/>
          <a:p>
            <a:pPr rtl="1" algn="r" indent="0" marL="0">
              <a:buNone/>
            </a:pPr>
            <a:r>
              <a:rPr lang="fa-IR" altLang="en-US" sz="1250" dirty="0">
                <a:solidFill>
                  <a:srgbClr val="1F2A1F"/>
                </a:solidFill>
                <a:latin typeface="Vazirmatn Nobar" pitchFamily="34" charset="0"/>
                <a:ea typeface="Vazirmatn Nobar" pitchFamily="34" charset="-122"/>
                <a:cs typeface="Vazirmatn Nobar" pitchFamily="34" charset="-120"/>
              </a:rPr>
              <a:t>بررسی خودکار شبانه‌ی حساب‌ها</a:t>
            </a:r>
            <a:endParaRPr lang="fa-IR"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۱۷</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برنامه‌ی ورود به بازار</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شروع متمرکز از قطب تولید سیب کشور، سپس گسترش مرحله‌ای</a:t>
            </a:r>
            <a:endParaRPr lang="fa-IR" sz="1600" dirty="0"/>
          </a:p>
        </p:txBody>
      </p:sp>
      <p:sp>
        <p:nvSpPr>
          <p:cNvPr id="6" name="Shape 3"/>
          <p:cNvSpPr/>
          <p:nvPr/>
        </p:nvSpPr>
        <p:spPr>
          <a:xfrm>
            <a:off x="8158277" y="1572768"/>
            <a:ext cx="3484778" cy="2880360"/>
          </a:xfrm>
          <a:prstGeom prst="roundRect">
            <a:avLst>
              <a:gd name="adj" fmla="val 5079"/>
            </a:avLst>
          </a:prstGeom>
          <a:solidFill>
            <a:srgbClr val="14532D"/>
          </a:solidFill>
          <a:ln/>
          <a:effectLst>
            <a:outerShdw sx="100000" sy="100000" kx="0" ky="0" algn="bl" rotWithShape="0" blurRad="127000" dist="38100" dir="5400000">
              <a:srgbClr val="14532D">
                <a:alpha val="12000"/>
              </a:srgbClr>
            </a:outerShdw>
          </a:effectLst>
        </p:spPr>
      </p:sp>
      <p:pic>
        <p:nvPicPr>
          <p:cNvPr id="7" name="icon round_pushpin" descr="/tmp/claude-0/-home-claude/e50823c0-d46f-5818-8f05-9d714cd67f5c/scratchpad/assets/icons/round_pushpin.png">    </p:cNvPr>
          <p:cNvPicPr>
            <a:picLocks noChangeAspect="1"/>
          </p:cNvPicPr>
          <p:nvPr/>
        </p:nvPicPr>
        <p:blipFill>
          <a:blip r:embed="rId1"/>
          <a:stretch>
            <a:fillRect/>
          </a:stretch>
        </p:blipFill>
        <p:spPr>
          <a:xfrm>
            <a:off x="10728655" y="1773936"/>
            <a:ext cx="685800" cy="685800"/>
          </a:xfrm>
          <a:prstGeom prst="rect">
            <a:avLst/>
          </a:prstGeom>
        </p:spPr>
      </p:pic>
      <p:sp>
        <p:nvSpPr>
          <p:cNvPr id="8" name="Shape 4"/>
          <p:cNvSpPr/>
          <p:nvPr/>
        </p:nvSpPr>
        <p:spPr>
          <a:xfrm>
            <a:off x="8359445" y="1892808"/>
            <a:ext cx="1965960" cy="347472"/>
          </a:xfrm>
          <a:prstGeom prst="roundRect">
            <a:avLst>
              <a:gd name="adj" fmla="val 50000"/>
            </a:avLst>
          </a:prstGeom>
          <a:solidFill>
            <a:srgbClr val="2E7D32"/>
          </a:solidFill>
          <a:ln/>
        </p:spPr>
      </p:sp>
      <p:sp>
        <p:nvSpPr>
          <p:cNvPr id="9" name="Text 5"/>
          <p:cNvSpPr txBox="1"/>
          <p:nvPr/>
        </p:nvSpPr>
        <p:spPr>
          <a:xfrm>
            <a:off x="8359445" y="1892808"/>
            <a:ext cx="1965960" cy="347472"/>
          </a:xfrm>
          <a:prstGeom prst="rect">
            <a:avLst/>
          </a:prstGeom>
          <a:noFill/>
          <a:ln/>
        </p:spPr>
        <p:txBody>
          <a:bodyPr wrap="square" lIns="0" tIns="0" rIns="0" bIns="0" rtlCol="0" anchor="ctr"/>
          <a:lstStyle/>
          <a:p>
            <a:pPr rtl="1" algn="ctr" indent="0" marL="0">
              <a:buNone/>
            </a:pPr>
            <a:r>
              <a:rPr lang="fa-IR" altLang="en-US" sz="1200" dirty="0">
                <a:solidFill>
                  <a:srgbClr val="FFFFFF"/>
                </a:solidFill>
                <a:latin typeface="Vazirmatn Nobar SemiBold" pitchFamily="34" charset="0"/>
                <a:ea typeface="Vazirmatn Nobar SemiBold" pitchFamily="34" charset="-122"/>
                <a:cs typeface="Vazirmatn Nobar SemiBold" pitchFamily="34" charset="-120"/>
              </a:rPr>
              <a:t>مرحله‌ی ۱  |  ماه ۷ تا ۹</a:t>
            </a:r>
            <a:endParaRPr lang="fa-IR" sz="1200" dirty="0"/>
          </a:p>
        </p:txBody>
      </p:sp>
      <p:sp>
        <p:nvSpPr>
          <p:cNvPr id="10" name="Text 6"/>
          <p:cNvSpPr txBox="1"/>
          <p:nvPr/>
        </p:nvSpPr>
        <p:spPr>
          <a:xfrm>
            <a:off x="8386877" y="2560320"/>
            <a:ext cx="3027578" cy="438912"/>
          </a:xfrm>
          <a:prstGeom prst="rect">
            <a:avLst/>
          </a:prstGeom>
          <a:noFill/>
          <a:ln/>
        </p:spPr>
        <p:txBody>
          <a:bodyPr wrap="square" lIns="0" tIns="0" rIns="0" bIns="0" rtlCol="0" anchor="t"/>
          <a:lstStyle/>
          <a:p>
            <a:pPr rtl="1" algn="r" indent="0" marL="0">
              <a:buNone/>
            </a:pPr>
            <a:r>
              <a:rPr lang="fa-IR" altLang="en-US" sz="1900" dirty="0">
                <a:solidFill>
                  <a:srgbClr val="FFFFFF"/>
                </a:solidFill>
                <a:latin typeface="Vazirmatn Nobar ExtraBold" pitchFamily="34" charset="0"/>
                <a:ea typeface="Vazirmatn Nobar ExtraBold" pitchFamily="34" charset="-122"/>
                <a:cs typeface="Vazirmatn Nobar ExtraBold" pitchFamily="34" charset="-120"/>
              </a:rPr>
              <a:t>پایلوت آذربایجان غربی</a:t>
            </a:r>
            <a:endParaRPr lang="fa-IR" sz="1900" dirty="0"/>
          </a:p>
        </p:txBody>
      </p:sp>
      <p:sp>
        <p:nvSpPr>
          <p:cNvPr id="11" name="Text 7"/>
          <p:cNvSpPr txBox="1"/>
          <p:nvPr/>
        </p:nvSpPr>
        <p:spPr>
          <a:xfrm>
            <a:off x="8386877" y="3081528"/>
            <a:ext cx="3027578" cy="1234440"/>
          </a:xfrm>
          <a:prstGeom prst="rect">
            <a:avLst/>
          </a:prstGeom>
          <a:noFill/>
          <a:ln/>
        </p:spPr>
        <p:txBody>
          <a:bodyPr wrap="square" lIns="0" tIns="0" rIns="0" bIns="0" rtlCol="0" anchor="t"/>
          <a:lstStyle/>
          <a:p>
            <a:pPr rtl="1" algn="r" marL="177800" indent="-177800">
              <a:spcAft>
                <a:spcPts val="500"/>
              </a:spcAft>
              <a:buSzPct val="100000"/>
              <a:buChar char="•"/>
            </a:pPr>
            <a:r>
              <a:rPr lang="fa-IR" altLang="en-US" sz="1400" dirty="0">
                <a:solidFill>
                  <a:srgbClr val="E8F5E9"/>
                </a:solidFill>
                <a:latin typeface="Vazirmatn Nobar" pitchFamily="34" charset="0"/>
                <a:ea typeface="Vazirmatn Nobar" pitchFamily="34" charset="-122"/>
                <a:cs typeface="Vazirmatn Nobar" pitchFamily="34" charset="-120"/>
              </a:rPr>
              <a:t>عرضه: باغداران سیب، انگور و صیفی استان</a:t>
            </a:r>
            <a:endParaRPr lang="fa-IR" sz="1400" dirty="0"/>
          </a:p>
          <a:p>
            <a:pPr rtl="1" algn="r" marL="177800" indent="-177800">
              <a:spcAft>
                <a:spcPts val="500"/>
              </a:spcAft>
              <a:buSzPct val="100000"/>
              <a:buChar char="•"/>
            </a:pPr>
            <a:r>
              <a:rPr lang="fa-IR" altLang="en-US" sz="1400" dirty="0">
                <a:solidFill>
                  <a:srgbClr val="E8F5E9"/>
                </a:solidFill>
                <a:latin typeface="Vazirmatn Nobar" pitchFamily="34" charset="0"/>
                <a:ea typeface="Vazirmatn Nobar" pitchFamily="34" charset="-122"/>
                <a:cs typeface="Vazirmatn Nobar" pitchFamily="34" charset="-120"/>
              </a:rPr>
              <a:t>تقاضا: ارومیه، تبریز و تهران</a:t>
            </a:r>
            <a:endParaRPr lang="fa-IR" sz="1400" dirty="0"/>
          </a:p>
          <a:p>
            <a:pPr rtl="1" algn="r" marL="177800" indent="-177800">
              <a:spcAft>
                <a:spcPts val="500"/>
              </a:spcAft>
              <a:buSzPct val="100000"/>
              <a:buChar char="•"/>
            </a:pPr>
            <a:r>
              <a:rPr lang="fa-IR" altLang="en-US" sz="1400" dirty="0">
                <a:solidFill>
                  <a:srgbClr val="E8F5E9"/>
                </a:solidFill>
                <a:latin typeface="Vazirmatn Nobar" pitchFamily="34" charset="0"/>
                <a:ea typeface="Vazirmatn Nobar" pitchFamily="34" charset="-122"/>
                <a:cs typeface="Vazirmatn Nobar" pitchFamily="34" charset="-120"/>
              </a:rPr>
              <a:t>هدف: ۱۰۰ غرفه‌ی فعال</a:t>
            </a:r>
            <a:endParaRPr lang="fa-IR" sz="1400" dirty="0"/>
          </a:p>
        </p:txBody>
      </p:sp>
      <p:sp>
        <p:nvSpPr>
          <p:cNvPr id="12" name="Text 8"/>
          <p:cNvSpPr txBox="1"/>
          <p:nvPr/>
        </p:nvSpPr>
        <p:spPr>
          <a:xfrm>
            <a:off x="7856525" y="2738628"/>
            <a:ext cx="274320" cy="548640"/>
          </a:xfrm>
          <a:prstGeom prst="rect">
            <a:avLst/>
          </a:prstGeom>
          <a:noFill/>
          <a:ln/>
        </p:spPr>
        <p:txBody>
          <a:bodyPr wrap="square" lIns="0" tIns="0" rIns="0" bIns="0" rtlCol="0" anchor="ctr"/>
          <a:lstStyle/>
          <a:p>
            <a:pPr algn="ctr" indent="0" marL="0">
              <a:buNone/>
            </a:pPr>
            <a:r>
              <a:rPr lang="fa-IR" altLang="en-US" sz="3000" dirty="0">
                <a:solidFill>
                  <a:srgbClr val="2E7D32"/>
                </a:solidFill>
                <a:latin typeface="Vazirmatn Nobar ExtraBold" pitchFamily="34" charset="0"/>
                <a:ea typeface="Vazirmatn Nobar ExtraBold" pitchFamily="34" charset="-122"/>
                <a:cs typeface="Vazirmatn Nobar ExtraBold" pitchFamily="34" charset="-120"/>
              </a:rPr>
              <a:t>‹</a:t>
            </a:r>
            <a:endParaRPr lang="fa-IR" sz="3000" dirty="0"/>
          </a:p>
        </p:txBody>
      </p:sp>
      <p:sp>
        <p:nvSpPr>
          <p:cNvPr id="13" name="Shape 9"/>
          <p:cNvSpPr/>
          <p:nvPr/>
        </p:nvSpPr>
        <p:spPr>
          <a:xfrm>
            <a:off x="4353458" y="1572768"/>
            <a:ext cx="3484778" cy="2880360"/>
          </a:xfrm>
          <a:prstGeom prst="roundRect">
            <a:avLst>
              <a:gd name="adj" fmla="val 5079"/>
            </a:avLst>
          </a:prstGeom>
          <a:solidFill>
            <a:srgbClr val="FFFFFF"/>
          </a:solidFill>
          <a:ln/>
          <a:effectLst>
            <a:outerShdw sx="100000" sy="100000" kx="0" ky="0" algn="bl" rotWithShape="0" blurRad="127000" dist="38100" dir="5400000">
              <a:srgbClr val="14532D">
                <a:alpha val="12000"/>
              </a:srgbClr>
            </a:outerShdw>
          </a:effectLst>
        </p:spPr>
      </p:sp>
      <p:pic>
        <p:nvPicPr>
          <p:cNvPr id="14" name="icon world_map" descr="/tmp/claude-0/-home-claude/e50823c0-d46f-5818-8f05-9d714cd67f5c/scratchpad/assets/icons/world_map.png">    </p:cNvPr>
          <p:cNvPicPr>
            <a:picLocks noChangeAspect="1"/>
          </p:cNvPicPr>
          <p:nvPr/>
        </p:nvPicPr>
        <p:blipFill>
          <a:blip r:embed="rId2"/>
          <a:stretch>
            <a:fillRect/>
          </a:stretch>
        </p:blipFill>
        <p:spPr>
          <a:xfrm>
            <a:off x="6923837" y="1773936"/>
            <a:ext cx="685800" cy="685800"/>
          </a:xfrm>
          <a:prstGeom prst="rect">
            <a:avLst/>
          </a:prstGeom>
        </p:spPr>
      </p:pic>
      <p:sp>
        <p:nvSpPr>
          <p:cNvPr id="15" name="Shape 10"/>
          <p:cNvSpPr/>
          <p:nvPr/>
        </p:nvSpPr>
        <p:spPr>
          <a:xfrm>
            <a:off x="4554626" y="1892808"/>
            <a:ext cx="1965960" cy="347472"/>
          </a:xfrm>
          <a:prstGeom prst="roundRect">
            <a:avLst>
              <a:gd name="adj" fmla="val 50000"/>
            </a:avLst>
          </a:prstGeom>
          <a:solidFill>
            <a:srgbClr val="EAF5E6"/>
          </a:solidFill>
          <a:ln/>
        </p:spPr>
      </p:sp>
      <p:sp>
        <p:nvSpPr>
          <p:cNvPr id="16" name="Text 11"/>
          <p:cNvSpPr txBox="1"/>
          <p:nvPr/>
        </p:nvSpPr>
        <p:spPr>
          <a:xfrm>
            <a:off x="4554626" y="1892808"/>
            <a:ext cx="1965960" cy="347472"/>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مرحله‌ی ۲  |  ماه ۱۰ تا ۱۲</a:t>
            </a:r>
            <a:endParaRPr lang="fa-IR" sz="1200" dirty="0"/>
          </a:p>
        </p:txBody>
      </p:sp>
      <p:sp>
        <p:nvSpPr>
          <p:cNvPr id="17" name="Text 12"/>
          <p:cNvSpPr txBox="1"/>
          <p:nvPr/>
        </p:nvSpPr>
        <p:spPr>
          <a:xfrm>
            <a:off x="4582058" y="2560320"/>
            <a:ext cx="3027578" cy="438912"/>
          </a:xfrm>
          <a:prstGeom prst="rect">
            <a:avLst/>
          </a:prstGeom>
          <a:noFill/>
          <a:ln/>
        </p:spPr>
        <p:txBody>
          <a:bodyPr wrap="square" lIns="0" tIns="0" rIns="0" bIns="0" rtlCol="0" anchor="t"/>
          <a:lstStyle/>
          <a:p>
            <a:pPr rtl="1" algn="r" indent="0" marL="0">
              <a:buNone/>
            </a:pPr>
            <a:r>
              <a:rPr lang="fa-IR" altLang="en-US" sz="1900" dirty="0">
                <a:solidFill>
                  <a:srgbClr val="14532D"/>
                </a:solidFill>
                <a:latin typeface="Vazirmatn Nobar ExtraBold" pitchFamily="34" charset="0"/>
                <a:ea typeface="Vazirmatn Nobar ExtraBold" pitchFamily="34" charset="-122"/>
                <a:cs typeface="Vazirmatn Nobar ExtraBold" pitchFamily="34" charset="-120"/>
              </a:rPr>
              <a:t>گسترش منطقه‌ای</a:t>
            </a:r>
            <a:endParaRPr lang="fa-IR" sz="1900" dirty="0"/>
          </a:p>
        </p:txBody>
      </p:sp>
      <p:sp>
        <p:nvSpPr>
          <p:cNvPr id="18" name="Text 13"/>
          <p:cNvSpPr txBox="1"/>
          <p:nvPr/>
        </p:nvSpPr>
        <p:spPr>
          <a:xfrm>
            <a:off x="4582058" y="3081528"/>
            <a:ext cx="3027578" cy="1234440"/>
          </a:xfrm>
          <a:prstGeom prst="rect">
            <a:avLst/>
          </a:prstGeom>
          <a:noFill/>
          <a:ln/>
        </p:spPr>
        <p:txBody>
          <a:bodyPr wrap="square" lIns="0" tIns="0" rIns="0" bIns="0" rtlCol="0" anchor="t"/>
          <a:lstStyle/>
          <a:p>
            <a:pPr rtl="1" algn="r" marL="177800" indent="-177800">
              <a:spcAft>
                <a:spcPts val="5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استان‌های همسایه و قطب‌های تولید</a:t>
            </a:r>
            <a:endParaRPr lang="fa-IR" sz="1400" dirty="0"/>
          </a:p>
          <a:p>
            <a:pPr rtl="1" algn="r" marL="177800" indent="-177800">
              <a:spcAft>
                <a:spcPts val="5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ارسال بین‌شهری محصولات ماندگار</a:t>
            </a:r>
            <a:endParaRPr lang="fa-IR" sz="1400" dirty="0"/>
          </a:p>
          <a:p>
            <a:pPr rtl="1" algn="r" marL="177800" indent="-177800">
              <a:spcAft>
                <a:spcPts val="5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هدف: ۴ استان فعال</a:t>
            </a:r>
            <a:endParaRPr lang="fa-IR" sz="1400" dirty="0"/>
          </a:p>
        </p:txBody>
      </p:sp>
      <p:sp>
        <p:nvSpPr>
          <p:cNvPr id="19" name="Text 14"/>
          <p:cNvSpPr txBox="1"/>
          <p:nvPr/>
        </p:nvSpPr>
        <p:spPr>
          <a:xfrm>
            <a:off x="4051706" y="2738628"/>
            <a:ext cx="274320" cy="548640"/>
          </a:xfrm>
          <a:prstGeom prst="rect">
            <a:avLst/>
          </a:prstGeom>
          <a:noFill/>
          <a:ln/>
        </p:spPr>
        <p:txBody>
          <a:bodyPr wrap="square" lIns="0" tIns="0" rIns="0" bIns="0" rtlCol="0" anchor="ctr"/>
          <a:lstStyle/>
          <a:p>
            <a:pPr algn="ctr" indent="0" marL="0">
              <a:buNone/>
            </a:pPr>
            <a:r>
              <a:rPr lang="fa-IR" altLang="en-US" sz="3000" dirty="0">
                <a:solidFill>
                  <a:srgbClr val="2E7D32"/>
                </a:solidFill>
                <a:latin typeface="Vazirmatn Nobar ExtraBold" pitchFamily="34" charset="0"/>
                <a:ea typeface="Vazirmatn Nobar ExtraBold" pitchFamily="34" charset="-122"/>
                <a:cs typeface="Vazirmatn Nobar ExtraBold" pitchFamily="34" charset="-120"/>
              </a:rPr>
              <a:t>‹</a:t>
            </a:r>
            <a:endParaRPr lang="fa-IR" sz="3000" dirty="0"/>
          </a:p>
        </p:txBody>
      </p:sp>
      <p:sp>
        <p:nvSpPr>
          <p:cNvPr id="20" name="Shape 15"/>
          <p:cNvSpPr/>
          <p:nvPr/>
        </p:nvSpPr>
        <p:spPr>
          <a:xfrm>
            <a:off x="548640" y="1572768"/>
            <a:ext cx="3484778" cy="2880360"/>
          </a:xfrm>
          <a:prstGeom prst="roundRect">
            <a:avLst>
              <a:gd name="adj" fmla="val 5079"/>
            </a:avLst>
          </a:prstGeom>
          <a:solidFill>
            <a:srgbClr val="FFFFFF"/>
          </a:solidFill>
          <a:ln/>
          <a:effectLst>
            <a:outerShdw sx="100000" sy="100000" kx="0" ky="0" algn="bl" rotWithShape="0" blurRad="127000" dist="38100" dir="5400000">
              <a:srgbClr val="14532D">
                <a:alpha val="12000"/>
              </a:srgbClr>
            </a:outerShdw>
          </a:effectLst>
        </p:spPr>
      </p:sp>
      <p:pic>
        <p:nvPicPr>
          <p:cNvPr id="21" name="icon globe_with_meridians" descr="/tmp/claude-0/-home-claude/e50823c0-d46f-5818-8f05-9d714cd67f5c/scratchpad/assets/icons/globe_with_meridians.png">    </p:cNvPr>
          <p:cNvPicPr>
            <a:picLocks noChangeAspect="1"/>
          </p:cNvPicPr>
          <p:nvPr/>
        </p:nvPicPr>
        <p:blipFill>
          <a:blip r:embed="rId3"/>
          <a:stretch>
            <a:fillRect/>
          </a:stretch>
        </p:blipFill>
        <p:spPr>
          <a:xfrm>
            <a:off x="3119018" y="1773936"/>
            <a:ext cx="685800" cy="685800"/>
          </a:xfrm>
          <a:prstGeom prst="rect">
            <a:avLst/>
          </a:prstGeom>
        </p:spPr>
      </p:pic>
      <p:sp>
        <p:nvSpPr>
          <p:cNvPr id="22" name="Shape 16"/>
          <p:cNvSpPr/>
          <p:nvPr/>
        </p:nvSpPr>
        <p:spPr>
          <a:xfrm>
            <a:off x="749808" y="1892808"/>
            <a:ext cx="1965960" cy="347472"/>
          </a:xfrm>
          <a:prstGeom prst="roundRect">
            <a:avLst>
              <a:gd name="adj" fmla="val 50000"/>
            </a:avLst>
          </a:prstGeom>
          <a:solidFill>
            <a:srgbClr val="EAF5E6"/>
          </a:solidFill>
          <a:ln/>
        </p:spPr>
      </p:sp>
      <p:sp>
        <p:nvSpPr>
          <p:cNvPr id="23" name="Text 17"/>
          <p:cNvSpPr txBox="1"/>
          <p:nvPr/>
        </p:nvSpPr>
        <p:spPr>
          <a:xfrm>
            <a:off x="749808" y="1892808"/>
            <a:ext cx="1965960" cy="347472"/>
          </a:xfrm>
          <a:prstGeom prst="rect">
            <a:avLst/>
          </a:prstGeom>
          <a:noFill/>
          <a:ln/>
        </p:spPr>
        <p:txBody>
          <a:bodyPr wrap="square" lIns="0" tIns="0" rIns="0" bIns="0" rtlCol="0" anchor="ctr"/>
          <a:lstStyle/>
          <a:p>
            <a:pPr rtl="1" algn="ctr" indent="0" marL="0">
              <a:buNone/>
            </a:pPr>
            <a:r>
              <a:rPr lang="fa-IR" altLang="en-US" sz="1200" dirty="0">
                <a:solidFill>
                  <a:srgbClr val="14532D"/>
                </a:solidFill>
                <a:latin typeface="Vazirmatn Nobar SemiBold" pitchFamily="34" charset="0"/>
                <a:ea typeface="Vazirmatn Nobar SemiBold" pitchFamily="34" charset="-122"/>
                <a:cs typeface="Vazirmatn Nobar SemiBold" pitchFamily="34" charset="-120"/>
              </a:rPr>
              <a:t>مرحله‌ی ۳  |  سال دوم</a:t>
            </a:r>
            <a:endParaRPr lang="fa-IR" sz="1200" dirty="0"/>
          </a:p>
        </p:txBody>
      </p:sp>
      <p:sp>
        <p:nvSpPr>
          <p:cNvPr id="24" name="Text 18"/>
          <p:cNvSpPr txBox="1"/>
          <p:nvPr/>
        </p:nvSpPr>
        <p:spPr>
          <a:xfrm>
            <a:off x="777240" y="2560320"/>
            <a:ext cx="3027578" cy="438912"/>
          </a:xfrm>
          <a:prstGeom prst="rect">
            <a:avLst/>
          </a:prstGeom>
          <a:noFill/>
          <a:ln/>
        </p:spPr>
        <p:txBody>
          <a:bodyPr wrap="square" lIns="0" tIns="0" rIns="0" bIns="0" rtlCol="0" anchor="t"/>
          <a:lstStyle/>
          <a:p>
            <a:pPr rtl="1" algn="r" indent="0" marL="0">
              <a:buNone/>
            </a:pPr>
            <a:r>
              <a:rPr lang="fa-IR" altLang="en-US" sz="1900" dirty="0">
                <a:solidFill>
                  <a:srgbClr val="14532D"/>
                </a:solidFill>
                <a:latin typeface="Vazirmatn Nobar ExtraBold" pitchFamily="34" charset="0"/>
                <a:ea typeface="Vazirmatn Nobar ExtraBold" pitchFamily="34" charset="-122"/>
                <a:cs typeface="Vazirmatn Nobar ExtraBold" pitchFamily="34" charset="-120"/>
              </a:rPr>
              <a:t>پوشش سراسری</a:t>
            </a:r>
            <a:endParaRPr lang="fa-IR" sz="1900" dirty="0"/>
          </a:p>
        </p:txBody>
      </p:sp>
      <p:sp>
        <p:nvSpPr>
          <p:cNvPr id="25" name="Text 19"/>
          <p:cNvSpPr txBox="1"/>
          <p:nvPr/>
        </p:nvSpPr>
        <p:spPr>
          <a:xfrm>
            <a:off x="777240" y="3081528"/>
            <a:ext cx="3027578" cy="1234440"/>
          </a:xfrm>
          <a:prstGeom prst="rect">
            <a:avLst/>
          </a:prstGeom>
          <a:noFill/>
          <a:ln/>
        </p:spPr>
        <p:txBody>
          <a:bodyPr wrap="square" lIns="0" tIns="0" rIns="0" bIns="0" rtlCol="0" anchor="t"/>
          <a:lstStyle/>
          <a:p>
            <a:pPr rtl="1" algn="r" marL="177800" indent="-177800">
              <a:spcAft>
                <a:spcPts val="5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همه‌ی استان‌ها</a:t>
            </a:r>
            <a:endParaRPr lang="fa-IR" sz="1400" dirty="0"/>
          </a:p>
          <a:p>
            <a:pPr rtl="1" algn="r" marL="177800" indent="-177800">
              <a:spcAft>
                <a:spcPts val="5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فروش عمده به رستوران‌ها</a:t>
            </a:r>
            <a:endParaRPr lang="fa-IR" sz="1400" dirty="0"/>
          </a:p>
          <a:p>
            <a:pPr rtl="1" algn="r" marL="177800" indent="-177800">
              <a:spcAft>
                <a:spcPts val="500"/>
              </a:spcAft>
              <a:buSzPct val="100000"/>
              <a:buChar char="•"/>
            </a:pPr>
            <a:r>
              <a:rPr lang="fa-IR" altLang="en-US" sz="1400" dirty="0">
                <a:solidFill>
                  <a:srgbClr val="1F2A1F"/>
                </a:solidFill>
                <a:latin typeface="Vazirmatn Nobar" pitchFamily="34" charset="0"/>
                <a:ea typeface="Vazirmatn Nobar" pitchFamily="34" charset="-122"/>
                <a:cs typeface="Vazirmatn Nobar" pitchFamily="34" charset="-120"/>
              </a:rPr>
              <a:t>اپلیکیشن موبایل</a:t>
            </a:r>
            <a:endParaRPr lang="fa-IR" sz="1400" dirty="0"/>
          </a:p>
        </p:txBody>
      </p:sp>
      <p:sp>
        <p:nvSpPr>
          <p:cNvPr id="26" name="Text 20"/>
          <p:cNvSpPr txBox="1"/>
          <p:nvPr/>
        </p:nvSpPr>
        <p:spPr>
          <a:xfrm>
            <a:off x="9357055" y="4681728"/>
            <a:ext cx="2286000" cy="365760"/>
          </a:xfrm>
          <a:prstGeom prst="rect">
            <a:avLst/>
          </a:prstGeom>
          <a:noFill/>
          <a:ln/>
        </p:spPr>
        <p:txBody>
          <a:bodyPr wrap="square" lIns="0" tIns="0" rIns="0" bIns="0" rtlCol="0" anchor="t"/>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کانال‌های جذب</a:t>
            </a:r>
            <a:endParaRPr lang="fa-IR" sz="1600" dirty="0"/>
          </a:p>
        </p:txBody>
      </p:sp>
      <p:sp>
        <p:nvSpPr>
          <p:cNvPr id="27" name="Shape 21"/>
          <p:cNvSpPr/>
          <p:nvPr/>
        </p:nvSpPr>
        <p:spPr>
          <a:xfrm>
            <a:off x="9006611" y="5120640"/>
            <a:ext cx="2636444"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pic>
        <p:nvPicPr>
          <p:cNvPr id="28" name="icon handshake" descr="/tmp/claude-0/-home-claude/e50823c0-d46f-5818-8f05-9d714cd67f5c/scratchpad/assets/icons/handshake.png">    </p:cNvPr>
          <p:cNvPicPr>
            <a:picLocks noChangeAspect="1"/>
          </p:cNvPicPr>
          <p:nvPr/>
        </p:nvPicPr>
        <p:blipFill>
          <a:blip r:embed="rId4"/>
          <a:stretch>
            <a:fillRect/>
          </a:stretch>
        </p:blipFill>
        <p:spPr>
          <a:xfrm>
            <a:off x="10984687" y="5303520"/>
            <a:ext cx="512064" cy="512064"/>
          </a:xfrm>
          <a:prstGeom prst="rect">
            <a:avLst/>
          </a:prstGeom>
        </p:spPr>
      </p:pic>
      <p:sp>
        <p:nvSpPr>
          <p:cNvPr id="29" name="Text 22"/>
          <p:cNvSpPr txBox="1"/>
          <p:nvPr/>
        </p:nvSpPr>
        <p:spPr>
          <a:xfrm>
            <a:off x="9143771" y="5120640"/>
            <a:ext cx="1767764" cy="896112"/>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همکاری با تعاونی‌ها و نهادهای کشاورزی</a:t>
            </a:r>
            <a:endParaRPr lang="fa-IR" sz="1350" dirty="0"/>
          </a:p>
        </p:txBody>
      </p:sp>
      <p:sp>
        <p:nvSpPr>
          <p:cNvPr id="30" name="Shape 23"/>
          <p:cNvSpPr/>
          <p:nvPr/>
        </p:nvSpPr>
        <p:spPr>
          <a:xfrm>
            <a:off x="6187288" y="5120640"/>
            <a:ext cx="2636444"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pic>
        <p:nvPicPr>
          <p:cNvPr id="31" name="icon bell" descr="/tmp/claude-0/-home-claude/e50823c0-d46f-5818-8f05-9d714cd67f5c/scratchpad/assets/icons/bell.png">    </p:cNvPr>
          <p:cNvPicPr>
            <a:picLocks noChangeAspect="1"/>
          </p:cNvPicPr>
          <p:nvPr/>
        </p:nvPicPr>
        <p:blipFill>
          <a:blip r:embed="rId5"/>
          <a:stretch>
            <a:fillRect/>
          </a:stretch>
        </p:blipFill>
        <p:spPr>
          <a:xfrm>
            <a:off x="8165363" y="5303520"/>
            <a:ext cx="512064" cy="512064"/>
          </a:xfrm>
          <a:prstGeom prst="rect">
            <a:avLst/>
          </a:prstGeom>
        </p:spPr>
      </p:pic>
      <p:sp>
        <p:nvSpPr>
          <p:cNvPr id="32" name="Text 24"/>
          <p:cNvSpPr txBox="1"/>
          <p:nvPr/>
        </p:nvSpPr>
        <p:spPr>
          <a:xfrm>
            <a:off x="6324448" y="5120640"/>
            <a:ext cx="1767764" cy="896112"/>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بازاریابی فصلی «نوبر شد!»</a:t>
            </a:r>
            <a:endParaRPr lang="fa-IR" sz="1350" dirty="0"/>
          </a:p>
        </p:txBody>
      </p:sp>
      <p:sp>
        <p:nvSpPr>
          <p:cNvPr id="33" name="Shape 25"/>
          <p:cNvSpPr/>
          <p:nvPr/>
        </p:nvSpPr>
        <p:spPr>
          <a:xfrm>
            <a:off x="3367964" y="5120640"/>
            <a:ext cx="2636444"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pic>
        <p:nvPicPr>
          <p:cNvPr id="34" name="icon busts_in_silhouette" descr="/tmp/claude-0/-home-claude/e50823c0-d46f-5818-8f05-9d714cd67f5c/scratchpad/assets/icons/busts_in_silhouette.png">    </p:cNvPr>
          <p:cNvPicPr>
            <a:picLocks noChangeAspect="1"/>
          </p:cNvPicPr>
          <p:nvPr/>
        </p:nvPicPr>
        <p:blipFill>
          <a:blip r:embed="rId6"/>
          <a:stretch>
            <a:fillRect/>
          </a:stretch>
        </p:blipFill>
        <p:spPr>
          <a:xfrm>
            <a:off x="5346040" y="5303520"/>
            <a:ext cx="512064" cy="512064"/>
          </a:xfrm>
          <a:prstGeom prst="rect">
            <a:avLst/>
          </a:prstGeom>
        </p:spPr>
      </p:pic>
      <p:sp>
        <p:nvSpPr>
          <p:cNvPr id="35" name="Text 26"/>
          <p:cNvSpPr txBox="1"/>
          <p:nvPr/>
        </p:nvSpPr>
        <p:spPr>
          <a:xfrm>
            <a:off x="3505124" y="5120640"/>
            <a:ext cx="1767764" cy="896112"/>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معرفی خریدار به خریدار</a:t>
            </a:r>
            <a:endParaRPr lang="fa-IR" sz="1350" dirty="0"/>
          </a:p>
        </p:txBody>
      </p:sp>
      <p:sp>
        <p:nvSpPr>
          <p:cNvPr id="36" name="Shape 27"/>
          <p:cNvSpPr/>
          <p:nvPr/>
        </p:nvSpPr>
        <p:spPr>
          <a:xfrm>
            <a:off x="548640" y="5120640"/>
            <a:ext cx="2636444" cy="896112"/>
          </a:xfrm>
          <a:prstGeom prst="roundRect">
            <a:avLst>
              <a:gd name="adj" fmla="val 14286"/>
            </a:avLst>
          </a:prstGeom>
          <a:solidFill>
            <a:srgbClr val="FFFFFF"/>
          </a:solidFill>
          <a:ln/>
          <a:effectLst>
            <a:outerShdw sx="100000" sy="100000" kx="0" ky="0" algn="bl" rotWithShape="0" blurRad="127000" dist="38100" dir="5400000">
              <a:srgbClr val="14532D">
                <a:alpha val="12000"/>
              </a:srgbClr>
            </a:outerShdw>
          </a:effectLst>
        </p:spPr>
      </p:sp>
      <p:pic>
        <p:nvPicPr>
          <p:cNvPr id="37" name="icon camera_with_flash" descr="/tmp/claude-0/-home-claude/e50823c0-d46f-5818-8f05-9d714cd67f5c/scratchpad/assets/icons/camera_with_flash.png">    </p:cNvPr>
          <p:cNvPicPr>
            <a:picLocks noChangeAspect="1"/>
          </p:cNvPicPr>
          <p:nvPr/>
        </p:nvPicPr>
        <p:blipFill>
          <a:blip r:embed="rId7"/>
          <a:stretch>
            <a:fillRect/>
          </a:stretch>
        </p:blipFill>
        <p:spPr>
          <a:xfrm>
            <a:off x="2526716" y="5303520"/>
            <a:ext cx="512064" cy="512064"/>
          </a:xfrm>
          <a:prstGeom prst="rect">
            <a:avLst/>
          </a:prstGeom>
        </p:spPr>
      </p:pic>
      <p:sp>
        <p:nvSpPr>
          <p:cNvPr id="38" name="Text 28"/>
          <p:cNvSpPr txBox="1"/>
          <p:nvPr/>
        </p:nvSpPr>
        <p:spPr>
          <a:xfrm>
            <a:off x="685800" y="5120640"/>
            <a:ext cx="1767764" cy="896112"/>
          </a:xfrm>
          <a:prstGeom prst="rect">
            <a:avLst/>
          </a:prstGeom>
          <a:noFill/>
          <a:ln/>
        </p:spPr>
        <p:txBody>
          <a:bodyPr wrap="square" lIns="0" tIns="0" rIns="0" bIns="0" rtlCol="0" anchor="ctr"/>
          <a:lstStyle/>
          <a:p>
            <a:pPr rtl="1" algn="r" indent="0" marL="0">
              <a:buNone/>
            </a:pPr>
            <a:r>
              <a:rPr lang="fa-IR" altLang="en-US" sz="1350" dirty="0">
                <a:solidFill>
                  <a:srgbClr val="1F2A1F"/>
                </a:solidFill>
                <a:latin typeface="Vazirmatn Nobar SemiBold" pitchFamily="34" charset="0"/>
                <a:ea typeface="Vazirmatn Nobar SemiBold" pitchFamily="34" charset="-122"/>
                <a:cs typeface="Vazirmatn Nobar SemiBold" pitchFamily="34" charset="-120"/>
              </a:rPr>
              <a:t>محتوای باغ‌نامه در شبکه‌های اجتماعی</a:t>
            </a:r>
            <a:endParaRPr lang="fa-IR"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۱۸</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نقشه‌ی راه ۱۲ ماهه</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۱۷ فاز ساخت، هرکدام با معیار پذیرش و تست خودکار</a:t>
            </a:r>
            <a:endParaRPr lang="fa-IR" sz="1600" dirty="0"/>
          </a:p>
        </p:txBody>
      </p:sp>
      <p:sp>
        <p:nvSpPr>
          <p:cNvPr id="6" name="Shape 3"/>
          <p:cNvSpPr/>
          <p:nvPr/>
        </p:nvSpPr>
        <p:spPr>
          <a:xfrm>
            <a:off x="777240" y="2176272"/>
            <a:ext cx="10637215" cy="109728"/>
          </a:xfrm>
          <a:prstGeom prst="roundRect">
            <a:avLst>
              <a:gd name="adj" fmla="val 50000"/>
            </a:avLst>
          </a:prstGeom>
          <a:solidFill>
            <a:srgbClr val="DCE8D7"/>
          </a:solidFill>
          <a:ln/>
        </p:spPr>
      </p:sp>
      <p:sp>
        <p:nvSpPr>
          <p:cNvPr id="7" name="Text 4"/>
          <p:cNvSpPr txBox="1"/>
          <p:nvPr/>
        </p:nvSpPr>
        <p:spPr>
          <a:xfrm>
            <a:off x="10514038" y="1627632"/>
            <a:ext cx="914400" cy="320040"/>
          </a:xfrm>
          <a:prstGeom prst="rect">
            <a:avLst/>
          </a:prstGeom>
          <a:noFill/>
          <a:ln/>
        </p:spPr>
        <p:txBody>
          <a:bodyPr wrap="square" lIns="0" tIns="0" rIns="0" bIns="0" rtlCol="0" anchor="t"/>
          <a:lstStyle/>
          <a:p>
            <a:pPr rtl="1" algn="ct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ماه ۱</a:t>
            </a:r>
            <a:endParaRPr lang="fa-IR" sz="1200" dirty="0"/>
          </a:p>
        </p:txBody>
      </p:sp>
      <p:sp>
        <p:nvSpPr>
          <p:cNvPr id="8" name="Text 5"/>
          <p:cNvSpPr txBox="1"/>
          <p:nvPr/>
        </p:nvSpPr>
        <p:spPr>
          <a:xfrm>
            <a:off x="8741169" y="1627632"/>
            <a:ext cx="914400" cy="320040"/>
          </a:xfrm>
          <a:prstGeom prst="rect">
            <a:avLst/>
          </a:prstGeom>
          <a:noFill/>
          <a:ln/>
        </p:spPr>
        <p:txBody>
          <a:bodyPr wrap="square" lIns="0" tIns="0" rIns="0" bIns="0" rtlCol="0" anchor="t"/>
          <a:lstStyle/>
          <a:p>
            <a:pPr rtl="1" algn="ct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ماه ۳</a:t>
            </a:r>
            <a:endParaRPr lang="fa-IR" sz="1200" dirty="0"/>
          </a:p>
        </p:txBody>
      </p:sp>
      <p:sp>
        <p:nvSpPr>
          <p:cNvPr id="9" name="Text 6"/>
          <p:cNvSpPr txBox="1"/>
          <p:nvPr/>
        </p:nvSpPr>
        <p:spPr>
          <a:xfrm>
            <a:off x="6081865" y="1627632"/>
            <a:ext cx="914400" cy="320040"/>
          </a:xfrm>
          <a:prstGeom prst="rect">
            <a:avLst/>
          </a:prstGeom>
          <a:noFill/>
          <a:ln/>
        </p:spPr>
        <p:txBody>
          <a:bodyPr wrap="square" lIns="0" tIns="0" rIns="0" bIns="0" rtlCol="0" anchor="t"/>
          <a:lstStyle/>
          <a:p>
            <a:pPr rtl="1" algn="ct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ماه ۶</a:t>
            </a:r>
            <a:endParaRPr lang="fa-IR" sz="1200" dirty="0"/>
          </a:p>
        </p:txBody>
      </p:sp>
      <p:sp>
        <p:nvSpPr>
          <p:cNvPr id="10" name="Text 7"/>
          <p:cNvSpPr txBox="1"/>
          <p:nvPr/>
        </p:nvSpPr>
        <p:spPr>
          <a:xfrm>
            <a:off x="3422561" y="1627632"/>
            <a:ext cx="914400" cy="320040"/>
          </a:xfrm>
          <a:prstGeom prst="rect">
            <a:avLst/>
          </a:prstGeom>
          <a:noFill/>
          <a:ln/>
        </p:spPr>
        <p:txBody>
          <a:bodyPr wrap="square" lIns="0" tIns="0" rIns="0" bIns="0" rtlCol="0" anchor="t"/>
          <a:lstStyle/>
          <a:p>
            <a:pPr rtl="1" algn="ct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ماه ۹</a:t>
            </a:r>
            <a:endParaRPr lang="fa-IR" sz="1200" dirty="0"/>
          </a:p>
        </p:txBody>
      </p:sp>
      <p:sp>
        <p:nvSpPr>
          <p:cNvPr id="11" name="Text 8"/>
          <p:cNvSpPr txBox="1"/>
          <p:nvPr/>
        </p:nvSpPr>
        <p:spPr>
          <a:xfrm>
            <a:off x="763257" y="1627632"/>
            <a:ext cx="914400" cy="320040"/>
          </a:xfrm>
          <a:prstGeom prst="rect">
            <a:avLst/>
          </a:prstGeom>
          <a:noFill/>
          <a:ln/>
        </p:spPr>
        <p:txBody>
          <a:bodyPr wrap="square" lIns="0" tIns="0" rIns="0" bIns="0" rtlCol="0" anchor="t"/>
          <a:lstStyle/>
          <a:p>
            <a:pPr rtl="1" algn="ct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ماه ۱۲</a:t>
            </a:r>
            <a:endParaRPr lang="fa-IR" sz="1200" dirty="0"/>
          </a:p>
        </p:txBody>
      </p:sp>
      <p:sp>
        <p:nvSpPr>
          <p:cNvPr id="12" name="Shape 9"/>
          <p:cNvSpPr/>
          <p:nvPr/>
        </p:nvSpPr>
        <p:spPr>
          <a:xfrm>
            <a:off x="9678162" y="2084832"/>
            <a:ext cx="1699717" cy="292608"/>
          </a:xfrm>
          <a:prstGeom prst="roundRect">
            <a:avLst>
              <a:gd name="adj" fmla="val 50000"/>
            </a:avLst>
          </a:prstGeom>
          <a:solidFill>
            <a:srgbClr val="7CB342"/>
          </a:solidFill>
          <a:ln/>
        </p:spPr>
      </p:sp>
      <p:sp>
        <p:nvSpPr>
          <p:cNvPr id="13" name="Shape 10"/>
          <p:cNvSpPr/>
          <p:nvPr/>
        </p:nvSpPr>
        <p:spPr>
          <a:xfrm>
            <a:off x="9678162" y="2606040"/>
            <a:ext cx="1699717" cy="1600200"/>
          </a:xfrm>
          <a:prstGeom prst="roundRect">
            <a:avLst>
              <a:gd name="adj" fmla="val 8000"/>
            </a:avLst>
          </a:prstGeom>
          <a:solidFill>
            <a:srgbClr val="FFFFFF"/>
          </a:solidFill>
          <a:ln/>
          <a:effectLst>
            <a:outerShdw sx="100000" sy="100000" kx="0" ky="0" algn="bl" rotWithShape="0" blurRad="127000" dist="38100" dir="5400000">
              <a:srgbClr val="14532D">
                <a:alpha val="12000"/>
              </a:srgbClr>
            </a:outerShdw>
          </a:effectLst>
        </p:spPr>
      </p:sp>
      <p:sp>
        <p:nvSpPr>
          <p:cNvPr id="14" name="Text 11"/>
          <p:cNvSpPr txBox="1"/>
          <p:nvPr/>
        </p:nvSpPr>
        <p:spPr>
          <a:xfrm>
            <a:off x="9806178" y="2697480"/>
            <a:ext cx="1443685" cy="365760"/>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پایه و طراحی</a:t>
            </a:r>
            <a:endParaRPr lang="fa-IR" sz="1500" dirty="0"/>
          </a:p>
        </p:txBody>
      </p:sp>
      <p:sp>
        <p:nvSpPr>
          <p:cNvPr id="15" name="Text 12"/>
          <p:cNvSpPr txBox="1"/>
          <p:nvPr/>
        </p:nvSpPr>
        <p:spPr>
          <a:xfrm>
            <a:off x="9806178" y="3044952"/>
            <a:ext cx="1443685" cy="292608"/>
          </a:xfrm>
          <a:prstGeom prst="rect">
            <a:avLst/>
          </a:prstGeom>
          <a:noFill/>
          <a:ln/>
        </p:spPr>
        <p:txBody>
          <a:bodyPr wrap="square" lIns="0" tIns="0" rIns="0" bIns="0" rtlCol="0" anchor="t"/>
          <a:lstStyle/>
          <a:p>
            <a:pPr rtl="1" algn="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فازهای ۰ تا ۳</a:t>
            </a:r>
            <a:endParaRPr lang="fa-IR" sz="1200" dirty="0"/>
          </a:p>
        </p:txBody>
      </p:sp>
      <p:sp>
        <p:nvSpPr>
          <p:cNvPr id="16" name="Text 13"/>
          <p:cNvSpPr txBox="1"/>
          <p:nvPr/>
        </p:nvSpPr>
        <p:spPr>
          <a:xfrm>
            <a:off x="9806178" y="3364992"/>
            <a:ext cx="1443685" cy="777240"/>
          </a:xfrm>
          <a:prstGeom prst="rect">
            <a:avLst/>
          </a:prstGeom>
          <a:noFill/>
          <a:ln/>
        </p:spPr>
        <p:txBody>
          <a:bodyPr wrap="square" lIns="0" tIns="0" rIns="0" bIns="0" rtlCol="0" anchor="t"/>
          <a:lstStyle/>
          <a:p>
            <a:pPr rtl="1" algn="r" indent="0" marL="0">
              <a:lnSpc>
                <a:spcPct val="110000"/>
              </a:lnSpc>
              <a:buNone/>
            </a:pPr>
            <a:r>
              <a:rPr lang="fa-IR" altLang="en-US" sz="1300" dirty="0">
                <a:solidFill>
                  <a:srgbClr val="1F2A1F"/>
                </a:solidFill>
                <a:latin typeface="Vazirmatn Nobar" pitchFamily="34" charset="0"/>
                <a:ea typeface="Vazirmatn Nobar" pitchFamily="34" charset="-122"/>
                <a:cs typeface="Vazirmatn Nobar" pitchFamily="34" charset="-120"/>
              </a:rPr>
              <a:t>زیرساخت پروژه، سیستم طراحی، ورود با پیامک</a:t>
            </a:r>
            <a:endParaRPr lang="fa-IR" sz="1300" dirty="0"/>
          </a:p>
        </p:txBody>
      </p:sp>
      <p:sp>
        <p:nvSpPr>
          <p:cNvPr id="17" name="Shape 14"/>
          <p:cNvSpPr/>
          <p:nvPr/>
        </p:nvSpPr>
        <p:spPr>
          <a:xfrm>
            <a:off x="6132424" y="2084832"/>
            <a:ext cx="3472586" cy="292608"/>
          </a:xfrm>
          <a:prstGeom prst="roundRect">
            <a:avLst>
              <a:gd name="adj" fmla="val 50000"/>
            </a:avLst>
          </a:prstGeom>
          <a:solidFill>
            <a:srgbClr val="2E7D32"/>
          </a:solidFill>
          <a:ln/>
        </p:spPr>
      </p:sp>
      <p:sp>
        <p:nvSpPr>
          <p:cNvPr id="18" name="Shape 15"/>
          <p:cNvSpPr/>
          <p:nvPr/>
        </p:nvSpPr>
        <p:spPr>
          <a:xfrm>
            <a:off x="6132424" y="2606040"/>
            <a:ext cx="3472586" cy="1600200"/>
          </a:xfrm>
          <a:prstGeom prst="roundRect">
            <a:avLst>
              <a:gd name="adj" fmla="val 8000"/>
            </a:avLst>
          </a:prstGeom>
          <a:solidFill>
            <a:srgbClr val="FFFFFF"/>
          </a:solidFill>
          <a:ln/>
          <a:effectLst>
            <a:outerShdw sx="100000" sy="100000" kx="0" ky="0" algn="bl" rotWithShape="0" blurRad="127000" dist="38100" dir="5400000">
              <a:srgbClr val="14532D">
                <a:alpha val="12000"/>
              </a:srgbClr>
            </a:outerShdw>
          </a:effectLst>
        </p:spPr>
      </p:sp>
      <p:sp>
        <p:nvSpPr>
          <p:cNvPr id="19" name="Text 16"/>
          <p:cNvSpPr txBox="1"/>
          <p:nvPr/>
        </p:nvSpPr>
        <p:spPr>
          <a:xfrm>
            <a:off x="6260440" y="2697480"/>
            <a:ext cx="3216554" cy="365760"/>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نسخه‌ی اول بازار</a:t>
            </a:r>
            <a:endParaRPr lang="fa-IR" sz="1500" dirty="0"/>
          </a:p>
        </p:txBody>
      </p:sp>
      <p:sp>
        <p:nvSpPr>
          <p:cNvPr id="20" name="Text 17"/>
          <p:cNvSpPr txBox="1"/>
          <p:nvPr/>
        </p:nvSpPr>
        <p:spPr>
          <a:xfrm>
            <a:off x="6260440" y="3044952"/>
            <a:ext cx="3216554" cy="292608"/>
          </a:xfrm>
          <a:prstGeom prst="rect">
            <a:avLst/>
          </a:prstGeom>
          <a:noFill/>
          <a:ln/>
        </p:spPr>
        <p:txBody>
          <a:bodyPr wrap="square" lIns="0" tIns="0" rIns="0" bIns="0" rtlCol="0" anchor="t"/>
          <a:lstStyle/>
          <a:p>
            <a:pPr rtl="1" algn="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فازهای ۴ تا ۱۱</a:t>
            </a:r>
            <a:endParaRPr lang="fa-IR" sz="1200" dirty="0"/>
          </a:p>
        </p:txBody>
      </p:sp>
      <p:sp>
        <p:nvSpPr>
          <p:cNvPr id="21" name="Text 18"/>
          <p:cNvSpPr txBox="1"/>
          <p:nvPr/>
        </p:nvSpPr>
        <p:spPr>
          <a:xfrm>
            <a:off x="6260440" y="3364992"/>
            <a:ext cx="3216554" cy="777240"/>
          </a:xfrm>
          <a:prstGeom prst="rect">
            <a:avLst/>
          </a:prstGeom>
          <a:noFill/>
          <a:ln/>
        </p:spPr>
        <p:txBody>
          <a:bodyPr wrap="square" lIns="0" tIns="0" rIns="0" bIns="0" rtlCol="0" anchor="t"/>
          <a:lstStyle/>
          <a:p>
            <a:pPr rtl="1" algn="r" indent="0" marL="0">
              <a:lnSpc>
                <a:spcPct val="110000"/>
              </a:lnSpc>
              <a:buNone/>
            </a:pPr>
            <a:r>
              <a:rPr lang="fa-IR" altLang="en-US" sz="1300" dirty="0">
                <a:solidFill>
                  <a:srgbClr val="1F2A1F"/>
                </a:solidFill>
                <a:latin typeface="Vazirmatn Nobar" pitchFamily="34" charset="0"/>
                <a:ea typeface="Vazirmatn Nobar" pitchFamily="34" charset="-122"/>
                <a:cs typeface="Vazirmatn Nobar" pitchFamily="34" charset="-120"/>
              </a:rPr>
              <a:t>غرفه، کاتالوگ، ارسال، پرداخت، دفتر کل، پنل‌ها</a:t>
            </a:r>
            <a:endParaRPr lang="fa-IR" sz="1300" dirty="0"/>
          </a:p>
        </p:txBody>
      </p:sp>
      <p:sp>
        <p:nvSpPr>
          <p:cNvPr id="22" name="Shape 19"/>
          <p:cNvSpPr/>
          <p:nvPr/>
        </p:nvSpPr>
        <p:spPr>
          <a:xfrm>
            <a:off x="3473120" y="2084832"/>
            <a:ext cx="2586152" cy="292608"/>
          </a:xfrm>
          <a:prstGeom prst="roundRect">
            <a:avLst>
              <a:gd name="adj" fmla="val 50000"/>
            </a:avLst>
          </a:prstGeom>
          <a:solidFill>
            <a:srgbClr val="14532D"/>
          </a:solidFill>
          <a:ln/>
        </p:spPr>
      </p:sp>
      <p:sp>
        <p:nvSpPr>
          <p:cNvPr id="23" name="Shape 20"/>
          <p:cNvSpPr/>
          <p:nvPr/>
        </p:nvSpPr>
        <p:spPr>
          <a:xfrm>
            <a:off x="3473120" y="2606040"/>
            <a:ext cx="2586152" cy="1600200"/>
          </a:xfrm>
          <a:prstGeom prst="roundRect">
            <a:avLst>
              <a:gd name="adj" fmla="val 8000"/>
            </a:avLst>
          </a:prstGeom>
          <a:solidFill>
            <a:srgbClr val="FFFFFF"/>
          </a:solidFill>
          <a:ln/>
          <a:effectLst>
            <a:outerShdw sx="100000" sy="100000" kx="0" ky="0" algn="bl" rotWithShape="0" blurRad="127000" dist="38100" dir="5400000">
              <a:srgbClr val="14532D">
                <a:alpha val="12000"/>
              </a:srgbClr>
            </a:outerShdw>
          </a:effectLst>
        </p:spPr>
      </p:sp>
      <p:sp>
        <p:nvSpPr>
          <p:cNvPr id="24" name="Text 21"/>
          <p:cNvSpPr txBox="1"/>
          <p:nvPr/>
        </p:nvSpPr>
        <p:spPr>
          <a:xfrm>
            <a:off x="3601136" y="2697480"/>
            <a:ext cx="2330120" cy="365760"/>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پایلوت و باغبون</a:t>
            </a:r>
            <a:endParaRPr lang="fa-IR" sz="1500" dirty="0"/>
          </a:p>
        </p:txBody>
      </p:sp>
      <p:sp>
        <p:nvSpPr>
          <p:cNvPr id="25" name="Text 22"/>
          <p:cNvSpPr txBox="1"/>
          <p:nvPr/>
        </p:nvSpPr>
        <p:spPr>
          <a:xfrm>
            <a:off x="3601136" y="3044952"/>
            <a:ext cx="2330120" cy="292608"/>
          </a:xfrm>
          <a:prstGeom prst="rect">
            <a:avLst/>
          </a:prstGeom>
          <a:noFill/>
          <a:ln/>
        </p:spPr>
        <p:txBody>
          <a:bodyPr wrap="square" lIns="0" tIns="0" rIns="0" bIns="0" rtlCol="0" anchor="t"/>
          <a:lstStyle/>
          <a:p>
            <a:pPr rtl="1" algn="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فازهای ۱۲ و ۱۳</a:t>
            </a:r>
            <a:endParaRPr lang="fa-IR" sz="1200" dirty="0"/>
          </a:p>
        </p:txBody>
      </p:sp>
      <p:sp>
        <p:nvSpPr>
          <p:cNvPr id="26" name="Text 23"/>
          <p:cNvSpPr txBox="1"/>
          <p:nvPr/>
        </p:nvSpPr>
        <p:spPr>
          <a:xfrm>
            <a:off x="3601136" y="3364992"/>
            <a:ext cx="2330120" cy="777240"/>
          </a:xfrm>
          <a:prstGeom prst="rect">
            <a:avLst/>
          </a:prstGeom>
          <a:noFill/>
          <a:ln/>
        </p:spPr>
        <p:txBody>
          <a:bodyPr wrap="square" lIns="0" tIns="0" rIns="0" bIns="0" rtlCol="0" anchor="t"/>
          <a:lstStyle/>
          <a:p>
            <a:pPr rtl="1" algn="r" indent="0" marL="0">
              <a:lnSpc>
                <a:spcPct val="110000"/>
              </a:lnSpc>
              <a:buNone/>
            </a:pPr>
            <a:r>
              <a:rPr lang="fa-IR" altLang="en-US" sz="1300" dirty="0">
                <a:solidFill>
                  <a:srgbClr val="1F2A1F"/>
                </a:solidFill>
                <a:latin typeface="Vazirmatn Nobar" pitchFamily="34" charset="0"/>
                <a:ea typeface="Vazirmatn Nobar" pitchFamily="34" charset="-122"/>
                <a:cs typeface="Vazirmatn Nobar" pitchFamily="34" charset="-120"/>
              </a:rPr>
              <a:t>پایلوت استانی، دستیار خرید، جستجوی هوشمند</a:t>
            </a:r>
            <a:endParaRPr lang="fa-IR" sz="1300" dirty="0"/>
          </a:p>
        </p:txBody>
      </p:sp>
      <p:sp>
        <p:nvSpPr>
          <p:cNvPr id="27" name="Shape 24"/>
          <p:cNvSpPr/>
          <p:nvPr/>
        </p:nvSpPr>
        <p:spPr>
          <a:xfrm>
            <a:off x="813816" y="2084832"/>
            <a:ext cx="2586152" cy="292608"/>
          </a:xfrm>
          <a:prstGeom prst="roundRect">
            <a:avLst>
              <a:gd name="adj" fmla="val 50000"/>
            </a:avLst>
          </a:prstGeom>
          <a:solidFill>
            <a:srgbClr val="F2A900"/>
          </a:solidFill>
          <a:ln/>
        </p:spPr>
      </p:sp>
      <p:sp>
        <p:nvSpPr>
          <p:cNvPr id="28" name="Shape 25"/>
          <p:cNvSpPr/>
          <p:nvPr/>
        </p:nvSpPr>
        <p:spPr>
          <a:xfrm>
            <a:off x="813816" y="2606040"/>
            <a:ext cx="2586152" cy="1600200"/>
          </a:xfrm>
          <a:prstGeom prst="roundRect">
            <a:avLst>
              <a:gd name="adj" fmla="val 8000"/>
            </a:avLst>
          </a:prstGeom>
          <a:solidFill>
            <a:srgbClr val="FFFFFF"/>
          </a:solidFill>
          <a:ln/>
          <a:effectLst>
            <a:outerShdw sx="100000" sy="100000" kx="0" ky="0" algn="bl" rotWithShape="0" blurRad="127000" dist="38100" dir="5400000">
              <a:srgbClr val="14532D">
                <a:alpha val="12000"/>
              </a:srgbClr>
            </a:outerShdw>
          </a:effectLst>
        </p:spPr>
      </p:sp>
      <p:sp>
        <p:nvSpPr>
          <p:cNvPr id="29" name="Text 26"/>
          <p:cNvSpPr txBox="1"/>
          <p:nvPr/>
        </p:nvSpPr>
        <p:spPr>
          <a:xfrm>
            <a:off x="941832" y="2697480"/>
            <a:ext cx="2330120" cy="365760"/>
          </a:xfrm>
          <a:prstGeom prst="rect">
            <a:avLst/>
          </a:prstGeom>
          <a:noFill/>
          <a:ln/>
        </p:spPr>
        <p:txBody>
          <a:bodyPr wrap="square" lIns="0" tIns="0" rIns="0" bIns="0" rtlCol="0" anchor="t"/>
          <a:lstStyle/>
          <a:p>
            <a:pPr rtl="1" algn="r" indent="0" marL="0">
              <a:buNone/>
            </a:pPr>
            <a:r>
              <a:rPr lang="fa-IR" altLang="en-US" sz="1500" dirty="0">
                <a:solidFill>
                  <a:srgbClr val="8A5A00"/>
                </a:solidFill>
                <a:latin typeface="Vazirmatn Nobar ExtraBold" pitchFamily="34" charset="0"/>
                <a:ea typeface="Vazirmatn Nobar ExtraBold" pitchFamily="34" charset="-122"/>
                <a:cs typeface="Vazirmatn Nobar ExtraBold" pitchFamily="34" charset="-120"/>
              </a:rPr>
              <a:t>صدا، امنیت و گسترش</a:t>
            </a:r>
            <a:endParaRPr lang="fa-IR" sz="1500" dirty="0"/>
          </a:p>
        </p:txBody>
      </p:sp>
      <p:sp>
        <p:nvSpPr>
          <p:cNvPr id="30" name="Text 27"/>
          <p:cNvSpPr txBox="1"/>
          <p:nvPr/>
        </p:nvSpPr>
        <p:spPr>
          <a:xfrm>
            <a:off x="941832" y="3044952"/>
            <a:ext cx="2330120" cy="292608"/>
          </a:xfrm>
          <a:prstGeom prst="rect">
            <a:avLst/>
          </a:prstGeom>
          <a:noFill/>
          <a:ln/>
        </p:spPr>
        <p:txBody>
          <a:bodyPr wrap="square" lIns="0" tIns="0" rIns="0" bIns="0" rtlCol="0" anchor="t"/>
          <a:lstStyle/>
          <a:p>
            <a:pPr rtl="1" algn="r" indent="0" marL="0">
              <a:buNone/>
            </a:pPr>
            <a:r>
              <a:rPr lang="fa-IR" altLang="en-US" sz="1200" dirty="0">
                <a:solidFill>
                  <a:srgbClr val="5F6B5F"/>
                </a:solidFill>
                <a:latin typeface="Vazirmatn Nobar SemiBold" pitchFamily="34" charset="0"/>
                <a:ea typeface="Vazirmatn Nobar SemiBold" pitchFamily="34" charset="-122"/>
                <a:cs typeface="Vazirmatn Nobar SemiBold" pitchFamily="34" charset="-120"/>
              </a:rPr>
              <a:t>فازهای ۱۴ تا ۱۶</a:t>
            </a:r>
            <a:endParaRPr lang="fa-IR" sz="1200" dirty="0"/>
          </a:p>
        </p:txBody>
      </p:sp>
      <p:sp>
        <p:nvSpPr>
          <p:cNvPr id="31" name="Text 28"/>
          <p:cNvSpPr txBox="1"/>
          <p:nvPr/>
        </p:nvSpPr>
        <p:spPr>
          <a:xfrm>
            <a:off x="941832" y="3364992"/>
            <a:ext cx="2330120" cy="777240"/>
          </a:xfrm>
          <a:prstGeom prst="rect">
            <a:avLst/>
          </a:prstGeom>
          <a:noFill/>
          <a:ln/>
        </p:spPr>
        <p:txBody>
          <a:bodyPr wrap="square" lIns="0" tIns="0" rIns="0" bIns="0" rtlCol="0" anchor="t"/>
          <a:lstStyle/>
          <a:p>
            <a:pPr rtl="1" algn="r" indent="0" marL="0">
              <a:lnSpc>
                <a:spcPct val="110000"/>
              </a:lnSpc>
              <a:buNone/>
            </a:pPr>
            <a:r>
              <a:rPr lang="fa-IR" altLang="en-US" sz="1300" dirty="0">
                <a:solidFill>
                  <a:srgbClr val="1F2A1F"/>
                </a:solidFill>
                <a:latin typeface="Vazirmatn Nobar" pitchFamily="34" charset="0"/>
                <a:ea typeface="Vazirmatn Nobar" pitchFamily="34" charset="-122"/>
                <a:cs typeface="Vazirmatn Nobar" pitchFamily="34" charset="-120"/>
              </a:rPr>
              <a:t>خرید صوتی، تست بار، استقرار و گسترش</a:t>
            </a:r>
            <a:endParaRPr lang="fa-IR" sz="1300" dirty="0"/>
          </a:p>
        </p:txBody>
      </p:sp>
      <p:sp>
        <p:nvSpPr>
          <p:cNvPr id="32" name="Shape 29"/>
          <p:cNvSpPr/>
          <p:nvPr/>
        </p:nvSpPr>
        <p:spPr>
          <a:xfrm>
            <a:off x="9027185" y="4498848"/>
            <a:ext cx="2615870" cy="1508760"/>
          </a:xfrm>
          <a:prstGeom prst="roundRect">
            <a:avLst>
              <a:gd name="adj" fmla="val 9697"/>
            </a:avLst>
          </a:prstGeom>
          <a:solidFill>
            <a:srgbClr val="14532D"/>
          </a:solidFill>
          <a:ln/>
          <a:effectLst>
            <a:outerShdw sx="100000" sy="100000" kx="0" ky="0" algn="bl" rotWithShape="0" blurRad="127000" dist="38100" dir="5400000">
              <a:srgbClr val="14532D">
                <a:alpha val="12000"/>
              </a:srgbClr>
            </a:outerShdw>
          </a:effectLst>
        </p:spPr>
      </p:sp>
      <p:sp>
        <p:nvSpPr>
          <p:cNvPr id="33" name="Text 30"/>
          <p:cNvSpPr txBox="1"/>
          <p:nvPr/>
        </p:nvSpPr>
        <p:spPr>
          <a:xfrm>
            <a:off x="9210065" y="4617720"/>
            <a:ext cx="2250110" cy="685800"/>
          </a:xfrm>
          <a:prstGeom prst="rect">
            <a:avLst/>
          </a:prstGeom>
          <a:noFill/>
          <a:ln/>
        </p:spPr>
        <p:txBody>
          <a:bodyPr wrap="square" lIns="0" tIns="0" rIns="0" bIns="0" rtlCol="0" anchor="ctr"/>
          <a:lstStyle/>
          <a:p>
            <a:pPr rtl="1" algn="r" indent="0" marL="0">
              <a:buNone/>
            </a:pPr>
            <a:r>
              <a:rPr lang="fa-IR" altLang="en-US" sz="2500" dirty="0">
                <a:solidFill>
                  <a:srgbClr val="FFFFFF"/>
                </a:solidFill>
                <a:latin typeface="Vazirmatn Nobar Black" pitchFamily="34" charset="0"/>
                <a:ea typeface="Vazirmatn Nobar Black" pitchFamily="34" charset="-122"/>
                <a:cs typeface="Vazirmatn Nobar Black" pitchFamily="34" charset="-120"/>
              </a:rPr>
              <a:t>۱۰۰ غرفه</a:t>
            </a:r>
            <a:endParaRPr lang="fa-IR" sz="2500" dirty="0"/>
          </a:p>
        </p:txBody>
      </p:sp>
      <p:sp>
        <p:nvSpPr>
          <p:cNvPr id="34" name="Text 31"/>
          <p:cNvSpPr txBox="1"/>
          <p:nvPr/>
        </p:nvSpPr>
        <p:spPr>
          <a:xfrm>
            <a:off x="9210065" y="5349240"/>
            <a:ext cx="2250110" cy="457200"/>
          </a:xfrm>
          <a:prstGeom prst="rect">
            <a:avLst/>
          </a:prstGeom>
          <a:noFill/>
          <a:ln/>
        </p:spPr>
        <p:txBody>
          <a:bodyPr wrap="square" lIns="0" tIns="0" rIns="0" bIns="0" rtlCol="0" anchor="t"/>
          <a:lstStyle/>
          <a:p>
            <a:pPr rtl="1" algn="r" indent="0" marL="0">
              <a:buNone/>
            </a:pPr>
            <a:r>
              <a:rPr lang="fa-IR" altLang="en-US" sz="1400" dirty="0">
                <a:solidFill>
                  <a:srgbClr val="E8F5E9"/>
                </a:solidFill>
                <a:latin typeface="Vazirmatn Nobar Medium" pitchFamily="34" charset="0"/>
                <a:ea typeface="Vazirmatn Nobar Medium" pitchFamily="34" charset="-122"/>
                <a:cs typeface="Vazirmatn Nobar Medium" pitchFamily="34" charset="-120"/>
              </a:rPr>
              <a:t>فعال در پایان سال اول</a:t>
            </a:r>
            <a:endParaRPr lang="fa-IR" sz="1400" dirty="0"/>
          </a:p>
        </p:txBody>
      </p:sp>
      <p:sp>
        <p:nvSpPr>
          <p:cNvPr id="35" name="Shape 32"/>
          <p:cNvSpPr/>
          <p:nvPr/>
        </p:nvSpPr>
        <p:spPr>
          <a:xfrm>
            <a:off x="6201004" y="4498848"/>
            <a:ext cx="2615870" cy="1508760"/>
          </a:xfrm>
          <a:prstGeom prst="roundRect">
            <a:avLst>
              <a:gd name="adj" fmla="val 9697"/>
            </a:avLst>
          </a:prstGeom>
          <a:solidFill>
            <a:srgbClr val="FFFFFF"/>
          </a:solidFill>
          <a:ln/>
          <a:effectLst>
            <a:outerShdw sx="100000" sy="100000" kx="0" ky="0" algn="bl" rotWithShape="0" blurRad="127000" dist="38100" dir="5400000">
              <a:srgbClr val="14532D">
                <a:alpha val="12000"/>
              </a:srgbClr>
            </a:outerShdw>
          </a:effectLst>
        </p:spPr>
      </p:sp>
      <p:sp>
        <p:nvSpPr>
          <p:cNvPr id="36" name="Text 33"/>
          <p:cNvSpPr txBox="1"/>
          <p:nvPr/>
        </p:nvSpPr>
        <p:spPr>
          <a:xfrm>
            <a:off x="6383884" y="4617720"/>
            <a:ext cx="2250110" cy="685800"/>
          </a:xfrm>
          <a:prstGeom prst="rect">
            <a:avLst/>
          </a:prstGeom>
          <a:noFill/>
          <a:ln/>
        </p:spPr>
        <p:txBody>
          <a:bodyPr wrap="square" lIns="0" tIns="0" rIns="0" bIns="0" rtlCol="0" anchor="ctr"/>
          <a:lstStyle/>
          <a:p>
            <a:pPr rtl="1" algn="r" indent="0" marL="0">
              <a:buNone/>
            </a:pPr>
            <a:r>
              <a:rPr lang="fa-IR" altLang="en-US" sz="2500" dirty="0">
                <a:solidFill>
                  <a:srgbClr val="2E7D32"/>
                </a:solidFill>
                <a:latin typeface="Vazirmatn Nobar Black" pitchFamily="34" charset="0"/>
                <a:ea typeface="Vazirmatn Nobar Black" pitchFamily="34" charset="-122"/>
                <a:cs typeface="Vazirmatn Nobar Black" pitchFamily="34" charset="-120"/>
              </a:rPr>
              <a:t>زیر ۳ درصد</a:t>
            </a:r>
            <a:endParaRPr lang="fa-IR" sz="2500" dirty="0"/>
          </a:p>
        </p:txBody>
      </p:sp>
      <p:sp>
        <p:nvSpPr>
          <p:cNvPr id="37" name="Text 34"/>
          <p:cNvSpPr txBox="1"/>
          <p:nvPr/>
        </p:nvSpPr>
        <p:spPr>
          <a:xfrm>
            <a:off x="6383884" y="5349240"/>
            <a:ext cx="2250110" cy="457200"/>
          </a:xfrm>
          <a:prstGeom prst="rect">
            <a:avLst/>
          </a:prstGeom>
          <a:noFill/>
          <a:ln/>
        </p:spPr>
        <p:txBody>
          <a:bodyPr wrap="square" lIns="0" tIns="0" rIns="0" bIns="0" rtlCol="0" anchor="t"/>
          <a:lstStyle/>
          <a:p>
            <a:pPr rtl="1" algn="r" indent="0" marL="0">
              <a:buNone/>
            </a:pPr>
            <a:r>
              <a:rPr lang="fa-IR" altLang="en-US" sz="1400" dirty="0">
                <a:solidFill>
                  <a:srgbClr val="1F2A1F"/>
                </a:solidFill>
                <a:latin typeface="Vazirmatn Nobar Medium" pitchFamily="34" charset="0"/>
                <a:ea typeface="Vazirmatn Nobar Medium" pitchFamily="34" charset="-122"/>
                <a:cs typeface="Vazirmatn Nobar Medium" pitchFamily="34" charset="-120"/>
              </a:rPr>
              <a:t>نرخ شکایت از تازگی</a:t>
            </a:r>
            <a:endParaRPr lang="fa-IR" sz="1400" dirty="0"/>
          </a:p>
        </p:txBody>
      </p:sp>
      <p:sp>
        <p:nvSpPr>
          <p:cNvPr id="38" name="Shape 35"/>
          <p:cNvSpPr/>
          <p:nvPr/>
        </p:nvSpPr>
        <p:spPr>
          <a:xfrm>
            <a:off x="3374822" y="4498848"/>
            <a:ext cx="2615870" cy="1508760"/>
          </a:xfrm>
          <a:prstGeom prst="roundRect">
            <a:avLst>
              <a:gd name="adj" fmla="val 9697"/>
            </a:avLst>
          </a:prstGeom>
          <a:solidFill>
            <a:srgbClr val="FFFFFF"/>
          </a:solidFill>
          <a:ln/>
          <a:effectLst>
            <a:outerShdw sx="100000" sy="100000" kx="0" ky="0" algn="bl" rotWithShape="0" blurRad="127000" dist="38100" dir="5400000">
              <a:srgbClr val="14532D">
                <a:alpha val="12000"/>
              </a:srgbClr>
            </a:outerShdw>
          </a:effectLst>
        </p:spPr>
      </p:sp>
      <p:sp>
        <p:nvSpPr>
          <p:cNvPr id="39" name="Text 36"/>
          <p:cNvSpPr txBox="1"/>
          <p:nvPr/>
        </p:nvSpPr>
        <p:spPr>
          <a:xfrm>
            <a:off x="3557702" y="4617720"/>
            <a:ext cx="2250110" cy="685800"/>
          </a:xfrm>
          <a:prstGeom prst="rect">
            <a:avLst/>
          </a:prstGeom>
          <a:noFill/>
          <a:ln/>
        </p:spPr>
        <p:txBody>
          <a:bodyPr wrap="square" lIns="0" tIns="0" rIns="0" bIns="0" rtlCol="0" anchor="ctr"/>
          <a:lstStyle/>
          <a:p>
            <a:pPr rtl="1" algn="r" indent="0" marL="0">
              <a:buNone/>
            </a:pPr>
            <a:r>
              <a:rPr lang="fa-IR" altLang="en-US" sz="2500" dirty="0">
                <a:solidFill>
                  <a:srgbClr val="2E7D32"/>
                </a:solidFill>
                <a:latin typeface="Vazirmatn Nobar Black" pitchFamily="34" charset="0"/>
                <a:ea typeface="Vazirmatn Nobar Black" pitchFamily="34" charset="-122"/>
                <a:cs typeface="Vazirmatn Nobar Black" pitchFamily="34" charset="-120"/>
              </a:rPr>
              <a:t>بالای ۹۵ درصد</a:t>
            </a:r>
            <a:endParaRPr lang="fa-IR" sz="2500" dirty="0"/>
          </a:p>
        </p:txBody>
      </p:sp>
      <p:sp>
        <p:nvSpPr>
          <p:cNvPr id="40" name="Text 37"/>
          <p:cNvSpPr txBox="1"/>
          <p:nvPr/>
        </p:nvSpPr>
        <p:spPr>
          <a:xfrm>
            <a:off x="3557702" y="5349240"/>
            <a:ext cx="2250110" cy="457200"/>
          </a:xfrm>
          <a:prstGeom prst="rect">
            <a:avLst/>
          </a:prstGeom>
          <a:noFill/>
          <a:ln/>
        </p:spPr>
        <p:txBody>
          <a:bodyPr wrap="square" lIns="0" tIns="0" rIns="0" bIns="0" rtlCol="0" anchor="t"/>
          <a:lstStyle/>
          <a:p>
            <a:pPr rtl="1" algn="r" indent="0" marL="0">
              <a:buNone/>
            </a:pPr>
            <a:r>
              <a:rPr lang="fa-IR" altLang="en-US" sz="1400" dirty="0">
                <a:solidFill>
                  <a:srgbClr val="1F2A1F"/>
                </a:solidFill>
                <a:latin typeface="Vazirmatn Nobar Medium" pitchFamily="34" charset="0"/>
                <a:ea typeface="Vazirmatn Nobar Medium" pitchFamily="34" charset="-122"/>
                <a:cs typeface="Vazirmatn Nobar Medium" pitchFamily="34" charset="-120"/>
              </a:rPr>
              <a:t>سفارش‌های تأییدشده در مهلت</a:t>
            </a:r>
            <a:endParaRPr lang="fa-IR" sz="1400" dirty="0"/>
          </a:p>
        </p:txBody>
      </p:sp>
      <p:sp>
        <p:nvSpPr>
          <p:cNvPr id="41" name="Shape 38"/>
          <p:cNvSpPr/>
          <p:nvPr/>
        </p:nvSpPr>
        <p:spPr>
          <a:xfrm>
            <a:off x="548640" y="4498848"/>
            <a:ext cx="2615870" cy="1508760"/>
          </a:xfrm>
          <a:prstGeom prst="roundRect">
            <a:avLst>
              <a:gd name="adj" fmla="val 9697"/>
            </a:avLst>
          </a:prstGeom>
          <a:solidFill>
            <a:srgbClr val="FFFFFF"/>
          </a:solidFill>
          <a:ln/>
          <a:effectLst>
            <a:outerShdw sx="100000" sy="100000" kx="0" ky="0" algn="bl" rotWithShape="0" blurRad="127000" dist="38100" dir="5400000">
              <a:srgbClr val="14532D">
                <a:alpha val="12000"/>
              </a:srgbClr>
            </a:outerShdw>
          </a:effectLst>
        </p:spPr>
      </p:sp>
      <p:sp>
        <p:nvSpPr>
          <p:cNvPr id="42" name="Text 39"/>
          <p:cNvSpPr txBox="1"/>
          <p:nvPr/>
        </p:nvSpPr>
        <p:spPr>
          <a:xfrm>
            <a:off x="731520" y="4617720"/>
            <a:ext cx="2250110" cy="685800"/>
          </a:xfrm>
          <a:prstGeom prst="rect">
            <a:avLst/>
          </a:prstGeom>
          <a:noFill/>
          <a:ln/>
        </p:spPr>
        <p:txBody>
          <a:bodyPr wrap="square" lIns="0" tIns="0" rIns="0" bIns="0" rtlCol="0" anchor="ctr"/>
          <a:lstStyle/>
          <a:p>
            <a:pPr rtl="1" algn="r" indent="0" marL="0">
              <a:buNone/>
            </a:pPr>
            <a:r>
              <a:rPr lang="fa-IR" altLang="en-US" sz="2500" dirty="0">
                <a:solidFill>
                  <a:srgbClr val="2E7D32"/>
                </a:solidFill>
                <a:latin typeface="Vazirmatn Nobar Black" pitchFamily="34" charset="0"/>
                <a:ea typeface="Vazirmatn Nobar Black" pitchFamily="34" charset="-122"/>
                <a:cs typeface="Vazirmatn Nobar Black" pitchFamily="34" charset="-120"/>
              </a:rPr>
              <a:t>بالای ۳۵ درصد</a:t>
            </a:r>
            <a:endParaRPr lang="fa-IR" sz="2500" dirty="0"/>
          </a:p>
        </p:txBody>
      </p:sp>
      <p:sp>
        <p:nvSpPr>
          <p:cNvPr id="43" name="Text 40"/>
          <p:cNvSpPr txBox="1"/>
          <p:nvPr/>
        </p:nvSpPr>
        <p:spPr>
          <a:xfrm>
            <a:off x="731520" y="5349240"/>
            <a:ext cx="2250110" cy="457200"/>
          </a:xfrm>
          <a:prstGeom prst="rect">
            <a:avLst/>
          </a:prstGeom>
          <a:noFill/>
          <a:ln/>
        </p:spPr>
        <p:txBody>
          <a:bodyPr wrap="square" lIns="0" tIns="0" rIns="0" bIns="0" rtlCol="0" anchor="t"/>
          <a:lstStyle/>
          <a:p>
            <a:pPr rtl="1" algn="r" indent="0" marL="0">
              <a:buNone/>
            </a:pPr>
            <a:r>
              <a:rPr lang="fa-IR" altLang="en-US" sz="1400" dirty="0">
                <a:solidFill>
                  <a:srgbClr val="1F2A1F"/>
                </a:solidFill>
                <a:latin typeface="Vazirmatn Nobar Medium" pitchFamily="34" charset="0"/>
                <a:ea typeface="Vazirmatn Nobar Medium" pitchFamily="34" charset="-122"/>
                <a:cs typeface="Vazirmatn Nobar Medium" pitchFamily="34" charset="-120"/>
              </a:rPr>
              <a:t>خرید دوباره در ۳۰ روز</a:t>
            </a:r>
            <a:endParaRPr lang="fa-IR"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۱۹</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ریسک‌ها و راهکارها</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ریسک‌های اصلی از روز اول در طراحی سیستم دیده شده‌اند</a:t>
            </a:r>
            <a:endParaRPr lang="fa-IR" sz="1600" dirty="0"/>
          </a:p>
        </p:txBody>
      </p:sp>
      <p:sp>
        <p:nvSpPr>
          <p:cNvPr id="6" name="Shape 3"/>
          <p:cNvSpPr/>
          <p:nvPr/>
        </p:nvSpPr>
        <p:spPr>
          <a:xfrm>
            <a:off x="8127797" y="1600200"/>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sp>
        <p:nvSpPr>
          <p:cNvPr id="7" name="Shape 4"/>
          <p:cNvSpPr/>
          <p:nvPr/>
        </p:nvSpPr>
        <p:spPr>
          <a:xfrm>
            <a:off x="10774375" y="1801368"/>
            <a:ext cx="658368" cy="658368"/>
          </a:xfrm>
          <a:prstGeom prst="ellipse">
            <a:avLst/>
          </a:prstGeom>
          <a:solidFill>
            <a:srgbClr val="EAF5E6"/>
          </a:solidFill>
          <a:ln/>
        </p:spPr>
      </p:sp>
      <p:pic>
        <p:nvPicPr>
          <p:cNvPr id="8" name="icon thermometer" descr="/tmp/claude-0/-home-claude/e50823c0-d46f-5818-8f05-9d714cd67f5c/scratchpad/assets/icons/thermometer.png">    </p:cNvPr>
          <p:cNvPicPr>
            <a:picLocks noChangeAspect="1"/>
          </p:cNvPicPr>
          <p:nvPr/>
        </p:nvPicPr>
        <p:blipFill>
          <a:blip r:embed="rId1"/>
          <a:stretch>
            <a:fillRect/>
          </a:stretch>
        </p:blipFill>
        <p:spPr>
          <a:xfrm>
            <a:off x="10879714" y="1906707"/>
            <a:ext cx="447690" cy="447690"/>
          </a:xfrm>
          <a:prstGeom prst="rect">
            <a:avLst/>
          </a:prstGeom>
        </p:spPr>
      </p:pic>
      <p:sp>
        <p:nvSpPr>
          <p:cNvPr id="9" name="Shape 5"/>
          <p:cNvSpPr/>
          <p:nvPr/>
        </p:nvSpPr>
        <p:spPr>
          <a:xfrm>
            <a:off x="8328965" y="1911096"/>
            <a:ext cx="1051560" cy="329184"/>
          </a:xfrm>
          <a:prstGeom prst="roundRect">
            <a:avLst>
              <a:gd name="adj" fmla="val 50000"/>
            </a:avLst>
          </a:prstGeom>
          <a:solidFill>
            <a:srgbClr val="FDE3E1"/>
          </a:solidFill>
          <a:ln/>
        </p:spPr>
      </p:sp>
      <p:sp>
        <p:nvSpPr>
          <p:cNvPr id="10" name="Text 6"/>
          <p:cNvSpPr txBox="1"/>
          <p:nvPr/>
        </p:nvSpPr>
        <p:spPr>
          <a:xfrm>
            <a:off x="8328965" y="1911096"/>
            <a:ext cx="1051560" cy="329184"/>
          </a:xfrm>
          <a:prstGeom prst="rect">
            <a:avLst/>
          </a:prstGeom>
          <a:noFill/>
          <a:ln/>
        </p:spPr>
        <p:txBody>
          <a:bodyPr wrap="square" lIns="0" tIns="0" rIns="0" bIns="0" rtlCol="0" anchor="ctr"/>
          <a:lstStyle/>
          <a:p>
            <a:pPr rtl="1" algn="ctr" indent="0" marL="0">
              <a:buNone/>
            </a:pPr>
            <a:r>
              <a:rPr lang="fa-IR" altLang="en-US" sz="1150" dirty="0">
                <a:solidFill>
                  <a:srgbClr val="C62828"/>
                </a:solidFill>
                <a:latin typeface="Vazirmatn Nobar SemiBold" pitchFamily="34" charset="0"/>
                <a:ea typeface="Vazirmatn Nobar SemiBold" pitchFamily="34" charset="-122"/>
                <a:cs typeface="Vazirmatn Nobar SemiBold" pitchFamily="34" charset="-120"/>
              </a:rPr>
              <a:t>اثر: زیاد</a:t>
            </a:r>
            <a:endParaRPr lang="fa-IR" sz="1150" dirty="0"/>
          </a:p>
        </p:txBody>
      </p:sp>
      <p:sp>
        <p:nvSpPr>
          <p:cNvPr id="11" name="Text 7"/>
          <p:cNvSpPr txBox="1"/>
          <p:nvPr/>
        </p:nvSpPr>
        <p:spPr>
          <a:xfrm>
            <a:off x="8328965" y="2514600"/>
            <a:ext cx="3112922" cy="384048"/>
          </a:xfrm>
          <a:prstGeom prst="rect">
            <a:avLst/>
          </a:prstGeom>
          <a:noFill/>
          <a:ln/>
        </p:spPr>
        <p:txBody>
          <a:bodyPr wrap="square" lIns="0" tIns="0" rIns="0" bIns="0" rtlCol="0" anchor="t"/>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فسادپذیری و شکایت کیفیت</a:t>
            </a:r>
            <a:endParaRPr lang="fa-IR" sz="1600" dirty="0"/>
          </a:p>
        </p:txBody>
      </p:sp>
      <p:sp>
        <p:nvSpPr>
          <p:cNvPr id="12" name="Text 8"/>
          <p:cNvSpPr txBox="1"/>
          <p:nvPr/>
        </p:nvSpPr>
        <p:spPr>
          <a:xfrm>
            <a:off x="8328965" y="2898648"/>
            <a:ext cx="3112922" cy="804672"/>
          </a:xfrm>
          <a:prstGeom prst="rect">
            <a:avLst/>
          </a:prstGeom>
          <a:noFill/>
          <a:ln/>
        </p:spPr>
        <p:txBody>
          <a:bodyPr wrap="square" lIns="0" tIns="0" rIns="0" bIns="0" rtlCol="0" anchor="t"/>
          <a:lstStyle/>
          <a:p>
            <a:pPr rtl="1" algn="r" indent="0" marL="0">
              <a:lnSpc>
                <a:spcPct val="108000"/>
              </a:lnSpc>
              <a:buNone/>
            </a:pPr>
            <a:r>
              <a:rPr lang="fa-IR" altLang="en-US" sz="1300" dirty="0">
                <a:solidFill>
                  <a:srgbClr val="2E7D32"/>
                </a:solidFill>
                <a:latin typeface="Vazirmatn Nobar ExtraBold" pitchFamily="34" charset="0"/>
                <a:ea typeface="Vazirmatn Nobar ExtraBold" pitchFamily="34" charset="-122"/>
                <a:cs typeface="Vazirmatn Nobar ExtraBold" pitchFamily="34" charset="-120"/>
              </a:rPr>
              <a:t>راهکار: </a:t>
            </a:r>
            <a:pPr rtl="1" algn="r" indent="0" marL="0">
              <a:lnSpc>
                <a:spcPct val="108000"/>
              </a:lnSpc>
              <a:buNone/>
            </a:pPr>
            <a:r>
              <a:rPr lang="fa-IR" altLang="en-US" sz="1300" dirty="0">
                <a:solidFill>
                  <a:srgbClr val="1F2A1F"/>
                </a:solidFill>
                <a:latin typeface="Vazirmatn Nobar" pitchFamily="34" charset="0"/>
                <a:ea typeface="Vazirmatn Nobar" pitchFamily="34" charset="-122"/>
                <a:cs typeface="Vazirmatn Nobar" pitchFamily="34" charset="-120"/>
              </a:rPr>
              <a:t>تازه‌سنج، ارسال آگاه از ماندگاری، مهلت شکایت با عکس و امتیاز تازگی غرفه.</a:t>
            </a:r>
            <a:endParaRPr lang="fa-IR" sz="1300" dirty="0"/>
          </a:p>
        </p:txBody>
      </p:sp>
      <p:sp>
        <p:nvSpPr>
          <p:cNvPr id="13" name="Shape 9"/>
          <p:cNvSpPr/>
          <p:nvPr/>
        </p:nvSpPr>
        <p:spPr>
          <a:xfrm>
            <a:off x="4338218" y="1600200"/>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sp>
        <p:nvSpPr>
          <p:cNvPr id="14" name="Shape 10"/>
          <p:cNvSpPr/>
          <p:nvPr/>
        </p:nvSpPr>
        <p:spPr>
          <a:xfrm>
            <a:off x="6984797" y="1801368"/>
            <a:ext cx="658368" cy="658368"/>
          </a:xfrm>
          <a:prstGeom prst="ellipse">
            <a:avLst/>
          </a:prstGeom>
          <a:solidFill>
            <a:srgbClr val="EAF5E6"/>
          </a:solidFill>
          <a:ln/>
        </p:spPr>
      </p:sp>
      <p:pic>
        <p:nvPicPr>
          <p:cNvPr id="15" name="icon handshake" descr="/tmp/claude-0/-home-claude/e50823c0-d46f-5818-8f05-9d714cd67f5c/scratchpad/assets/icons/handshake.png">    </p:cNvPr>
          <p:cNvPicPr>
            <a:picLocks noChangeAspect="1"/>
          </p:cNvPicPr>
          <p:nvPr/>
        </p:nvPicPr>
        <p:blipFill>
          <a:blip r:embed="rId2"/>
          <a:stretch>
            <a:fillRect/>
          </a:stretch>
        </p:blipFill>
        <p:spPr>
          <a:xfrm>
            <a:off x="7090136" y="1906707"/>
            <a:ext cx="447690" cy="447690"/>
          </a:xfrm>
          <a:prstGeom prst="rect">
            <a:avLst/>
          </a:prstGeom>
        </p:spPr>
      </p:pic>
      <p:sp>
        <p:nvSpPr>
          <p:cNvPr id="16" name="Shape 11"/>
          <p:cNvSpPr/>
          <p:nvPr/>
        </p:nvSpPr>
        <p:spPr>
          <a:xfrm>
            <a:off x="4539386" y="1911096"/>
            <a:ext cx="1051560" cy="329184"/>
          </a:xfrm>
          <a:prstGeom prst="roundRect">
            <a:avLst>
              <a:gd name="adj" fmla="val 50000"/>
            </a:avLst>
          </a:prstGeom>
          <a:solidFill>
            <a:srgbClr val="FDE3E1"/>
          </a:solidFill>
          <a:ln/>
        </p:spPr>
      </p:sp>
      <p:sp>
        <p:nvSpPr>
          <p:cNvPr id="17" name="Text 12"/>
          <p:cNvSpPr txBox="1"/>
          <p:nvPr/>
        </p:nvSpPr>
        <p:spPr>
          <a:xfrm>
            <a:off x="4539386" y="1911096"/>
            <a:ext cx="1051560" cy="329184"/>
          </a:xfrm>
          <a:prstGeom prst="rect">
            <a:avLst/>
          </a:prstGeom>
          <a:noFill/>
          <a:ln/>
        </p:spPr>
        <p:txBody>
          <a:bodyPr wrap="square" lIns="0" tIns="0" rIns="0" bIns="0" rtlCol="0" anchor="ctr"/>
          <a:lstStyle/>
          <a:p>
            <a:pPr rtl="1" algn="ctr" indent="0" marL="0">
              <a:buNone/>
            </a:pPr>
            <a:r>
              <a:rPr lang="fa-IR" altLang="en-US" sz="1150" dirty="0">
                <a:solidFill>
                  <a:srgbClr val="C62828"/>
                </a:solidFill>
                <a:latin typeface="Vazirmatn Nobar SemiBold" pitchFamily="34" charset="0"/>
                <a:ea typeface="Vazirmatn Nobar SemiBold" pitchFamily="34" charset="-122"/>
                <a:cs typeface="Vazirmatn Nobar SemiBold" pitchFamily="34" charset="-120"/>
              </a:rPr>
              <a:t>اثر: زیاد</a:t>
            </a:r>
            <a:endParaRPr lang="fa-IR" sz="1150" dirty="0"/>
          </a:p>
        </p:txBody>
      </p:sp>
      <p:sp>
        <p:nvSpPr>
          <p:cNvPr id="18" name="Text 13"/>
          <p:cNvSpPr txBox="1"/>
          <p:nvPr/>
        </p:nvSpPr>
        <p:spPr>
          <a:xfrm>
            <a:off x="4539386" y="2514600"/>
            <a:ext cx="3112922" cy="384048"/>
          </a:xfrm>
          <a:prstGeom prst="rect">
            <a:avLst/>
          </a:prstGeom>
          <a:noFill/>
          <a:ln/>
        </p:spPr>
        <p:txBody>
          <a:bodyPr wrap="square" lIns="0" tIns="0" rIns="0" bIns="0" rtlCol="0" anchor="t"/>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شروع سرد بازار دوطرفه</a:t>
            </a:r>
            <a:endParaRPr lang="fa-IR" sz="1600" dirty="0"/>
          </a:p>
        </p:txBody>
      </p:sp>
      <p:sp>
        <p:nvSpPr>
          <p:cNvPr id="19" name="Text 14"/>
          <p:cNvSpPr txBox="1"/>
          <p:nvPr/>
        </p:nvSpPr>
        <p:spPr>
          <a:xfrm>
            <a:off x="4539386" y="2898648"/>
            <a:ext cx="3112922" cy="804672"/>
          </a:xfrm>
          <a:prstGeom prst="rect">
            <a:avLst/>
          </a:prstGeom>
          <a:noFill/>
          <a:ln/>
        </p:spPr>
        <p:txBody>
          <a:bodyPr wrap="square" lIns="0" tIns="0" rIns="0" bIns="0" rtlCol="0" anchor="t"/>
          <a:lstStyle/>
          <a:p>
            <a:pPr rtl="1" algn="r" indent="0" marL="0">
              <a:lnSpc>
                <a:spcPct val="108000"/>
              </a:lnSpc>
              <a:buNone/>
            </a:pPr>
            <a:r>
              <a:rPr lang="fa-IR" altLang="en-US" sz="1300" dirty="0">
                <a:solidFill>
                  <a:srgbClr val="2E7D32"/>
                </a:solidFill>
                <a:latin typeface="Vazirmatn Nobar ExtraBold" pitchFamily="34" charset="0"/>
                <a:ea typeface="Vazirmatn Nobar ExtraBold" pitchFamily="34" charset="-122"/>
                <a:cs typeface="Vazirmatn Nobar ExtraBold" pitchFamily="34" charset="-120"/>
              </a:rPr>
              <a:t>راهکار: </a:t>
            </a:r>
            <a:pPr rtl="1" algn="r" indent="0" marL="0">
              <a:lnSpc>
                <a:spcPct val="108000"/>
              </a:lnSpc>
              <a:buNone/>
            </a:pPr>
            <a:r>
              <a:rPr lang="fa-IR" altLang="en-US" sz="1300" dirty="0">
                <a:solidFill>
                  <a:srgbClr val="1F2A1F"/>
                </a:solidFill>
                <a:latin typeface="Vazirmatn Nobar" pitchFamily="34" charset="0"/>
                <a:ea typeface="Vazirmatn Nobar" pitchFamily="34" charset="-122"/>
                <a:cs typeface="Vazirmatn Nobar" pitchFamily="34" charset="-120"/>
              </a:rPr>
              <a:t>شروع از عرضه در یک استان، همکاری با تعاونی‌ها و تمرکز بر محصولات ماندگار.</a:t>
            </a:r>
            <a:endParaRPr lang="fa-IR" sz="1300" dirty="0"/>
          </a:p>
        </p:txBody>
      </p:sp>
      <p:sp>
        <p:nvSpPr>
          <p:cNvPr id="20" name="Shape 15"/>
          <p:cNvSpPr/>
          <p:nvPr/>
        </p:nvSpPr>
        <p:spPr>
          <a:xfrm>
            <a:off x="548640" y="1600200"/>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sp>
        <p:nvSpPr>
          <p:cNvPr id="21" name="Shape 16"/>
          <p:cNvSpPr/>
          <p:nvPr/>
        </p:nvSpPr>
        <p:spPr>
          <a:xfrm>
            <a:off x="3195218" y="1801368"/>
            <a:ext cx="658368" cy="658368"/>
          </a:xfrm>
          <a:prstGeom prst="ellipse">
            <a:avLst/>
          </a:prstGeom>
          <a:solidFill>
            <a:srgbClr val="EAF5E6"/>
          </a:solidFill>
          <a:ln/>
        </p:spPr>
      </p:sp>
      <p:pic>
        <p:nvPicPr>
          <p:cNvPr id="22" name="icon articulated_lorry" descr="/tmp/claude-0/-home-claude/e50823c0-d46f-5818-8f05-9d714cd67f5c/scratchpad/assets/icons/articulated_lorry.png">    </p:cNvPr>
          <p:cNvPicPr>
            <a:picLocks noChangeAspect="1"/>
          </p:cNvPicPr>
          <p:nvPr/>
        </p:nvPicPr>
        <p:blipFill>
          <a:blip r:embed="rId3"/>
          <a:stretch>
            <a:fillRect/>
          </a:stretch>
        </p:blipFill>
        <p:spPr>
          <a:xfrm>
            <a:off x="3300557" y="1906707"/>
            <a:ext cx="447690" cy="447690"/>
          </a:xfrm>
          <a:prstGeom prst="rect">
            <a:avLst/>
          </a:prstGeom>
        </p:spPr>
      </p:pic>
      <p:sp>
        <p:nvSpPr>
          <p:cNvPr id="23" name="Shape 17"/>
          <p:cNvSpPr/>
          <p:nvPr/>
        </p:nvSpPr>
        <p:spPr>
          <a:xfrm>
            <a:off x="749808" y="1911096"/>
            <a:ext cx="1051560" cy="329184"/>
          </a:xfrm>
          <a:prstGeom prst="roundRect">
            <a:avLst>
              <a:gd name="adj" fmla="val 50000"/>
            </a:avLst>
          </a:prstGeom>
          <a:solidFill>
            <a:srgbClr val="FFF2CC"/>
          </a:solidFill>
          <a:ln/>
        </p:spPr>
      </p:sp>
      <p:sp>
        <p:nvSpPr>
          <p:cNvPr id="24" name="Text 18"/>
          <p:cNvSpPr txBox="1"/>
          <p:nvPr/>
        </p:nvSpPr>
        <p:spPr>
          <a:xfrm>
            <a:off x="749808" y="1911096"/>
            <a:ext cx="1051560" cy="329184"/>
          </a:xfrm>
          <a:prstGeom prst="rect">
            <a:avLst/>
          </a:prstGeom>
          <a:noFill/>
          <a:ln/>
        </p:spPr>
        <p:txBody>
          <a:bodyPr wrap="square" lIns="0" tIns="0" rIns="0" bIns="0" rtlCol="0" anchor="ctr"/>
          <a:lstStyle/>
          <a:p>
            <a:pPr rtl="1" algn="ctr" indent="0" marL="0">
              <a:buNone/>
            </a:pPr>
            <a:r>
              <a:rPr lang="fa-IR" altLang="en-US" sz="1150" dirty="0">
                <a:solidFill>
                  <a:srgbClr val="8A5A00"/>
                </a:solidFill>
                <a:latin typeface="Vazirmatn Nobar SemiBold" pitchFamily="34" charset="0"/>
                <a:ea typeface="Vazirmatn Nobar SemiBold" pitchFamily="34" charset="-122"/>
                <a:cs typeface="Vazirmatn Nobar SemiBold" pitchFamily="34" charset="-120"/>
              </a:rPr>
              <a:t>اثر: متوسط</a:t>
            </a:r>
            <a:endParaRPr lang="fa-IR" sz="1150" dirty="0"/>
          </a:p>
        </p:txBody>
      </p:sp>
      <p:sp>
        <p:nvSpPr>
          <p:cNvPr id="25" name="Text 19"/>
          <p:cNvSpPr txBox="1"/>
          <p:nvPr/>
        </p:nvSpPr>
        <p:spPr>
          <a:xfrm>
            <a:off x="749808" y="2514600"/>
            <a:ext cx="3112922" cy="384048"/>
          </a:xfrm>
          <a:prstGeom prst="rect">
            <a:avLst/>
          </a:prstGeom>
          <a:noFill/>
          <a:ln/>
        </p:spPr>
        <p:txBody>
          <a:bodyPr wrap="square" lIns="0" tIns="0" rIns="0" bIns="0" rtlCol="0" anchor="t"/>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لجستیک بین‌شهری</a:t>
            </a:r>
            <a:endParaRPr lang="fa-IR" sz="1600" dirty="0"/>
          </a:p>
        </p:txBody>
      </p:sp>
      <p:sp>
        <p:nvSpPr>
          <p:cNvPr id="26" name="Text 20"/>
          <p:cNvSpPr txBox="1"/>
          <p:nvPr/>
        </p:nvSpPr>
        <p:spPr>
          <a:xfrm>
            <a:off x="749808" y="2898648"/>
            <a:ext cx="3112922" cy="804672"/>
          </a:xfrm>
          <a:prstGeom prst="rect">
            <a:avLst/>
          </a:prstGeom>
          <a:noFill/>
          <a:ln/>
        </p:spPr>
        <p:txBody>
          <a:bodyPr wrap="square" lIns="0" tIns="0" rIns="0" bIns="0" rtlCol="0" anchor="t"/>
          <a:lstStyle/>
          <a:p>
            <a:pPr rtl="1" algn="r" indent="0" marL="0">
              <a:lnSpc>
                <a:spcPct val="108000"/>
              </a:lnSpc>
              <a:buNone/>
            </a:pPr>
            <a:r>
              <a:rPr lang="fa-IR" altLang="en-US" sz="1300" dirty="0">
                <a:solidFill>
                  <a:srgbClr val="2E7D32"/>
                </a:solidFill>
                <a:latin typeface="Vazirmatn Nobar ExtraBold" pitchFamily="34" charset="0"/>
                <a:ea typeface="Vazirmatn Nobar ExtraBold" pitchFamily="34" charset="-122"/>
                <a:cs typeface="Vazirmatn Nobar ExtraBold" pitchFamily="34" charset="-120"/>
              </a:rPr>
              <a:t>راهکار: </a:t>
            </a:r>
            <a:pPr rtl="1" algn="r" indent="0" marL="0">
              <a:lnSpc>
                <a:spcPct val="108000"/>
              </a:lnSpc>
              <a:buNone/>
            </a:pPr>
            <a:r>
              <a:rPr lang="fa-IR" altLang="en-US" sz="1300" dirty="0">
                <a:solidFill>
                  <a:srgbClr val="1F2A1F"/>
                </a:solidFill>
                <a:latin typeface="Vazirmatn Nobar" pitchFamily="34" charset="0"/>
                <a:ea typeface="Vazirmatn Nobar" pitchFamily="34" charset="-122"/>
                <a:cs typeface="Vazirmatn Nobar" pitchFamily="34" charset="-120"/>
              </a:rPr>
              <a:t>شروع با پست و باربری با کد رهگیری؛ زمان حمل هر مسیر قابل‌تنظیم و فیلتر خودکار.</a:t>
            </a:r>
            <a:endParaRPr lang="fa-IR" sz="1300" dirty="0"/>
          </a:p>
        </p:txBody>
      </p:sp>
      <p:sp>
        <p:nvSpPr>
          <p:cNvPr id="27" name="Shape 21"/>
          <p:cNvSpPr/>
          <p:nvPr/>
        </p:nvSpPr>
        <p:spPr>
          <a:xfrm>
            <a:off x="8127797" y="3959352"/>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sp>
        <p:nvSpPr>
          <p:cNvPr id="28" name="Shape 22"/>
          <p:cNvSpPr/>
          <p:nvPr/>
        </p:nvSpPr>
        <p:spPr>
          <a:xfrm>
            <a:off x="10774375" y="4160520"/>
            <a:ext cx="658368" cy="658368"/>
          </a:xfrm>
          <a:prstGeom prst="ellipse">
            <a:avLst/>
          </a:prstGeom>
          <a:solidFill>
            <a:srgbClr val="EAF5E6"/>
          </a:solidFill>
          <a:ln/>
        </p:spPr>
      </p:sp>
      <p:pic>
        <p:nvPicPr>
          <p:cNvPr id="29" name="icon bullseye" descr="/tmp/claude-0/-home-claude/e50823c0-d46f-5818-8f05-9d714cd67f5c/scratchpad/assets/icons/bullseye.png">    </p:cNvPr>
          <p:cNvPicPr>
            <a:picLocks noChangeAspect="1"/>
          </p:cNvPicPr>
          <p:nvPr/>
        </p:nvPicPr>
        <p:blipFill>
          <a:blip r:embed="rId4"/>
          <a:stretch>
            <a:fillRect/>
          </a:stretch>
        </p:blipFill>
        <p:spPr>
          <a:xfrm>
            <a:off x="10879714" y="4265859"/>
            <a:ext cx="447690" cy="447690"/>
          </a:xfrm>
          <a:prstGeom prst="rect">
            <a:avLst/>
          </a:prstGeom>
        </p:spPr>
      </p:pic>
      <p:sp>
        <p:nvSpPr>
          <p:cNvPr id="30" name="Shape 23"/>
          <p:cNvSpPr/>
          <p:nvPr/>
        </p:nvSpPr>
        <p:spPr>
          <a:xfrm>
            <a:off x="8328965" y="4270248"/>
            <a:ext cx="1051560" cy="329184"/>
          </a:xfrm>
          <a:prstGeom prst="roundRect">
            <a:avLst>
              <a:gd name="adj" fmla="val 50000"/>
            </a:avLst>
          </a:prstGeom>
          <a:solidFill>
            <a:srgbClr val="FFF2CC"/>
          </a:solidFill>
          <a:ln/>
        </p:spPr>
      </p:sp>
      <p:sp>
        <p:nvSpPr>
          <p:cNvPr id="31" name="Text 24"/>
          <p:cNvSpPr txBox="1"/>
          <p:nvPr/>
        </p:nvSpPr>
        <p:spPr>
          <a:xfrm>
            <a:off x="8328965" y="4270248"/>
            <a:ext cx="1051560" cy="329184"/>
          </a:xfrm>
          <a:prstGeom prst="rect">
            <a:avLst/>
          </a:prstGeom>
          <a:noFill/>
          <a:ln/>
        </p:spPr>
        <p:txBody>
          <a:bodyPr wrap="square" lIns="0" tIns="0" rIns="0" bIns="0" rtlCol="0" anchor="ctr"/>
          <a:lstStyle/>
          <a:p>
            <a:pPr rtl="1" algn="ctr" indent="0" marL="0">
              <a:buNone/>
            </a:pPr>
            <a:r>
              <a:rPr lang="fa-IR" altLang="en-US" sz="1150" dirty="0">
                <a:solidFill>
                  <a:srgbClr val="8A5A00"/>
                </a:solidFill>
                <a:latin typeface="Vazirmatn Nobar SemiBold" pitchFamily="34" charset="0"/>
                <a:ea typeface="Vazirmatn Nobar SemiBold" pitchFamily="34" charset="-122"/>
                <a:cs typeface="Vazirmatn Nobar SemiBold" pitchFamily="34" charset="-120"/>
              </a:rPr>
              <a:t>اثر: متوسط</a:t>
            </a:r>
            <a:endParaRPr lang="fa-IR" sz="1150" dirty="0"/>
          </a:p>
        </p:txBody>
      </p:sp>
      <p:sp>
        <p:nvSpPr>
          <p:cNvPr id="32" name="Text 25"/>
          <p:cNvSpPr txBox="1"/>
          <p:nvPr/>
        </p:nvSpPr>
        <p:spPr>
          <a:xfrm>
            <a:off x="8328965" y="4873752"/>
            <a:ext cx="3112922" cy="384048"/>
          </a:xfrm>
          <a:prstGeom prst="rect">
            <a:avLst/>
          </a:prstGeom>
          <a:noFill/>
          <a:ln/>
        </p:spPr>
        <p:txBody>
          <a:bodyPr wrap="square" lIns="0" tIns="0" rIns="0" bIns="0" rtlCol="0" anchor="t"/>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رقابت بازیگران بزرگ</a:t>
            </a:r>
            <a:endParaRPr lang="fa-IR" sz="1600" dirty="0"/>
          </a:p>
        </p:txBody>
      </p:sp>
      <p:sp>
        <p:nvSpPr>
          <p:cNvPr id="33" name="Text 26"/>
          <p:cNvSpPr txBox="1"/>
          <p:nvPr/>
        </p:nvSpPr>
        <p:spPr>
          <a:xfrm>
            <a:off x="8328965" y="5257800"/>
            <a:ext cx="3112922" cy="804672"/>
          </a:xfrm>
          <a:prstGeom prst="rect">
            <a:avLst/>
          </a:prstGeom>
          <a:noFill/>
          <a:ln/>
        </p:spPr>
        <p:txBody>
          <a:bodyPr wrap="square" lIns="0" tIns="0" rIns="0" bIns="0" rtlCol="0" anchor="t"/>
          <a:lstStyle/>
          <a:p>
            <a:pPr rtl="1" algn="r" indent="0" marL="0">
              <a:lnSpc>
                <a:spcPct val="108000"/>
              </a:lnSpc>
              <a:buNone/>
            </a:pPr>
            <a:r>
              <a:rPr lang="fa-IR" altLang="en-US" sz="1300" dirty="0">
                <a:solidFill>
                  <a:srgbClr val="2E7D32"/>
                </a:solidFill>
                <a:latin typeface="Vazirmatn Nobar ExtraBold" pitchFamily="34" charset="0"/>
                <a:ea typeface="Vazirmatn Nobar ExtraBold" pitchFamily="34" charset="-122"/>
                <a:cs typeface="Vazirmatn Nobar ExtraBold" pitchFamily="34" charset="-120"/>
              </a:rPr>
              <a:t>راهکار: </a:t>
            </a:r>
            <a:pPr rtl="1" algn="r" indent="0" marL="0">
              <a:lnSpc>
                <a:spcPct val="108000"/>
              </a:lnSpc>
              <a:buNone/>
            </a:pPr>
            <a:r>
              <a:rPr lang="fa-IR" altLang="en-US" sz="1300" dirty="0">
                <a:solidFill>
                  <a:srgbClr val="1F2A1F"/>
                </a:solidFill>
                <a:latin typeface="Vazirmatn Nobar" pitchFamily="34" charset="0"/>
                <a:ea typeface="Vazirmatn Nobar" pitchFamily="34" charset="-122"/>
                <a:cs typeface="Vazirmatn Nobar" pitchFamily="34" charset="-120"/>
              </a:rPr>
              <a:t>تمرکز تخصصی بر مبدأ و تازگی به‌جای رقابت سرعت؛ جذب کم‌هزینه با بازاریابی فصلی.</a:t>
            </a:r>
            <a:endParaRPr lang="fa-IR" sz="1300" dirty="0"/>
          </a:p>
        </p:txBody>
      </p:sp>
      <p:sp>
        <p:nvSpPr>
          <p:cNvPr id="34" name="Shape 27"/>
          <p:cNvSpPr/>
          <p:nvPr/>
        </p:nvSpPr>
        <p:spPr>
          <a:xfrm>
            <a:off x="4338218" y="3959352"/>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sp>
        <p:nvSpPr>
          <p:cNvPr id="35" name="Shape 28"/>
          <p:cNvSpPr/>
          <p:nvPr/>
        </p:nvSpPr>
        <p:spPr>
          <a:xfrm>
            <a:off x="6984797" y="4160520"/>
            <a:ext cx="658368" cy="658368"/>
          </a:xfrm>
          <a:prstGeom prst="ellipse">
            <a:avLst/>
          </a:prstGeom>
          <a:solidFill>
            <a:srgbClr val="EAF5E6"/>
          </a:solidFill>
          <a:ln/>
        </p:spPr>
      </p:sp>
      <p:pic>
        <p:nvPicPr>
          <p:cNvPr id="36" name="icon robot" descr="/tmp/claude-0/-home-claude/e50823c0-d46f-5818-8f05-9d714cd67f5c/scratchpad/assets/icons/robot.png">    </p:cNvPr>
          <p:cNvPicPr>
            <a:picLocks noChangeAspect="1"/>
          </p:cNvPicPr>
          <p:nvPr/>
        </p:nvPicPr>
        <p:blipFill>
          <a:blip r:embed="rId5"/>
          <a:stretch>
            <a:fillRect/>
          </a:stretch>
        </p:blipFill>
        <p:spPr>
          <a:xfrm>
            <a:off x="7090136" y="4265859"/>
            <a:ext cx="447690" cy="447690"/>
          </a:xfrm>
          <a:prstGeom prst="rect">
            <a:avLst/>
          </a:prstGeom>
        </p:spPr>
      </p:pic>
      <p:sp>
        <p:nvSpPr>
          <p:cNvPr id="37" name="Shape 29"/>
          <p:cNvSpPr/>
          <p:nvPr/>
        </p:nvSpPr>
        <p:spPr>
          <a:xfrm>
            <a:off x="4539386" y="4270248"/>
            <a:ext cx="1051560" cy="329184"/>
          </a:xfrm>
          <a:prstGeom prst="roundRect">
            <a:avLst>
              <a:gd name="adj" fmla="val 50000"/>
            </a:avLst>
          </a:prstGeom>
          <a:solidFill>
            <a:srgbClr val="FFF2CC"/>
          </a:solidFill>
          <a:ln/>
        </p:spPr>
      </p:sp>
      <p:sp>
        <p:nvSpPr>
          <p:cNvPr id="38" name="Text 30"/>
          <p:cNvSpPr txBox="1"/>
          <p:nvPr/>
        </p:nvSpPr>
        <p:spPr>
          <a:xfrm>
            <a:off x="4539386" y="4270248"/>
            <a:ext cx="1051560" cy="329184"/>
          </a:xfrm>
          <a:prstGeom prst="rect">
            <a:avLst/>
          </a:prstGeom>
          <a:noFill/>
          <a:ln/>
        </p:spPr>
        <p:txBody>
          <a:bodyPr wrap="square" lIns="0" tIns="0" rIns="0" bIns="0" rtlCol="0" anchor="ctr"/>
          <a:lstStyle/>
          <a:p>
            <a:pPr rtl="1" algn="ctr" indent="0" marL="0">
              <a:buNone/>
            </a:pPr>
            <a:r>
              <a:rPr lang="fa-IR" altLang="en-US" sz="1150" dirty="0">
                <a:solidFill>
                  <a:srgbClr val="8A5A00"/>
                </a:solidFill>
                <a:latin typeface="Vazirmatn Nobar SemiBold" pitchFamily="34" charset="0"/>
                <a:ea typeface="Vazirmatn Nobar SemiBold" pitchFamily="34" charset="-122"/>
                <a:cs typeface="Vazirmatn Nobar SemiBold" pitchFamily="34" charset="-120"/>
              </a:rPr>
              <a:t>اثر: متوسط</a:t>
            </a:r>
            <a:endParaRPr lang="fa-IR" sz="1150" dirty="0"/>
          </a:p>
        </p:txBody>
      </p:sp>
      <p:sp>
        <p:nvSpPr>
          <p:cNvPr id="39" name="Text 31"/>
          <p:cNvSpPr txBox="1"/>
          <p:nvPr/>
        </p:nvSpPr>
        <p:spPr>
          <a:xfrm>
            <a:off x="4539386" y="4873752"/>
            <a:ext cx="3112922" cy="384048"/>
          </a:xfrm>
          <a:prstGeom prst="rect">
            <a:avLst/>
          </a:prstGeom>
          <a:noFill/>
          <a:ln/>
        </p:spPr>
        <p:txBody>
          <a:bodyPr wrap="square" lIns="0" tIns="0" rIns="0" bIns="0" rtlCol="0" anchor="t"/>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دسترسی به مدل‌های هوش مصنوعی</a:t>
            </a:r>
            <a:endParaRPr lang="fa-IR" sz="1600" dirty="0"/>
          </a:p>
        </p:txBody>
      </p:sp>
      <p:sp>
        <p:nvSpPr>
          <p:cNvPr id="40" name="Text 32"/>
          <p:cNvSpPr txBox="1"/>
          <p:nvPr/>
        </p:nvSpPr>
        <p:spPr>
          <a:xfrm>
            <a:off x="4539386" y="5257800"/>
            <a:ext cx="3112922" cy="804672"/>
          </a:xfrm>
          <a:prstGeom prst="rect">
            <a:avLst/>
          </a:prstGeom>
          <a:noFill/>
          <a:ln/>
        </p:spPr>
        <p:txBody>
          <a:bodyPr wrap="square" lIns="0" tIns="0" rIns="0" bIns="0" rtlCol="0" anchor="t"/>
          <a:lstStyle/>
          <a:p>
            <a:pPr rtl="1" algn="r" indent="0" marL="0">
              <a:lnSpc>
                <a:spcPct val="108000"/>
              </a:lnSpc>
              <a:buNone/>
            </a:pPr>
            <a:r>
              <a:rPr lang="fa-IR" altLang="en-US" sz="1300" dirty="0">
                <a:solidFill>
                  <a:srgbClr val="2E7D32"/>
                </a:solidFill>
                <a:latin typeface="Vazirmatn Nobar ExtraBold" pitchFamily="34" charset="0"/>
                <a:ea typeface="Vazirmatn Nobar ExtraBold" pitchFamily="34" charset="-122"/>
                <a:cs typeface="Vazirmatn Nobar ExtraBold" pitchFamily="34" charset="-120"/>
              </a:rPr>
              <a:t>راهکار: </a:t>
            </a:r>
            <a:pPr rtl="1" algn="r" indent="0" marL="0">
              <a:lnSpc>
                <a:spcPct val="108000"/>
              </a:lnSpc>
              <a:buNone/>
            </a:pPr>
            <a:r>
              <a:rPr lang="fa-IR" altLang="en-US" sz="1300" dirty="0">
                <a:solidFill>
                  <a:srgbClr val="1F2A1F"/>
                </a:solidFill>
                <a:latin typeface="Vazirmatn Nobar" pitchFamily="34" charset="0"/>
                <a:ea typeface="Vazirmatn Nobar" pitchFamily="34" charset="-122"/>
                <a:cs typeface="Vazirmatn Nobar" pitchFamily="34" charset="-120"/>
              </a:rPr>
              <a:t>معماری مستقل از ارائه‌دهنده، امکان مدل متن‌باز روی سرور داخلی؛ سایت بدون هوش مصنوعی هم کار می‌کند.</a:t>
            </a:r>
            <a:endParaRPr lang="fa-IR" sz="1300" dirty="0"/>
          </a:p>
        </p:txBody>
      </p:sp>
      <p:sp>
        <p:nvSpPr>
          <p:cNvPr id="41" name="Shape 33"/>
          <p:cNvSpPr/>
          <p:nvPr/>
        </p:nvSpPr>
        <p:spPr>
          <a:xfrm>
            <a:off x="548640" y="3959352"/>
            <a:ext cx="3515258" cy="2176272"/>
          </a:xfrm>
          <a:prstGeom prst="roundRect">
            <a:avLst>
              <a:gd name="adj" fmla="val 6723"/>
            </a:avLst>
          </a:prstGeom>
          <a:solidFill>
            <a:srgbClr val="FFFFFF"/>
          </a:solidFill>
          <a:ln/>
          <a:effectLst>
            <a:outerShdw sx="100000" sy="100000" kx="0" ky="0" algn="bl" rotWithShape="0" blurRad="127000" dist="38100" dir="5400000">
              <a:srgbClr val="14532D">
                <a:alpha val="12000"/>
              </a:srgbClr>
            </a:outerShdw>
          </a:effectLst>
        </p:spPr>
      </p:sp>
      <p:sp>
        <p:nvSpPr>
          <p:cNvPr id="42" name="Shape 34"/>
          <p:cNvSpPr/>
          <p:nvPr/>
        </p:nvSpPr>
        <p:spPr>
          <a:xfrm>
            <a:off x="3195218" y="4160520"/>
            <a:ext cx="658368" cy="658368"/>
          </a:xfrm>
          <a:prstGeom prst="ellipse">
            <a:avLst/>
          </a:prstGeom>
          <a:solidFill>
            <a:srgbClr val="EAF5E6"/>
          </a:solidFill>
          <a:ln/>
        </p:spPr>
      </p:sp>
      <p:pic>
        <p:nvPicPr>
          <p:cNvPr id="43" name="icon classical_building" descr="/tmp/claude-0/-home-claude/e50823c0-d46f-5818-8f05-9d714cd67f5c/scratchpad/assets/icons/classical_building.png">    </p:cNvPr>
          <p:cNvPicPr>
            <a:picLocks noChangeAspect="1"/>
          </p:cNvPicPr>
          <p:nvPr/>
        </p:nvPicPr>
        <p:blipFill>
          <a:blip r:embed="rId6"/>
          <a:stretch>
            <a:fillRect/>
          </a:stretch>
        </p:blipFill>
        <p:spPr>
          <a:xfrm>
            <a:off x="3300557" y="4265859"/>
            <a:ext cx="447690" cy="447690"/>
          </a:xfrm>
          <a:prstGeom prst="rect">
            <a:avLst/>
          </a:prstGeom>
        </p:spPr>
      </p:pic>
      <p:sp>
        <p:nvSpPr>
          <p:cNvPr id="44" name="Shape 35"/>
          <p:cNvSpPr/>
          <p:nvPr/>
        </p:nvSpPr>
        <p:spPr>
          <a:xfrm>
            <a:off x="749808" y="4270248"/>
            <a:ext cx="1051560" cy="329184"/>
          </a:xfrm>
          <a:prstGeom prst="roundRect">
            <a:avLst>
              <a:gd name="adj" fmla="val 50000"/>
            </a:avLst>
          </a:prstGeom>
          <a:solidFill>
            <a:srgbClr val="FFF2CC"/>
          </a:solidFill>
          <a:ln/>
        </p:spPr>
      </p:sp>
      <p:sp>
        <p:nvSpPr>
          <p:cNvPr id="45" name="Text 36"/>
          <p:cNvSpPr txBox="1"/>
          <p:nvPr/>
        </p:nvSpPr>
        <p:spPr>
          <a:xfrm>
            <a:off x="749808" y="4270248"/>
            <a:ext cx="1051560" cy="329184"/>
          </a:xfrm>
          <a:prstGeom prst="rect">
            <a:avLst/>
          </a:prstGeom>
          <a:noFill/>
          <a:ln/>
        </p:spPr>
        <p:txBody>
          <a:bodyPr wrap="square" lIns="0" tIns="0" rIns="0" bIns="0" rtlCol="0" anchor="ctr"/>
          <a:lstStyle/>
          <a:p>
            <a:pPr rtl="1" algn="ctr" indent="0" marL="0">
              <a:buNone/>
            </a:pPr>
            <a:r>
              <a:rPr lang="fa-IR" altLang="en-US" sz="1150" dirty="0">
                <a:solidFill>
                  <a:srgbClr val="8A5A00"/>
                </a:solidFill>
                <a:latin typeface="Vazirmatn Nobar SemiBold" pitchFamily="34" charset="0"/>
                <a:ea typeface="Vazirmatn Nobar SemiBold" pitchFamily="34" charset="-122"/>
                <a:cs typeface="Vazirmatn Nobar SemiBold" pitchFamily="34" charset="-120"/>
              </a:rPr>
              <a:t>اثر: متوسط</a:t>
            </a:r>
            <a:endParaRPr lang="fa-IR" sz="1150" dirty="0"/>
          </a:p>
        </p:txBody>
      </p:sp>
      <p:sp>
        <p:nvSpPr>
          <p:cNvPr id="46" name="Text 37"/>
          <p:cNvSpPr txBox="1"/>
          <p:nvPr/>
        </p:nvSpPr>
        <p:spPr>
          <a:xfrm>
            <a:off x="749808" y="4873752"/>
            <a:ext cx="3112922" cy="384048"/>
          </a:xfrm>
          <a:prstGeom prst="rect">
            <a:avLst/>
          </a:prstGeom>
          <a:noFill/>
          <a:ln/>
        </p:spPr>
        <p:txBody>
          <a:bodyPr wrap="square" lIns="0" tIns="0" rIns="0" bIns="0" rtlCol="0" anchor="t"/>
          <a:lstStyle/>
          <a:p>
            <a:pPr rtl="1" algn="r" indent="0" marL="0">
              <a:buNone/>
            </a:pPr>
            <a:r>
              <a:rPr lang="fa-IR" altLang="en-US" sz="1600" dirty="0">
                <a:solidFill>
                  <a:srgbClr val="14532D"/>
                </a:solidFill>
                <a:latin typeface="Vazirmatn Nobar ExtraBold" pitchFamily="34" charset="0"/>
                <a:ea typeface="Vazirmatn Nobar ExtraBold" pitchFamily="34" charset="-122"/>
                <a:cs typeface="Vazirmatn Nobar ExtraBold" pitchFamily="34" charset="-120"/>
              </a:rPr>
              <a:t>مجوزها و پرداخت</a:t>
            </a:r>
            <a:endParaRPr lang="fa-IR" sz="1600" dirty="0"/>
          </a:p>
        </p:txBody>
      </p:sp>
      <p:sp>
        <p:nvSpPr>
          <p:cNvPr id="47" name="Text 38"/>
          <p:cNvSpPr txBox="1"/>
          <p:nvPr/>
        </p:nvSpPr>
        <p:spPr>
          <a:xfrm>
            <a:off x="749808" y="5257800"/>
            <a:ext cx="3112922" cy="804672"/>
          </a:xfrm>
          <a:prstGeom prst="rect">
            <a:avLst/>
          </a:prstGeom>
          <a:noFill/>
          <a:ln/>
        </p:spPr>
        <p:txBody>
          <a:bodyPr wrap="square" lIns="0" tIns="0" rIns="0" bIns="0" rtlCol="0" anchor="t"/>
          <a:lstStyle/>
          <a:p>
            <a:pPr rtl="1" algn="r" indent="0" marL="0">
              <a:lnSpc>
                <a:spcPct val="108000"/>
              </a:lnSpc>
              <a:buNone/>
            </a:pPr>
            <a:r>
              <a:rPr lang="fa-IR" altLang="en-US" sz="1300" dirty="0">
                <a:solidFill>
                  <a:srgbClr val="2E7D32"/>
                </a:solidFill>
                <a:latin typeface="Vazirmatn Nobar ExtraBold" pitchFamily="34" charset="0"/>
                <a:ea typeface="Vazirmatn Nobar ExtraBold" pitchFamily="34" charset="-122"/>
                <a:cs typeface="Vazirmatn Nobar ExtraBold" pitchFamily="34" charset="-120"/>
              </a:rPr>
              <a:t>راهکار: </a:t>
            </a:r>
            <a:pPr rtl="1" algn="r" indent="0" marL="0">
              <a:lnSpc>
                <a:spcPct val="108000"/>
              </a:lnSpc>
              <a:buNone/>
            </a:pPr>
            <a:r>
              <a:rPr lang="fa-IR" altLang="en-US" sz="1300" dirty="0">
                <a:solidFill>
                  <a:srgbClr val="1F2A1F"/>
                </a:solidFill>
                <a:latin typeface="Vazirmatn Nobar" pitchFamily="34" charset="0"/>
                <a:ea typeface="Vazirmatn Nobar" pitchFamily="34" charset="-122"/>
                <a:cs typeface="Vazirmatn Nobar" pitchFamily="34" charset="-120"/>
              </a:rPr>
              <a:t>اینماد، قرارداد درگاه و مشاوره‌ی حقوقی پیش از راه‌اندازی؛ پول امانی در دفتر کل شفاف.</a:t>
            </a:r>
            <a:endParaRPr lang="fa-IR"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۲۰</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تیم و درخواست از مرکز رشد</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با حمایت مرکز رشد: نسخه‌ی اول در ۶ ماه و پایلوت در ۹ ماه</a:t>
            </a:r>
            <a:endParaRPr lang="fa-IR" sz="1600" dirty="0"/>
          </a:p>
        </p:txBody>
      </p:sp>
      <p:sp>
        <p:nvSpPr>
          <p:cNvPr id="6" name="Shape 3"/>
          <p:cNvSpPr/>
          <p:nvPr/>
        </p:nvSpPr>
        <p:spPr>
          <a:xfrm>
            <a:off x="6263640" y="1572768"/>
            <a:ext cx="5379415" cy="1965960"/>
          </a:xfrm>
          <a:prstGeom prst="roundRect">
            <a:avLst>
              <a:gd name="adj" fmla="val 7442"/>
            </a:avLst>
          </a:prstGeom>
          <a:solidFill>
            <a:srgbClr val="14532D"/>
          </a:solidFill>
          <a:ln/>
          <a:effectLst>
            <a:outerShdw sx="100000" sy="100000" kx="0" ky="0" algn="bl" rotWithShape="0" blurRad="127000" dist="38100" dir="5400000">
              <a:srgbClr val="14532D">
                <a:alpha val="12000"/>
              </a:srgbClr>
            </a:outerShdw>
          </a:effectLst>
        </p:spPr>
      </p:sp>
      <p:pic>
        <p:nvPicPr>
          <p:cNvPr id="7" name="icon handshake" descr="/tmp/claude-0/-home-claude/e50823c0-d46f-5818-8f05-9d714cd67f5c/scratchpad/assets/icons/handshake.png">    </p:cNvPr>
          <p:cNvPicPr>
            <a:picLocks noChangeAspect="1"/>
          </p:cNvPicPr>
          <p:nvPr/>
        </p:nvPicPr>
        <p:blipFill>
          <a:blip r:embed="rId1"/>
          <a:stretch>
            <a:fillRect/>
          </a:stretch>
        </p:blipFill>
        <p:spPr>
          <a:xfrm>
            <a:off x="10774375" y="1719072"/>
            <a:ext cx="640080" cy="640080"/>
          </a:xfrm>
          <a:prstGeom prst="rect">
            <a:avLst/>
          </a:prstGeom>
        </p:spPr>
      </p:pic>
      <p:sp>
        <p:nvSpPr>
          <p:cNvPr id="8" name="Text 4"/>
          <p:cNvSpPr txBox="1"/>
          <p:nvPr/>
        </p:nvSpPr>
        <p:spPr>
          <a:xfrm>
            <a:off x="6492240" y="1755648"/>
            <a:ext cx="4190695" cy="411480"/>
          </a:xfrm>
          <a:prstGeom prst="rect">
            <a:avLst/>
          </a:prstGeom>
          <a:noFill/>
          <a:ln/>
        </p:spPr>
        <p:txBody>
          <a:bodyPr wrap="square" lIns="0" tIns="0" rIns="0" bIns="0" rtlCol="0" anchor="t"/>
          <a:lstStyle/>
          <a:p>
            <a:pPr rtl="1" algn="r" indent="0" marL="0">
              <a:buNone/>
            </a:pPr>
            <a:r>
              <a:rPr lang="fa-IR" altLang="en-US" sz="1900" dirty="0">
                <a:solidFill>
                  <a:srgbClr val="FFFFFF"/>
                </a:solidFill>
                <a:latin typeface="Vazirmatn Nobar ExtraBold" pitchFamily="34" charset="0"/>
                <a:ea typeface="Vazirmatn Nobar ExtraBold" pitchFamily="34" charset="-122"/>
                <a:cs typeface="Vazirmatn Nobar ExtraBold" pitchFamily="34" charset="-120"/>
              </a:rPr>
              <a:t>درخواست ما</a:t>
            </a:r>
            <a:endParaRPr lang="fa-IR" sz="1900" dirty="0"/>
          </a:p>
        </p:txBody>
      </p:sp>
      <p:sp>
        <p:nvSpPr>
          <p:cNvPr id="9" name="Text 5"/>
          <p:cNvSpPr txBox="1"/>
          <p:nvPr/>
        </p:nvSpPr>
        <p:spPr>
          <a:xfrm>
            <a:off x="6492240" y="2286000"/>
            <a:ext cx="4922215" cy="1143000"/>
          </a:xfrm>
          <a:prstGeom prst="rect">
            <a:avLst/>
          </a:prstGeom>
          <a:noFill/>
          <a:ln/>
        </p:spPr>
        <p:txBody>
          <a:bodyPr wrap="square" lIns="0" tIns="0" rIns="0" bIns="0" rtlCol="0" anchor="t"/>
          <a:lstStyle/>
          <a:p>
            <a:pPr rtl="1" algn="r" indent="0" marL="0">
              <a:spcAft>
                <a:spcPts val="400"/>
              </a:spcAft>
              <a:buNone/>
            </a:pPr>
            <a:r>
              <a:rPr lang="fa-IR" altLang="en-US" sz="1450" dirty="0">
                <a:solidFill>
                  <a:srgbClr val="E8F5E9"/>
                </a:solidFill>
                <a:latin typeface="Vazirmatn Nobar Medium" pitchFamily="34" charset="0"/>
                <a:ea typeface="Vazirmatn Nobar Medium" pitchFamily="34" charset="-122"/>
                <a:cs typeface="Vazirmatn Nobar Medium" pitchFamily="34" charset="-120"/>
              </a:rPr>
              <a:t>۱. پذیرش در مرکز رشد و فضای کار</a:t>
            </a:r>
            <a:endParaRPr lang="fa-IR" sz="1450" dirty="0"/>
          </a:p>
          <a:p>
            <a:pPr rtl="1" algn="r" indent="0" marL="0">
              <a:spcAft>
                <a:spcPts val="400"/>
              </a:spcAft>
              <a:buNone/>
            </a:pPr>
            <a:r>
              <a:rPr lang="fa-IR" altLang="en-US" sz="1450" dirty="0">
                <a:solidFill>
                  <a:srgbClr val="E8F5E9"/>
                </a:solidFill>
                <a:latin typeface="Vazirmatn Nobar Medium" pitchFamily="34" charset="0"/>
                <a:ea typeface="Vazirmatn Nobar Medium" pitchFamily="34" charset="-122"/>
                <a:cs typeface="Vazirmatn Nobar Medium" pitchFamily="34" charset="-120"/>
              </a:rPr>
              <a:t>۲. تسهیلات برای ۱۲ ماه اول</a:t>
            </a:r>
            <a:endParaRPr lang="fa-IR" sz="1450" dirty="0"/>
          </a:p>
          <a:p>
            <a:pPr rtl="1" algn="r" indent="0" marL="0">
              <a:spcAft>
                <a:spcPts val="400"/>
              </a:spcAft>
              <a:buNone/>
            </a:pPr>
            <a:r>
              <a:rPr lang="fa-IR" altLang="en-US" sz="1450" dirty="0">
                <a:solidFill>
                  <a:srgbClr val="E8F5E9"/>
                </a:solidFill>
                <a:latin typeface="Vazirmatn Nobar Medium" pitchFamily="34" charset="0"/>
                <a:ea typeface="Vazirmatn Nobar Medium" pitchFamily="34" charset="-122"/>
                <a:cs typeface="Vazirmatn Nobar Medium" pitchFamily="34" charset="-120"/>
              </a:rPr>
              <a:t>۳. منتورینگ حقوقی و مالی و ارتباط با تعاونی‌های کشاورزی</a:t>
            </a:r>
            <a:endParaRPr lang="fa-IR" sz="1450" dirty="0"/>
          </a:p>
        </p:txBody>
      </p:sp>
      <p:sp>
        <p:nvSpPr>
          <p:cNvPr id="10" name="Shape 6"/>
          <p:cNvSpPr/>
          <p:nvPr/>
        </p:nvSpPr>
        <p:spPr>
          <a:xfrm>
            <a:off x="6263640" y="3675888"/>
            <a:ext cx="5379415" cy="2377440"/>
          </a:xfrm>
          <a:prstGeom prst="roundRect">
            <a:avLst>
              <a:gd name="adj" fmla="val 6154"/>
            </a:avLst>
          </a:prstGeom>
          <a:solidFill>
            <a:srgbClr val="FFFFFF"/>
          </a:solidFill>
          <a:ln/>
          <a:effectLst>
            <a:outerShdw sx="100000" sy="100000" kx="0" ky="0" algn="bl" rotWithShape="0" blurRad="127000" dist="38100" dir="5400000">
              <a:srgbClr val="14532D">
                <a:alpha val="12000"/>
              </a:srgbClr>
            </a:outerShdw>
          </a:effectLst>
        </p:spPr>
      </p:sp>
      <p:sp>
        <p:nvSpPr>
          <p:cNvPr id="11" name="Text 7"/>
          <p:cNvSpPr txBox="1"/>
          <p:nvPr/>
        </p:nvSpPr>
        <p:spPr>
          <a:xfrm>
            <a:off x="6492240" y="3767328"/>
            <a:ext cx="4922215" cy="365760"/>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برنامه‌ی مصرف منابع</a:t>
            </a:r>
            <a:endParaRPr lang="fa-IR" sz="1500" dirty="0"/>
          </a:p>
        </p:txBody>
      </p:sp>
      <p:sp>
        <p:nvSpPr>
          <p:cNvPr id="12" name="Shape 8"/>
          <p:cNvSpPr/>
          <p:nvPr/>
        </p:nvSpPr>
        <p:spPr>
          <a:xfrm>
            <a:off x="9199458" y="4224528"/>
            <a:ext cx="2214997" cy="457200"/>
          </a:xfrm>
          <a:prstGeom prst="rect">
            <a:avLst/>
          </a:prstGeom>
          <a:solidFill>
            <a:srgbClr val="14532D"/>
          </a:solidFill>
          <a:ln w="19050">
            <a:solidFill>
              <a:srgbClr val="FFFFFF"/>
            </a:solidFill>
            <a:prstDash val="solid"/>
          </a:ln>
        </p:spPr>
      </p:sp>
      <p:sp>
        <p:nvSpPr>
          <p:cNvPr id="13" name="Text 9"/>
          <p:cNvSpPr txBox="1"/>
          <p:nvPr/>
        </p:nvSpPr>
        <p:spPr>
          <a:xfrm>
            <a:off x="9199458" y="4224528"/>
            <a:ext cx="2214997" cy="457200"/>
          </a:xfrm>
          <a:prstGeom prst="rect">
            <a:avLst/>
          </a:prstGeom>
          <a:noFill/>
          <a:ln/>
        </p:spPr>
        <p:txBody>
          <a:bodyPr wrap="square" lIns="0" tIns="0" rIns="0" bIns="0" rtlCol="0" anchor="ctr"/>
          <a:lstStyle/>
          <a:p>
            <a:pPr rtl="1" algn="ctr" indent="0" marL="0">
              <a:buNone/>
            </a:pPr>
            <a:r>
              <a:rPr lang="fa-IR" altLang="en-US" sz="1300" dirty="0">
                <a:solidFill>
                  <a:srgbClr val="FFFFFF"/>
                </a:solidFill>
                <a:latin typeface="Vazirmatn Nobar ExtraBold" pitchFamily="34" charset="0"/>
                <a:ea typeface="Vazirmatn Nobar ExtraBold" pitchFamily="34" charset="-122"/>
                <a:cs typeface="Vazirmatn Nobar ExtraBold" pitchFamily="34" charset="-120"/>
              </a:rPr>
              <a:t>۴۵٪</a:t>
            </a:r>
            <a:endParaRPr lang="fa-IR" sz="1300" dirty="0"/>
          </a:p>
        </p:txBody>
      </p:sp>
      <p:sp>
        <p:nvSpPr>
          <p:cNvPr id="14" name="Shape 10"/>
          <p:cNvSpPr/>
          <p:nvPr/>
        </p:nvSpPr>
        <p:spPr>
          <a:xfrm>
            <a:off x="11231575" y="4919472"/>
            <a:ext cx="182880" cy="182880"/>
          </a:xfrm>
          <a:prstGeom prst="roundRect">
            <a:avLst>
              <a:gd name="adj" fmla="val 25000"/>
            </a:avLst>
          </a:prstGeom>
          <a:solidFill>
            <a:srgbClr val="14532D"/>
          </a:solidFill>
          <a:ln/>
        </p:spPr>
      </p:sp>
      <p:sp>
        <p:nvSpPr>
          <p:cNvPr id="15" name="Text 11"/>
          <p:cNvSpPr txBox="1"/>
          <p:nvPr/>
        </p:nvSpPr>
        <p:spPr>
          <a:xfrm>
            <a:off x="8999068" y="4846320"/>
            <a:ext cx="2168500" cy="329184"/>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Medium" pitchFamily="34" charset="0"/>
                <a:ea typeface="Vazirmatn Nobar Medium" pitchFamily="34" charset="-122"/>
                <a:cs typeface="Vazirmatn Nobar Medium" pitchFamily="34" charset="-120"/>
              </a:rPr>
              <a:t>توسعه‌ی فنی  ۴۵٪</a:t>
            </a:r>
            <a:endParaRPr lang="fa-IR" sz="1250" dirty="0"/>
          </a:p>
        </p:txBody>
      </p:sp>
      <p:sp>
        <p:nvSpPr>
          <p:cNvPr id="16" name="Shape 12"/>
          <p:cNvSpPr/>
          <p:nvPr/>
        </p:nvSpPr>
        <p:spPr>
          <a:xfrm>
            <a:off x="7968905" y="4224528"/>
            <a:ext cx="1230554" cy="457200"/>
          </a:xfrm>
          <a:prstGeom prst="rect">
            <a:avLst/>
          </a:prstGeom>
          <a:solidFill>
            <a:srgbClr val="2E7D32"/>
          </a:solidFill>
          <a:ln w="19050">
            <a:solidFill>
              <a:srgbClr val="FFFFFF"/>
            </a:solidFill>
            <a:prstDash val="solid"/>
          </a:ln>
        </p:spPr>
      </p:sp>
      <p:sp>
        <p:nvSpPr>
          <p:cNvPr id="17" name="Text 13"/>
          <p:cNvSpPr txBox="1"/>
          <p:nvPr/>
        </p:nvSpPr>
        <p:spPr>
          <a:xfrm>
            <a:off x="7968905" y="4224528"/>
            <a:ext cx="1230554" cy="457200"/>
          </a:xfrm>
          <a:prstGeom prst="rect">
            <a:avLst/>
          </a:prstGeom>
          <a:noFill/>
          <a:ln/>
        </p:spPr>
        <p:txBody>
          <a:bodyPr wrap="square" lIns="0" tIns="0" rIns="0" bIns="0" rtlCol="0" anchor="ctr"/>
          <a:lstStyle/>
          <a:p>
            <a:pPr rtl="1" algn="ctr" indent="0" marL="0">
              <a:buNone/>
            </a:pPr>
            <a:r>
              <a:rPr lang="fa-IR" altLang="en-US" sz="1300" dirty="0">
                <a:solidFill>
                  <a:srgbClr val="FFFFFF"/>
                </a:solidFill>
                <a:latin typeface="Vazirmatn Nobar ExtraBold" pitchFamily="34" charset="0"/>
                <a:ea typeface="Vazirmatn Nobar ExtraBold" pitchFamily="34" charset="-122"/>
                <a:cs typeface="Vazirmatn Nobar ExtraBold" pitchFamily="34" charset="-120"/>
              </a:rPr>
              <a:t>۲۵٪</a:t>
            </a:r>
            <a:endParaRPr lang="fa-IR" sz="1300" dirty="0"/>
          </a:p>
        </p:txBody>
      </p:sp>
      <p:sp>
        <p:nvSpPr>
          <p:cNvPr id="18" name="Shape 14"/>
          <p:cNvSpPr/>
          <p:nvPr/>
        </p:nvSpPr>
        <p:spPr>
          <a:xfrm>
            <a:off x="8770468" y="4919472"/>
            <a:ext cx="182880" cy="182880"/>
          </a:xfrm>
          <a:prstGeom prst="roundRect">
            <a:avLst>
              <a:gd name="adj" fmla="val 25000"/>
            </a:avLst>
          </a:prstGeom>
          <a:solidFill>
            <a:srgbClr val="2E7D32"/>
          </a:solidFill>
          <a:ln/>
        </p:spPr>
      </p:sp>
      <p:sp>
        <p:nvSpPr>
          <p:cNvPr id="19" name="Text 15"/>
          <p:cNvSpPr txBox="1"/>
          <p:nvPr/>
        </p:nvSpPr>
        <p:spPr>
          <a:xfrm>
            <a:off x="6537960" y="4846320"/>
            <a:ext cx="2168500" cy="329184"/>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Medium" pitchFamily="34" charset="0"/>
                <a:ea typeface="Vazirmatn Nobar Medium" pitchFamily="34" charset="-122"/>
                <a:cs typeface="Vazirmatn Nobar Medium" pitchFamily="34" charset="-120"/>
              </a:rPr>
              <a:t>جذب غرفه‌دار و بازاریابی  ۲۵٪</a:t>
            </a:r>
            <a:endParaRPr lang="fa-IR" sz="1250" dirty="0"/>
          </a:p>
        </p:txBody>
      </p:sp>
      <p:sp>
        <p:nvSpPr>
          <p:cNvPr id="20" name="Shape 16"/>
          <p:cNvSpPr/>
          <p:nvPr/>
        </p:nvSpPr>
        <p:spPr>
          <a:xfrm>
            <a:off x="7230572" y="4224528"/>
            <a:ext cx="738332" cy="457200"/>
          </a:xfrm>
          <a:prstGeom prst="rect">
            <a:avLst/>
          </a:prstGeom>
          <a:solidFill>
            <a:srgbClr val="7CB342"/>
          </a:solidFill>
          <a:ln w="19050">
            <a:solidFill>
              <a:srgbClr val="FFFFFF"/>
            </a:solidFill>
            <a:prstDash val="solid"/>
          </a:ln>
        </p:spPr>
      </p:sp>
      <p:sp>
        <p:nvSpPr>
          <p:cNvPr id="21" name="Text 17"/>
          <p:cNvSpPr txBox="1"/>
          <p:nvPr/>
        </p:nvSpPr>
        <p:spPr>
          <a:xfrm>
            <a:off x="7230572" y="4224528"/>
            <a:ext cx="738332" cy="457200"/>
          </a:xfrm>
          <a:prstGeom prst="rect">
            <a:avLst/>
          </a:prstGeom>
          <a:noFill/>
          <a:ln/>
        </p:spPr>
        <p:txBody>
          <a:bodyPr wrap="square" lIns="0" tIns="0" rIns="0" bIns="0" rtlCol="0" anchor="ctr"/>
          <a:lstStyle/>
          <a:p>
            <a:pPr rtl="1" algn="ctr" indent="0" marL="0">
              <a:buNone/>
            </a:pPr>
            <a:r>
              <a:rPr lang="fa-IR" altLang="en-US" sz="1300" dirty="0">
                <a:solidFill>
                  <a:srgbClr val="FFFFFF"/>
                </a:solidFill>
                <a:latin typeface="Vazirmatn Nobar ExtraBold" pitchFamily="34" charset="0"/>
                <a:ea typeface="Vazirmatn Nobar ExtraBold" pitchFamily="34" charset="-122"/>
                <a:cs typeface="Vazirmatn Nobar ExtraBold" pitchFamily="34" charset="-120"/>
              </a:rPr>
              <a:t>۱۵٪</a:t>
            </a:r>
            <a:endParaRPr lang="fa-IR" sz="1300" dirty="0"/>
          </a:p>
        </p:txBody>
      </p:sp>
      <p:sp>
        <p:nvSpPr>
          <p:cNvPr id="22" name="Shape 18"/>
          <p:cNvSpPr/>
          <p:nvPr/>
        </p:nvSpPr>
        <p:spPr>
          <a:xfrm>
            <a:off x="11231575" y="5266944"/>
            <a:ext cx="182880" cy="182880"/>
          </a:xfrm>
          <a:prstGeom prst="roundRect">
            <a:avLst>
              <a:gd name="adj" fmla="val 25000"/>
            </a:avLst>
          </a:prstGeom>
          <a:solidFill>
            <a:srgbClr val="7CB342"/>
          </a:solidFill>
          <a:ln/>
        </p:spPr>
      </p:sp>
      <p:sp>
        <p:nvSpPr>
          <p:cNvPr id="23" name="Text 19"/>
          <p:cNvSpPr txBox="1"/>
          <p:nvPr/>
        </p:nvSpPr>
        <p:spPr>
          <a:xfrm>
            <a:off x="8999068" y="5193792"/>
            <a:ext cx="2168500" cy="329184"/>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Medium" pitchFamily="34" charset="0"/>
                <a:ea typeface="Vazirmatn Nobar Medium" pitchFamily="34" charset="-122"/>
                <a:cs typeface="Vazirmatn Nobar Medium" pitchFamily="34" charset="-120"/>
              </a:rPr>
              <a:t>عملیات و پشتیبانی  ۱۵٪</a:t>
            </a:r>
            <a:endParaRPr lang="fa-IR" sz="1250" dirty="0"/>
          </a:p>
        </p:txBody>
      </p:sp>
      <p:sp>
        <p:nvSpPr>
          <p:cNvPr id="24" name="Shape 20"/>
          <p:cNvSpPr/>
          <p:nvPr/>
        </p:nvSpPr>
        <p:spPr>
          <a:xfrm>
            <a:off x="6738351" y="4224528"/>
            <a:ext cx="492222" cy="457200"/>
          </a:xfrm>
          <a:prstGeom prst="rect">
            <a:avLst/>
          </a:prstGeom>
          <a:solidFill>
            <a:srgbClr val="C5E1A5"/>
          </a:solidFill>
          <a:ln w="19050">
            <a:solidFill>
              <a:srgbClr val="FFFFFF"/>
            </a:solidFill>
            <a:prstDash val="solid"/>
          </a:ln>
        </p:spPr>
      </p:sp>
      <p:sp>
        <p:nvSpPr>
          <p:cNvPr id="25" name="Text 21"/>
          <p:cNvSpPr txBox="1"/>
          <p:nvPr/>
        </p:nvSpPr>
        <p:spPr>
          <a:xfrm>
            <a:off x="6738351" y="4224528"/>
            <a:ext cx="492222" cy="457200"/>
          </a:xfrm>
          <a:prstGeom prst="rect">
            <a:avLst/>
          </a:prstGeom>
          <a:noFill/>
          <a:ln/>
        </p:spPr>
        <p:txBody>
          <a:bodyPr wrap="square" lIns="0" tIns="0" rIns="0" bIns="0" rtlCol="0" anchor="ctr"/>
          <a:lstStyle/>
          <a:p>
            <a:pPr rtl="1" algn="ctr" indent="0" marL="0">
              <a:buNone/>
            </a:pPr>
            <a:r>
              <a:rPr lang="fa-IR" altLang="en-US" sz="1300" dirty="0">
                <a:solidFill>
                  <a:srgbClr val="14532D"/>
                </a:solidFill>
                <a:latin typeface="Vazirmatn Nobar ExtraBold" pitchFamily="34" charset="0"/>
                <a:ea typeface="Vazirmatn Nobar ExtraBold" pitchFamily="34" charset="-122"/>
                <a:cs typeface="Vazirmatn Nobar ExtraBold" pitchFamily="34" charset="-120"/>
              </a:rPr>
              <a:t>۱۰٪</a:t>
            </a:r>
            <a:endParaRPr lang="fa-IR" sz="1300" dirty="0"/>
          </a:p>
        </p:txBody>
      </p:sp>
      <p:sp>
        <p:nvSpPr>
          <p:cNvPr id="26" name="Shape 22"/>
          <p:cNvSpPr/>
          <p:nvPr/>
        </p:nvSpPr>
        <p:spPr>
          <a:xfrm>
            <a:off x="8770468" y="5266944"/>
            <a:ext cx="182880" cy="182880"/>
          </a:xfrm>
          <a:prstGeom prst="roundRect">
            <a:avLst>
              <a:gd name="adj" fmla="val 25000"/>
            </a:avLst>
          </a:prstGeom>
          <a:solidFill>
            <a:srgbClr val="C5E1A5"/>
          </a:solidFill>
          <a:ln/>
        </p:spPr>
      </p:sp>
      <p:sp>
        <p:nvSpPr>
          <p:cNvPr id="27" name="Text 23"/>
          <p:cNvSpPr txBox="1"/>
          <p:nvPr/>
        </p:nvSpPr>
        <p:spPr>
          <a:xfrm>
            <a:off x="6537960" y="5193792"/>
            <a:ext cx="2168500" cy="329184"/>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Medium" pitchFamily="34" charset="0"/>
                <a:ea typeface="Vazirmatn Nobar Medium" pitchFamily="34" charset="-122"/>
                <a:cs typeface="Vazirmatn Nobar Medium" pitchFamily="34" charset="-120"/>
              </a:rPr>
              <a:t>زیرساخت و امنیت  ۱۰٪</a:t>
            </a:r>
            <a:endParaRPr lang="fa-IR" sz="1250" dirty="0"/>
          </a:p>
        </p:txBody>
      </p:sp>
      <p:sp>
        <p:nvSpPr>
          <p:cNvPr id="28" name="Shape 24"/>
          <p:cNvSpPr/>
          <p:nvPr/>
        </p:nvSpPr>
        <p:spPr>
          <a:xfrm>
            <a:off x="6492240" y="4224528"/>
            <a:ext cx="246111" cy="457200"/>
          </a:xfrm>
          <a:prstGeom prst="rect">
            <a:avLst/>
          </a:prstGeom>
          <a:solidFill>
            <a:srgbClr val="F2A900"/>
          </a:solidFill>
          <a:ln w="19050">
            <a:solidFill>
              <a:srgbClr val="FFFFFF"/>
            </a:solidFill>
            <a:prstDash val="solid"/>
          </a:ln>
        </p:spPr>
      </p:sp>
      <p:sp>
        <p:nvSpPr>
          <p:cNvPr id="29" name="Shape 25"/>
          <p:cNvSpPr/>
          <p:nvPr/>
        </p:nvSpPr>
        <p:spPr>
          <a:xfrm>
            <a:off x="11231575" y="5614416"/>
            <a:ext cx="182880" cy="182880"/>
          </a:xfrm>
          <a:prstGeom prst="roundRect">
            <a:avLst>
              <a:gd name="adj" fmla="val 25000"/>
            </a:avLst>
          </a:prstGeom>
          <a:solidFill>
            <a:srgbClr val="F2A900"/>
          </a:solidFill>
          <a:ln/>
        </p:spPr>
      </p:sp>
      <p:sp>
        <p:nvSpPr>
          <p:cNvPr id="30" name="Text 26"/>
          <p:cNvSpPr txBox="1"/>
          <p:nvPr/>
        </p:nvSpPr>
        <p:spPr>
          <a:xfrm>
            <a:off x="8999068" y="5541264"/>
            <a:ext cx="2168500" cy="329184"/>
          </a:xfrm>
          <a:prstGeom prst="rect">
            <a:avLst/>
          </a:prstGeom>
          <a:noFill/>
          <a:ln/>
        </p:spPr>
        <p:txBody>
          <a:bodyPr wrap="square" lIns="0" tIns="0" rIns="0" bIns="0" rtlCol="0" anchor="ctr"/>
          <a:lstStyle/>
          <a:p>
            <a:pPr rtl="1" algn="r" indent="0" marL="0">
              <a:buNone/>
            </a:pPr>
            <a:r>
              <a:rPr lang="fa-IR" altLang="en-US" sz="1250" dirty="0">
                <a:solidFill>
                  <a:srgbClr val="1F2A1F"/>
                </a:solidFill>
                <a:latin typeface="Vazirmatn Nobar Medium" pitchFamily="34" charset="0"/>
                <a:ea typeface="Vazirmatn Nobar Medium" pitchFamily="34" charset="-122"/>
                <a:cs typeface="Vazirmatn Nobar Medium" pitchFamily="34" charset="-120"/>
              </a:rPr>
              <a:t>حقوقی و مجوزها  ۵٪</a:t>
            </a:r>
            <a:endParaRPr lang="fa-IR" sz="1250" dirty="0"/>
          </a:p>
        </p:txBody>
      </p:sp>
      <p:sp>
        <p:nvSpPr>
          <p:cNvPr id="31" name="Text 27"/>
          <p:cNvSpPr txBox="1"/>
          <p:nvPr/>
        </p:nvSpPr>
        <p:spPr>
          <a:xfrm>
            <a:off x="548640" y="1572768"/>
            <a:ext cx="5440680" cy="384048"/>
          </a:xfrm>
          <a:prstGeom prst="rect">
            <a:avLst/>
          </a:prstGeom>
          <a:noFill/>
          <a:ln/>
        </p:spPr>
        <p:txBody>
          <a:bodyPr wrap="square" lIns="0" tIns="0" rIns="0" bIns="0" rtlCol="0" anchor="t"/>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تیم</a:t>
            </a:r>
            <a:endParaRPr lang="fa-IR" sz="1800" dirty="0"/>
          </a:p>
        </p:txBody>
      </p:sp>
      <p:sp>
        <p:nvSpPr>
          <p:cNvPr id="32" name="Shape 28"/>
          <p:cNvSpPr/>
          <p:nvPr/>
        </p:nvSpPr>
        <p:spPr>
          <a:xfrm>
            <a:off x="548640" y="2029968"/>
            <a:ext cx="5440680" cy="1188720"/>
          </a:xfrm>
          <a:prstGeom prst="roundRect">
            <a:avLst>
              <a:gd name="adj" fmla="val 12308"/>
            </a:avLst>
          </a:prstGeom>
          <a:solidFill>
            <a:srgbClr val="FFFFFF"/>
          </a:solidFill>
          <a:ln/>
          <a:effectLst>
            <a:outerShdw sx="100000" sy="100000" kx="0" ky="0" algn="bl" rotWithShape="0" blurRad="127000" dist="38100" dir="5400000">
              <a:srgbClr val="14532D">
                <a:alpha val="12000"/>
              </a:srgbClr>
            </a:outerShdw>
          </a:effectLst>
        </p:spPr>
      </p:sp>
      <p:sp>
        <p:nvSpPr>
          <p:cNvPr id="33" name="Shape 29"/>
          <p:cNvSpPr/>
          <p:nvPr/>
        </p:nvSpPr>
        <p:spPr>
          <a:xfrm>
            <a:off x="4892040" y="2167128"/>
            <a:ext cx="914400" cy="914400"/>
          </a:xfrm>
          <a:prstGeom prst="ellipse">
            <a:avLst/>
          </a:prstGeom>
          <a:solidFill>
            <a:srgbClr val="EAF5E6"/>
          </a:solidFill>
          <a:ln/>
        </p:spPr>
      </p:sp>
      <p:pic>
        <p:nvPicPr>
          <p:cNvPr id="34" name="icon man_technologist" descr="/tmp/claude-0/-home-claude/e50823c0-d46f-5818-8f05-9d714cd67f5c/scratchpad/assets/icons/man_technologist.png">    </p:cNvPr>
          <p:cNvPicPr>
            <a:picLocks noChangeAspect="1"/>
          </p:cNvPicPr>
          <p:nvPr/>
        </p:nvPicPr>
        <p:blipFill>
          <a:blip r:embed="rId2"/>
          <a:stretch>
            <a:fillRect/>
          </a:stretch>
        </p:blipFill>
        <p:spPr>
          <a:xfrm>
            <a:off x="5038344" y="2313432"/>
            <a:ext cx="621792" cy="621792"/>
          </a:xfrm>
          <a:prstGeom prst="rect">
            <a:avLst/>
          </a:prstGeom>
        </p:spPr>
      </p:pic>
      <p:sp>
        <p:nvSpPr>
          <p:cNvPr id="35" name="Text 30"/>
          <p:cNvSpPr txBox="1"/>
          <p:nvPr/>
        </p:nvSpPr>
        <p:spPr>
          <a:xfrm>
            <a:off x="777240" y="2121408"/>
            <a:ext cx="3977640" cy="411480"/>
          </a:xfrm>
          <a:prstGeom prst="rect">
            <a:avLst/>
          </a:prstGeom>
          <a:noFill/>
          <a:ln/>
        </p:spPr>
        <p:txBody>
          <a:bodyPr wrap="square" lIns="0" tIns="0" rIns="0" bIns="0" rtlCol="0" anchor="t"/>
          <a:lstStyle/>
          <a:p>
            <a:pPr rtl="1" algn="r" indent="0" marL="0">
              <a:buNone/>
            </a:pPr>
            <a:r>
              <a:rPr lang="fa-IR" altLang="en-US" sz="1800" dirty="0">
                <a:solidFill>
                  <a:srgbClr val="14532D"/>
                </a:solidFill>
                <a:latin typeface="Vazirmatn Nobar ExtraBold" pitchFamily="34" charset="0"/>
                <a:ea typeface="Vazirmatn Nobar ExtraBold" pitchFamily="34" charset="-122"/>
                <a:cs typeface="Vazirmatn Nobar ExtraBold" pitchFamily="34" charset="-120"/>
              </a:rPr>
              <a:t>[نام و نام خانوادگی]</a:t>
            </a:r>
            <a:endParaRPr lang="fa-IR" sz="1800" dirty="0"/>
          </a:p>
        </p:txBody>
      </p:sp>
      <p:sp>
        <p:nvSpPr>
          <p:cNvPr id="36" name="Text 31"/>
          <p:cNvSpPr txBox="1"/>
          <p:nvPr/>
        </p:nvSpPr>
        <p:spPr>
          <a:xfrm>
            <a:off x="777240" y="2514600"/>
            <a:ext cx="3977640" cy="320040"/>
          </a:xfrm>
          <a:prstGeom prst="rect">
            <a:avLst/>
          </a:prstGeom>
          <a:noFill/>
          <a:ln/>
        </p:spPr>
        <p:txBody>
          <a:bodyPr wrap="square" lIns="0" tIns="0" rIns="0" bIns="0" rtlCol="0" anchor="t"/>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بنیان‌گذار، مدیر محصول و فنی</a:t>
            </a:r>
            <a:endParaRPr lang="fa-IR" sz="1400" dirty="0"/>
          </a:p>
        </p:txBody>
      </p:sp>
      <p:sp>
        <p:nvSpPr>
          <p:cNvPr id="37" name="Text 32"/>
          <p:cNvSpPr txBox="1"/>
          <p:nvPr/>
        </p:nvSpPr>
        <p:spPr>
          <a:xfrm>
            <a:off x="777240" y="2834640"/>
            <a:ext cx="3977640" cy="292608"/>
          </a:xfrm>
          <a:prstGeom prst="rect">
            <a:avLst/>
          </a:prstGeom>
          <a:noFill/>
          <a:ln/>
        </p:spPr>
        <p:txBody>
          <a:bodyPr wrap="square" lIns="0" tIns="0" rIns="0" bIns="0" rtlCol="0" anchor="t"/>
          <a:lstStyle/>
          <a:p>
            <a:pPr rtl="1" algn="r" indent="0" marL="0">
              <a:buNone/>
            </a:pPr>
            <a:r>
              <a:rPr lang="fa-IR" altLang="en-US" sz="1250" dirty="0">
                <a:solidFill>
                  <a:srgbClr val="5F6B5F"/>
                </a:solidFill>
                <a:latin typeface="Vazirmatn Nobar" pitchFamily="34" charset="0"/>
                <a:ea typeface="Vazirmatn Nobar" pitchFamily="34" charset="-122"/>
                <a:cs typeface="Vazirmatn Nobar" pitchFamily="34" charset="-120"/>
              </a:rPr>
              <a:t>[سابقه یا تحصیلات مرتبط در یک خط]</a:t>
            </a:r>
            <a:endParaRPr lang="fa-IR" sz="1250" dirty="0"/>
          </a:p>
        </p:txBody>
      </p:sp>
      <p:sp>
        <p:nvSpPr>
          <p:cNvPr id="38" name="Text 33"/>
          <p:cNvSpPr txBox="1"/>
          <p:nvPr/>
        </p:nvSpPr>
        <p:spPr>
          <a:xfrm>
            <a:off x="548640" y="3401568"/>
            <a:ext cx="5440680" cy="365760"/>
          </a:xfrm>
          <a:prstGeom prst="rect">
            <a:avLst/>
          </a:prstGeom>
          <a:noFill/>
          <a:ln/>
        </p:spPr>
        <p:txBody>
          <a:bodyPr wrap="square" lIns="0" tIns="0" rIns="0" bIns="0" rtlCol="0" anchor="t"/>
          <a:lstStyle/>
          <a:p>
            <a:pPr rtl="1" algn="r" indent="0" marL="0">
              <a:buNone/>
            </a:pPr>
            <a:r>
              <a:rPr lang="fa-IR" altLang="en-US" sz="1500" dirty="0">
                <a:solidFill>
                  <a:srgbClr val="14532D"/>
                </a:solidFill>
                <a:latin typeface="Vazirmatn Nobar ExtraBold" pitchFamily="34" charset="0"/>
                <a:ea typeface="Vazirmatn Nobar ExtraBold" pitchFamily="34" charset="-122"/>
                <a:cs typeface="Vazirmatn Nobar ExtraBold" pitchFamily="34" charset="-120"/>
              </a:rPr>
              <a:t>نقش‌های موردنیاز سال اول</a:t>
            </a:r>
            <a:endParaRPr lang="fa-IR" sz="1500" dirty="0"/>
          </a:p>
        </p:txBody>
      </p:sp>
      <p:sp>
        <p:nvSpPr>
          <p:cNvPr id="39" name="Shape 34"/>
          <p:cNvSpPr/>
          <p:nvPr/>
        </p:nvSpPr>
        <p:spPr>
          <a:xfrm>
            <a:off x="548640" y="3840480"/>
            <a:ext cx="5440680" cy="475488"/>
          </a:xfrm>
          <a:prstGeom prst="roundRect">
            <a:avLst>
              <a:gd name="adj" fmla="val 23077"/>
            </a:avLst>
          </a:prstGeom>
          <a:solidFill>
            <a:srgbClr val="FFFFFF"/>
          </a:solidFill>
          <a:ln/>
          <a:effectLst>
            <a:outerShdw sx="100000" sy="100000" kx="0" ky="0" algn="bl" rotWithShape="0" blurRad="76200" dist="25400" dir="5400000">
              <a:srgbClr val="14532D">
                <a:alpha val="8000"/>
              </a:srgbClr>
            </a:outerShdw>
          </a:effectLst>
        </p:spPr>
      </p:sp>
      <p:pic>
        <p:nvPicPr>
          <p:cNvPr id="40" name="icon woman_technologist" descr="/tmp/claude-0/-home-claude/e50823c0-d46f-5818-8f05-9d714cd67f5c/scratchpad/assets/icons/woman_technologist.png">    </p:cNvPr>
          <p:cNvPicPr>
            <a:picLocks noChangeAspect="1"/>
          </p:cNvPicPr>
          <p:nvPr/>
        </p:nvPicPr>
        <p:blipFill>
          <a:blip r:embed="rId3"/>
          <a:stretch>
            <a:fillRect/>
          </a:stretch>
        </p:blipFill>
        <p:spPr>
          <a:xfrm>
            <a:off x="5486400" y="3895344"/>
            <a:ext cx="365760" cy="365760"/>
          </a:xfrm>
          <a:prstGeom prst="rect">
            <a:avLst/>
          </a:prstGeom>
        </p:spPr>
      </p:pic>
      <p:sp>
        <p:nvSpPr>
          <p:cNvPr id="41" name="Text 35"/>
          <p:cNvSpPr txBox="1"/>
          <p:nvPr/>
        </p:nvSpPr>
        <p:spPr>
          <a:xfrm>
            <a:off x="731520" y="3840480"/>
            <a:ext cx="4663440" cy="475488"/>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توسعه‌دهنده‌ی بک‌اند</a:t>
            </a:r>
            <a:endParaRPr lang="fa-IR" sz="1400" dirty="0"/>
          </a:p>
        </p:txBody>
      </p:sp>
      <p:sp>
        <p:nvSpPr>
          <p:cNvPr id="42" name="Shape 36"/>
          <p:cNvSpPr/>
          <p:nvPr/>
        </p:nvSpPr>
        <p:spPr>
          <a:xfrm>
            <a:off x="548640" y="4389120"/>
            <a:ext cx="5440680" cy="475488"/>
          </a:xfrm>
          <a:prstGeom prst="roundRect">
            <a:avLst>
              <a:gd name="adj" fmla="val 23077"/>
            </a:avLst>
          </a:prstGeom>
          <a:solidFill>
            <a:srgbClr val="FFFFFF"/>
          </a:solidFill>
          <a:ln/>
          <a:effectLst>
            <a:outerShdw sx="100000" sy="100000" kx="0" ky="0" algn="bl" rotWithShape="0" blurRad="76200" dist="25400" dir="5400000">
              <a:srgbClr val="14532D">
                <a:alpha val="8000"/>
              </a:srgbClr>
            </a:outerShdw>
          </a:effectLst>
        </p:spPr>
      </p:sp>
      <p:pic>
        <p:nvPicPr>
          <p:cNvPr id="43" name="icon laptop" descr="/tmp/claude-0/-home-claude/e50823c0-d46f-5818-8f05-9d714cd67f5c/scratchpad/assets/icons/laptop.png">    </p:cNvPr>
          <p:cNvPicPr>
            <a:picLocks noChangeAspect="1"/>
          </p:cNvPicPr>
          <p:nvPr/>
        </p:nvPicPr>
        <p:blipFill>
          <a:blip r:embed="rId4"/>
          <a:stretch>
            <a:fillRect/>
          </a:stretch>
        </p:blipFill>
        <p:spPr>
          <a:xfrm>
            <a:off x="5486400" y="4443984"/>
            <a:ext cx="365760" cy="365760"/>
          </a:xfrm>
          <a:prstGeom prst="rect">
            <a:avLst/>
          </a:prstGeom>
        </p:spPr>
      </p:pic>
      <p:sp>
        <p:nvSpPr>
          <p:cNvPr id="44" name="Text 37"/>
          <p:cNvSpPr txBox="1"/>
          <p:nvPr/>
        </p:nvSpPr>
        <p:spPr>
          <a:xfrm>
            <a:off x="731520" y="4389120"/>
            <a:ext cx="4663440" cy="475488"/>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توسعه‌دهنده‌ی فرانت‌اند و موبایل</a:t>
            </a:r>
            <a:endParaRPr lang="fa-IR" sz="1400" dirty="0"/>
          </a:p>
        </p:txBody>
      </p:sp>
      <p:sp>
        <p:nvSpPr>
          <p:cNvPr id="45" name="Shape 38"/>
          <p:cNvSpPr/>
          <p:nvPr/>
        </p:nvSpPr>
        <p:spPr>
          <a:xfrm>
            <a:off x="548640" y="4937760"/>
            <a:ext cx="5440680" cy="475488"/>
          </a:xfrm>
          <a:prstGeom prst="roundRect">
            <a:avLst>
              <a:gd name="adj" fmla="val 23077"/>
            </a:avLst>
          </a:prstGeom>
          <a:solidFill>
            <a:srgbClr val="FFFFFF"/>
          </a:solidFill>
          <a:ln/>
          <a:effectLst>
            <a:outerShdw sx="100000" sy="100000" kx="0" ky="0" algn="bl" rotWithShape="0" blurRad="76200" dist="25400" dir="5400000">
              <a:srgbClr val="14532D">
                <a:alpha val="8000"/>
              </a:srgbClr>
            </a:outerShdw>
          </a:effectLst>
        </p:spPr>
      </p:sp>
      <p:pic>
        <p:nvPicPr>
          <p:cNvPr id="46" name="icon woman_farmer" descr="/tmp/claude-0/-home-claude/e50823c0-d46f-5818-8f05-9d714cd67f5c/scratchpad/assets/icons/woman_farmer.png">    </p:cNvPr>
          <p:cNvPicPr>
            <a:picLocks noChangeAspect="1"/>
          </p:cNvPicPr>
          <p:nvPr/>
        </p:nvPicPr>
        <p:blipFill>
          <a:blip r:embed="rId5"/>
          <a:stretch>
            <a:fillRect/>
          </a:stretch>
        </p:blipFill>
        <p:spPr>
          <a:xfrm>
            <a:off x="5486400" y="4992624"/>
            <a:ext cx="365760" cy="365760"/>
          </a:xfrm>
          <a:prstGeom prst="rect">
            <a:avLst/>
          </a:prstGeom>
        </p:spPr>
      </p:pic>
      <p:sp>
        <p:nvSpPr>
          <p:cNvPr id="47" name="Text 39"/>
          <p:cNvSpPr txBox="1"/>
          <p:nvPr/>
        </p:nvSpPr>
        <p:spPr>
          <a:xfrm>
            <a:off x="731520" y="4937760"/>
            <a:ext cx="4663440" cy="475488"/>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مسئول جذب و پشتیبانی غرفه‌داران</a:t>
            </a:r>
            <a:endParaRPr lang="fa-IR" sz="1400" dirty="0"/>
          </a:p>
        </p:txBody>
      </p:sp>
      <p:sp>
        <p:nvSpPr>
          <p:cNvPr id="48" name="Shape 40"/>
          <p:cNvSpPr/>
          <p:nvPr/>
        </p:nvSpPr>
        <p:spPr>
          <a:xfrm>
            <a:off x="548640" y="5486400"/>
            <a:ext cx="5440680" cy="475488"/>
          </a:xfrm>
          <a:prstGeom prst="roundRect">
            <a:avLst>
              <a:gd name="adj" fmla="val 23077"/>
            </a:avLst>
          </a:prstGeom>
          <a:solidFill>
            <a:srgbClr val="FFFFFF"/>
          </a:solidFill>
          <a:ln/>
          <a:effectLst>
            <a:outerShdw sx="100000" sy="100000" kx="0" ky="0" algn="bl" rotWithShape="0" blurRad="76200" dist="25400" dir="5400000">
              <a:srgbClr val="14532D">
                <a:alpha val="8000"/>
              </a:srgbClr>
            </a:outerShdw>
          </a:effectLst>
        </p:spPr>
      </p:sp>
      <p:pic>
        <p:nvPicPr>
          <p:cNvPr id="49" name="icon seedling" descr="/tmp/claude-0/-home-claude/e50823c0-d46f-5818-8f05-9d714cd67f5c/scratchpad/assets/icons/seedling.png">    </p:cNvPr>
          <p:cNvPicPr>
            <a:picLocks noChangeAspect="1"/>
          </p:cNvPicPr>
          <p:nvPr/>
        </p:nvPicPr>
        <p:blipFill>
          <a:blip r:embed="rId6"/>
          <a:stretch>
            <a:fillRect/>
          </a:stretch>
        </p:blipFill>
        <p:spPr>
          <a:xfrm>
            <a:off x="5486400" y="5541264"/>
            <a:ext cx="365760" cy="365760"/>
          </a:xfrm>
          <a:prstGeom prst="rect">
            <a:avLst/>
          </a:prstGeom>
        </p:spPr>
      </p:pic>
      <p:sp>
        <p:nvSpPr>
          <p:cNvPr id="50" name="Text 41"/>
          <p:cNvSpPr txBox="1"/>
          <p:nvPr/>
        </p:nvSpPr>
        <p:spPr>
          <a:xfrm>
            <a:off x="731520" y="5486400"/>
            <a:ext cx="4663440" cy="475488"/>
          </a:xfrm>
          <a:prstGeom prst="rect">
            <a:avLst/>
          </a:prstGeom>
          <a:noFill/>
          <a:ln/>
        </p:spPr>
        <p:txBody>
          <a:bodyPr wrap="square" lIns="0" tIns="0" rIns="0" bIns="0" rtlCol="0" anchor="ctr"/>
          <a:lstStyle/>
          <a:p>
            <a:pPr rtl="1" algn="r" indent="0" marL="0">
              <a:buNone/>
            </a:pPr>
            <a:r>
              <a:rPr lang="fa-IR" altLang="en-US" sz="1400" dirty="0">
                <a:solidFill>
                  <a:srgbClr val="1F2A1F"/>
                </a:solidFill>
                <a:latin typeface="Vazirmatn Nobar SemiBold" pitchFamily="34" charset="0"/>
                <a:ea typeface="Vazirmatn Nobar SemiBold" pitchFamily="34" charset="-122"/>
                <a:cs typeface="Vazirmatn Nobar SemiBold" pitchFamily="34" charset="-120"/>
              </a:rPr>
              <a:t>مشاور کشاورزی و پس از برداشت (پاره‌وقت)</a:t>
            </a:r>
            <a:endParaRPr lang="fa-IR"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tmp/claude-0/-home-claude/e50823c0-d46f-5818-8f05-9d714cd67f5c/scratchpad/deck/img/logo_white.png">    </p:cNvPr>
          <p:cNvPicPr>
            <a:picLocks noChangeAspect="1"/>
          </p:cNvPicPr>
          <p:nvPr/>
        </p:nvPicPr>
        <p:blipFill>
          <a:blip r:embed="rId1"/>
          <a:stretch>
            <a:fillRect/>
          </a:stretch>
        </p:blipFill>
        <p:spPr>
          <a:xfrm>
            <a:off x="4632808" y="1051560"/>
            <a:ext cx="2926080" cy="1416839"/>
          </a:xfrm>
          <a:prstGeom prst="rect">
            <a:avLst/>
          </a:prstGeom>
        </p:spPr>
      </p:pic>
      <p:sp>
        <p:nvSpPr>
          <p:cNvPr id="3" name="Text 0"/>
          <p:cNvSpPr txBox="1"/>
          <p:nvPr/>
        </p:nvSpPr>
        <p:spPr>
          <a:xfrm>
            <a:off x="1828800" y="2697480"/>
            <a:ext cx="8534095" cy="822960"/>
          </a:xfrm>
          <a:prstGeom prst="rect">
            <a:avLst/>
          </a:prstGeom>
          <a:noFill/>
          <a:ln/>
        </p:spPr>
        <p:txBody>
          <a:bodyPr wrap="square" lIns="0" tIns="0" rIns="0" bIns="0" rtlCol="0" anchor="ctr"/>
          <a:lstStyle/>
          <a:p>
            <a:pPr rtl="1" algn="ctr" indent="0" marL="0">
              <a:buNone/>
            </a:pPr>
            <a:r>
              <a:rPr lang="fa-IR" altLang="en-US" sz="4400" dirty="0">
                <a:solidFill>
                  <a:srgbClr val="FFFFFF"/>
                </a:solidFill>
                <a:latin typeface="Vazirmatn Nobar Black" pitchFamily="34" charset="0"/>
                <a:ea typeface="Vazirmatn Nobar Black" pitchFamily="34" charset="-122"/>
                <a:cs typeface="Vazirmatn Nobar Black" pitchFamily="34" charset="-120"/>
              </a:rPr>
              <a:t>سپاس از توجه شما</a:t>
            </a:r>
            <a:endParaRPr lang="fa-IR" sz="4400" dirty="0"/>
          </a:p>
        </p:txBody>
      </p:sp>
      <p:sp>
        <p:nvSpPr>
          <p:cNvPr id="4" name="Text 1"/>
          <p:cNvSpPr txBox="1"/>
          <p:nvPr/>
        </p:nvSpPr>
        <p:spPr>
          <a:xfrm>
            <a:off x="1828800" y="3566160"/>
            <a:ext cx="8534095" cy="548640"/>
          </a:xfrm>
          <a:prstGeom prst="rect">
            <a:avLst/>
          </a:prstGeom>
          <a:noFill/>
          <a:ln/>
        </p:spPr>
        <p:txBody>
          <a:bodyPr wrap="square" lIns="0" tIns="0" rIns="0" bIns="0" rtlCol="0" anchor="ctr"/>
          <a:lstStyle/>
          <a:p>
            <a:pPr rtl="1" algn="ctr" indent="0" marL="0">
              <a:buNone/>
            </a:pPr>
            <a:r>
              <a:rPr lang="fa-IR" altLang="en-US" sz="2200" dirty="0">
                <a:solidFill>
                  <a:srgbClr val="C5E1A5"/>
                </a:solidFill>
                <a:latin typeface="Vazirmatn Nobar Medium" pitchFamily="34" charset="0"/>
                <a:ea typeface="Vazirmatn Nobar Medium" pitchFamily="34" charset="-122"/>
                <a:cs typeface="Vazirmatn Nobar Medium" pitchFamily="34" charset="-120"/>
              </a:rPr>
              <a:t>نوبرِ هر شهر، مستقیم از باغ</a:t>
            </a:r>
            <a:endParaRPr lang="fa-IR" sz="2200" dirty="0"/>
          </a:p>
        </p:txBody>
      </p:sp>
      <p:sp>
        <p:nvSpPr>
          <p:cNvPr id="5" name="Shape 2"/>
          <p:cNvSpPr/>
          <p:nvPr/>
        </p:nvSpPr>
        <p:spPr>
          <a:xfrm>
            <a:off x="4998568" y="4389120"/>
            <a:ext cx="2194560" cy="502920"/>
          </a:xfrm>
          <a:prstGeom prst="roundRect">
            <a:avLst>
              <a:gd name="adj" fmla="val 50000"/>
            </a:avLst>
          </a:prstGeom>
          <a:solidFill>
            <a:srgbClr val="2E7D32"/>
          </a:solidFill>
          <a:ln w="12700">
            <a:solidFill>
              <a:srgbClr val="A5D6A7"/>
            </a:solidFill>
            <a:prstDash val="solid"/>
          </a:ln>
        </p:spPr>
      </p:sp>
      <p:sp>
        <p:nvSpPr>
          <p:cNvPr id="6" name="Text 3"/>
          <p:cNvSpPr txBox="1"/>
          <p:nvPr/>
        </p:nvSpPr>
        <p:spPr>
          <a:xfrm>
            <a:off x="4998568" y="4389120"/>
            <a:ext cx="2194560" cy="502920"/>
          </a:xfrm>
          <a:prstGeom prst="rect">
            <a:avLst/>
          </a:prstGeom>
          <a:noFill/>
          <a:ln/>
        </p:spPr>
        <p:txBody>
          <a:bodyPr wrap="square" lIns="0" tIns="0" rIns="0" bIns="0" rtlCol="0" anchor="ctr"/>
          <a:lstStyle/>
          <a:p>
            <a:pPr rtl="1" algn="ctr" indent="0" marL="0">
              <a:buNone/>
            </a:pPr>
            <a:r>
              <a:rPr lang="fa-IR" altLang="en-US" sz="1600" dirty="0">
                <a:solidFill>
                  <a:srgbClr val="FFFFFF"/>
                </a:solidFill>
                <a:latin typeface="Vazirmatn Nobar ExtraBold" pitchFamily="34" charset="0"/>
                <a:ea typeface="Vazirmatn Nobar ExtraBold" pitchFamily="34" charset="-122"/>
                <a:cs typeface="Vazirmatn Nobar ExtraBold" pitchFamily="34" charset="-120"/>
              </a:rPr>
              <a:t>پرسش و پاسخ</a:t>
            </a:r>
            <a:endParaRPr lang="fa-IR" sz="1600" dirty="0"/>
          </a:p>
        </p:txBody>
      </p:sp>
      <p:sp>
        <p:nvSpPr>
          <p:cNvPr id="7" name="Text 4"/>
          <p:cNvSpPr txBox="1"/>
          <p:nvPr/>
        </p:nvSpPr>
        <p:spPr>
          <a:xfrm>
            <a:off x="1828800" y="5166360"/>
            <a:ext cx="8534095" cy="365760"/>
          </a:xfrm>
          <a:prstGeom prst="rect">
            <a:avLst/>
          </a:prstGeom>
          <a:noFill/>
          <a:ln/>
        </p:spPr>
        <p:txBody>
          <a:bodyPr wrap="square" lIns="0" tIns="0" rIns="0" bIns="0" rtlCol="0" anchor="t"/>
          <a:lstStyle/>
          <a:p>
            <a:pPr rtl="1" algn="ctr" indent="0" marL="0">
              <a:buNone/>
            </a:pPr>
            <a:r>
              <a:rPr lang="fa-IR" altLang="en-US" sz="1400" dirty="0">
                <a:solidFill>
                  <a:srgbClr val="DCEDC8"/>
                </a:solidFill>
                <a:latin typeface="Vazirmatn Nobar" pitchFamily="34" charset="0"/>
                <a:ea typeface="Vazirmatn Nobar" pitchFamily="34" charset="-122"/>
                <a:cs typeface="Vazirmatn Nobar" pitchFamily="34" charset="-120"/>
              </a:rPr>
              <a:t>[ایمیل]   |   [شماره‌ی تماس]</a:t>
            </a:r>
            <a:endParaRPr lang="fa-IR" sz="1400" dirty="0"/>
          </a:p>
        </p:txBody>
      </p:sp>
      <p:pic>
        <p:nvPicPr>
          <p:cNvPr id="8" name="icon cherries" descr="/tmp/claude-0/-home-claude/e50823c0-d46f-5818-8f05-9d714cd67f5c/scratchpad/assets/icons/cherries.png">    </p:cNvPr>
          <p:cNvPicPr>
            <a:picLocks noChangeAspect="1"/>
          </p:cNvPicPr>
          <p:nvPr/>
        </p:nvPicPr>
        <p:blipFill>
          <a:blip r:embed="rId2"/>
          <a:stretch>
            <a:fillRect/>
          </a:stretch>
        </p:blipFill>
        <p:spPr>
          <a:xfrm>
            <a:off x="914400" y="1097280"/>
            <a:ext cx="1143000" cy="1143000"/>
          </a:xfrm>
          <a:prstGeom prst="rect">
            <a:avLst/>
          </a:prstGeom>
        </p:spPr>
      </p:pic>
      <p:pic>
        <p:nvPicPr>
          <p:cNvPr id="9" name="icon red_apple" descr="/tmp/claude-0/-home-claude/e50823c0-d46f-5818-8f05-9d714cd67f5c/scratchpad/assets/icons/red_apple.png">    </p:cNvPr>
          <p:cNvPicPr>
            <a:picLocks noChangeAspect="1"/>
          </p:cNvPicPr>
          <p:nvPr/>
        </p:nvPicPr>
        <p:blipFill>
          <a:blip r:embed="rId3"/>
          <a:stretch>
            <a:fillRect/>
          </a:stretch>
        </p:blipFill>
        <p:spPr>
          <a:xfrm>
            <a:off x="10149840" y="822960"/>
            <a:ext cx="1234440" cy="1234440"/>
          </a:xfrm>
          <a:prstGeom prst="rect">
            <a:avLst/>
          </a:prstGeom>
        </p:spPr>
      </p:pic>
      <p:pic>
        <p:nvPicPr>
          <p:cNvPr id="10" name="icon grapes" descr="/tmp/claude-0/-home-claude/e50823c0-d46f-5818-8f05-9d714cd67f5c/scratchpad/assets/icons/grapes.png">    </p:cNvPr>
          <p:cNvPicPr>
            <a:picLocks noChangeAspect="1"/>
          </p:cNvPicPr>
          <p:nvPr/>
        </p:nvPicPr>
        <p:blipFill>
          <a:blip r:embed="rId4"/>
          <a:stretch>
            <a:fillRect/>
          </a:stretch>
        </p:blipFill>
        <p:spPr>
          <a:xfrm>
            <a:off x="10515600" y="4480560"/>
            <a:ext cx="1097280" cy="1097280"/>
          </a:xfrm>
          <a:prstGeom prst="rect">
            <a:avLst/>
          </a:prstGeom>
        </p:spPr>
      </p:pic>
      <p:pic>
        <p:nvPicPr>
          <p:cNvPr id="11" name="icon leafy_green" descr="/tmp/claude-0/-home-claude/e50823c0-d46f-5818-8f05-9d714cd67f5c/scratchpad/assets/icons/leafy_green.png">    </p:cNvPr>
          <p:cNvPicPr>
            <a:picLocks noChangeAspect="1"/>
          </p:cNvPicPr>
          <p:nvPr/>
        </p:nvPicPr>
        <p:blipFill>
          <a:blip r:embed="rId5"/>
          <a:stretch>
            <a:fillRect/>
          </a:stretch>
        </p:blipFill>
        <p:spPr>
          <a:xfrm>
            <a:off x="731520" y="4572000"/>
            <a:ext cx="1097280" cy="1097280"/>
          </a:xfrm>
          <a:prstGeom prst="rect">
            <a:avLst/>
          </a:prstGeom>
        </p:spPr>
      </p:pic>
      <p:pic>
        <p:nvPicPr>
          <p:cNvPr id="12" name="icon tangerine" descr="/tmp/claude-0/-home-claude/e50823c0-d46f-5818-8f05-9d714cd67f5c/scratchpad/assets/icons/tangerine.png">    </p:cNvPr>
          <p:cNvPicPr>
            <a:picLocks noChangeAspect="1"/>
          </p:cNvPicPr>
          <p:nvPr/>
        </p:nvPicPr>
        <p:blipFill>
          <a:blip r:embed="rId6"/>
          <a:stretch>
            <a:fillRect/>
          </a:stretch>
        </p:blipFill>
        <p:spPr>
          <a:xfrm>
            <a:off x="2194560" y="3017520"/>
            <a:ext cx="731520" cy="731520"/>
          </a:xfrm>
          <a:prstGeom prst="rect">
            <a:avLst/>
          </a:prstGeom>
        </p:spPr>
      </p:pic>
      <p:pic>
        <p:nvPicPr>
          <p:cNvPr id="13" name="icon basket" descr="/tmp/claude-0/-home-claude/e50823c0-d46f-5818-8f05-9d714cd67f5c/scratchpad/assets/icons/basket.png">    </p:cNvPr>
          <p:cNvPicPr>
            <a:picLocks noChangeAspect="1"/>
          </p:cNvPicPr>
          <p:nvPr/>
        </p:nvPicPr>
        <p:blipFill>
          <a:blip r:embed="rId7"/>
          <a:stretch>
            <a:fillRect/>
          </a:stretch>
        </p:blipFill>
        <p:spPr>
          <a:xfrm>
            <a:off x="9052560" y="2743200"/>
            <a:ext cx="914400" cy="914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6400800"/>
            <a:ext cx="548640" cy="274320"/>
          </a:xfrm>
          <a:prstGeom prst="rect">
            <a:avLst/>
          </a:prstGeom>
          <a:noFill/>
          <a:ln/>
        </p:spPr>
        <p:txBody>
          <a:bodyPr wrap="square" lIns="0" tIns="0" rIns="0" bIns="0" rtlCol="0" anchor="t"/>
          <a:lstStyle/>
          <a:p>
            <a:pPr rtl="1" algn="l" indent="0" marL="0">
              <a:buNone/>
            </a:pPr>
            <a:r>
              <a:rPr lang="fa-IR" altLang="en-US" sz="1000" dirty="0">
                <a:solidFill>
                  <a:srgbClr val="5F6B5F"/>
                </a:solidFill>
                <a:latin typeface="Vazirmatn Nobar" pitchFamily="34" charset="0"/>
                <a:ea typeface="Vazirmatn Nobar" pitchFamily="34" charset="-122"/>
                <a:cs typeface="Vazirmatn Nobar" pitchFamily="34" charset="-120"/>
              </a:rPr>
              <a:t>۲۲</a:t>
            </a:r>
            <a:endParaRPr lang="fa-IR" sz="1000" dirty="0"/>
          </a:p>
        </p:txBody>
      </p:sp>
      <p:sp>
        <p:nvSpPr>
          <p:cNvPr id="3" name="Text 1"/>
          <p:cNvSpPr/>
          <p:nvPr>
            <p:ph idx="102" type="title" hasCustomPrompt="1"/>
          </p:nvPr>
        </p:nvSpPr>
        <p:spPr>
          <a:xfrm>
            <a:off x="1828800" y="329184"/>
            <a:ext cx="9814255" cy="658368"/>
          </a:xfrm>
          <a:prstGeom prst="rect">
            <a:avLst/>
          </a:prstGeom>
          <a:noFill/>
          <a:ln/>
        </p:spPr>
        <p:txBody>
          <a:bodyPr wrap="square" lIns="0" tIns="0" rIns="0" bIns="0" rtlCol="0" anchor="ctr"/>
          <a:lstStyle/>
          <a:p>
            <a:pPr rtl="1" algn="r" indent="0" marL="0">
              <a:buNone/>
            </a:pPr>
            <a:r>
              <a:rPr lang="fa-IR" altLang="en-US" sz="3400" dirty="0">
                <a:solidFill>
                  <a:srgbClr val="14532D"/>
                </a:solidFill>
                <a:latin typeface="Vazirmatn Nobar ExtraBold" pitchFamily="34" charset="0"/>
                <a:ea typeface="Vazirmatn Nobar ExtraBold" pitchFamily="34" charset="-122"/>
                <a:cs typeface="Vazirmatn Nobar ExtraBold" pitchFamily="34" charset="-120"/>
              </a:rPr>
              <a:t>منابع</a:t>
            </a:r>
            <a:endParaRPr lang="fa-IR" sz="3400" dirty="0"/>
          </a:p>
        </p:txBody>
      </p:sp>
      <p:sp>
        <p:nvSpPr>
          <p:cNvPr id="4" name="Text 2"/>
          <p:cNvSpPr txBox="1"/>
          <p:nvPr/>
        </p:nvSpPr>
        <p:spPr>
          <a:xfrm>
            <a:off x="548640" y="987552"/>
            <a:ext cx="11094415" cy="365760"/>
          </a:xfrm>
          <a:prstGeom prst="rect">
            <a:avLst/>
          </a:prstGeom>
          <a:noFill/>
          <a:ln/>
        </p:spPr>
        <p:txBody>
          <a:bodyPr wrap="square" lIns="0" tIns="0" rIns="0" bIns="0" rtlCol="0" anchor="ctr"/>
          <a:lstStyle/>
          <a:p>
            <a:pPr rtl="1" algn="r" indent="0" marL="0">
              <a:buNone/>
            </a:pPr>
            <a:r>
              <a:rPr lang="fa-IR" altLang="en-US" sz="1600" dirty="0">
                <a:solidFill>
                  <a:srgbClr val="5F6B5F"/>
                </a:solidFill>
                <a:latin typeface="Vazirmatn Nobar Medium" pitchFamily="34" charset="0"/>
                <a:ea typeface="Vazirmatn Nobar Medium" pitchFamily="34" charset="-122"/>
                <a:cs typeface="Vazirmatn Nobar Medium" pitchFamily="34" charset="-120"/>
              </a:rPr>
              <a:t>آمار این ارائه از منابع خبری و رسمی زیر است؛ ارقام برآوردی به‌صراحت مشخص شده‌اند</a:t>
            </a:r>
            <a:endParaRPr lang="fa-IR" sz="1600" dirty="0"/>
          </a:p>
        </p:txBody>
      </p:sp>
      <p:sp>
        <p:nvSpPr>
          <p:cNvPr id="6" name="Shape 3"/>
          <p:cNvSpPr/>
          <p:nvPr/>
        </p:nvSpPr>
        <p:spPr>
          <a:xfrm>
            <a:off x="6233008" y="1572768"/>
            <a:ext cx="5410048" cy="4343400"/>
          </a:xfrm>
          <a:prstGeom prst="roundRect">
            <a:avLst>
              <a:gd name="adj" fmla="val 3368"/>
            </a:avLst>
          </a:prstGeom>
          <a:solidFill>
            <a:srgbClr val="FFFFFF"/>
          </a:solidFill>
          <a:ln/>
          <a:effectLst>
            <a:outerShdw sx="100000" sy="100000" kx="0" ky="0" algn="bl" rotWithShape="0" blurRad="127000" dist="38100" dir="5400000">
              <a:srgbClr val="14532D">
                <a:alpha val="12000"/>
              </a:srgbClr>
            </a:outerShdw>
          </a:effectLst>
        </p:spPr>
      </p:sp>
      <p:sp>
        <p:nvSpPr>
          <p:cNvPr id="7" name="Text 4"/>
          <p:cNvSpPr txBox="1"/>
          <p:nvPr/>
        </p:nvSpPr>
        <p:spPr>
          <a:xfrm>
            <a:off x="6507328" y="1783080"/>
            <a:ext cx="4861408" cy="3977640"/>
          </a:xfrm>
          <a:prstGeom prst="rect">
            <a:avLst/>
          </a:prstGeom>
          <a:noFill/>
          <a:ln/>
        </p:spPr>
        <p:txBody>
          <a:bodyPr wrap="square" lIns="0" tIns="0" rIns="0" bIns="0" rtlCol="0" anchor="t"/>
          <a:lstStyle/>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۱. خبرگزاری مهر — «ضایعات کشاورزی؛ قاتل خاموش آب ایران» (مهر ۱۴۰۴): ۳۵ تا ۴۰٪ ضایعات، حدود ۱۲۷ میلیون تن تولید کشاورزی</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۲. خبرگزاری مهر — «تولیدات ۲۶ میلیون تن محصول در عرصه باغبانی» (شهریور ۱۴۰۳)</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۳. خبرگزاری مهر — «تولید ۲۸ میلیون تن سبزی و صیفی در کشور» (بهمن ۱۳۹۹)</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۴. خبرگزاری مهر — «۱٫۵ میلیون تن سیب از باغات آذربایجان غربی برداشت می‌شود» (مهر ۱۴۰۳): ۳۰٪ سیب کشور</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۵. اقتصادنیوز — «سود ۲۰۰ درصدی میوه در جیب دلالان»</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۶. روزنامه‌ی تعادل — «گرانفروشی ۳۰۰ درصدی میوه»</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۷. آفتاب‌نیوز — «۸۸ درصد مردم کمتر از حد نیاز میوه و سبزی می‌خورند»</a:t>
            </a:r>
            <a:endParaRPr lang="fa-IR" sz="1400" dirty="0"/>
          </a:p>
        </p:txBody>
      </p:sp>
      <p:sp>
        <p:nvSpPr>
          <p:cNvPr id="8" name="Shape 5"/>
          <p:cNvSpPr/>
          <p:nvPr/>
        </p:nvSpPr>
        <p:spPr>
          <a:xfrm>
            <a:off x="548640" y="1572768"/>
            <a:ext cx="5410048" cy="4343400"/>
          </a:xfrm>
          <a:prstGeom prst="roundRect">
            <a:avLst>
              <a:gd name="adj" fmla="val 3368"/>
            </a:avLst>
          </a:prstGeom>
          <a:solidFill>
            <a:srgbClr val="FFFFFF"/>
          </a:solidFill>
          <a:ln/>
          <a:effectLst>
            <a:outerShdw sx="100000" sy="100000" kx="0" ky="0" algn="bl" rotWithShape="0" blurRad="127000" dist="38100" dir="5400000">
              <a:srgbClr val="14532D">
                <a:alpha val="12000"/>
              </a:srgbClr>
            </a:outerShdw>
          </a:effectLst>
        </p:spPr>
      </p:sp>
      <p:sp>
        <p:nvSpPr>
          <p:cNvPr id="9" name="Text 6"/>
          <p:cNvSpPr txBox="1"/>
          <p:nvPr/>
        </p:nvSpPr>
        <p:spPr>
          <a:xfrm>
            <a:off x="822960" y="1783080"/>
            <a:ext cx="4861408" cy="3977640"/>
          </a:xfrm>
          <a:prstGeom prst="rect">
            <a:avLst/>
          </a:prstGeom>
          <a:noFill/>
          <a:ln/>
        </p:spPr>
        <p:txBody>
          <a:bodyPr wrap="square" lIns="0" tIns="0" rIns="0" bIns="0" rtlCol="0" anchor="t"/>
          <a:lstStyle/>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۸. روزنامه‌ی تعادل — «سهم فروش آنلاین از خرده‌فروشی کشور به ۵٫۶ درصد رسید»</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۹. زومیت — «سهم ۱٫۵ درصدی سوپرمارکت اسنپ از بازار مواد غذایی»</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۱۰. زومیت — «اسنپ‌مارکت: با هزار میلیارد تومان فروش ماهانه، رهبر بازار سوپرمارکت آنلاین هستیم»</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۱۱. زومیت — «دستیار خرید هوشمند «دیا» در اپلیکیشن دیجی‌کالا فعال شد»</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۱۲. زومیت — «دستیار خرید AI در اسنپ‌اکسپرس فعال شد»</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۱۳. زومیت — «جستجوی تصویری به باسلام آمد»</a:t>
            </a:r>
            <a:endParaRPr lang="fa-IR" sz="1400" dirty="0"/>
          </a:p>
          <a:p>
            <a:pPr rtl="1" algn="r" indent="0" marL="0">
              <a:lnSpc>
                <a:spcPct val="110000"/>
              </a:lnSpc>
              <a:spcAft>
                <a:spcPts val="1200"/>
              </a:spcAft>
              <a:buNone/>
            </a:pPr>
            <a:r>
              <a:rPr lang="fa-IR" altLang="en-US" sz="1400" dirty="0">
                <a:solidFill>
                  <a:srgbClr val="1F2A1F"/>
                </a:solidFill>
                <a:latin typeface="Vazirmatn Nobar" pitchFamily="34" charset="0"/>
                <a:ea typeface="Vazirmatn Nobar" pitchFamily="34" charset="-122"/>
                <a:cs typeface="Vazirmatn Nobar" pitchFamily="34" charset="-120"/>
              </a:rPr>
              <a:t>۱۴. زومیت — «سرویس میوه‌ی اکالا با تضمین مرجوعی بی‌قید و شرط»</a:t>
            </a:r>
            <a:endParaRPr lang="fa-IR" sz="1400" dirty="0"/>
          </a:p>
        </p:txBody>
      </p:sp>
      <p:sp>
        <p:nvSpPr>
          <p:cNvPr id="10" name="Text 7"/>
          <p:cNvSpPr txBox="1"/>
          <p:nvPr/>
        </p:nvSpPr>
        <p:spPr>
          <a:xfrm>
            <a:off x="548640" y="5989320"/>
            <a:ext cx="11094415" cy="292608"/>
          </a:xfrm>
          <a:prstGeom prst="rect">
            <a:avLst/>
          </a:prstGeom>
          <a:noFill/>
          <a:ln/>
        </p:spPr>
        <p:txBody>
          <a:bodyPr wrap="square" lIns="0" tIns="0" rIns="0" bIns="0" rtlCol="0" anchor="t"/>
          <a:lstStyle/>
          <a:p>
            <a:pPr rtl="1" algn="r" indent="0" marL="0">
              <a:buNone/>
            </a:pPr>
            <a:r>
              <a:rPr lang="fa-IR" altLang="en-US" sz="1050" dirty="0">
                <a:solidFill>
                  <a:srgbClr val="5F6B5F"/>
                </a:solidFill>
                <a:latin typeface="Vazirmatn Nobar" pitchFamily="34" charset="0"/>
                <a:ea typeface="Vazirmatn Nobar" pitchFamily="34" charset="-122"/>
                <a:cs typeface="Vazirmatn Nobar" pitchFamily="34" charset="-120"/>
              </a:rPr>
              <a:t>ارقام SAM، SOM، اقتصاد واحد و اهداف سه‌ساله برآورد تیم نوبر است. تصاویر رابط کاربری، طراحی اولیه‌اند. آیکون‌های سه‌بعدی: Microsoft Fluent Emoji (مجوز MIT).</a:t>
            </a:r>
            <a:endParaRPr lang="fa-IR" sz="1050" dirty="0"/>
          </a:p>
        </p:txBody>
      </p:sp>
    </p:spTree>
  </p:cSld>
  <p:clrMapOvr>
    <a:masterClrMapping/>
  </p:clrMapOvr>
</p:sld>
</file>

<file path=ppt/theme/theme1.xml><?xml version="1.0" encoding="utf-8"?>
<a:theme xmlns:a="http://schemas.openxmlformats.org/drawingml/2006/main" name="Nobar">
  <a:themeElements>
    <a:clrScheme name="Nobar">
      <a:dk1>
        <a:srgbClr val="1F2A1F"/>
      </a:dk1>
      <a:lt1>
        <a:srgbClr val="FFFFFF"/>
      </a:lt1>
      <a:dk2>
        <a:srgbClr val="14532D"/>
      </a:dk2>
      <a:lt2>
        <a:srgbClr val="EAF5E6"/>
      </a:lt2>
      <a:accent1>
        <a:srgbClr val="2E7D32"/>
      </a:accent1>
      <a:accent2>
        <a:srgbClr val="7CB342"/>
      </a:accent2>
      <a:accent3>
        <a:srgbClr val="C62828"/>
      </a:accent3>
      <a:accent4>
        <a:srgbClr val="F2A900"/>
      </a:accent4>
      <a:accent5>
        <a:srgbClr val="14532D"/>
      </a:accent5>
      <a:accent6>
        <a:srgbClr val="8BC34A"/>
      </a:accent6>
      <a:hlink>
        <a:srgbClr val="2E7D32"/>
      </a:hlink>
      <a:folHlink>
        <a:srgbClr val="14532D"/>
      </a:folHlink>
    </a:clrScheme>
    <a:fontScheme name="Nobar">
      <a:majorFont>
        <a:latin typeface="Vazirmatn Nobar"/>
        <a:ea typeface=""/>
        <a:cs typeface="Vazirmatn Nobar"/>
        <a:font script="Jpan" typeface="游ゴシック Light"/>
        <a:font script="Hang" typeface="맑은 고딕"/>
        <a:font script="Hans" typeface="等线 Light"/>
        <a:font script="Hant" typeface="新細明體"/>
        <a:font script="Arab" typeface="Vazirmatn Nobar"/>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azirmatn Nobar"/>
        <a:ea typeface=""/>
        <a:cs typeface="Vazirmatn Nobar"/>
        <a:font script="Jpan" typeface="游ゴシック"/>
        <a:font script="Hang" typeface="맑은 고딕"/>
        <a:font script="Hans" typeface="等线"/>
        <a:font script="Hant" typeface="新細明體"/>
        <a:font script="Arab" typeface="Vazirmatn Nobar"/>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نوبر — طرح کسب‌وکار و معماری فنی</dc:title>
  <dc:subject>ارائه به مرکز رشد</dc:subject>
  <dc:creator>نوبر</dc:creator>
  <cp:lastModifiedBy>نوبر</cp:lastModifiedBy>
  <cp:revision>1</cp:revision>
  <dcterms:created xsi:type="dcterms:W3CDTF">2026-10-23T08:43:35Z</dcterms:created>
  <dcterms:modified xsi:type="dcterms:W3CDTF">2026-10-23T08:43:35Z</dcterms:modified>
</cp:coreProperties>
</file>